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685800"/>
          </a:xfrm>
          <a:prstGeom prst="rect">
            <a:avLst/>
          </a:prstGeom>
          <a:noFill/>
        </p:spPr>
        <p:txBody>
          <a:bodyPr wrap="square" lIns="0" rIns="0" tIns="0" bIns="0">
            <a:spAutoFit/>
          </a:bodyPr>
          <a:lstStyle/>
          <a:p>
            <a:r>
              <a:rPr sz="2200" b="1">
                <a:solidFill>
                  <a:srgbClr val="22252A"/>
                </a:solidFill>
                <a:latin typeface="Calibri"/>
              </a:rPr>
              <a:t>The result</a:t>
            </a:r>
          </a:p>
        </p:txBody>
      </p:sp>
      <p:pic>
        <p:nvPicPr>
          <p:cNvPr id="3" name="Picture 2" descr="01_result_crossplot_all.png"/>
          <p:cNvPicPr>
            <a:picLocks noChangeAspect="1"/>
          </p:cNvPicPr>
          <p:nvPr/>
        </p:nvPicPr>
        <p:blipFill>
          <a:blip r:embed="rId2"/>
          <a:stretch>
            <a:fillRect/>
          </a:stretch>
        </p:blipFill>
        <p:spPr>
          <a:xfrm>
            <a:off x="3923567" y="1280160"/>
            <a:ext cx="4344560" cy="4389120"/>
          </a:xfrm>
          <a:prstGeom prst="rect">
            <a:avLst/>
          </a:prstGeom>
        </p:spPr>
      </p:pic>
      <p:sp>
        <p:nvSpPr>
          <p:cNvPr id="4" name="TextBox 3"/>
          <p:cNvSpPr txBox="1"/>
          <p:nvPr/>
        </p:nvSpPr>
        <p:spPr>
          <a:xfrm>
            <a:off x="457200" y="5760720"/>
            <a:ext cx="11277295" cy="640080"/>
          </a:xfrm>
          <a:prstGeom prst="rect">
            <a:avLst/>
          </a:prstGeom>
          <a:noFill/>
        </p:spPr>
        <p:txBody>
          <a:bodyPr wrap="square" lIns="0" rIns="0" tIns="0" bIns="0">
            <a:spAutoFit/>
          </a:bodyPr>
          <a:lstStyle/>
          <a:p>
            <a:r>
              <a:rPr sz="1200">
                <a:solidFill>
                  <a:srgbClr val="6E7178"/>
                </a:solidFill>
                <a:latin typeface="Calibri"/>
              </a:rPr>
              <a:t>lowest-OC/EC 450, AIRSpec, k=9, all 239 pairs: Deming 0.93x −1.42, R² 0.71. Reproduces the group deck's winner slide, with season colouring added.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685800"/>
          </a:xfrm>
          <a:prstGeom prst="rect">
            <a:avLst/>
          </a:prstGeom>
          <a:noFill/>
        </p:spPr>
        <p:txBody>
          <a:bodyPr wrap="square" lIns="0" rIns="0" tIns="0" bIns="0">
            <a:spAutoFit/>
          </a:bodyPr>
          <a:lstStyle/>
          <a:p>
            <a:r>
              <a:rPr sz="2200" b="1">
                <a:solidFill>
                  <a:srgbClr val="22252A"/>
                </a:solidFill>
                <a:latin typeface="Calibri"/>
              </a:rPr>
              <a:t>The same fit on each blind half</a:t>
            </a:r>
          </a:p>
        </p:txBody>
      </p:sp>
      <p:pic>
        <p:nvPicPr>
          <p:cNvPr id="3" name="Picture 2" descr="02_result_by_blind_half_all.png"/>
          <p:cNvPicPr>
            <a:picLocks noChangeAspect="1"/>
          </p:cNvPicPr>
          <p:nvPr/>
        </p:nvPicPr>
        <p:blipFill>
          <a:blip r:embed="rId2"/>
          <a:stretch>
            <a:fillRect/>
          </a:stretch>
        </p:blipFill>
        <p:spPr>
          <a:xfrm>
            <a:off x="457200" y="1426815"/>
            <a:ext cx="11277295" cy="4095809"/>
          </a:xfrm>
          <a:prstGeom prst="rect">
            <a:avLst/>
          </a:prstGeom>
        </p:spPr>
      </p:pic>
      <p:sp>
        <p:nvSpPr>
          <p:cNvPr id="4" name="TextBox 3"/>
          <p:cNvSpPr txBox="1"/>
          <p:nvPr/>
        </p:nvSpPr>
        <p:spPr>
          <a:xfrm>
            <a:off x="457200" y="5760720"/>
            <a:ext cx="11277295" cy="640080"/>
          </a:xfrm>
          <a:prstGeom prst="rect">
            <a:avLst/>
          </a:prstGeom>
          <a:noFill/>
        </p:spPr>
        <p:txBody>
          <a:bodyPr wrap="square" lIns="0" rIns="0" tIns="0" bIns="0">
            <a:spAutoFit/>
          </a:bodyPr>
          <a:lstStyle/>
          <a:p>
            <a:r>
              <a:rPr sz="1200">
                <a:solidFill>
                  <a:srgbClr val="6E7178"/>
                </a:solidFill>
                <a:latin typeface="Calibri"/>
              </a:rPr>
              <a:t>Early 0.88x −1.20 (R² 0.60) against late 0.98x −1.62 (R² 0.82). Both below the 1:1 line; the offset is not a property of which half you look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685800"/>
          </a:xfrm>
          <a:prstGeom prst="rect">
            <a:avLst/>
          </a:prstGeom>
          <a:noFill/>
        </p:spPr>
        <p:txBody>
          <a:bodyPr wrap="square" lIns="0" rIns="0" tIns="0" bIns="0">
            <a:spAutoFit/>
          </a:bodyPr>
          <a:lstStyle/>
          <a:p>
            <a:r>
              <a:rPr sz="2200" b="1">
                <a:solidFill>
                  <a:srgbClr val="22252A"/>
                </a:solidFill>
                <a:latin typeface="Calibri"/>
              </a:rPr>
              <a:t>The same fit by season</a:t>
            </a:r>
          </a:p>
        </p:txBody>
      </p:sp>
      <p:pic>
        <p:nvPicPr>
          <p:cNvPr id="3" name="Picture 2" descr="03_result_by_season_all.png"/>
          <p:cNvPicPr>
            <a:picLocks noChangeAspect="1"/>
          </p:cNvPicPr>
          <p:nvPr/>
        </p:nvPicPr>
        <p:blipFill>
          <a:blip r:embed="rId2"/>
          <a:stretch>
            <a:fillRect/>
          </a:stretch>
        </p:blipFill>
        <p:spPr>
          <a:xfrm>
            <a:off x="457200" y="1446917"/>
            <a:ext cx="11277295" cy="4055604"/>
          </a:xfrm>
          <a:prstGeom prst="rect">
            <a:avLst/>
          </a:prstGeom>
        </p:spPr>
      </p:pic>
      <p:sp>
        <p:nvSpPr>
          <p:cNvPr id="4" name="TextBox 3"/>
          <p:cNvSpPr txBox="1"/>
          <p:nvPr/>
        </p:nvSpPr>
        <p:spPr>
          <a:xfrm>
            <a:off x="457200" y="5760720"/>
            <a:ext cx="11277295" cy="640080"/>
          </a:xfrm>
          <a:prstGeom prst="rect">
            <a:avLst/>
          </a:prstGeom>
          <a:noFill/>
        </p:spPr>
        <p:txBody>
          <a:bodyPr wrap="square" lIns="0" rIns="0" tIns="0" bIns="0">
            <a:spAutoFit/>
          </a:bodyPr>
          <a:lstStyle/>
          <a:p>
            <a:r>
              <a:rPr sz="1200">
                <a:solidFill>
                  <a:srgbClr val="6E7178"/>
                </a:solidFill>
                <a:latin typeface="Calibri"/>
              </a:rPr>
              <a:t>Belg, Kiremt and Dry read out separately from one fitted model.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685800"/>
          </a:xfrm>
          <a:prstGeom prst="rect">
            <a:avLst/>
          </a:prstGeom>
          <a:noFill/>
        </p:spPr>
        <p:txBody>
          <a:bodyPr wrap="square" lIns="0" rIns="0" tIns="0" bIns="0">
            <a:spAutoFit/>
          </a:bodyPr>
          <a:lstStyle/>
          <a:p>
            <a:r>
              <a:rPr sz="2200" b="1">
                <a:solidFill>
                  <a:srgbClr val="22252A"/>
                </a:solidFill>
                <a:latin typeface="Calibri"/>
              </a:rPr>
              <a:t>The same fit by PMF source class</a:t>
            </a:r>
          </a:p>
        </p:txBody>
      </p:sp>
      <p:pic>
        <p:nvPicPr>
          <p:cNvPr id="3" name="Picture 2" descr="04_result_by_pmf_class_all.png"/>
          <p:cNvPicPr>
            <a:picLocks noChangeAspect="1"/>
          </p:cNvPicPr>
          <p:nvPr/>
        </p:nvPicPr>
        <p:blipFill>
          <a:blip r:embed="rId2"/>
          <a:stretch>
            <a:fillRect/>
          </a:stretch>
        </p:blipFill>
        <p:spPr>
          <a:xfrm>
            <a:off x="2076862" y="1280160"/>
            <a:ext cx="8037969" cy="4389120"/>
          </a:xfrm>
          <a:prstGeom prst="rect">
            <a:avLst/>
          </a:prstGeom>
        </p:spPr>
      </p:pic>
      <p:sp>
        <p:nvSpPr>
          <p:cNvPr id="4" name="TextBox 3"/>
          <p:cNvSpPr txBox="1"/>
          <p:nvPr/>
        </p:nvSpPr>
        <p:spPr>
          <a:xfrm>
            <a:off x="457200" y="5760720"/>
            <a:ext cx="11277295" cy="640080"/>
          </a:xfrm>
          <a:prstGeom prst="rect">
            <a:avLst/>
          </a:prstGeom>
          <a:noFill/>
        </p:spPr>
        <p:txBody>
          <a:bodyPr wrap="square" lIns="0" rIns="0" tIns="0" bIns="0">
            <a:spAutoFit/>
          </a:bodyPr>
          <a:lstStyle/>
          <a:p>
            <a:r>
              <a:rPr sz="1200">
                <a:solidFill>
                  <a:srgbClr val="6E7178"/>
                </a:solidFill>
                <a:latin typeface="Calibri"/>
              </a:rPr>
              <a:t>Marine (n=44) against Combustion (n=58) from Navid's apportionment.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685800"/>
          </a:xfrm>
          <a:prstGeom prst="rect">
            <a:avLst/>
          </a:prstGeom>
          <a:noFill/>
        </p:spPr>
        <p:txBody>
          <a:bodyPr wrap="square" lIns="0" rIns="0" tIns="0" bIns="0">
            <a:spAutoFit/>
          </a:bodyPr>
          <a:lstStyle/>
          <a:p>
            <a:r>
              <a:rPr sz="2200" b="1">
                <a:solidFill>
                  <a:srgbClr val="22252A"/>
                </a:solidFill>
                <a:latin typeface="Calibri"/>
              </a:rPr>
              <a:t>One calibration, every site</a:t>
            </a:r>
          </a:p>
        </p:txBody>
      </p:sp>
      <p:pic>
        <p:nvPicPr>
          <p:cNvPr id="3" name="Picture 2" descr="05_same_calibration_every_site_all.png"/>
          <p:cNvPicPr>
            <a:picLocks noChangeAspect="1"/>
          </p:cNvPicPr>
          <p:nvPr/>
        </p:nvPicPr>
        <p:blipFill>
          <a:blip r:embed="rId2"/>
          <a:stretch>
            <a:fillRect/>
          </a:stretch>
        </p:blipFill>
        <p:spPr>
          <a:xfrm>
            <a:off x="457200" y="2074726"/>
            <a:ext cx="11277295" cy="2799986"/>
          </a:xfrm>
          <a:prstGeom prst="rect">
            <a:avLst/>
          </a:prstGeom>
        </p:spPr>
      </p:pic>
      <p:sp>
        <p:nvSpPr>
          <p:cNvPr id="4" name="TextBox 3"/>
          <p:cNvSpPr txBox="1"/>
          <p:nvPr/>
        </p:nvSpPr>
        <p:spPr>
          <a:xfrm>
            <a:off x="457200" y="5760720"/>
            <a:ext cx="11277295" cy="640080"/>
          </a:xfrm>
          <a:prstGeom prst="rect">
            <a:avLst/>
          </a:prstGeom>
          <a:noFill/>
        </p:spPr>
        <p:txBody>
          <a:bodyPr wrap="square" lIns="0" rIns="0" tIns="0" bIns="0">
            <a:spAutoFit/>
          </a:bodyPr>
          <a:lstStyle/>
          <a:p>
            <a:r>
              <a:rPr sz="1200">
                <a:solidFill>
                  <a:srgbClr val="6E7178"/>
                </a:solidFill>
                <a:latin typeface="Calibri"/>
              </a:rPr>
              <a:t>Addis and Bishoftu sit below the 1:1 line; Beijing, Delhi and Pasadena above it. Each panel keeps its own scale because site loadings differ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685800"/>
          </a:xfrm>
          <a:prstGeom prst="rect">
            <a:avLst/>
          </a:prstGeom>
          <a:noFill/>
        </p:spPr>
        <p:txBody>
          <a:bodyPr wrap="square" lIns="0" rIns="0" tIns="0" bIns="0">
            <a:spAutoFit/>
          </a:bodyPr>
          <a:lstStyle/>
          <a:p>
            <a:r>
              <a:rPr sz="2200" b="1">
                <a:solidFill>
                  <a:srgbClr val="22252A"/>
                </a:solidFill>
                <a:latin typeface="Calibri"/>
              </a:rPr>
              <a:t>The feasible region does not contain the target</a:t>
            </a:r>
          </a:p>
        </p:txBody>
      </p:sp>
      <p:pic>
        <p:nvPicPr>
          <p:cNvPr id="3" name="Picture 2" descr="01_feasible_region.png"/>
          <p:cNvPicPr>
            <a:picLocks noChangeAspect="1"/>
          </p:cNvPicPr>
          <p:nvPr/>
        </p:nvPicPr>
        <p:blipFill>
          <a:blip r:embed="rId2"/>
          <a:stretch>
            <a:fillRect/>
          </a:stretch>
        </p:blipFill>
        <p:spPr>
          <a:xfrm>
            <a:off x="3394684" y="1280160"/>
            <a:ext cx="5402325" cy="4389120"/>
          </a:xfrm>
          <a:prstGeom prst="rect">
            <a:avLst/>
          </a:prstGeom>
        </p:spPr>
      </p:pic>
      <p:sp>
        <p:nvSpPr>
          <p:cNvPr id="4" name="TextBox 3"/>
          <p:cNvSpPr txBox="1"/>
          <p:nvPr/>
        </p:nvSpPr>
        <p:spPr>
          <a:xfrm>
            <a:off x="457200" y="5760720"/>
            <a:ext cx="11277295" cy="640080"/>
          </a:xfrm>
          <a:prstGeom prst="rect">
            <a:avLst/>
          </a:prstGeom>
          <a:noFill/>
        </p:spPr>
        <p:txBody>
          <a:bodyPr wrap="square" lIns="0" rIns="0" tIns="0" bIns="0">
            <a:spAutoFit/>
          </a:bodyPr>
          <a:lstStyle/>
          <a:p>
            <a:r>
              <a:rPr sz="1200">
                <a:solidFill>
                  <a:srgbClr val="6E7178"/>
                </a:solidFill>
                <a:latin typeface="Calibri"/>
              </a:rPr>
              <a:t>All 20,869 configurations in the (slope, intercept) plane fall on one diagonal band. The target (1, 0) is off it. The 907 near-zero intercepts are all bought with a slope near 0.3.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685800"/>
          </a:xfrm>
          <a:prstGeom prst="rect">
            <a:avLst/>
          </a:prstGeom>
          <a:noFill/>
        </p:spPr>
        <p:txBody>
          <a:bodyPr wrap="square" lIns="0" rIns="0" tIns="0" bIns="0">
            <a:spAutoFit/>
          </a:bodyPr>
          <a:lstStyle/>
          <a:p>
            <a:r>
              <a:rPr sz="2200" b="1">
                <a:solidFill>
                  <a:srgbClr val="22252A"/>
                </a:solidFill>
                <a:latin typeface="Calibri"/>
              </a:rPr>
              <a:t>Three winners, depending on an unjustified weight</a:t>
            </a:r>
          </a:p>
        </p:txBody>
      </p:sp>
      <p:pic>
        <p:nvPicPr>
          <p:cNvPr id="3" name="Picture 2" descr="02_winner_vs_weight.png"/>
          <p:cNvPicPr>
            <a:picLocks noChangeAspect="1"/>
          </p:cNvPicPr>
          <p:nvPr/>
        </p:nvPicPr>
        <p:blipFill>
          <a:blip r:embed="rId2"/>
          <a:stretch>
            <a:fillRect/>
          </a:stretch>
        </p:blipFill>
        <p:spPr>
          <a:xfrm>
            <a:off x="3269158" y="1280160"/>
            <a:ext cx="5653377" cy="4389120"/>
          </a:xfrm>
          <a:prstGeom prst="rect">
            <a:avLst/>
          </a:prstGeom>
        </p:spPr>
      </p:pic>
      <p:sp>
        <p:nvSpPr>
          <p:cNvPr id="4" name="TextBox 3"/>
          <p:cNvSpPr txBox="1"/>
          <p:nvPr/>
        </p:nvSpPr>
        <p:spPr>
          <a:xfrm>
            <a:off x="457200" y="5760720"/>
            <a:ext cx="11277295" cy="640080"/>
          </a:xfrm>
          <a:prstGeom prst="rect">
            <a:avLst/>
          </a:prstGeom>
          <a:noFill/>
        </p:spPr>
        <p:txBody>
          <a:bodyPr wrap="square" lIns="0" rIns="0" tIns="0" bIns="0">
            <a:spAutoFit/>
          </a:bodyPr>
          <a:lstStyle/>
          <a:p>
            <a:r>
              <a:rPr sz="1200">
                <a:solidFill>
                  <a:srgbClr val="6E7178"/>
                </a:solidFill>
                <a:latin typeface="Calibri"/>
              </a:rPr>
              <a:t>score = |intercept| + w·|slope − 1|. The shipped w = 5 picks deriv2 k=20, the family that did not transfer to other sites; w ≥ 10 picks AIRSpec.</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685800"/>
          </a:xfrm>
          <a:prstGeom prst="rect">
            <a:avLst/>
          </a:prstGeom>
          <a:noFill/>
        </p:spPr>
        <p:txBody>
          <a:bodyPr wrap="square" lIns="0" rIns="0" tIns="0" bIns="0">
            <a:spAutoFit/>
          </a:bodyPr>
          <a:lstStyle/>
          <a:p>
            <a:r>
              <a:rPr sz="2200" b="1">
                <a:solidFill>
                  <a:srgbClr val="22252A"/>
                </a:solidFill>
                <a:latin typeface="Calibri"/>
              </a:rPr>
              <a:t>One guardrail does 95% of the eliminating</a:t>
            </a:r>
          </a:p>
        </p:txBody>
      </p:sp>
      <p:pic>
        <p:nvPicPr>
          <p:cNvPr id="3" name="Picture 2" descr="03_guardrail_funnel.png"/>
          <p:cNvPicPr>
            <a:picLocks noChangeAspect="1"/>
          </p:cNvPicPr>
          <p:nvPr/>
        </p:nvPicPr>
        <p:blipFill>
          <a:blip r:embed="rId2"/>
          <a:stretch>
            <a:fillRect/>
          </a:stretch>
        </p:blipFill>
        <p:spPr>
          <a:xfrm>
            <a:off x="2225441" y="1280160"/>
            <a:ext cx="7740811" cy="4389120"/>
          </a:xfrm>
          <a:prstGeom prst="rect">
            <a:avLst/>
          </a:prstGeom>
        </p:spPr>
      </p:pic>
      <p:sp>
        <p:nvSpPr>
          <p:cNvPr id="4" name="TextBox 3"/>
          <p:cNvSpPr txBox="1"/>
          <p:nvPr/>
        </p:nvSpPr>
        <p:spPr>
          <a:xfrm>
            <a:off x="457200" y="5760720"/>
            <a:ext cx="11277295" cy="640080"/>
          </a:xfrm>
          <a:prstGeom prst="rect">
            <a:avLst/>
          </a:prstGeom>
          <a:noFill/>
        </p:spPr>
        <p:txBody>
          <a:bodyPr wrap="square" lIns="0" rIns="0" tIns="0" bIns="0">
            <a:spAutoFit/>
          </a:bodyPr>
          <a:lstStyle/>
          <a:p>
            <a:r>
              <a:rPr sz="1200">
                <a:solidFill>
                  <a:srgbClr val="6E7178"/>
                </a:solidFill>
                <a:latin typeface="Calibri"/>
              </a:rPr>
              <a:t>The held-out R² floor removes 19,389 of 20,514 eliminated rows, and it acts on the least stable quantity in the system.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685800"/>
          </a:xfrm>
          <a:prstGeom prst="rect">
            <a:avLst/>
          </a:prstGeom>
          <a:noFill/>
        </p:spPr>
        <p:txBody>
          <a:bodyPr wrap="square" lIns="0" rIns="0" tIns="0" bIns="0">
            <a:spAutoFit/>
          </a:bodyPr>
          <a:lstStyle/>
          <a:p>
            <a:r>
              <a:rPr sz="2200" b="1">
                <a:solidFill>
                  <a:srgbClr val="22252A"/>
                </a:solidFill>
                <a:latin typeface="Calibri"/>
              </a:rPr>
              <a:t>How far held-out R² moves per 10-filter cohort step</a:t>
            </a:r>
          </a:p>
        </p:txBody>
      </p:sp>
      <p:pic>
        <p:nvPicPr>
          <p:cNvPr id="3" name="Picture 2" descr="04_r2_per_10_filter_step.png"/>
          <p:cNvPicPr>
            <a:picLocks noChangeAspect="1"/>
          </p:cNvPicPr>
          <p:nvPr/>
        </p:nvPicPr>
        <p:blipFill>
          <a:blip r:embed="rId2"/>
          <a:stretch>
            <a:fillRect/>
          </a:stretch>
        </p:blipFill>
        <p:spPr>
          <a:xfrm>
            <a:off x="2263008" y="1280160"/>
            <a:ext cx="7665677" cy="4389120"/>
          </a:xfrm>
          <a:prstGeom prst="rect">
            <a:avLst/>
          </a:prstGeom>
        </p:spPr>
      </p:pic>
      <p:sp>
        <p:nvSpPr>
          <p:cNvPr id="4" name="TextBox 3"/>
          <p:cNvSpPr txBox="1"/>
          <p:nvPr/>
        </p:nvSpPr>
        <p:spPr>
          <a:xfrm>
            <a:off x="457200" y="5760720"/>
            <a:ext cx="11277295" cy="640080"/>
          </a:xfrm>
          <a:prstGeom prst="rect">
            <a:avLst/>
          </a:prstGeom>
          <a:noFill/>
        </p:spPr>
        <p:txBody>
          <a:bodyPr wrap="square" lIns="0" rIns="0" tIns="0" bIns="0">
            <a:spAutoFit/>
          </a:bodyPr>
          <a:lstStyle/>
          <a:p>
            <a:r>
              <a:rPr sz="1200">
                <a:solidFill>
                  <a:srgbClr val="6E7178"/>
                </a:solidFill>
                <a:latin typeface="Calibri"/>
              </a:rPr>
              <a:t>8,699 adjacent steps across the dense series: median 0.007, but 28% move by more than 0.05 and the p90 is 0.22. Plateaus are rare; the earlier 'plateaus of three' claim was one window, not the system.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685800"/>
          </a:xfrm>
          <a:prstGeom prst="rect">
            <a:avLst/>
          </a:prstGeom>
          <a:noFill/>
        </p:spPr>
        <p:txBody>
          <a:bodyPr wrap="square" lIns="0" rIns="0" tIns="0" bIns="0">
            <a:spAutoFit/>
          </a:bodyPr>
          <a:lstStyle/>
          <a:p>
            <a:r>
              <a:rPr sz="2200" b="1">
                <a:solidFill>
                  <a:srgbClr val="22252A"/>
                </a:solidFill>
                <a:latin typeface="Calibri"/>
              </a:rPr>
              <a:t>Season winners read out on every season</a:t>
            </a:r>
          </a:p>
        </p:txBody>
      </p:sp>
      <p:pic>
        <p:nvPicPr>
          <p:cNvPr id="3" name="Picture 2" descr="05_season_cross_application.png"/>
          <p:cNvPicPr>
            <a:picLocks noChangeAspect="1"/>
          </p:cNvPicPr>
          <p:nvPr/>
        </p:nvPicPr>
        <p:blipFill>
          <a:blip r:embed="rId2"/>
          <a:stretch>
            <a:fillRect/>
          </a:stretch>
        </p:blipFill>
        <p:spPr>
          <a:xfrm>
            <a:off x="3105007" y="1280160"/>
            <a:ext cx="5981680" cy="4389120"/>
          </a:xfrm>
          <a:prstGeom prst="rect">
            <a:avLst/>
          </a:prstGeom>
        </p:spPr>
      </p:pic>
      <p:sp>
        <p:nvSpPr>
          <p:cNvPr id="4" name="TextBox 3"/>
          <p:cNvSpPr txBox="1"/>
          <p:nvPr/>
        </p:nvSpPr>
        <p:spPr>
          <a:xfrm>
            <a:off x="457200" y="5760720"/>
            <a:ext cx="11277295" cy="640080"/>
          </a:xfrm>
          <a:prstGeom prst="rect">
            <a:avLst/>
          </a:prstGeom>
          <a:noFill/>
        </p:spPr>
        <p:txBody>
          <a:bodyPr wrap="square" lIns="0" rIns="0" tIns="0" bIns="0">
            <a:spAutoFit/>
          </a:bodyPr>
          <a:lstStyle/>
          <a:p>
            <a:r>
              <a:rPr sz="1200">
                <a:solidFill>
                  <a:srgbClr val="6E7178"/>
                </a:solidFill>
                <a:latin typeface="Calibri"/>
              </a:rPr>
              <a:t>The all-year winner ranks #318 of 345 on Kiremt. The Kiremt winner beats it on three of four readouts, so optimising on the wet season generalises better than optimising on everything.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685800"/>
          </a:xfrm>
          <a:prstGeom prst="rect">
            <a:avLst/>
          </a:prstGeom>
          <a:noFill/>
        </p:spPr>
        <p:txBody>
          <a:bodyPr wrap="square" lIns="0" rIns="0" tIns="0" bIns="0">
            <a:spAutoFit/>
          </a:bodyPr>
          <a:lstStyle/>
          <a:p>
            <a:r>
              <a:rPr sz="2200" b="1">
                <a:solidFill>
                  <a:srgbClr val="22252A"/>
                </a:solidFill>
                <a:latin typeface="Calibri"/>
              </a:rPr>
              <a:t>Each season's winner at every site</a:t>
            </a:r>
          </a:p>
        </p:txBody>
      </p:sp>
      <p:pic>
        <p:nvPicPr>
          <p:cNvPr id="3" name="Picture 2" descr="06_season_winner_by_site.png"/>
          <p:cNvPicPr>
            <a:picLocks noChangeAspect="1"/>
          </p:cNvPicPr>
          <p:nvPr/>
        </p:nvPicPr>
        <p:blipFill>
          <a:blip r:embed="rId2"/>
          <a:stretch>
            <a:fillRect/>
          </a:stretch>
        </p:blipFill>
        <p:spPr>
          <a:xfrm>
            <a:off x="2069078" y="1280160"/>
            <a:ext cx="8053538" cy="4389120"/>
          </a:xfrm>
          <a:prstGeom prst="rect">
            <a:avLst/>
          </a:prstGeom>
        </p:spPr>
      </p:pic>
      <p:sp>
        <p:nvSpPr>
          <p:cNvPr id="4" name="TextBox 3"/>
          <p:cNvSpPr txBox="1"/>
          <p:nvPr/>
        </p:nvSpPr>
        <p:spPr>
          <a:xfrm>
            <a:off x="457200" y="5760720"/>
            <a:ext cx="11277295" cy="640080"/>
          </a:xfrm>
          <a:prstGeom prst="rect">
            <a:avLst/>
          </a:prstGeom>
          <a:noFill/>
        </p:spPr>
        <p:txBody>
          <a:bodyPr wrap="square" lIns="0" rIns="0" tIns="0" bIns="0">
            <a:spAutoFit/>
          </a:bodyPr>
          <a:lstStyle/>
          <a:p>
            <a:r>
              <a:rPr sz="1200">
                <a:solidFill>
                  <a:srgbClr val="6E7178"/>
                </a:solidFill>
                <a:latin typeface="Calibri"/>
              </a:rPr>
              <a:t>Colour is |slope − 1|. The all-year winner (deriv2 k=20) gives Beijing 9.78x and Delhi −26.9; the Kiremt winner (ocec 800 AIRSpec k=21) transfers, and is the repo's own terminal candidate rediscovered.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685800"/>
          </a:xfrm>
          <a:prstGeom prst="rect">
            <a:avLst/>
          </a:prstGeom>
          <a:noFill/>
        </p:spPr>
        <p:txBody>
          <a:bodyPr wrap="square" lIns="0" rIns="0" tIns="0" bIns="0">
            <a:spAutoFit/>
          </a:bodyPr>
          <a:lstStyle/>
          <a:p>
            <a:r>
              <a:rPr sz="2200" b="1">
                <a:solidFill>
                  <a:srgbClr val="22252A"/>
                </a:solidFill>
                <a:latin typeface="Calibri"/>
              </a:rPr>
              <a:t>The OC/EC mismatch law</a:t>
            </a:r>
          </a:p>
        </p:txBody>
      </p:sp>
      <p:pic>
        <p:nvPicPr>
          <p:cNvPr id="3" name="Picture 2" descr="01_ocec_mismatch_law.png"/>
          <p:cNvPicPr>
            <a:picLocks noChangeAspect="1"/>
          </p:cNvPicPr>
          <p:nvPr/>
        </p:nvPicPr>
        <p:blipFill>
          <a:blip r:embed="rId2"/>
          <a:stretch>
            <a:fillRect/>
          </a:stretch>
        </p:blipFill>
        <p:spPr>
          <a:xfrm>
            <a:off x="2817454" y="1280160"/>
            <a:ext cx="6556785" cy="4389120"/>
          </a:xfrm>
          <a:prstGeom prst="rect">
            <a:avLst/>
          </a:prstGeom>
        </p:spPr>
      </p:pic>
      <p:sp>
        <p:nvSpPr>
          <p:cNvPr id="4" name="TextBox 3"/>
          <p:cNvSpPr txBox="1"/>
          <p:nvPr/>
        </p:nvSpPr>
        <p:spPr>
          <a:xfrm>
            <a:off x="457200" y="5760720"/>
            <a:ext cx="11277295" cy="640080"/>
          </a:xfrm>
          <a:prstGeom prst="rect">
            <a:avLst/>
          </a:prstGeom>
          <a:noFill/>
        </p:spPr>
        <p:txBody>
          <a:bodyPr wrap="square" lIns="0" rIns="0" tIns="0" bIns="0">
            <a:spAutoFit/>
          </a:bodyPr>
          <a:lstStyle/>
          <a:p>
            <a:r>
              <a:rPr sz="1200">
                <a:solidFill>
                  <a:srgbClr val="6E7178"/>
                </a:solidFill>
                <a:latin typeface="Calibri"/>
              </a:rPr>
              <a:t>FTIR under-predicts by 0.303 ± 0.026 µg/m³ per unit of cohort-to-target OC/EC mismatch. At a perfectly matched cohort, −1.63 ± 0.10 remains.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685800"/>
          </a:xfrm>
          <a:prstGeom prst="rect">
            <a:avLst/>
          </a:prstGeom>
          <a:noFill/>
        </p:spPr>
        <p:txBody>
          <a:bodyPr wrap="square" lIns="0" rIns="0" tIns="0" bIns="0">
            <a:spAutoFit/>
          </a:bodyPr>
          <a:lstStyle/>
          <a:p>
            <a:r>
              <a:rPr sz="2200" b="1">
                <a:solidFill>
                  <a:srgbClr val="22252A"/>
                </a:solidFill>
                <a:latin typeface="Calibri"/>
              </a:rPr>
              <a:t>One knob matters, six are decoys</a:t>
            </a:r>
          </a:p>
        </p:txBody>
      </p:sp>
      <p:pic>
        <p:nvPicPr>
          <p:cNvPr id="3" name="Picture 2" descr="02_variance_decomposition.png"/>
          <p:cNvPicPr>
            <a:picLocks noChangeAspect="1"/>
          </p:cNvPicPr>
          <p:nvPr/>
        </p:nvPicPr>
        <p:blipFill>
          <a:blip r:embed="rId2"/>
          <a:stretch>
            <a:fillRect/>
          </a:stretch>
        </p:blipFill>
        <p:spPr>
          <a:xfrm>
            <a:off x="2266065" y="1280160"/>
            <a:ext cx="7659564" cy="4389120"/>
          </a:xfrm>
          <a:prstGeom prst="rect">
            <a:avLst/>
          </a:prstGeom>
        </p:spPr>
      </p:pic>
      <p:sp>
        <p:nvSpPr>
          <p:cNvPr id="4" name="TextBox 3"/>
          <p:cNvSpPr txBox="1"/>
          <p:nvPr/>
        </p:nvSpPr>
        <p:spPr>
          <a:xfrm>
            <a:off x="457200" y="5760720"/>
            <a:ext cx="11277295" cy="640080"/>
          </a:xfrm>
          <a:prstGeom prst="rect">
            <a:avLst/>
          </a:prstGeom>
          <a:noFill/>
        </p:spPr>
        <p:txBody>
          <a:bodyPr wrap="square" lIns="0" rIns="0" tIns="0" bIns="0">
            <a:spAutoFit/>
          </a:bodyPr>
          <a:lstStyle/>
          <a:p>
            <a:r>
              <a:rPr sz="1200">
                <a:solidFill>
                  <a:srgbClr val="6E7178"/>
                </a:solidFill>
                <a:latin typeface="Calibri"/>
              </a:rPr>
              <a:t>Baselining is 49% of intercept variance and 56% of slope variance. CV protocol and training lot are 0.1% each.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685800"/>
          </a:xfrm>
          <a:prstGeom prst="rect">
            <a:avLst/>
          </a:prstGeom>
          <a:noFill/>
        </p:spPr>
        <p:txBody>
          <a:bodyPr wrap="square" lIns="0" rIns="0" tIns="0" bIns="0">
            <a:spAutoFit/>
          </a:bodyPr>
          <a:lstStyle/>
          <a:p>
            <a:r>
              <a:rPr sz="2200" b="1">
                <a:solidFill>
                  <a:srgbClr val="22252A"/>
                </a:solidFill>
                <a:latin typeface="Calibri"/>
              </a:rPr>
              <a:t>The regional sign flip</a:t>
            </a:r>
          </a:p>
        </p:txBody>
      </p:sp>
      <p:pic>
        <p:nvPicPr>
          <p:cNvPr id="3" name="Picture 2" descr="03_cross_site_sign_flip.png"/>
          <p:cNvPicPr>
            <a:picLocks noChangeAspect="1"/>
          </p:cNvPicPr>
          <p:nvPr/>
        </p:nvPicPr>
        <p:blipFill>
          <a:blip r:embed="rId2"/>
          <a:stretch>
            <a:fillRect/>
          </a:stretch>
        </p:blipFill>
        <p:spPr>
          <a:xfrm>
            <a:off x="2287460" y="1280160"/>
            <a:ext cx="7616773" cy="4389120"/>
          </a:xfrm>
          <a:prstGeom prst="rect">
            <a:avLst/>
          </a:prstGeom>
        </p:spPr>
      </p:pic>
      <p:sp>
        <p:nvSpPr>
          <p:cNvPr id="4" name="TextBox 3"/>
          <p:cNvSpPr txBox="1"/>
          <p:nvPr/>
        </p:nvSpPr>
        <p:spPr>
          <a:xfrm>
            <a:off x="457200" y="5760720"/>
            <a:ext cx="11277295" cy="640080"/>
          </a:xfrm>
          <a:prstGeom prst="rect">
            <a:avLst/>
          </a:prstGeom>
          <a:noFill/>
        </p:spPr>
        <p:txBody>
          <a:bodyPr wrap="square" lIns="0" rIns="0" tIns="0" bIns="0">
            <a:spAutoFit/>
          </a:bodyPr>
          <a:lstStyle/>
          <a:p>
            <a:r>
              <a:rPr sz="1200">
                <a:solidFill>
                  <a:srgbClr val="6E7178"/>
                </a:solidFill>
                <a:latin typeface="Calibri"/>
              </a:rPr>
              <a:t>Both Ethiopian sites read low under every spectral representation; the other three read high under all four. Scale clipped at ±2 so Delhi saturates rather than flattening the contrast.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685800"/>
          </a:xfrm>
          <a:prstGeom prst="rect">
            <a:avLst/>
          </a:prstGeom>
          <a:noFill/>
        </p:spPr>
        <p:txBody>
          <a:bodyPr wrap="square" lIns="0" rIns="0" tIns="0" bIns="0">
            <a:spAutoFit/>
          </a:bodyPr>
          <a:lstStyle/>
          <a:p>
            <a:r>
              <a:rPr sz="2200" b="1">
                <a:solidFill>
                  <a:srgbClr val="22252A"/>
                </a:solidFill>
                <a:latin typeface="Calibri"/>
              </a:rPr>
              <a:t>Ensembling buys reproducibility, not score</a:t>
            </a:r>
          </a:p>
        </p:txBody>
      </p:sp>
      <p:pic>
        <p:nvPicPr>
          <p:cNvPr id="3" name="Picture 2" descr="04_ensemble_reproducibility.png"/>
          <p:cNvPicPr>
            <a:picLocks noChangeAspect="1"/>
          </p:cNvPicPr>
          <p:nvPr/>
        </p:nvPicPr>
        <p:blipFill>
          <a:blip r:embed="rId2"/>
          <a:stretch>
            <a:fillRect/>
          </a:stretch>
        </p:blipFill>
        <p:spPr>
          <a:xfrm>
            <a:off x="3165120" y="1280160"/>
            <a:ext cx="5861455" cy="4389120"/>
          </a:xfrm>
          <a:prstGeom prst="rect">
            <a:avLst/>
          </a:prstGeom>
        </p:spPr>
      </p:pic>
      <p:sp>
        <p:nvSpPr>
          <p:cNvPr id="4" name="TextBox 3"/>
          <p:cNvSpPr txBox="1"/>
          <p:nvPr/>
        </p:nvSpPr>
        <p:spPr>
          <a:xfrm>
            <a:off x="457200" y="5760720"/>
            <a:ext cx="11277295" cy="640080"/>
          </a:xfrm>
          <a:prstGeom prst="rect">
            <a:avLst/>
          </a:prstGeom>
          <a:noFill/>
        </p:spPr>
        <p:txBody>
          <a:bodyPr wrap="square" lIns="0" rIns="0" tIns="0" bIns="0">
            <a:spAutoFit/>
          </a:bodyPr>
          <a:lstStyle/>
          <a:p>
            <a:r>
              <a:rPr sz="1200">
                <a:solidFill>
                  <a:srgbClr val="6E7178"/>
                </a:solidFill>
                <a:latin typeface="Calibri"/>
              </a:rPr>
              <a:t>Ten individual configurations fan out by 0.70 µg/m³ between blind halves; their ensemble moves 0.04.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685800"/>
          </a:xfrm>
          <a:prstGeom prst="rect">
            <a:avLst/>
          </a:prstGeom>
          <a:noFill/>
        </p:spPr>
        <p:txBody>
          <a:bodyPr wrap="square" lIns="0" rIns="0" tIns="0" bIns="0">
            <a:spAutoFit/>
          </a:bodyPr>
          <a:lstStyle/>
          <a:p>
            <a:r>
              <a:rPr sz="2200" b="1">
                <a:solidFill>
                  <a:srgbClr val="22252A"/>
                </a:solidFill>
                <a:latin typeface="Calibri"/>
              </a:rPr>
              <a:t>The held-out R² step function is an artifact</a:t>
            </a:r>
          </a:p>
        </p:txBody>
      </p:sp>
      <p:pic>
        <p:nvPicPr>
          <p:cNvPr id="3" name="Picture 2" descr="05_r2_partition_artifact.png"/>
          <p:cNvPicPr>
            <a:picLocks noChangeAspect="1"/>
          </p:cNvPicPr>
          <p:nvPr/>
        </p:nvPicPr>
        <p:blipFill>
          <a:blip r:embed="rId2"/>
          <a:stretch>
            <a:fillRect/>
          </a:stretch>
        </p:blipFill>
        <p:spPr>
          <a:xfrm>
            <a:off x="2275234" y="1280160"/>
            <a:ext cx="7641225" cy="4389120"/>
          </a:xfrm>
          <a:prstGeom prst="rect">
            <a:avLst/>
          </a:prstGeom>
        </p:spPr>
      </p:pic>
      <p:sp>
        <p:nvSpPr>
          <p:cNvPr id="4" name="TextBox 3"/>
          <p:cNvSpPr txBox="1"/>
          <p:nvPr/>
        </p:nvSpPr>
        <p:spPr>
          <a:xfrm>
            <a:off x="457200" y="5760720"/>
            <a:ext cx="11277295" cy="640080"/>
          </a:xfrm>
          <a:prstGeom prst="rect">
            <a:avLst/>
          </a:prstGeom>
          <a:noFill/>
        </p:spPr>
        <p:txBody>
          <a:bodyPr wrap="square" lIns="0" rIns="0" tIns="0" bIns="0">
            <a:spAutoFit/>
          </a:bodyPr>
          <a:lstStyle/>
          <a:p>
            <a:r>
              <a:rPr sz="1200">
                <a:solidFill>
                  <a:srgbClr val="6E7178"/>
                </a:solidFill>
                <a:latin typeface="Calibri"/>
              </a:rPr>
              <a:t>Every discontinuity coincides with the train/test split being redrawn, because the site-grouped folds are recomputed from whichever sites the cohort happens to contain.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685800"/>
          </a:xfrm>
          <a:prstGeom prst="rect">
            <a:avLst/>
          </a:prstGeom>
          <a:noFill/>
        </p:spPr>
        <p:txBody>
          <a:bodyPr wrap="square" lIns="0" rIns="0" tIns="0" bIns="0">
            <a:spAutoFit/>
          </a:bodyPr>
          <a:lstStyle/>
          <a:p>
            <a:r>
              <a:rPr sz="2200" b="1">
                <a:solidFill>
                  <a:srgbClr val="22252A"/>
                </a:solidFill>
                <a:latin typeface="Calibri"/>
              </a:rPr>
              <a:t>Cohort choice swamps the ranking</a:t>
            </a:r>
          </a:p>
        </p:txBody>
      </p:sp>
      <p:pic>
        <p:nvPicPr>
          <p:cNvPr id="3" name="Picture 2" descr="06_cohort_neighbourhood.png"/>
          <p:cNvPicPr>
            <a:picLocks noChangeAspect="1"/>
          </p:cNvPicPr>
          <p:nvPr/>
        </p:nvPicPr>
        <p:blipFill>
          <a:blip r:embed="rId2"/>
          <a:stretch>
            <a:fillRect/>
          </a:stretch>
        </p:blipFill>
        <p:spPr>
          <a:xfrm>
            <a:off x="2363873" y="1280160"/>
            <a:ext cx="7463949" cy="4389120"/>
          </a:xfrm>
          <a:prstGeom prst="rect">
            <a:avLst/>
          </a:prstGeom>
        </p:spPr>
      </p:pic>
      <p:sp>
        <p:nvSpPr>
          <p:cNvPr id="4" name="TextBox 3"/>
          <p:cNvSpPr txBox="1"/>
          <p:nvPr/>
        </p:nvSpPr>
        <p:spPr>
          <a:xfrm>
            <a:off x="457200" y="5760720"/>
            <a:ext cx="11277295" cy="640080"/>
          </a:xfrm>
          <a:prstGeom prst="rect">
            <a:avLst/>
          </a:prstGeom>
          <a:noFill/>
        </p:spPr>
        <p:txBody>
          <a:bodyPr wrap="square" lIns="0" rIns="0" tIns="0" bIns="0">
            <a:spAutoFit/>
          </a:bodyPr>
          <a:lstStyle/>
          <a:p>
            <a:r>
              <a:rPr sz="1200">
                <a:solidFill>
                  <a:srgbClr val="6E7178"/>
                </a:solidFill>
                <a:latin typeface="Calibri"/>
              </a:rPr>
              <a:t>Below ~900 filters a ±50-filter change moves the objective further than the whole distance from rank 1 to rank 10.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685800"/>
          </a:xfrm>
          <a:prstGeom prst="rect">
            <a:avLst/>
          </a:prstGeom>
          <a:noFill/>
        </p:spPr>
        <p:txBody>
          <a:bodyPr wrap="square" lIns="0" rIns="0" tIns="0" bIns="0">
            <a:spAutoFit/>
          </a:bodyPr>
          <a:lstStyle/>
          <a:p>
            <a:r>
              <a:rPr sz="2200" b="1">
                <a:solidFill>
                  <a:srgbClr val="22252A"/>
                </a:solidFill>
                <a:latin typeface="Calibri"/>
              </a:rPr>
              <a:t>The vetted winner survives</a:t>
            </a:r>
          </a:p>
        </p:txBody>
      </p:sp>
      <p:pic>
        <p:nvPicPr>
          <p:cNvPr id="3" name="Picture 2" descr="07_blind_half_rank.png"/>
          <p:cNvPicPr>
            <a:picLocks noChangeAspect="1"/>
          </p:cNvPicPr>
          <p:nvPr/>
        </p:nvPicPr>
        <p:blipFill>
          <a:blip r:embed="rId2"/>
          <a:stretch>
            <a:fillRect/>
          </a:stretch>
        </p:blipFill>
        <p:spPr>
          <a:xfrm>
            <a:off x="3819548" y="1280160"/>
            <a:ext cx="4552597" cy="4389120"/>
          </a:xfrm>
          <a:prstGeom prst="rect">
            <a:avLst/>
          </a:prstGeom>
        </p:spPr>
      </p:pic>
      <p:sp>
        <p:nvSpPr>
          <p:cNvPr id="4" name="TextBox 3"/>
          <p:cNvSpPr txBox="1"/>
          <p:nvPr/>
        </p:nvSpPr>
        <p:spPr>
          <a:xfrm>
            <a:off x="457200" y="5760720"/>
            <a:ext cx="11277295" cy="640080"/>
          </a:xfrm>
          <a:prstGeom prst="rect">
            <a:avLst/>
          </a:prstGeom>
          <a:noFill/>
        </p:spPr>
        <p:txBody>
          <a:bodyPr wrap="square" lIns="0" rIns="0" tIns="0" bIns="0">
            <a:spAutoFit/>
          </a:bodyPr>
          <a:lstStyle/>
          <a:p>
            <a:r>
              <a:rPr sz="1200">
                <a:solidFill>
                  <a:srgbClr val="6E7178"/>
                </a:solidFill>
                <a:latin typeface="Calibri"/>
              </a:rPr>
              <a:t>Top ten on the early half cluster in the corner on the late half. This corrects the earlier claim that the leaderboard top was noise.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685800"/>
          </a:xfrm>
          <a:prstGeom prst="rect">
            <a:avLst/>
          </a:prstGeom>
          <a:noFill/>
        </p:spPr>
        <p:txBody>
          <a:bodyPr wrap="square" lIns="0" rIns="0" tIns="0" bIns="0">
            <a:spAutoFit/>
          </a:bodyPr>
          <a:lstStyle/>
          <a:p>
            <a:r>
              <a:rPr sz="2200" b="1">
                <a:solidFill>
                  <a:srgbClr val="22252A"/>
                </a:solidFill>
                <a:latin typeface="Calibri"/>
              </a:rPr>
              <a:t>The 1617 cm⁻¹ band does not track the offset</a:t>
            </a:r>
          </a:p>
        </p:txBody>
      </p:sp>
      <p:pic>
        <p:nvPicPr>
          <p:cNvPr id="3" name="Picture 2" descr="08_band_vs_offset.png"/>
          <p:cNvPicPr>
            <a:picLocks noChangeAspect="1"/>
          </p:cNvPicPr>
          <p:nvPr/>
        </p:nvPicPr>
        <p:blipFill>
          <a:blip r:embed="rId2"/>
          <a:stretch>
            <a:fillRect/>
          </a:stretch>
        </p:blipFill>
        <p:spPr>
          <a:xfrm>
            <a:off x="2911238" y="1280160"/>
            <a:ext cx="6369218" cy="4389120"/>
          </a:xfrm>
          <a:prstGeom prst="rect">
            <a:avLst/>
          </a:prstGeom>
        </p:spPr>
      </p:pic>
      <p:sp>
        <p:nvSpPr>
          <p:cNvPr id="4" name="TextBox 3"/>
          <p:cNvSpPr txBox="1"/>
          <p:nvPr/>
        </p:nvSpPr>
        <p:spPr>
          <a:xfrm>
            <a:off x="457200" y="5760720"/>
            <a:ext cx="11277295" cy="640080"/>
          </a:xfrm>
          <a:prstGeom prst="rect">
            <a:avLst/>
          </a:prstGeom>
          <a:noFill/>
        </p:spPr>
        <p:txBody>
          <a:bodyPr wrap="square" lIns="0" rIns="0" tIns="0" bIns="0">
            <a:spAutoFit/>
          </a:bodyPr>
          <a:lstStyle/>
          <a:p>
            <a:r>
              <a:rPr sz="1200">
                <a:solidFill>
                  <a:srgbClr val="6E7178"/>
                </a:solidFill>
                <a:latin typeface="Calibri"/>
              </a:rPr>
              <a:t>Pasadena has the strongest normalised band of any site and a positive offset; Bishoftu the weakest and a negative one.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685800"/>
          </a:xfrm>
          <a:prstGeom prst="rect">
            <a:avLst/>
          </a:prstGeom>
          <a:noFill/>
        </p:spPr>
        <p:txBody>
          <a:bodyPr wrap="square" lIns="0" rIns="0" tIns="0" bIns="0">
            <a:spAutoFit/>
          </a:bodyPr>
          <a:lstStyle/>
          <a:p>
            <a:r>
              <a:rPr sz="2200" b="1">
                <a:solidFill>
                  <a:srgbClr val="22252A"/>
                </a:solidFill>
                <a:latin typeface="Calibri"/>
              </a:rPr>
              <a:t>Every Addis iteration, all 20,869 of them</a:t>
            </a:r>
          </a:p>
        </p:txBody>
      </p:sp>
      <p:pic>
        <p:nvPicPr>
          <p:cNvPr id="3" name="Picture 2" descr="01_specification_curve.png"/>
          <p:cNvPicPr>
            <a:picLocks noChangeAspect="1"/>
          </p:cNvPicPr>
          <p:nvPr/>
        </p:nvPicPr>
        <p:blipFill>
          <a:blip r:embed="rId2"/>
          <a:stretch>
            <a:fillRect/>
          </a:stretch>
        </p:blipFill>
        <p:spPr>
          <a:xfrm>
            <a:off x="2858737" y="1280160"/>
            <a:ext cx="6474221" cy="4389120"/>
          </a:xfrm>
          <a:prstGeom prst="rect">
            <a:avLst/>
          </a:prstGeom>
        </p:spPr>
      </p:pic>
      <p:sp>
        <p:nvSpPr>
          <p:cNvPr id="4" name="TextBox 3"/>
          <p:cNvSpPr txBox="1"/>
          <p:nvPr/>
        </p:nvSpPr>
        <p:spPr>
          <a:xfrm>
            <a:off x="457200" y="5760720"/>
            <a:ext cx="11277295" cy="640080"/>
          </a:xfrm>
          <a:prstGeom prst="rect">
            <a:avLst/>
          </a:prstGeom>
          <a:noFill/>
        </p:spPr>
        <p:txBody>
          <a:bodyPr wrap="square" lIns="0" rIns="0" tIns="0" bIns="0">
            <a:spAutoFit/>
          </a:bodyPr>
          <a:lstStyle/>
          <a:p>
            <a:r>
              <a:rPr sz="1200">
                <a:solidFill>
                  <a:srgbClr val="6E7178"/>
                </a:solidFill>
                <a:latin typeface="Calibri"/>
              </a:rPr>
              <a:t>Each specification's intercept, sorted, with the analytic choices that produced it marked beneath. Raw baselines block the bad end and AIRSpec fills the good end, which is the visual form of baselining being 49% of the variance. 355 clear every guardrail and none reaches zero.</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685800"/>
          </a:xfrm>
          <a:prstGeom prst="rect">
            <a:avLst/>
          </a:prstGeom>
          <a:noFill/>
        </p:spPr>
        <p:txBody>
          <a:bodyPr wrap="square" lIns="0" rIns="0" tIns="0" bIns="0">
            <a:spAutoFit/>
          </a:bodyPr>
          <a:lstStyle/>
          <a:p>
            <a:r>
              <a:rPr sz="2200" b="1">
                <a:solidFill>
                  <a:srgbClr val="22252A"/>
                </a:solidFill>
                <a:latin typeface="Calibri"/>
              </a:rPr>
              <a:t>Loading is not the mechanism</a:t>
            </a:r>
          </a:p>
        </p:txBody>
      </p:sp>
      <p:pic>
        <p:nvPicPr>
          <p:cNvPr id="3" name="Picture 2" descr="02_loading_within_addis.png"/>
          <p:cNvPicPr>
            <a:picLocks noChangeAspect="1"/>
          </p:cNvPicPr>
          <p:nvPr/>
        </p:nvPicPr>
        <p:blipFill>
          <a:blip r:embed="rId2"/>
          <a:stretch>
            <a:fillRect/>
          </a:stretch>
        </p:blipFill>
        <p:spPr>
          <a:xfrm>
            <a:off x="2623813" y="1280160"/>
            <a:ext cx="6944068" cy="4389120"/>
          </a:xfrm>
          <a:prstGeom prst="rect">
            <a:avLst/>
          </a:prstGeom>
        </p:spPr>
      </p:pic>
      <p:sp>
        <p:nvSpPr>
          <p:cNvPr id="4" name="TextBox 3"/>
          <p:cNvSpPr txBox="1"/>
          <p:nvPr/>
        </p:nvSpPr>
        <p:spPr>
          <a:xfrm>
            <a:off x="457200" y="5760720"/>
            <a:ext cx="11277295" cy="640080"/>
          </a:xfrm>
          <a:prstGeom prst="rect">
            <a:avLst/>
          </a:prstGeom>
          <a:noFill/>
        </p:spPr>
        <p:txBody>
          <a:bodyPr wrap="square" lIns="0" rIns="0" tIns="0" bIns="0">
            <a:spAutoFit/>
          </a:bodyPr>
          <a:lstStyle/>
          <a:p>
            <a:r>
              <a:rPr sz="1200">
                <a:solidFill>
                  <a:srgbClr val="6E7178"/>
                </a:solidFill>
                <a:latin typeface="Calibri"/>
              </a:rPr>
              <a:t>Within Addis, r = −0.10 against filter darkness, and the lightest quartile already carries −1.61 of the −1.7.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685800"/>
          </a:xfrm>
          <a:prstGeom prst="rect">
            <a:avLst/>
          </a:prstGeom>
          <a:noFill/>
        </p:spPr>
        <p:txBody>
          <a:bodyPr wrap="square" lIns="0" rIns="0" tIns="0" bIns="0">
            <a:spAutoFit/>
          </a:bodyPr>
          <a:lstStyle/>
          <a:p>
            <a:r>
              <a:rPr sz="2200" b="1">
                <a:solidFill>
                  <a:srgbClr val="22252A"/>
                </a:solidFill>
                <a:latin typeface="Calibri"/>
              </a:rPr>
              <a:t>The offset is additive</a:t>
            </a:r>
          </a:p>
        </p:txBody>
      </p:sp>
      <p:pic>
        <p:nvPicPr>
          <p:cNvPr id="3" name="Picture 2" descr="03_additive_not_multiplicative.png"/>
          <p:cNvPicPr>
            <a:picLocks noChangeAspect="1"/>
          </p:cNvPicPr>
          <p:nvPr/>
        </p:nvPicPr>
        <p:blipFill>
          <a:blip r:embed="rId2"/>
          <a:stretch>
            <a:fillRect/>
          </a:stretch>
        </p:blipFill>
        <p:spPr>
          <a:xfrm>
            <a:off x="2623813" y="1280160"/>
            <a:ext cx="6944068" cy="4389120"/>
          </a:xfrm>
          <a:prstGeom prst="rect">
            <a:avLst/>
          </a:prstGeom>
        </p:spPr>
      </p:pic>
      <p:sp>
        <p:nvSpPr>
          <p:cNvPr id="4" name="TextBox 3"/>
          <p:cNvSpPr txBox="1"/>
          <p:nvPr/>
        </p:nvSpPr>
        <p:spPr>
          <a:xfrm>
            <a:off x="457200" y="5760720"/>
            <a:ext cx="11277295" cy="640080"/>
          </a:xfrm>
          <a:prstGeom prst="rect">
            <a:avLst/>
          </a:prstGeom>
          <a:noFill/>
        </p:spPr>
        <p:txBody>
          <a:bodyPr wrap="square" lIns="0" rIns="0" tIns="0" bIns="0">
            <a:spAutoFit/>
          </a:bodyPr>
          <a:lstStyle/>
          <a:p>
            <a:r>
              <a:rPr sz="1200">
                <a:solidFill>
                  <a:srgbClr val="6E7178"/>
                </a:solidFill>
                <a:latin typeface="Calibri"/>
              </a:rPr>
              <a:t>Residual against concentration is flat, slope −0.088. A wrong MAC or any proportional error would tilt this line.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685800"/>
          </a:xfrm>
          <a:prstGeom prst="rect">
            <a:avLst/>
          </a:prstGeom>
          <a:noFill/>
        </p:spPr>
        <p:txBody>
          <a:bodyPr wrap="square" lIns="0" rIns="0" tIns="0" bIns="0">
            <a:spAutoFit/>
          </a:bodyPr>
          <a:lstStyle/>
          <a:p>
            <a:r>
              <a:rPr sz="2200" b="1">
                <a:solidFill>
                  <a:srgbClr val="22252A"/>
                </a:solidFill>
                <a:latin typeface="Calibri"/>
              </a:rPr>
              <a:t>No drift, no processing step</a:t>
            </a:r>
          </a:p>
        </p:txBody>
      </p:sp>
      <p:pic>
        <p:nvPicPr>
          <p:cNvPr id="3" name="Picture 2" descr="04_no_temporal_drift.png"/>
          <p:cNvPicPr>
            <a:picLocks noChangeAspect="1"/>
          </p:cNvPicPr>
          <p:nvPr/>
        </p:nvPicPr>
        <p:blipFill>
          <a:blip r:embed="rId2"/>
          <a:stretch>
            <a:fillRect/>
          </a:stretch>
        </p:blipFill>
        <p:spPr>
          <a:xfrm>
            <a:off x="1969585" y="1280160"/>
            <a:ext cx="8252523" cy="4389120"/>
          </a:xfrm>
          <a:prstGeom prst="rect">
            <a:avLst/>
          </a:prstGeom>
        </p:spPr>
      </p:pic>
      <p:sp>
        <p:nvSpPr>
          <p:cNvPr id="4" name="TextBox 3"/>
          <p:cNvSpPr txBox="1"/>
          <p:nvPr/>
        </p:nvSpPr>
        <p:spPr>
          <a:xfrm>
            <a:off x="457200" y="5760720"/>
            <a:ext cx="11277295" cy="640080"/>
          </a:xfrm>
          <a:prstGeom prst="rect">
            <a:avLst/>
          </a:prstGeom>
          <a:noFill/>
        </p:spPr>
        <p:txBody>
          <a:bodyPr wrap="square" lIns="0" rIns="0" tIns="0" bIns="0">
            <a:spAutoFit/>
          </a:bodyPr>
          <a:lstStyle/>
          <a:p>
            <a:r>
              <a:rPr sz="1200">
                <a:solidFill>
                  <a:srgbClr val="6E7178"/>
                </a:solidFill>
                <a:latin typeface="Calibri"/>
              </a:rPr>
              <a:t>+0.016 µg/m³ per year across three years and multiple analysis batches.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685800"/>
          </a:xfrm>
          <a:prstGeom prst="rect">
            <a:avLst/>
          </a:prstGeom>
          <a:noFill/>
        </p:spPr>
        <p:txBody>
          <a:bodyPr wrap="square" lIns="0" rIns="0" tIns="0" bIns="0">
            <a:spAutoFit/>
          </a:bodyPr>
          <a:lstStyle/>
          <a:p>
            <a:r>
              <a:rPr sz="2200" b="1">
                <a:solidFill>
                  <a:srgbClr val="22252A"/>
                </a:solidFill>
                <a:latin typeface="Calibri"/>
              </a:rPr>
              <a:t>Addis is in-domain and still wrong</a:t>
            </a:r>
          </a:p>
        </p:txBody>
      </p:sp>
      <p:pic>
        <p:nvPicPr>
          <p:cNvPr id="3" name="Picture 2" descr="05_domain_diagnostic.png"/>
          <p:cNvPicPr>
            <a:picLocks noChangeAspect="1"/>
          </p:cNvPicPr>
          <p:nvPr/>
        </p:nvPicPr>
        <p:blipFill>
          <a:blip r:embed="rId2"/>
          <a:stretch>
            <a:fillRect/>
          </a:stretch>
        </p:blipFill>
        <p:spPr>
          <a:xfrm>
            <a:off x="2863091" y="1280160"/>
            <a:ext cx="6465511" cy="4389120"/>
          </a:xfrm>
          <a:prstGeom prst="rect">
            <a:avLst/>
          </a:prstGeom>
        </p:spPr>
      </p:pic>
      <p:sp>
        <p:nvSpPr>
          <p:cNvPr id="4" name="TextBox 3"/>
          <p:cNvSpPr txBox="1"/>
          <p:nvPr/>
        </p:nvSpPr>
        <p:spPr>
          <a:xfrm>
            <a:off x="457200" y="5760720"/>
            <a:ext cx="11277295" cy="640080"/>
          </a:xfrm>
          <a:prstGeom prst="rect">
            <a:avLst/>
          </a:prstGeom>
          <a:noFill/>
        </p:spPr>
        <p:txBody>
          <a:bodyPr wrap="square" lIns="0" rIns="0" tIns="0" bIns="0">
            <a:spAutoFit/>
          </a:bodyPr>
          <a:lstStyle/>
          <a:p>
            <a:r>
              <a:rPr sz="1200">
                <a:solidFill>
                  <a:srgbClr val="6E7178"/>
                </a:solidFill>
                <a:latin typeface="Calibri"/>
              </a:rPr>
              <a:t>Weakley's diagnostic puts Addis at 0.4% out-of-domain, the lowest of the five sites. Beijing flags at 32% and reads high.</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685800"/>
          </a:xfrm>
          <a:prstGeom prst="rect">
            <a:avLst/>
          </a:prstGeom>
          <a:noFill/>
        </p:spPr>
        <p:txBody>
          <a:bodyPr wrap="square" lIns="0" rIns="0" tIns="0" bIns="0">
            <a:spAutoFit/>
          </a:bodyPr>
          <a:lstStyle/>
          <a:p>
            <a:r>
              <a:rPr sz="2200" b="1">
                <a:solidFill>
                  <a:srgbClr val="22252A"/>
                </a:solidFill>
                <a:latin typeface="Calibri"/>
              </a:rPr>
              <a:t>No single MAC reconciles Addis</a:t>
            </a:r>
          </a:p>
        </p:txBody>
      </p:sp>
      <p:pic>
        <p:nvPicPr>
          <p:cNvPr id="3" name="Picture 2" descr="06_implied_mac_by_site.png"/>
          <p:cNvPicPr>
            <a:picLocks noChangeAspect="1"/>
          </p:cNvPicPr>
          <p:nvPr/>
        </p:nvPicPr>
        <p:blipFill>
          <a:blip r:embed="rId2"/>
          <a:stretch>
            <a:fillRect/>
          </a:stretch>
        </p:blipFill>
        <p:spPr>
          <a:xfrm>
            <a:off x="2324954" y="1280160"/>
            <a:ext cx="7541785" cy="4389120"/>
          </a:xfrm>
          <a:prstGeom prst="rect">
            <a:avLst/>
          </a:prstGeom>
        </p:spPr>
      </p:pic>
      <p:sp>
        <p:nvSpPr>
          <p:cNvPr id="4" name="TextBox 3"/>
          <p:cNvSpPr txBox="1"/>
          <p:nvPr/>
        </p:nvSpPr>
        <p:spPr>
          <a:xfrm>
            <a:off x="457200" y="5760720"/>
            <a:ext cx="11277295" cy="640080"/>
          </a:xfrm>
          <a:prstGeom prst="rect">
            <a:avLst/>
          </a:prstGeom>
          <a:noFill/>
        </p:spPr>
        <p:txBody>
          <a:bodyPr wrap="square" lIns="0" rIns="0" tIns="0" bIns="0">
            <a:spAutoFit/>
          </a:bodyPr>
          <a:lstStyle/>
          <a:p>
            <a:r>
              <a:rPr sz="1200">
                <a:solidFill>
                  <a:srgbClr val="6E7178"/>
                </a:solidFill>
                <a:latin typeface="Calibri"/>
              </a:rPr>
              <a:t>Bar length is the gap between the MAC that would zero the bias and the MAC that would make the slope 1. Beijing is consistent at ~6.9; Addis needs 15.4 and 10.0 at once.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685800"/>
          </a:xfrm>
          <a:prstGeom prst="rect">
            <a:avLst/>
          </a:prstGeom>
          <a:noFill/>
        </p:spPr>
        <p:txBody>
          <a:bodyPr wrap="square" lIns="0" rIns="0" tIns="0" bIns="0">
            <a:spAutoFit/>
          </a:bodyPr>
          <a:lstStyle/>
          <a:p>
            <a:r>
              <a:rPr sz="2200" b="1">
                <a:solidFill>
                  <a:srgbClr val="22252A"/>
                </a:solidFill>
                <a:latin typeface="Calibri"/>
              </a:rPr>
              <a:t>What MAC moves, and what it does not</a:t>
            </a:r>
          </a:p>
        </p:txBody>
      </p:sp>
      <p:pic>
        <p:nvPicPr>
          <p:cNvPr id="3" name="Picture 2" descr="07_mac_invariance.png"/>
          <p:cNvPicPr>
            <a:picLocks noChangeAspect="1"/>
          </p:cNvPicPr>
          <p:nvPr/>
        </p:nvPicPr>
        <p:blipFill>
          <a:blip r:embed="rId2"/>
          <a:stretch>
            <a:fillRect/>
          </a:stretch>
        </p:blipFill>
        <p:spPr>
          <a:xfrm>
            <a:off x="2359578" y="1280160"/>
            <a:ext cx="7472538" cy="4389120"/>
          </a:xfrm>
          <a:prstGeom prst="rect">
            <a:avLst/>
          </a:prstGeom>
        </p:spPr>
      </p:pic>
      <p:sp>
        <p:nvSpPr>
          <p:cNvPr id="4" name="TextBox 3"/>
          <p:cNvSpPr txBox="1"/>
          <p:nvPr/>
        </p:nvSpPr>
        <p:spPr>
          <a:xfrm>
            <a:off x="457200" y="5760720"/>
            <a:ext cx="11277295" cy="640080"/>
          </a:xfrm>
          <a:prstGeom prst="rect">
            <a:avLst/>
          </a:prstGeom>
          <a:noFill/>
        </p:spPr>
        <p:txBody>
          <a:bodyPr wrap="square" lIns="0" rIns="0" tIns="0" bIns="0">
            <a:spAutoFit/>
          </a:bodyPr>
          <a:lstStyle/>
          <a:p>
            <a:r>
              <a:rPr sz="1200">
                <a:solidFill>
                  <a:srgbClr val="6E7178"/>
                </a:solidFill>
                <a:latin typeface="Calibri"/>
              </a:rPr>
              <a:t>The Deming intercept is identical at MAC 6, 10 and 17. The mean residual swings from −4.98 to +0.29.</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685800"/>
          </a:xfrm>
          <a:prstGeom prst="rect">
            <a:avLst/>
          </a:prstGeom>
          <a:noFill/>
        </p:spPr>
        <p:txBody>
          <a:bodyPr wrap="square" lIns="0" rIns="0" tIns="0" bIns="0">
            <a:spAutoFit/>
          </a:bodyPr>
          <a:lstStyle/>
          <a:p>
            <a:r>
              <a:rPr sz="2200" b="1">
                <a:solidFill>
                  <a:srgbClr val="22252A"/>
                </a:solidFill>
                <a:latin typeface="Calibri"/>
              </a:rPr>
              <a:t>The residual's variation is spectrally visible</a:t>
            </a:r>
          </a:p>
        </p:txBody>
      </p:sp>
      <p:pic>
        <p:nvPicPr>
          <p:cNvPr id="3" name="Picture 2" descr="08_residual_is_spectrally_visible.png"/>
          <p:cNvPicPr>
            <a:picLocks noChangeAspect="1"/>
          </p:cNvPicPr>
          <p:nvPr/>
        </p:nvPicPr>
        <p:blipFill>
          <a:blip r:embed="rId2"/>
          <a:stretch>
            <a:fillRect/>
          </a:stretch>
        </p:blipFill>
        <p:spPr>
          <a:xfrm>
            <a:off x="2442138" y="1280160"/>
            <a:ext cx="7307417" cy="4389120"/>
          </a:xfrm>
          <a:prstGeom prst="rect">
            <a:avLst/>
          </a:prstGeom>
        </p:spPr>
      </p:pic>
      <p:sp>
        <p:nvSpPr>
          <p:cNvPr id="4" name="TextBox 3"/>
          <p:cNvSpPr txBox="1"/>
          <p:nvPr/>
        </p:nvSpPr>
        <p:spPr>
          <a:xfrm>
            <a:off x="457200" y="5760720"/>
            <a:ext cx="11277295" cy="640080"/>
          </a:xfrm>
          <a:prstGeom prst="rect">
            <a:avLst/>
          </a:prstGeom>
          <a:noFill/>
        </p:spPr>
        <p:txBody>
          <a:bodyPr wrap="square" lIns="0" rIns="0" tIns="0" bIns="0">
            <a:spAutoFit/>
          </a:bodyPr>
          <a:lstStyle/>
          <a:p>
            <a:r>
              <a:rPr sz="1200">
                <a:solidFill>
                  <a:srgbClr val="6E7178"/>
                </a:solidFill>
                <a:latin typeface="Calibri"/>
              </a:rPr>
              <a:t>A model predicts the FTIR−HIPS residual from the spectra at CV R² 0.32–0.40 under strict schemes, about two thirds the predictability of the reference itself.</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685800"/>
          </a:xfrm>
          <a:prstGeom prst="rect">
            <a:avLst/>
          </a:prstGeom>
          <a:noFill/>
        </p:spPr>
        <p:txBody>
          <a:bodyPr wrap="square" lIns="0" rIns="0" tIns="0" bIns="0">
            <a:spAutoFit/>
          </a:bodyPr>
          <a:lstStyle/>
          <a:p>
            <a:r>
              <a:rPr sz="2200" b="1">
                <a:solidFill>
                  <a:srgbClr val="22252A"/>
                </a:solidFill>
                <a:latin typeface="Calibri"/>
              </a:rPr>
              <a:t>Negative under every slice</a:t>
            </a:r>
          </a:p>
        </p:txBody>
      </p:sp>
      <p:pic>
        <p:nvPicPr>
          <p:cNvPr id="3" name="Picture 2" descr="09_offset_under_every_slice.png"/>
          <p:cNvPicPr>
            <a:picLocks noChangeAspect="1"/>
          </p:cNvPicPr>
          <p:nvPr/>
        </p:nvPicPr>
        <p:blipFill>
          <a:blip r:embed="rId2"/>
          <a:stretch>
            <a:fillRect/>
          </a:stretch>
        </p:blipFill>
        <p:spPr>
          <a:xfrm>
            <a:off x="2770443" y="1280160"/>
            <a:ext cx="6650807" cy="4389120"/>
          </a:xfrm>
          <a:prstGeom prst="rect">
            <a:avLst/>
          </a:prstGeom>
        </p:spPr>
      </p:pic>
      <p:sp>
        <p:nvSpPr>
          <p:cNvPr id="4" name="TextBox 3"/>
          <p:cNvSpPr txBox="1"/>
          <p:nvPr/>
        </p:nvSpPr>
        <p:spPr>
          <a:xfrm>
            <a:off x="457200" y="5760720"/>
            <a:ext cx="11277295" cy="640080"/>
          </a:xfrm>
          <a:prstGeom prst="rect">
            <a:avLst/>
          </a:prstGeom>
          <a:noFill/>
        </p:spPr>
        <p:txBody>
          <a:bodyPr wrap="square" lIns="0" rIns="0" tIns="0" bIns="0">
            <a:spAutoFit/>
          </a:bodyPr>
          <a:lstStyle/>
          <a:p>
            <a:r>
              <a:rPr sz="1200">
                <a:solidFill>
                  <a:srgbClr val="6E7178"/>
                </a:solidFill>
                <a:latin typeface="Calibri"/>
              </a:rPr>
              <a:t>Season, PMF source class, filter lot and blind half. The dry season at −0.26 is the shallowest and matches the committed seasonal table.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