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FTIR–EC at Addis Ababa: from one bad crossplot to a five-city adjudication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Ahmad Jalil; UNBC / UC Davis AQRC; FTIR group, 27 Aug 2026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Conventions: Deming λ* primary (MAC 10, λ ∝ MAC²), µg/m³ everywhere,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protocol named on every figure; screening vs held-out results labelled.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problem: the deployed calibration reads Addis at 1.90x − 4.17</a:t>
            </a:r>
          </a:p>
        </p:txBody>
      </p:sp>
      <p:pic>
        <p:nvPicPr>
          <p:cNvPr id="3" name="Picture 2" descr="deployed_alldata_cross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225697"/>
            <a:ext cx="11155680" cy="5229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What a raw spectrum mostly is: ~90% Teflon background, and Addis rides a higher one</a:t>
            </a:r>
          </a:p>
        </p:txBody>
      </p:sp>
      <p:pic>
        <p:nvPicPr>
          <p:cNvPr id="3" name="Picture 2" descr="f14_tef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424425"/>
            <a:ext cx="11155679" cy="2832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Baseline correction, shown on one real filter</a:t>
            </a:r>
          </a:p>
        </p:txBody>
      </p:sp>
      <p:pic>
        <p:nvPicPr>
          <p:cNvPr id="3" name="Picture 2" descr="airspec_1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4" y="1120139"/>
            <a:ext cx="10609326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Six setups × three protocols: Option B reproduces the historical numbers; protocol moves less than setup</a:t>
            </a:r>
          </a:p>
        </p:txBody>
      </p:sp>
      <p:pic>
        <p:nvPicPr>
          <p:cNvPr id="3" name="Picture 2" descr="f1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396533"/>
            <a:ext cx="11155680" cy="4887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Raw spectra, Option A: every cohort lands a negative intercept; selection alone does not fix raw</a:t>
            </a:r>
          </a:p>
        </p:txBody>
      </p:sp>
      <p:pic>
        <p:nvPicPr>
          <p:cNvPr id="3" name="Picture 2" descr="f11_grid_raw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00" y="1120139"/>
            <a:ext cx="87406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Baseline-corrected, Option A: intercepts shrink everywhere; only lowest-OC/EC + AIRSpec keeps slope and TOR skill</a:t>
            </a:r>
          </a:p>
        </p:txBody>
      </p:sp>
      <p:pic>
        <p:nvPicPr>
          <p:cNvPr id="3" name="Picture 2" descr="f12_grid_airspec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00" y="1120139"/>
            <a:ext cx="87406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How the composition cohort is picked: rank the pool by OC/EC, keep the lowest</a:t>
            </a:r>
          </a:p>
        </p:txBody>
      </p:sp>
      <p:pic>
        <p:nvPicPr>
          <p:cNvPr id="3" name="Picture 2" descr="filtering_by_oc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6" y="1120139"/>
            <a:ext cx="11133362" cy="54406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How spectral analogs are picked: score-space closeness to Addis, in either spectra space</a:t>
            </a:r>
          </a:p>
        </p:txBody>
      </p:sp>
      <p:pic>
        <p:nvPicPr>
          <p:cNvPr id="3" name="Picture 2" descr="f13_analog_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62" y="1120139"/>
            <a:ext cx="8634969" cy="54406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Selecting analogs on corrected spectra fixes them: −9.7 → −4.3, with real TOR skill</a:t>
            </a:r>
          </a:p>
        </p:txBody>
      </p:sp>
      <p:pic>
        <p:nvPicPr>
          <p:cNvPr id="3" name="Picture 2" descr="f2_analog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40578"/>
            <a:ext cx="11155679" cy="47998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Why it works: raw analog similarity was matching Teflon; 4 of 477 filters survive corrected re-selection</a:t>
            </a:r>
          </a:p>
        </p:txBody>
      </p:sp>
      <p:pic>
        <p:nvPicPr>
          <p:cNvPr id="3" name="Picture 2" descr="f3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60841"/>
            <a:ext cx="11155680" cy="45592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Ethiopia-shaped rescue: nearly the same filters, but held-out TOR goes 0.00 → 0.63</a:t>
            </a:r>
          </a:p>
        </p:txBody>
      </p:sp>
      <p:pic>
        <p:nvPicPr>
          <p:cNvPr id="3" name="Picture 2" descr="f4_eth_res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40578"/>
            <a:ext cx="11155679" cy="47998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Satoshi's k question, answered: 21 components instead of 9 does not fix the analogs</a:t>
            </a:r>
          </a:p>
        </p:txBody>
      </p:sp>
      <p:pic>
        <p:nvPicPr>
          <p:cNvPr id="3" name="Picture 2" descr="f5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708287"/>
            <a:ext cx="11155680" cy="4264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Cohort size is a real lever: the dense sweep found a basin below the locked 800</a:t>
            </a:r>
          </a:p>
        </p:txBody>
      </p:sp>
      <p:pic>
        <p:nvPicPr>
          <p:cNvPr id="3" name="Picture 2" descr="f_cutoff_ba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62" y="1120140"/>
            <a:ext cx="9357969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HIPS scattering correction is a regression through blanks, and heavy filters sit beyond its support</a:t>
            </a:r>
          </a:p>
        </p:txBody>
      </p:sp>
      <p:pic>
        <p:nvPicPr>
          <p:cNvPr id="3" name="Picture 2" descr="f3_blanklin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10" y="1120139"/>
            <a:ext cx="7463074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Addis intercept survives the instrument check: the blank-line share is ~15%</a:t>
            </a:r>
          </a:p>
        </p:txBody>
      </p:sp>
      <p:pic>
        <p:nvPicPr>
          <p:cNvPr id="3" name="Picture 2" descr="f1_intercept_blanklin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27" y="1120140"/>
            <a:ext cx="98450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Pasadena's slope anomaly was the blank line; Delhi's 1.8x is real</a:t>
            </a:r>
          </a:p>
        </p:txBody>
      </p:sp>
      <p:pic>
        <p:nvPicPr>
          <p:cNvPr id="3" name="Picture 2" descr="f2_slope_blanklin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27" y="1120140"/>
            <a:ext cx="98450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Lot 248 isn't a partial download, it's a two-month lot</a:t>
            </a:r>
          </a:p>
        </p:txBody>
      </p:sp>
      <p:pic>
        <p:nvPicPr>
          <p:cNvPr id="3" name="Picture 2" descr="f_lot_census_im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205493"/>
            <a:ext cx="11155679" cy="52699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Baseline correction removes the lot-to-lot difference: the mechanism Ann predicted</a:t>
            </a:r>
          </a:p>
        </p:txBody>
      </p:sp>
      <p:pic>
        <p:nvPicPr>
          <p:cNvPr id="3" name="Picture 2" descr="f_lot_baseline_removes_lo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75187"/>
            <a:ext cx="11155680" cy="45305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Four more cities' spectra, pulled and evaluated, plus a lesson about baselines</a:t>
            </a:r>
          </a:p>
        </p:txBody>
      </p:sp>
      <p:pic>
        <p:nvPicPr>
          <p:cNvPr id="3" name="Picture 2" descr="cross_site_spectra_2026-08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207" y="1120139"/>
            <a:ext cx="84632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An exhaustive search: no cohort, baseline, or k reconciles Addis and Delhi</a:t>
            </a:r>
          </a:p>
        </p:txBody>
      </p:sp>
      <p:pic>
        <p:nvPicPr>
          <p:cNvPr id="3" name="Picture 2" descr="f4_screening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22" y="1120139"/>
            <a:ext cx="7533249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Baselining relocates seasonality: the dry season becomes the anomaly</a:t>
            </a:r>
          </a:p>
        </p:txBody>
      </p:sp>
      <p:pic>
        <p:nvPicPr>
          <p:cNvPr id="3" name="Picture 2" descr="f_season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376608"/>
            <a:ext cx="11155680" cy="49277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Mie theory grounds the MAC fork: bare BC tops out near 6; MAC 10 means aged, thickly coated particles</a:t>
            </a:r>
          </a:p>
        </p:txBody>
      </p:sp>
      <p:pic>
        <p:nvPicPr>
          <p:cNvPr id="3" name="Picture 2" descr="f8_mac_m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50737"/>
            <a:ext cx="11155680" cy="45794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AERONET diurnal confound is measured, and the Addis anomaly widens, not closes</a:t>
            </a:r>
          </a:p>
        </p:txBody>
      </p:sp>
      <p:pic>
        <p:nvPicPr>
          <p:cNvPr id="3" name="Picture 2" descr="f_aeronet_di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135944"/>
            <a:ext cx="11155680" cy="34090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Addis reports more absorption than its own column can account for</a:t>
            </a:r>
          </a:p>
        </p:txBody>
      </p:sp>
      <p:pic>
        <p:nvPicPr>
          <p:cNvPr id="3" name="Picture 2" descr="f_aeronet_colum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16380"/>
            <a:ext cx="1115568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Adama is not Addis: normal OC/EC, no HIPS-EC gap; more Adama samples won't arbitrate this</a:t>
            </a:r>
          </a:p>
        </p:txBody>
      </p:sp>
      <p:pic>
        <p:nvPicPr>
          <p:cNvPr id="3" name="Picture 2" descr="f_adama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612038"/>
            <a:ext cx="11155680" cy="44568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calibration explorer: the Shiny-app idea, rebuilt in Python for this research</a:t>
            </a:r>
          </a:p>
        </p:txBody>
      </p:sp>
      <p:pic>
        <p:nvPicPr>
          <p:cNvPr id="3" name="Picture 2" descr="f_app_calib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63" y="1120139"/>
            <a:ext cx="9723768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Five-site evaluation is one click, and every prediction carries a domain check</a:t>
            </a:r>
          </a:p>
        </p:txBody>
      </p:sp>
      <p:pic>
        <p:nvPicPr>
          <p:cNvPr id="3" name="Picture 2" descr="f_app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63" y="1120139"/>
            <a:ext cx="9723768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leaderboard by city: every site optimizes to a different cohort size</a:t>
            </a:r>
          </a:p>
        </p:txBody>
      </p:sp>
      <p:pic>
        <p:nvPicPr>
          <p:cNvPr id="3" name="Picture 2" descr="f_out_leaderboard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283970"/>
            <a:ext cx="11155680" cy="51130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Cross-applied, every 'best' fails abroad; only the Ethiopian pair transfers</a:t>
            </a:r>
          </a:p>
        </p:txBody>
      </p:sp>
      <p:pic>
        <p:nvPicPr>
          <p:cNvPr id="3" name="Picture 2" descr="f_out_cross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00" y="1120139"/>
            <a:ext cx="108880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analog lab's verdict: the committed analog ranking is baseline-dominated</a:t>
            </a:r>
          </a:p>
        </p:txBody>
      </p:sp>
      <p:pic>
        <p:nvPicPr>
          <p:cNvPr id="3" name="Picture 2" descr="f_out_analog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233565"/>
            <a:ext cx="11155680" cy="52138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Validate-top-5: the winner takes 62.5% of re-selection draws, not all of them</a:t>
            </a:r>
          </a:p>
        </p:txBody>
      </p:sp>
      <p:pic>
        <p:nvPicPr>
          <p:cNvPr id="3" name="Picture 2" descr="f_out_winner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" y="1248155"/>
            <a:ext cx="10863072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Three lines of evidence end at the same two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Quartz TOR EC on collocated Addis filters: the only measurement that is a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   function of neither axis; breaks the offset-vs-curvature degeneracy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   (campaign one-pager written: ~36 filters, 3 seasons)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Solvent extraction + HIPS re-measurement on archived Addis + Delhi filters,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   Beijing/Pasadena controls: separates real absorbers from residual artifact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Both use existing samples or the existing sampling plan.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AAAR: poster Thursday 1-3 pm, session 9. Flights + conference hotel booked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Committee meeting: Sep 2, 3 pm. [FILL IN: confirm invites arrived]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Adama two-pager for Christian &amp; Sina: draft this week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Satoshi 1:1: ready when scheduled; his variants run live in the app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[FILL IN: lot-253 spectra pull; needs a session on the Windows/VPN machine]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52A"/>
                </a:solidFill>
              </a:defRPr>
            </a:pPr>
            <a:r>
              <a:t>Backup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raw grid under Option B2: the interleaved protocols agree with A on the story</a:t>
            </a:r>
          </a:p>
        </p:txBody>
      </p:sp>
      <p:pic>
        <p:nvPicPr>
          <p:cNvPr id="3" name="Picture 2" descr="f15_grid_raw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00" y="1120139"/>
            <a:ext cx="87406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corrected grid under Option B: the AIRSpec verdict is protocol-robust (−2.17)</a:t>
            </a:r>
          </a:p>
        </p:txBody>
      </p:sp>
      <p:pic>
        <p:nvPicPr>
          <p:cNvPr id="3" name="Picture 2" descr="f10_grid_air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00" y="1120139"/>
            <a:ext cx="87406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corrected grid under Option B2</a:t>
            </a:r>
          </a:p>
        </p:txBody>
      </p:sp>
      <p:pic>
        <p:nvPicPr>
          <p:cNvPr id="3" name="Picture 2" descr="f16_grid_airspec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00" y="1120139"/>
            <a:ext cx="87406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the corrected model's residuals no longer track extrapolation distance</a:t>
            </a:r>
          </a:p>
        </p:txBody>
      </p:sp>
      <p:pic>
        <p:nvPicPr>
          <p:cNvPr id="3" name="Picture 2" descr="residual_vs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713502"/>
            <a:ext cx="11155680" cy="42539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bootstrap CIs: the corrected intercept is bounded away from zero</a:t>
            </a:r>
          </a:p>
        </p:txBody>
      </p:sp>
      <p:pic>
        <p:nvPicPr>
          <p:cNvPr id="3" name="Picture 2" descr="bootstrap_intercept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459063"/>
            <a:ext cx="11155680" cy="27628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SPARTAN has moved to a lot the calibration has never seen</a:t>
            </a:r>
          </a:p>
        </p:txBody>
      </p:sp>
      <p:pic>
        <p:nvPicPr>
          <p:cNvPr id="3" name="Picture 2" descr="f_lot253_take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314783"/>
            <a:ext cx="11155680" cy="505139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the HIPS lab tab, populated</a:t>
            </a:r>
          </a:p>
        </p:txBody>
      </p:sp>
      <p:pic>
        <p:nvPicPr>
          <p:cNvPr id="3" name="Picture 2" descr="f_app_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63" y="1120139"/>
            <a:ext cx="9723768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Backup: per-filter LOCAL calibration: helps where the library has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Per target filter: k most-similar library spectra → small PLS (novel in the FTIR-aerosol literature)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Delhi 1.37x (from 2.36x) and Pasadena 1.04x (from 4.22x): real improvement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Addis 4.5x collapses: neighbors are the library's edge; local is not in-domain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v2: score-space similarity + refuse-to-predict gates; then CORAL / di-PLS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