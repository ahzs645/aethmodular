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left, ranked on raw spectra; right, the identical recipe on baseline-corrected spectra, where a clear near-Addis population emerges;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concrete example of how much these choices move the answer. Same spectral-analog recipe, same calibration on raw spectra; the only change is that the similarity matching runs on baseline-corrected spectra instead of raw. The intercept goes from minus 9.7 to minus 4.3, the slope from 3.2 toward 1.9, and the held-out quality from 0.62 to 0.71. The selection space alone is worth five micrograms per cubic meter; that is the scale of choice we are dealing with.</a:t>
            </a:r>
          </a:p>
          <a:p/>
          <a:p>
            <a:r>
              <a:t>NOTES: Satoshi's suggestion (select corrected, calibrate raw). Kept per the run-through as an illustrative outcome; the Ethiopia-shaped rescue and the k-scan moved to backup. Under corrected selection only 4/477 raw-selected filters survive (previous slide's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Addis.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a:t>
            </a:r>
          </a:p>
          <a:p/>
          <a:p>
            <a:r>
              <a:t>NOTES: 58 extreme variants beyond the capped axes, counted on-figure. 71k scored rows total across five cities, all reproducible from the app.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Related: do our top performers share a common thread, or are they unrelated configurations that happen to score well? And there are external constraints we have not used, like the co-located sun photometer, if we want an independent check.</a:t>
            </a:r>
          </a:p>
          <a:p/>
          <a:p>
            <a:r>
              <a:t>NOTES: Ann's common-thread question, ANSWERED from the grid: the top 20 slope-boxed, held-out-passing configurations at Addis are ALL lowest-OC/EC cohorts (17 baseline-corrected + 3 second-derivative), cutoffs 440-800, k mostly 6-9; not eight unrelated calibrations. So composition selection dominates the top of the board, while the spectral-analog family is the runner-up under RE-SELECTION stability (~1/3 of draws), which is the precise sense in which Q4 stays open.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Blank-count caveat: a lot can carry more than one deployed calibration line; the pooled n on this figure conflates two sets within lot 251 (flagged in the run-through).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mirror-image of the analog fix: Ethiopia-shaped keeps 285 of 300 filters under corrected selection, but the model goes from zero held-out skill to 0.63; fifteen filters were enough to poison the calibration.</a:t>
            </a:r>
          </a:p>
          <a:p/>
          <a:p>
            <a:r>
              <a:t>NOTES: The raw-selection failure was a selection-space artifact, not a failure of shape-matching itself. Shape cohorts still fail the held-out floor at essentially every cutoff in the wide grid.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Scanning components 4 to 24 under both selection recipes: the intercept never beats about minus 9 and held-out skill peaks at k equals 9. It was never the component count; it was the selection space.</a:t>
            </a:r>
          </a:p>
          <a:p/>
          <a:p>
            <a:r>
              <a:t>NOTES: Also covers the one-consistent-k-rule request; conclusion is not rule-sensitive for this cohort.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a:t>
            </a:r>
          </a:p>
          <a:p>
            <a:pPr>
              <a:spcAft>
                <a:spcPts val="1000"/>
              </a:spcAft>
              <a:defRPr sz="1700">
                <a:solidFill>
                  <a:srgbClr val="22252A"/>
                </a:solidFill>
              </a:defRPr>
            </a:pPr>
            <a:r>
              <a:t>UNBC / UC Davis AQRC</a:t>
            </a:r>
          </a:p>
          <a:p>
            <a:pPr>
              <a:spcAft>
                <a:spcPts val="1000"/>
              </a:spcAft>
              <a:defRPr sz="1700">
                <a:solidFill>
                  <a:srgbClr val="22252A"/>
                </a:solidFill>
              </a:defRPr>
            </a:pPr>
            <a:r>
              <a:t>FTIR group, 27 Aug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292833" y="1120139"/>
            <a:ext cx="11606029" cy="5440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c_analog_ranked_sbs.png"/>
          <p:cNvPicPr>
            <a:picLocks noChangeAspect="1"/>
          </p:cNvPicPr>
          <p:nvPr/>
        </p:nvPicPr>
        <p:blipFill>
          <a:blip r:embed="rId2"/>
          <a:stretch>
            <a:fillRect/>
          </a:stretch>
        </p:blipFill>
        <p:spPr>
          <a:xfrm>
            <a:off x="197967" y="1603353"/>
            <a:ext cx="11795760" cy="447425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197967" y="1169741"/>
            <a:ext cx="11795760" cy="534147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12_grid_airspec_A.png"/>
          <p:cNvPicPr>
            <a:picLocks noChangeAspect="1"/>
          </p:cNvPicPr>
          <p:nvPr/>
        </p:nvPicPr>
        <p:blipFill>
          <a:blip r:embed="rId2"/>
          <a:stretch>
            <a:fillRect/>
          </a:stretch>
        </p:blipFill>
        <p:spPr>
          <a:xfrm>
            <a:off x="954263" y="251459"/>
            <a:ext cx="10283168" cy="640079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One illustrative outcome: selecting analogs on baseline-corrected spectra fixes them, -9.7 to -4.3 µg/m³</a:t>
            </a:r>
          </a:p>
        </p:txBody>
      </p:sp>
      <p:pic>
        <p:nvPicPr>
          <p:cNvPr id="3" name="Picture 2" descr="f2_analog_fix.png"/>
          <p:cNvPicPr>
            <a:picLocks noChangeAspect="1"/>
          </p:cNvPicPr>
          <p:nvPr/>
        </p:nvPicPr>
        <p:blipFill>
          <a:blip r:embed="rId2"/>
          <a:stretch>
            <a:fillRect/>
          </a:stretch>
        </p:blipFill>
        <p:spPr>
          <a:xfrm>
            <a:off x="197967" y="1302879"/>
            <a:ext cx="11795760" cy="5075201"/>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197967" y="1256307"/>
            <a:ext cx="11795760" cy="5168345"/>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197967" y="1192452"/>
            <a:ext cx="11795760" cy="529605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337327" y="1120139"/>
            <a:ext cx="11517040" cy="54406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between filter lots</a:t>
            </a:r>
          </a:p>
        </p:txBody>
      </p:sp>
      <p:pic>
        <p:nvPicPr>
          <p:cNvPr id="3" name="Picture 2" descr="f_lot_effect_v2.png"/>
          <p:cNvPicPr>
            <a:picLocks noChangeAspect="1"/>
          </p:cNvPicPr>
          <p:nvPr/>
        </p:nvPicPr>
        <p:blipFill>
          <a:blip r:embed="rId2"/>
          <a:stretch>
            <a:fillRect/>
          </a:stretch>
        </p:blipFill>
        <p:spPr>
          <a:xfrm>
            <a:off x="197967" y="1410497"/>
            <a:ext cx="11795760" cy="485996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197967" y="1544335"/>
            <a:ext cx="11795760" cy="4592289"/>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197967" y="1235239"/>
            <a:ext cx="11795760" cy="521048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12,000+ configurations per city,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197967" y="1137284"/>
            <a:ext cx="11795760" cy="540639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Proposed validation: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Do the top performers share a common thread (all low-OC/EC?</a:t>
            </a:r>
          </a:p>
          <a:p>
            <a:pPr>
              <a:spcAft>
                <a:spcPts val="1000"/>
              </a:spcAft>
              <a:defRPr sz="1700">
                <a:solidFill>
                  <a:srgbClr val="22252A"/>
                </a:solidFill>
              </a:defRPr>
            </a:pPr>
            <a:r>
              <a:t>   all 400-500 samples?), or are they unrelated configurations?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2187601" y="1120139"/>
            <a:ext cx="7816491"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197967" y="1419358"/>
            <a:ext cx="11795760" cy="4842242"/>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197967" y="2038143"/>
            <a:ext cx="11795760" cy="3604673"/>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197967" y="1192452"/>
            <a:ext cx="11795760" cy="529605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Ethiopia-shaped rescue: nearly the same filters, held-out TOR 0.00 to 0.63</a:t>
            </a:r>
          </a:p>
        </p:txBody>
      </p:sp>
      <p:pic>
        <p:nvPicPr>
          <p:cNvPr id="3" name="Picture 2" descr="f4_eth_rescue.png"/>
          <p:cNvPicPr>
            <a:picLocks noChangeAspect="1"/>
          </p:cNvPicPr>
          <p:nvPr/>
        </p:nvPicPr>
        <p:blipFill>
          <a:blip r:embed="rId2"/>
          <a:stretch>
            <a:fillRect/>
          </a:stretch>
        </p:blipFill>
        <p:spPr>
          <a:xfrm>
            <a:off x="197967" y="1302879"/>
            <a:ext cx="11795760" cy="5075201"/>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using 21 components instead of 9 does not fix the analogs</a:t>
            </a:r>
          </a:p>
        </p:txBody>
      </p:sp>
      <p:pic>
        <p:nvPicPr>
          <p:cNvPr id="3" name="Picture 2" descr="f5_k_sweep.png"/>
          <p:cNvPicPr>
            <a:picLocks noChangeAspect="1"/>
          </p:cNvPicPr>
          <p:nvPr/>
        </p:nvPicPr>
        <p:blipFill>
          <a:blip r:embed="rId2"/>
          <a:stretch>
            <a:fillRect/>
          </a:stretch>
        </p:blipFill>
        <p:spPr>
          <a:xfrm>
            <a:off x="197967" y="1585948"/>
            <a:ext cx="11795760" cy="450906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