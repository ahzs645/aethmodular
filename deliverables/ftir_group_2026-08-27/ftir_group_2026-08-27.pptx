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left, ranked on raw spectra; right, the identical recipe on baseline-corrected spectra, where a clear near-Addis population emerges;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concrete example of how much these choices move the answer. Same spectral-analog recipe, same calibration on raw spectra; the only change is that the similarity matching runs on baseline-corrected spectra instead of raw. The intercept goes from minus 9.7 to minus 4.3, the slope from 3.2 toward 1.9, and the held-out quality from 0.62 to 0.71. The selection space alone is worth five micrograms per cubic meter; that is the scale of choice we are dealing with.</a:t>
            </a:r>
          </a:p>
          <a:p/>
          <a:p>
            <a:r>
              <a:t>NOTES: Satoshi's suggestion (select corrected, calibrate raw). Kept per the run-through as an illustrative outcome; the Ethiopia-shaped rescue and the k-scan moved to backup. Under corrected selection only 4/477 raw-selected filters survive (previous slide's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the Addis samples.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 And hold this thought: in two slides we run the identical search for Delhi and the other cities, and that is where it gets interesting.</a:t>
            </a:r>
          </a:p>
          <a:p/>
          <a:p>
            <a:r>
              <a:t>NOTES: 58 extreme variants beyond the capped axes, counted on-figure. This slide is Addis only (13,069 scored rows shown); the same grid ran at all five cities (71k rows total), which feeds the per-city and Delhi slides.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And the common-thread question has an answer: the top twenty configurations at Addis are all lowest-OC/EC, mostly baseline-corrected, cutoffs 440 to 800. So composition dominates the top of the board, and the debate is principle versus performance, not confusion. And there are external constraints we have not used, like the co-located sun photometer, if we want an independent check.</a:t>
            </a:r>
          </a:p>
          <a:p/>
          <a:p>
            <a:r>
              <a:t>NOTES: Ann's common-thread question, ANSWERED from the grid: the top 20 slope-boxed, held-out-passing configurations at Addis are ALL lowest-OC/EC cohorts (17 baseline-corrected + 3 second-derivative), cutoffs 440-800, k mostly 6-9; not eight unrelated calibrations. So composition selection dominates the top of the board, while the spectral-analog family is the runner-up under RE-SELECTION stability (~1/3 of draws), which is the precise sense in which Q4 stays open.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 clusters now labeled by calibration set (162 + 148 in the two largest lot-251 sets, 63 in other sets; the right-hand cluster belongs to the other sets), resolving the run-through flag about one pooled n. Fit lines shown are the POOLED linear/quadratic used in the sensitivity test;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mirror-image of the analog fix: Ethiopia-shaped keeps 285 of 300 filters under corrected selection, but the model goes from zero held-out skill to 0.63; fifteen filters were enough to poison the calibration.</a:t>
            </a:r>
          </a:p>
          <a:p/>
          <a:p>
            <a:r>
              <a:t>NOTES: The raw-selection failure was a selection-space artifact, not a failure of shape-matching itself. Shape cohorts still fail the held-out floor at essentially every cutoff in the wide grid.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Scanning components 4 to 24 under both selection recipes: the intercept never beats about minus 9 and held-out skill peaks at k equals 9. It was never the component count; it was the selection space.</a:t>
            </a:r>
          </a:p>
          <a:p/>
          <a:p>
            <a:r>
              <a:t>NOTES: Also covers the one-consistent-k-rule request; conclusion is not rule-sensitive for this cohort.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a:t>
            </a:r>
          </a:p>
          <a:p>
            <a:pPr>
              <a:spcAft>
                <a:spcPts val="1000"/>
              </a:spcAft>
              <a:defRPr sz="1700">
                <a:solidFill>
                  <a:srgbClr val="22252A"/>
                </a:solidFill>
              </a:defRPr>
            </a:pPr>
            <a:r>
              <a:t>UNBC / UC Davis AQRC</a:t>
            </a:r>
          </a:p>
          <a:p>
            <a:pPr>
              <a:spcAft>
                <a:spcPts val="1000"/>
              </a:spcAft>
              <a:defRPr sz="1700">
                <a:solidFill>
                  <a:srgbClr val="22252A"/>
                </a:solidFill>
              </a:defRPr>
            </a:pPr>
            <a:r>
              <a:t>FTIR group, 27 Aug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292833" y="1120139"/>
            <a:ext cx="11606029" cy="5440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c_analog_ranked_sbs.png"/>
          <p:cNvPicPr>
            <a:picLocks noChangeAspect="1"/>
          </p:cNvPicPr>
          <p:nvPr/>
        </p:nvPicPr>
        <p:blipFill>
          <a:blip r:embed="rId2"/>
          <a:stretch>
            <a:fillRect/>
          </a:stretch>
        </p:blipFill>
        <p:spPr>
          <a:xfrm>
            <a:off x="197967" y="1603353"/>
            <a:ext cx="11795760" cy="447425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197967" y="1169741"/>
            <a:ext cx="11795760" cy="534147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12_grid_airspec_A.png"/>
          <p:cNvPicPr>
            <a:picLocks noChangeAspect="1"/>
          </p:cNvPicPr>
          <p:nvPr/>
        </p:nvPicPr>
        <p:blipFill>
          <a:blip r:embed="rId2"/>
          <a:stretch>
            <a:fillRect/>
          </a:stretch>
        </p:blipFill>
        <p:spPr>
          <a:xfrm>
            <a:off x="954263" y="251459"/>
            <a:ext cx="10283168" cy="640079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One illustrative outcome: selecting analogs on baseline-corrected spectra fixes them, -9.7 to -4.3 µg/m³</a:t>
            </a:r>
          </a:p>
        </p:txBody>
      </p:sp>
      <p:pic>
        <p:nvPicPr>
          <p:cNvPr id="3" name="Picture 2" descr="f2_analog_fix.png"/>
          <p:cNvPicPr>
            <a:picLocks noChangeAspect="1"/>
          </p:cNvPicPr>
          <p:nvPr/>
        </p:nvPicPr>
        <p:blipFill>
          <a:blip r:embed="rId2"/>
          <a:stretch>
            <a:fillRect/>
          </a:stretch>
        </p:blipFill>
        <p:spPr>
          <a:xfrm>
            <a:off x="197967" y="1302879"/>
            <a:ext cx="11795760" cy="507520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197967" y="1256307"/>
            <a:ext cx="11795760" cy="51683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197967" y="1192452"/>
            <a:ext cx="11795760" cy="52960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337327" y="1120139"/>
            <a:ext cx="11517040" cy="54406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between filter lots</a:t>
            </a:r>
          </a:p>
        </p:txBody>
      </p:sp>
      <p:pic>
        <p:nvPicPr>
          <p:cNvPr id="3" name="Picture 2" descr="f_lot_effect_v2.png"/>
          <p:cNvPicPr>
            <a:picLocks noChangeAspect="1"/>
          </p:cNvPicPr>
          <p:nvPr/>
        </p:nvPicPr>
        <p:blipFill>
          <a:blip r:embed="rId2"/>
          <a:stretch>
            <a:fillRect/>
          </a:stretch>
        </p:blipFill>
        <p:spPr>
          <a:xfrm>
            <a:off x="197967" y="1410497"/>
            <a:ext cx="11795760" cy="485996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197967" y="1544335"/>
            <a:ext cx="11795760" cy="459228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197967" y="1235239"/>
            <a:ext cx="11795760" cy="521048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at Addis: 12,000+ configurations,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197967" y="1137284"/>
            <a:ext cx="11795760" cy="540639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Proposed validation: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The common thread, pre-computed: the top 20 configurations at Addis</a:t>
            </a:r>
          </a:p>
          <a:p>
            <a:pPr>
              <a:spcAft>
                <a:spcPts val="1000"/>
              </a:spcAft>
              <a:defRPr sz="1700">
                <a:solidFill>
                  <a:srgbClr val="22252A"/>
                </a:solidFill>
              </a:defRPr>
            </a:pPr>
            <a:r>
              <a:t>   are ALL lowest-OC/EC (17 baseline-corrected, 3 second-derivative;</a:t>
            </a:r>
          </a:p>
          <a:p>
            <a:pPr>
              <a:spcAft>
                <a:spcPts val="1000"/>
              </a:spcAft>
              <a:defRPr sz="1700">
                <a:solidFill>
                  <a:srgbClr val="22252A"/>
                </a:solidFill>
              </a:defRPr>
            </a:pPr>
            <a:r>
              <a:t>   cutoffs 440-800, k mostly 6-9); not unrelated calibrations.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1713875" y="1120139"/>
            <a:ext cx="8763944" cy="5440679"/>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197967" y="1419358"/>
            <a:ext cx="11795760" cy="4842242"/>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197967" y="2038143"/>
            <a:ext cx="11795760" cy="3604673"/>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197967" y="1192452"/>
            <a:ext cx="11795760" cy="529605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Ethiopia-shaped rescue: nearly the same filters, held-out TOR 0.00 to 0.63</a:t>
            </a:r>
          </a:p>
        </p:txBody>
      </p:sp>
      <p:pic>
        <p:nvPicPr>
          <p:cNvPr id="3" name="Picture 2" descr="f4_eth_rescue.png"/>
          <p:cNvPicPr>
            <a:picLocks noChangeAspect="1"/>
          </p:cNvPicPr>
          <p:nvPr/>
        </p:nvPicPr>
        <p:blipFill>
          <a:blip r:embed="rId2"/>
          <a:stretch>
            <a:fillRect/>
          </a:stretch>
        </p:blipFill>
        <p:spPr>
          <a:xfrm>
            <a:off x="197967" y="1302879"/>
            <a:ext cx="11795760" cy="5075201"/>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using 21 components instead of 9 does not fix the analogs</a:t>
            </a:r>
          </a:p>
        </p:txBody>
      </p:sp>
      <p:pic>
        <p:nvPicPr>
          <p:cNvPr id="3" name="Picture 2" descr="f5_k_sweep.png"/>
          <p:cNvPicPr>
            <a:picLocks noChangeAspect="1"/>
          </p:cNvPicPr>
          <p:nvPr/>
        </p:nvPicPr>
        <p:blipFill>
          <a:blip r:embed="rId2"/>
          <a:stretch>
            <a:fillRect/>
          </a:stretch>
        </p:blipFill>
        <p:spPr>
          <a:xfrm>
            <a:off x="197967" y="1585948"/>
            <a:ext cx="11795760" cy="450906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