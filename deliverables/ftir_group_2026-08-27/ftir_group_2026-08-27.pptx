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full story in one talk, in five acts: what the problem is and what a raw spectrum actually contains; how cohort selection and baselining interact — including the analog fix; what the HIPS instrument itself turned out to be and the offset verdict; the five-site and season results; and the physics context plus the two measurements that settle the rest. Live app at the end — any variant anyone asks for, we can run in the room. If Satoshi joins late: the selection science starts at slide 10, the instrument verdict at slide 16, the new cross-site results at slide 21.</a:t>
            </a:r>
          </a:p>
          <a:p/>
          <a:p>
            <a:r>
              <a:t>NOTES: Option A = site-grouped 5-fold CV, first major minimum, site-disjoint 80/20 (only option with a held-out TOR test). Option B = interleaved 10-fold, within-5%-of-min, fit on all filters (network protocol). B2 = interleaved folds, first-major-minimum rule. Anchors validated live before this deck was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Score-card first. Corrected selection with corrected calibration: done, and it found a better cohort than our locked 800. Lot-251-only evaluation: built. The lot-248 mystery: solved. Bishoftu spectra: pulled myself from the SPARTAN database — plus Beijing, Delhi and Pasadena while I was in there. And the lot-versus-aerosol question now has a quantitative answer.</a:t>
            </a:r>
          </a:p>
          <a:p/>
          <a:p>
            <a:r>
              <a:t>NOTES: ETBI pull via Networks_1_0 / SqlClient on the VPN machine; the same pipeline turns any SPARTAN site into an explorer target. Adama two-pager: figure drafted (slide 28), text this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the whole program starts: the network's deployed calibration against HIPS at Addis — slope 1.9, intercept minus 4.2 at MAC 10. About 20 inverse megameters of absorption with no EC to explain it, on a site where the satellite work needs ground truth. Everything in this talk is the anatomy of that line: how much is spectra processing, how much is cohort, how much is the instrument, and how much is Addis itself.</a:t>
            </a:r>
          </a:p>
          <a:p/>
          <a:p>
            <a:r>
              <a:t>NOTES: Deployed EC exists only for the fixed 190; at MAC 6 the same predictions read 1.14x-4.17 (intercept is MAC-invariant, ftir_19). The deployed model was trained under the network's interleaved protocol with operator-picked k (ftir_17 provenance).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talk, what the instrument hands us. Left: all 239 Addis filters faint, one real filter in black — never an average — and the AIRSpec baseline under it dashed. Nearly everything is a smooth scattering slope from the PTFE membrane and the deposit; at the CH band about ninety percent of the measured absorbance is baseline. Right: that background per filter — Addis at a median of 0.17 versus 0.10 for the low-OC/EC IMPROVE cohort. Raw-spectra models can learn background that does not transfer — that is the mechanism behind half this talk.</a:t>
            </a:r>
          </a:p>
          <a:p/>
          <a:p>
            <a:r>
              <a:t>NOTES: Representative filter picked within 10 percentile points of the Addis median on four bands AND baseline height (median-CH-alone is a trap: that filter sits at the 92nd percentile of O-H). Background here = AIRSpec df1=6 baseline at 2920 cm-1.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'baseline-corrected, AIRSpec' means operationally: the smoothing-spline baseline fitted under the analyzed segments of this one real Addis filter. Subtract it and what remains is the chemistry the calibration should see. Keep this picture in mind whenever a slide says corrected.</a:t>
            </a:r>
          </a:p>
          <a:p/>
          <a:p>
            <a:r>
              <a:t>NOTES: APRLssb/AIRSpec, df1=6; validated Python port matches the R original to ~1e-7. Standing caveat for band work: the spline anchors at 1520-1600 cm-1, which suppresses features near 1617 (slide 27's methods lesson).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Provenance and naming. Option A is our site-grouped CV with a real held-out test; Option B is the network's interleaved protocol and reproduces the historical slide intercepts exactly; B2 separates the fold-structure from the k-rule. Two readings: which cohort you pick moves the answer far more than which protocol — the comforting result — and the baselined composition row sits nearest zero under all three.</a:t>
            </a:r>
          </a:p>
          <a:p/>
          <a:p>
            <a:r>
              <a:t>NOTES: Historical Option-B intercepts reproduced: -5.76 / -10.16 / -6.74 / -2.17. Fixed 190, Deming lambda*, MAC 10. Interleaved CV is row-order dependent (ftir_22) — the honest reproducibility argument for Option A lives in NOTES if asked.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six-panel grid grammar we will reuse: filled and solid is MAC 10, open and dashed is MAC 6, the black diamond is the shared Deming intercept — MAC choice pivots only the slope, never the intercept. On raw spectra every cohort lands between minus 2 and minus 10; lowest-OC/EC raw is minus 4.34 even with the best held-out score. No selection rescues raw spectra at Addis.</a:t>
            </a:r>
          </a:p>
          <a:p/>
          <a:p>
            <a:r>
              <a:t>NOTES: k under A: 15/4/10/4/6/5 — blocked CV picks parsimonious models, as Satoshi predicted. Ethiopia-shaped's held-out 0.00 asterisk is the raw-selection artifact fixed on slide 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grid, corrected. Every diamond moves toward zero — but look at the held-out column for which small intercepts you can trust: network 0.66, smoke 0.40, Ethiopia-shaped 0.24 — and lowest-OC/EC plus AIRSpec at 0.90 with slope 0.95 and intercept minus 2.09. Baselining buys small intercepts almost anywhere; only the composition cohort also keeps a usable slope and passes the TOR test. That pairing is the program's locked headline.</a:t>
            </a:r>
          </a:p>
          <a:p/>
          <a:p>
            <a:r>
              <a:t>NOTES: Same conclusion under B and B2 (backup slides): -2.17 / -1.95 / -2.09 across protocols — the protocol-invariance Ann called the strongest property on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Mechanics for completeness, since selection is half this talk: rank every TOR-eligible IMPROVE filter by its OC-to-EC ratio and keep the lowest N — filters whose carbon is mostly elemental, so the EC signal isn't buried under organics. No spectra involved in the selection at all. The cutoff N is a lever we return to on slide 16.</a:t>
            </a:r>
          </a:p>
          <a:p/>
          <a:p>
            <a:r>
              <a:t>NOTES: Cut at 800 = OC/EC &lt;= 2.27. Contrast with shape-based selection (next slides): eth-shaped ∩ lowest-OC/EC = exactly 1 filter — shape does not find composition (Ann's own overlap analysis, reproduced).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other selection family. Two metrics per filter: Mahalanobis distance to the nearest Addis spectrum in a PLS score space, and a VIP-weighted spectral RMSE against the Addis median — where the model looks, mismatch counts more. Rank on the mean percentile, keep the top 500. Top row is the committed raw-space selection; bottom is the identical recipe on baseline-corrected spectra — and the two pick almost completely different filters, which is the tell for the next slide.</a:t>
            </a:r>
          </a:p>
          <a:p/>
          <a:p>
            <a:r>
              <a:t>NOTES: 'Top 500' resolves to 477 after TOR-eligibility (486 corrected) — state resolved n. Machinery: IMPROVE-HIPS PLS (k=17, n=916), full ftir_09 recipe refit in corrected space.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analog headline from last week, kept because it frames everything since: same top-500 selection, same calibration, only the similarity matching moves to corrected spectra — and the Deming intercept goes from minus 9.7 to minus 4.3, the slope from 3.2 to 1.9, held-out from 0.62 to 0.71. The analogs start behaving like a composition cohort instead of the failure case.</a:t>
            </a:r>
          </a:p>
          <a:p/>
          <a:p>
            <a:r>
              <a:t>NOTES: Ann's follow-up ('use corrected for BOTH selection and calibration') is what led into the dense sweep and the 440-490 basin (slide 16).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Satoshi's Teflon suspicion, confirmed: switch the similarity space and the analog pool changes almost completely — four of 477 filters survive. The raw-space matching was ranking filter background, not aerosol. Ethiopia-shaped is the control: 285 of 300 survive, because band-shape features are less baseline-dominated. And the overlap request from the meeting: Ethiopia-shaped and lowest-OC/EC share exactly one filter — shape and composition select disjoint worlds.</a:t>
            </a:r>
          </a:p>
          <a:p/>
          <a:p>
            <a:r>
              <a:t>NOTES: Companion analog-lab result (this week): the committed analog ranking's agreement with plain similarity collapses on deriv2 (rho=-0.25) and AIRSpec (~0) — baseline-dominated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 image. Ethiopia-shaped keeps 285 of 300 filters under corrected selection — the pool barely changes — but the model goes from zero held-out skill to 0.63. So the asterisk it carried in the matrix was a selection-space artifact, not a failure of shape-matching itself. Fifteen filters were enough to poison the calibration.</a:t>
            </a:r>
          </a:p>
          <a:p/>
          <a:p>
            <a:r>
              <a:t>NOTES: The 15 swapped filters also move k 10 -&gt; 20 (same first-major-min rule both sides). Shape cohorts still fail the held-out floor at essentially every cutoff in the wide grid — rescued, not 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direct question from the Satoshi meeting — should the analogs use around 21 components? Scanning k from 4 to 24 under both CV schemes: the intercept never beats about minus 9 and drifts worse past 12, and held-out skill peaks exactly at k equals 9. It was never the component count — it was the selection space.</a:t>
            </a:r>
          </a:p>
          <a:p/>
          <a:p>
            <a:r>
              <a:t>NOTES: Also covers the one-consistent-k-rule request: rule choices are marked; conclusion is not rule-sensitive here. Quote k always with scheme incl. fold count (grouped floors are count-sensitive, ftir_32).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Cutoffs, taken seriously: sweep the lowest-OC/EC cutoff every ten filters under corrected calibration. Intercept on top, held-out below. The shaded 440-to-490 basin is where both are best simultaneously — held-out 0.92 against 0.87 at our locked 800, intercept around minus 1.2. And the honesty number: under bootstrap re-selection this winner takes 62.5 percent of draws — a leading frozen candidate, not a final answer.</a:t>
            </a:r>
          </a:p>
          <a:p/>
          <a:p>
            <a:r>
              <a:t>NOTES: ftir_11's '800 sweet spot' was a coarse-grid artifact (never scanned below 600). Basin wants k=8-9; at rule-k=5 it ties the 800 — 'rules stop early' (ftir_23). Runner-up family: corrected analog-440, ~1/3 of draws. Source-site slope interval still wide: 1.03 [0.65, 1.50]. Coarse-cutoff prequel figure (f6) available if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instrument itself. We decoded the HIPS math from the batch export: tau is the log of intercept-plus-slope-times-R1 over T1, and that line is fitted through field blanks. Top: the lot-251 blank cloud with the deployed linear line and a quadratic refit. Bottom: each site's darkness distribution — the shaded zone is darker than every blank, and 36 percent of Addis filters live there. Their Fabs stands on an extrapolated calibration. So we measured what that is worth.</a:t>
            </a:r>
          </a:p>
          <a:p/>
          <a:p>
            <a:r>
              <a:t>NOTES: Formula verified &lt;1e-4 on 3,859 shipped tau values. PTFE zero from 575 blanks: +0.32 +/- 0.46 Mm-1 at Addis geometry — that branch is dead. Lot-253 blanks are ~10x tighter than the big lots (rms 3.8 vs 31-42 counts).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 errors-in-variables with the real HIPS uncertainties. Addis moves from minus 1.51 to minus 1.27 and stays seven sigma from zero under the harshest variant. Delhi's point estimate matches Addis but its error bar reaches zero. Beijing, Bishoftu and Pasadena bracket zero. One certain offset in five cities: Addis.</a:t>
            </a:r>
          </a:p>
          <a:p/>
          <a:p>
            <a:r>
              <a:t>NOTES: York 2004; sigma_y inflated to MSWD=1 (conservative). Scope caveat: blanks sample tau~0 only — high-loading nonlinearity is unprobed and still degenerate with real absorption on FTIR-EC axes; that is what quartz TOR terminates. Addis offset ~13-15 Mm-1.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 and two anomalies dissolve into methodology. Pasadena read 3.15x on the deployed line; under a quadratic blank line it is 0.91 — at their loadings, blank-line shape error dominates tau. Beijing's old 1.48 was unweighted leverage; properly weighted, 0.98. Delhi's 1.8 survives every variant — that one is real, and still open: genuinely low site MAC, or the model reading oxidized organics as EC.</a:t>
            </a:r>
          </a:p>
          <a:p/>
          <a:p>
            <a:r>
              <a:t>NOTES: Delhi correlate: within-site r(residual, carbonyl/m3)~0.9 raw, collapsing when detrended by the site's own line — carbonyl marks which SITES over-read, not which filters scatter. Queued splitter: the MA350 880-nm channel as an independent per-filter anchor at all four sites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closed with a census: the database holds about fourteen hundred lot-248 FTIR analyses network-wide — the lot served for roughly two months around January 2021. The 1,299-filter download was essentially complete. So lot-248 cohorts are winter-2021 cohorts: a season confound, not missing data.</a:t>
            </a:r>
          </a:p>
          <a:p/>
          <a:p>
            <a:r>
              <a:t>NOTES: IMPROVE ftir_catalog: lot 248 = 1,362 analyses, 2020-12-17 to 2021-02-15; lot 251 = 11,843 over a year. Red = 248, blue = 251, amber = 253 — and 253/255 being the recent big lots is what enables the independent-lot validation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Your hypothesis from two weeks ago, tested where both lots ran simultaneously — Beijing, 178 days. On raw spectra the two lots disagree by four and a half inverse megameters against a common line; baseline-corrected, that collapses to about one and is indistinguishable from zero, at both cohort sizes. So part of what AIRSpec buys is lot insensitivity. But the lot is not the Addis story — Bishoftu shares Addis's lots and has no offset.</a:t>
            </a:r>
          </a:p>
          <a:p/>
          <a:p>
            <a:r>
              <a:t>NOTES: ocec-800: raw -4.49 [-7.01,-1.96] vs airspec -0.86 [-3.66,+2.02] n.s.; ocec-450: -4.35 vs -1.43 n.s. (4,000 bootstrap draws, Option A, n=14 vs 34 — small; loading not fully matched, 1.18 vs 1.66 ug/m3 median). Residual post-baseline lot term ~1 Mm-1 = ~5% of the ~21.5 Mm-1 offset; Addis-vs-Bishoftu is a within-lot-251 contrast.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raw FTIR spectra for Bishoftu, Beijing, Delhi and Pasadena, pulled straight from the SPARTAN database and built into the explorer as evaluation sites. Median spectra by site, in three baseline treatments — and the treatments disagree about chemistry: the 1617 band we chased tracked the offset in raw space, was Addis-only in AIRSpec space, and under a neutral baseline shows at Addis AND Bishoftu — an Ethiopian regional marker, decoupled from the offset, because Bishoftu has the band and no offset. Methods rule extracted: any claim in 1500-to-1650 needs two baselines, because AIRSpec anchors right under that band.</a:t>
            </a:r>
          </a:p>
          <a:p/>
          <a:p>
            <a:r>
              <a:t>NOTES: Three baselines gave three answers — full reversal arc preserved in BAND1617_LEAD_2026-08-23.md; presentable as tested-and-corrected. Composition evidence for the offset now rests on the AERONET envelope link and BC/PM2.5 = 23% at Addis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 five sites in the tool, the brute-force question: is there ANY combination that works everywhere? Every cohort, cutoffs 100 to 2000 in steps of ten, three spectral spaces, swept components — nine and a half thousand configuration-by-site jobs. Grey fails the held-out floor, blue passes, the star is the winner at Addis. Exactly one configuration lands near one-to-one at both Addis and Delhi, it still carries material offsets, and it fails freshly reconstructed holdout filters. The Addis-Delhi difference is not a calibration choice.</a:t>
            </a:r>
          </a:p>
          <a:p/>
          <a:p>
            <a:r>
              <a:t>NOTES: 71,263 scored rows, dedup-keyed, resumable. Grid-scale scoring lesson: |intercept|+w|slope-1| is gamed by flat slopes (0.44x with ~0 intercept 'wins'); rankings are slope-boxed 0.85-1.18. Delhi's screening 'winner' (analogs-530 x deriv2) was 96% extrapolated and collapsed on holdout — the validation layer catching exactly what it was built to catch.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season check you called hugely important, stratified under both baselines. Left, raw: the year-round 2.35x hides wet seasons at 2.2 and Dry at 1.3 — raw's failure is a wet-season phenomenon. Right, corrected: wet seasons snap to about 0.85 with small intercepts, and Dry drops to 0.60. Baselining does not remove the seasonal structure; it moves it onto the charcoal-heavy dry season — the reverse of the direction we guessed. The overall seasonal ordering of concentrations stays stable across calibrations, which remains the good news.</a:t>
            </a:r>
          </a:p>
          <a:p/>
          <a:p>
            <a:r>
              <a:t>NOTES: Per-season Deming at lambda* on restricted ranges — indicative; the interaction fit is the ftir_24 deliverable. Consistent with char_06's dry-season spectral anomaly and ftir_22's dry-separates residuals. Season schemes differ across sites (Ethiopian vs quarters) —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physics frame for the 6-versus-10 fork. Mie calculations at the HIPS wavelength: bare soot ensembles top out around 5.6 square meters per gram — bare BC never reaches 6. Getting to 10 requires absorption enhancement near 2 from thick coatings — aged, internally mixed particles. So the MAC fork encodes a fresh-versus-aged mixing-state assumption, not calibration noise. For Addis-like fresh-combustion aerosol, that leans low-MAC — but the IMPROVE implied-MAC bridge centered Addis-like filters at 10, so the fork stays open pending quartz TOR.</a:t>
            </a:r>
          </a:p>
          <a:p/>
          <a:p>
            <a:r>
              <a:t>NOTES: PyMieScatt sweep at 633 nm; enhancement 1.8-2.0 for the coated branch. Implied-MAC bridge (ftir_16): 151,843 matched filters, median 11.96 overall, 10.05 in the Addis-like OC/EC&lt;=2.27 subset.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Independent witness one: the sun photometer above the same air. The obvious objection to comparing 24-hour filters with daytime-only retrievals is now measured with the co-located minute-resolution MA350: Addis has a five-fold diurnal swing, but its two retrieval windows straddle the cycle and the biases cancel; Pasadena's midday window sits in its own minimum. Correcting for all of it moves the Addis-to-Pasadena separation from 2.9x to about 3.2x — the outlier gets more anomalous.</a:t>
            </a:r>
          </a:p>
          <a:p/>
          <a:p>
            <a:r>
              <a:t>NOTES: Ratios are medians of per-day ratios; assumes the column tracks the surface's relative diurnal shape; Delhi/Beijing have no co-located MA350 and stay uncorrected. Red BCc at 625 nm — effectively the HIPS wavelength.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Witness one, continued: effective absorption scale height — column absorption over surface absorption — is 232 meters at Addis against 544 to 894 everywhere else. And the right panel is the part no filter artifact can produce: the filters' corrected organic envelope predicts the PHOTOMETER's column absorption, beyond loading, beyond the filter's own Fabs, within months. The filter chemistry knows something real about the sky above it.</a:t>
            </a:r>
          </a:p>
          <a:p/>
          <a:p>
            <a:r>
              <a:t>NOTES: H is comparative-only, not a physical height. Envelope partial r=+0.28, perm p~0.002, n=125 (the discrete-1620-band version of this died under month controls — envelope is the honest carrier). Level 1.5 retrievals; Gurgaon ~30 km from the Delhi site.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Christian and Sina, previewed here: the five Adama TOR filters sit at OC-to-EC around six — the IMPROVE pool median, nowhere near the low-OC/EC regime the Addis question lives in — and Bishoftu absorbs half of what Addis does. Adama characterizes a different aerosol; the decisive Adama-side contribution would be quartz filters for TOR, not more Teflon.</a:t>
            </a:r>
          </a:p>
          <a:p/>
          <a:p>
            <a:r>
              <a:t>NOTES: This figure is the SEED of the two-pager — the HIPS + TOR-OC/EC vs FTIR-OC/EC comparison panel still needs adding (ftir16 adama_batch54 tables). Draft this week.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Rather than closing on slides — the tool. Every number today regenerates from it, and any variant this room proposes, we can run before the meeting ends. [Live: Sites tab on the winner; HIPS tab blank-line ladder; if Satoshi proposes a variant, run it now.]</a:t>
            </a:r>
          </a:p>
          <a:p/>
          <a:p>
            <a:r>
              <a:t>NOTES: Explorer on :5058 under anaconda python, cache warm. Fallback if the demo dies: every figure rebuilds from build_figures/build_deck in the deliverable folders.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all lands. The MAC fork, the Bishoftu contrast, and the curvature degeneracy all terminate at an independent EC measurement — quartz TOR is decisive, and the extraction test is the cheap companion on filters already in the archive. These are the two asks I want to leave the room with.</a:t>
            </a:r>
          </a:p>
          <a:p/>
          <a:p>
            <a:r>
              <a:t>NOTES: Extraction design: Kirchstetter/Novakov/Hobbs JGR 2004 — water then methanol; drop only at Addis/Delhi = real organic absorbers; methanol-resistant dark residue = char/tar. TOR sizing from ftir_16: ~3 sigma/day separation of MAC 6 vs 10 -&gt; 11-13 days/season x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booked, poster Thursday one to three, session nine. Committee September 2 at three. Adama two-pager this week. And the Satoshi meeting can happen whenever it schedules — the tool is ready for it.</a:t>
            </a:r>
          </a:p>
          <a:p/>
          <a:p>
            <a:r>
              <a:t>NOTES: Lot-253 spectra pull staged (get_improve_lot253_spectra.ps1; pilot mode; lot 255 sealed for replication; TOR y-values already local).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Raw six-panel under B2 — for protocol-triangle completeness.</a:t>
            </a:r>
          </a:p>
          <a:p/>
          <a:p>
            <a:r>
              <a:t>NOTES: B2 fits on all filters (no held-out). Eth-shaped+AIRSpec under B2 (k=21) is the standing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Corrected under Option B: the locked setup reads minus 2.17 against minus 2.09 under A and minus 1.95 under B2 — the number that does not move.</a:t>
            </a:r>
          </a:p>
          <a:p/>
          <a:p>
            <a:r>
              <a:t>NOTES: Option B reproduces historical numbers but has no held-out test — continuity only, never ranking.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the B2 corrected grid closing the triangle at minus 1.95.</a:t>
            </a:r>
          </a:p>
          <a:p/>
          <a:p>
            <a:r>
              <a:t>NOTES: k under B2 corrected: 7/5/21/5/5 — the eth-shaped 21 is the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ftir_15 diagnostic under Option A: raw-model residuals track score-space distance — extrapolation-driven error — while the corrected model's residuals are a flat, season-stable constant. That flat line is what makes the remaining offset a real quantity instead of a model artifact.</a:t>
            </a:r>
          </a:p>
          <a:p/>
          <a:p>
            <a:r>
              <a:t>NOTES: Raw r=0.71, corrected ~-0.05 (site-held-out); reproduced under the app protocol at 0.87/0.33 (ftir_22).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Bootstrap confidence intervals under Option A: the corrected lowest-OC/EC intercept sits at minus 1.2 to minus 1.8 — disjoint from the raw model's interval and excluding zero.</a:t>
            </a:r>
          </a:p>
          <a:p/>
          <a:p>
            <a:r>
              <a:t>NOTES: ftir_15 committed draws: corrected CI [-1.78,-1.06]; survives the protocol change (ftir_22: app-protocol CI [-2.07,-1.03]).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 risk and opportunity: from early 2025 SPARTAN filters shift to lot 253 — outside the 248-plus-251 calibration basis. The opportunity: IMPROVE ran five thousand TOR-EC filters on that same lot, so a frozen protocol tested there is a genuine independent-lot validation. Protocol frozen; lot 255 sealed for replication; only the scan spectra remain to pull.</a:t>
            </a:r>
          </a:p>
          <a:p/>
          <a:p>
            <a:r>
              <a:t>NOTES: 433 SPARTAN lot-253 filters, 13 sites, 58% of everything since 2025-09. Frozen: OCEC-440 x AIRSpec, Option A, k=5 — tests lot+time transfer, not unseen-site. Delhi lot-253 subset is NOT identifiable (n=6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 not — which is itself the result. No selection scheme manufactures Addis support that isn't there.</a:t>
            </a:r>
          </a:p>
          <a:p/>
          <a:p>
            <a:r>
              <a:t>NOTES: local_lab.py (/api/local_cross); survey with citations in TRANSFER_METHODS_2026-08-24.md. Decisive next evaluation: simulated transfer at IMPROVE sites with collocated HIPS — pretend Fabs-only, run the full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FTIR–EC at Addis Ababa: from one bad crossplot to a five-city adjudication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 UNBC / UC Davis AQRC — FTIR group, 27 Aug 2026</a:t>
            </a:r>
          </a:p>
          <a:p>
            <a:pPr>
              <a:spcAft>
                <a:spcPts val="1000"/>
              </a:spcAft>
              <a:defRPr sz="1700">
                <a:solidFill>
                  <a:srgbClr val="22252A"/>
                </a:solidFill>
              </a:defRPr>
            </a:pPr>
            <a:r>
              <a:t>Conventions: Deming λ* primary (MAC 10, λ ∝ MAC²), µg/m³ everywhere,</a:t>
            </a:r>
          </a:p>
          <a:p>
            <a:pPr>
              <a:spcAft>
                <a:spcPts val="1000"/>
              </a:spcAft>
              <a:defRPr sz="1700">
                <a:solidFill>
                  <a:srgbClr val="22252A"/>
                </a:solidFill>
              </a:defRPr>
            </a:pPr>
            <a:r>
              <a:t>protocol named on every figure; screening vs held-out results labelled.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Where the week's asks stand: everything testable is closed</a:t>
            </a:r>
          </a:p>
        </p:txBody>
      </p:sp>
      <p:pic>
        <p:nvPicPr>
          <p:cNvPr id="3" name="Picture 2" descr="f_status.png"/>
          <p:cNvPicPr>
            <a:picLocks noChangeAspect="1"/>
          </p:cNvPicPr>
          <p:nvPr/>
        </p:nvPicPr>
        <p:blipFill>
          <a:blip r:embed="rId2"/>
          <a:stretch>
            <a:fillRect/>
          </a:stretch>
        </p:blipFill>
        <p:spPr>
          <a:xfrm>
            <a:off x="518007" y="1423097"/>
            <a:ext cx="11155680" cy="483476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reads Addis at 1.90x − 4.17</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 raw spectrum mostly is: ~90% Teflon background at the CH band — and Addis rides a higher one</a:t>
            </a:r>
          </a:p>
        </p:txBody>
      </p:sp>
      <p:pic>
        <p:nvPicPr>
          <p:cNvPr id="3" name="Picture 2" descr="f14_teflon.png"/>
          <p:cNvPicPr>
            <a:picLocks noChangeAspect="1"/>
          </p:cNvPicPr>
          <p:nvPr/>
        </p:nvPicPr>
        <p:blipFill>
          <a:blip r:embed="rId2"/>
          <a:stretch>
            <a:fillRect/>
          </a:stretch>
        </p:blipFill>
        <p:spPr>
          <a:xfrm>
            <a:off x="518007" y="2424425"/>
            <a:ext cx="11155679" cy="28321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shown on one real filter</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Six setups × three protocols: Option B reproduces the historical numbers; protocol moves less than setup</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Raw spectra, Option A: every cohort shares a materially negative intercept — selection alone does not fix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Baseline-corrected, Option A: intercepts shrink everywhere — only lowest-OC/EC + AIRSpec keeps slope AND TOR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composition cohort is picked: rank the pool by OC/EC, keep the lowest</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spectral analogs are picked: score-space closeness to Addis, in either spectra space</a:t>
            </a:r>
          </a:p>
        </p:txBody>
      </p:sp>
      <p:pic>
        <p:nvPicPr>
          <p:cNvPr id="3" name="Picture 2" descr="f13_analog_explainer.png"/>
          <p:cNvPicPr>
            <a:picLocks noChangeAspect="1"/>
          </p:cNvPicPr>
          <p:nvPr/>
        </p:nvPicPr>
        <p:blipFill>
          <a:blip r:embed="rId2"/>
          <a:stretch>
            <a:fillRect/>
          </a:stretch>
        </p:blipFill>
        <p:spPr>
          <a:xfrm>
            <a:off x="1778362" y="1120139"/>
            <a:ext cx="8634969" cy="544067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Selecting analogs on corrected spectra fixes them: −9.7 → −4.3, with real TOR skill</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Why it works: raw analog similarity was matching Teflon — 4 of 477 filters survive the corrected re-selection</a:t>
            </a:r>
          </a:p>
        </p:txBody>
      </p:sp>
      <p:pic>
        <p:nvPicPr>
          <p:cNvPr id="3" name="Picture 2" descr="f3_overlap.png"/>
          <p:cNvPicPr>
            <a:picLocks noChangeAspect="1"/>
          </p:cNvPicPr>
          <p:nvPr/>
        </p:nvPicPr>
        <p:blipFill>
          <a:blip r:embed="rId2"/>
          <a:stretch>
            <a:fillRect/>
          </a:stretch>
        </p:blipFill>
        <p:spPr>
          <a:xfrm>
            <a:off x="518007" y="1560841"/>
            <a:ext cx="11155680" cy="455927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Ethiopia-shaped rescue: nearly the same filters, but held-out TOR goes 0.00 →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Satoshi's k question, answered: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is a real lever — and the dense sweep found a basin below the locked 800</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HIPS scattering correction is a regression through blanks — and heavy filters sit beyond its support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Addis intercept survives the instrument check — the blank-line share is ~15%</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Four more cities' spectra, pulled and evaluated — and a lesson about baselines on the way</a:t>
            </a:r>
          </a:p>
        </p:txBody>
      </p:sp>
      <p:pic>
        <p:nvPicPr>
          <p:cNvPr id="3" name="Picture 2" descr="cross_site_spectra_2026-08-23.png"/>
          <p:cNvPicPr>
            <a:picLocks noChangeAspect="1"/>
          </p:cNvPicPr>
          <p:nvPr/>
        </p:nvPicPr>
        <p:blipFill>
          <a:blip r:embed="rId2"/>
          <a:stretch>
            <a:fillRect/>
          </a:stretch>
        </p:blipFill>
        <p:spPr>
          <a:xfrm>
            <a:off x="1864207" y="1120139"/>
            <a:ext cx="8463280"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Mie theory grounds the MAC fork: bare BC tops out near 6 — MAC 10 means aged, thickly-coated particles</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AERONET diurnal confound is measured — and the Addis anomaly widens, not closes</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normal OC/EC, no HIPS–EC gap — more Adama samples won't arbitrate this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Everything in this talk is a click: the calibration explorer</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Sites tab — five-city evaluation with the extrapolation flag, one click</a:t>
            </a:r>
          </a:p>
          <a:p>
            <a:pPr>
              <a:spcAft>
                <a:spcPts val="1000"/>
              </a:spcAft>
              <a:defRPr sz="1700">
                <a:solidFill>
                  <a:srgbClr val="22252A"/>
                </a:solidFill>
              </a:defRPr>
            </a:pPr>
            <a:r>
              <a:t>HIPS tab — York fits under all three blank lines, plus the blank ledger</a:t>
            </a:r>
          </a:p>
          <a:p>
            <a:pPr>
              <a:spcAft>
                <a:spcPts val="1000"/>
              </a:spcAft>
              <a:defRPr sz="1700">
                <a:solidFill>
                  <a:srgbClr val="22252A"/>
                </a:solidFill>
              </a:defRPr>
            </a:pPr>
            <a:r>
              <a:t>Optimize — multi-site batches, dense sweeps, slope-boxed leaderboards</a:t>
            </a:r>
          </a:p>
          <a:p>
            <a:pPr>
              <a:spcAft>
                <a:spcPts val="1000"/>
              </a:spcAft>
              <a:defRPr sz="1700">
                <a:solidFill>
                  <a:srgbClr val="22252A"/>
                </a:solidFill>
              </a:defRPr>
            </a:pPr>
            <a:r>
              <a:t>Analogs / Selection — every selection recipe inspectable per filter</a:t>
            </a:r>
          </a:p>
          <a:p>
            <a:pPr>
              <a:spcAft>
                <a:spcPts val="1000"/>
              </a:spcAft>
              <a:defRPr sz="1700">
                <a:solidFill>
                  <a:srgbClr val="22252A"/>
                </a:solidFill>
              </a:defRPr>
            </a:pPr>
            <a:r>
              <a:t>New: config sidebar; validation guardrails (Q-residual + score distance) on every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lines of evidence end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 the only measurement that is a</a:t>
            </a:r>
          </a:p>
          <a:p>
            <a:pPr>
              <a:spcAft>
                <a:spcPts val="1000"/>
              </a:spcAft>
              <a:defRPr sz="1700">
                <a:solidFill>
                  <a:srgbClr val="22252A"/>
                </a:solidFill>
              </a:defRPr>
            </a:pPr>
            <a:r>
              <a:t>   function of neither axis; breaks the offset-vs-curvature degeneracy</a:t>
            </a:r>
          </a:p>
          <a:p>
            <a:pPr>
              <a:spcAft>
                <a:spcPts val="1000"/>
              </a:spcAft>
              <a:defRPr sz="1700">
                <a:solidFill>
                  <a:srgbClr val="22252A"/>
                </a:solidFill>
              </a:defRPr>
            </a:pPr>
            <a:r>
              <a:t>   (campaign one-pager written: ~36 filters,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controls — separates real absorbers from residual artifact</a:t>
            </a:r>
          </a:p>
          <a:p>
            <a:pPr>
              <a:spcAft>
                <a:spcPts val="1000"/>
              </a:spcAft>
              <a:defRPr sz="1700">
                <a:solidFill>
                  <a:srgbClr val="22252A"/>
                </a:solidFill>
              </a:defRPr>
            </a:pPr>
            <a:r>
              <a:t>Both use existing samples or the existing sampling plan.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 flights + conference hotel booked</a:t>
            </a:r>
          </a:p>
          <a:p>
            <a:pPr>
              <a:spcAft>
                <a:spcPts val="1000"/>
              </a:spcAft>
              <a:defRPr sz="1700">
                <a:solidFill>
                  <a:srgbClr val="22252A"/>
                </a:solidFill>
              </a:defRPr>
            </a:pPr>
            <a:r>
              <a:t>Committee meeting: Sep 2, 3 pm — [FILL IN: confirm invites arrived]</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1:1: ready when scheduled — his variants run live in the app</a:t>
            </a:r>
          </a:p>
          <a:p>
            <a:pPr>
              <a:spcAft>
                <a:spcPts val="1000"/>
              </a:spcAft>
              <a:defRPr sz="1700">
                <a:solidFill>
                  <a:srgbClr val="22252A"/>
                </a:solidFill>
              </a:defRPr>
            </a:pPr>
            <a:r>
              <a:t>[FILL IN: lot-253 spectra pull — needs a session on the Windows/VPN machine]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raw grid under Option B2: the interleaved protocols agree with A on the story</a:t>
            </a:r>
          </a:p>
        </p:txBody>
      </p:sp>
      <p:pic>
        <p:nvPicPr>
          <p:cNvPr id="3" name="Picture 2" descr="f15_grid_raw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corrected grid under Option B: the AIRSpec verdict is protocol-robust (−2.17)</a:t>
            </a:r>
          </a:p>
        </p:txBody>
      </p:sp>
      <p:pic>
        <p:nvPicPr>
          <p:cNvPr id="3" name="Picture 2" descr="f10_grid_airspec.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corrected grid under Option B2</a:t>
            </a:r>
          </a:p>
        </p:txBody>
      </p:sp>
      <p:pic>
        <p:nvPicPr>
          <p:cNvPr id="3" name="Picture 2" descr="f16_grid_airspec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the corrected model's residuals no longer track extrapolation distance</a:t>
            </a:r>
          </a:p>
        </p:txBody>
      </p:sp>
      <p:pic>
        <p:nvPicPr>
          <p:cNvPr id="3" name="Picture 2" descr="residual_vs_d2.png"/>
          <p:cNvPicPr>
            <a:picLocks noChangeAspect="1"/>
          </p:cNvPicPr>
          <p:nvPr/>
        </p:nvPicPr>
        <p:blipFill>
          <a:blip r:embed="rId2"/>
          <a:stretch>
            <a:fillRect/>
          </a:stretch>
        </p:blipFill>
        <p:spPr>
          <a:xfrm>
            <a:off x="518007" y="1713502"/>
            <a:ext cx="11155680" cy="4253955"/>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bootstrap CIs: the corrected intercept is bounded away from zero</a:t>
            </a:r>
          </a:p>
        </p:txBody>
      </p:sp>
      <p:pic>
        <p:nvPicPr>
          <p:cNvPr id="3" name="Picture 2" descr="bootstrap_intercept_ci.png"/>
          <p:cNvPicPr>
            <a:picLocks noChangeAspect="1"/>
          </p:cNvPicPr>
          <p:nvPr/>
        </p:nvPicPr>
        <p:blipFill>
          <a:blip r:embed="rId2"/>
          <a:stretch>
            <a:fillRect/>
          </a:stretch>
        </p:blipFill>
        <p:spPr>
          <a:xfrm>
            <a:off x="518007" y="2459063"/>
            <a:ext cx="11155680" cy="27628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 small PLS (novel in the FTIR-aerosol literature)</a:t>
            </a:r>
          </a:p>
          <a:p>
            <a:pPr>
              <a:spcAft>
                <a:spcPts val="1000"/>
              </a:spcAft>
              <a:defRPr sz="1700">
                <a:solidFill>
                  <a:srgbClr val="22252A"/>
                </a:solidFill>
              </a:defRPr>
            </a:pPr>
            <a:r>
              <a:t>Delhi 1.37x (from 2.36x) and Pasadena 1.04x (from 4.22x) — real improvement</a:t>
            </a:r>
          </a:p>
          <a:p>
            <a:pPr>
              <a:spcAft>
                <a:spcPts val="1000"/>
              </a:spcAft>
              <a:defRPr sz="1700">
                <a:solidFill>
                  <a:srgbClr val="22252A"/>
                </a:solidFill>
              </a:defRPr>
            </a:pPr>
            <a:r>
              <a:t>Addis 4.5x — collapses: neighbors are the library's edge; local ≠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