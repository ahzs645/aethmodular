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46888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2252A"/>
                </a:solidFill>
              </a:defRPr>
            </a:pPr>
            <a:r>
              <a:t>FTIR spectral comparison: figures</a:t>
            </a:r>
          </a:p>
          <a:p>
            <a:pPr>
              <a:defRPr sz="1600">
                <a:solidFill>
                  <a:srgbClr val="6B6F76"/>
                </a:solidFill>
              </a:defRPr>
            </a:pPr>
            <a:r>
              <a:t>Bishoftu confirmation, cross-site calibrations, comparison methods (ftir_50), network spectral map (ftir_52)</a:t>
            </a:r>
          </a:p>
          <a:p>
            <a:pPr>
              <a:defRPr sz="1400">
                <a:solidFill>
                  <a:srgbClr val="6B6F76"/>
                </a:solidFill>
              </a:defRPr>
            </a:pPr>
            <a:r>
              <a:t>2026-09-01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83464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252A"/>
                </a:solidFill>
              </a:defRPr>
            </a:pPr>
            <a:r>
              <a:t>1. Bishoftu and the five sites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Bishoftu filter inventory by sampling month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6F76"/>
                </a:solidFill>
              </a:defRPr>
            </a:pPr>
            <a:r>
              <a:t>26 accepted, 14 confirmed holdout, 21 sampled but not yet analysed</a:t>
            </a:r>
          </a:p>
        </p:txBody>
      </p:sp>
      <p:pic>
        <p:nvPicPr>
          <p:cNvPr id="4" name="Picture 3" descr="fig1_etbi_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138" y="1234440"/>
            <a:ext cx="10723418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Bishoftu confirmation: the near-zero intercept replicates on unseen filters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6F76"/>
                </a:solidFill>
              </a:defRPr>
            </a:pPr>
            <a:r>
              <a:t>locked Addis winner k=8, no re-selection</a:t>
            </a:r>
          </a:p>
        </p:txBody>
      </p:sp>
      <p:pic>
        <p:nvPicPr>
          <p:cNvPr id="4" name="Picture 3" descr="fig2_confirmation_cross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767" y="1234440"/>
            <a:ext cx="5852159" cy="54863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Locked configurations on the reconstructed holdouts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6F76"/>
                </a:solidFill>
              </a:defRPr>
            </a:pPr>
            <a:r>
              <a:t>dots = fit, bars = bootstrap 95% CI</a:t>
            </a:r>
          </a:p>
        </p:txBody>
      </p:sp>
      <p:pic>
        <p:nvPicPr>
          <p:cNvPr id="4" name="Picture 3" descr="fig3_locked_configs_holdou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78" y="1234439"/>
            <a:ext cx="11464538" cy="54863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One locked calibration across five SPARTAN 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6F76"/>
                </a:solidFill>
              </a:defRPr>
            </a:pPr>
            <a:r>
              <a:t>lowest-OC/EC 440 + AIRSpec, k=8, site-held-out; York fits per site</a:t>
            </a:r>
          </a:p>
        </p:txBody>
      </p:sp>
      <p:pic>
        <p:nvPicPr>
          <p:cNvPr id="4" name="Picture 3" descr="figA_cross_site_cross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952" y="1234440"/>
            <a:ext cx="8301789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Addis under every optimised 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6F76"/>
                </a:solidFill>
              </a:defRPr>
            </a:pPr>
            <a:r>
              <a:t>the negative intercept is present in all of them</a:t>
            </a:r>
          </a:p>
        </p:txBody>
      </p:sp>
      <p:pic>
        <p:nvPicPr>
          <p:cNvPr id="4" name="Picture 3" descr="crossplot_allcalibs_add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922" y="1234440"/>
            <a:ext cx="565785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HIPS blank lines: exposure and the effect on York 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6F76"/>
                </a:solidFill>
              </a:defRPr>
            </a:pPr>
            <a:r>
              <a:t>see ftir_47 for the per-deployed-line correction</a:t>
            </a:r>
          </a:p>
        </p:txBody>
      </p:sp>
      <p:pic>
        <p:nvPicPr>
          <p:cNvPr id="4" name="Picture 3" descr="figB_blank_line_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933513"/>
            <a:ext cx="11521440" cy="408825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The raw HIPS archive: 4,115 filters across 28 sites</a:t>
            </a:r>
          </a:p>
        </p:txBody>
      </p:sp>
      <p:pic>
        <p:nvPicPr>
          <p:cNvPr id="3" name="Picture 2" descr="figD_hips_arch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709" y="960120"/>
            <a:ext cx="8944275" cy="57607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83464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252A"/>
                </a:solidFill>
              </a:defRPr>
            </a:pPr>
            <a:r>
              <a:t>2. Spectral comparison methods (ftir_50)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In-plane versus off-plane distance to the 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6F76"/>
                </a:solidFill>
              </a:defRPr>
            </a:pPr>
            <a:r>
              <a:t>Hotelling T2 and Q residual flag different filters</a:t>
            </a:r>
          </a:p>
        </p:txBody>
      </p:sp>
      <p:pic>
        <p:nvPicPr>
          <p:cNvPr id="4" name="Picture 3" descr="domain_t2_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2681478"/>
            <a:ext cx="11521440" cy="25923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Analog lists concentrate on a few library spectra</a:t>
            </a:r>
          </a:p>
        </p:txBody>
      </p:sp>
      <p:pic>
        <p:nvPicPr>
          <p:cNvPr id="3" name="Picture 2" descr="hubness_loren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67" y="960120"/>
            <a:ext cx="1042416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Mutual analogs per filter, selectivity-matched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6F76"/>
                </a:solidFill>
              </a:defRPr>
            </a:pPr>
            <a:r>
              <a:t>36 percent of Addis filters have none</a:t>
            </a:r>
          </a:p>
        </p:txBody>
      </p:sp>
      <p:pic>
        <p:nvPicPr>
          <p:cNvPr id="4" name="Picture 3" descr="viz_mutual_analo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138" y="1234440"/>
            <a:ext cx="10723418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Agreement is band-dependent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6F76"/>
                </a:solidFill>
              </a:defRPr>
            </a:pPr>
            <a:r>
              <a:t>dotted line = whole-spectrum r</a:t>
            </a:r>
          </a:p>
        </p:txBody>
      </p:sp>
      <p:pic>
        <p:nvPicPr>
          <p:cNvPr id="4" name="Picture 3" descr="band_corre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829" y="1234440"/>
            <a:ext cx="1047403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Where each site departs from the 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6F76"/>
                </a:solidFill>
              </a:defRPr>
            </a:pPr>
            <a:r>
              <a:t>moving-window Pearson r against the library median</a:t>
            </a:r>
          </a:p>
        </p:txBody>
      </p:sp>
      <p:pic>
        <p:nvPicPr>
          <p:cNvPr id="4" name="Picture 3" descr="viz_moving_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337310"/>
            <a:ext cx="11521440" cy="52806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A typical Addis filter and its five nearest library spectra</a:t>
            </a:r>
          </a:p>
        </p:txBody>
      </p:sp>
      <p:pic>
        <p:nvPicPr>
          <p:cNvPr id="3" name="Picture 2" descr="viz_nearest_analo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728216"/>
            <a:ext cx="11521440" cy="422452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How much the similarity metrics agree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6F76"/>
                </a:solidFill>
              </a:defRPr>
            </a:pPr>
            <a:r>
              <a:t>median-based and neighbour-based similarity are different measurements</a:t>
            </a:r>
          </a:p>
        </p:txBody>
      </p:sp>
      <p:pic>
        <p:nvPicPr>
          <p:cNvPr id="4" name="Picture 3" descr="viz_metric_agre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809" y="1234439"/>
            <a:ext cx="639407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83464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252A"/>
                </a:solidFill>
              </a:defRPr>
            </a:pPr>
            <a:r>
              <a:t>3. The network spectral map (ftir_52)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Median spectrum per Ward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6F76"/>
                </a:solidFill>
              </a:defRPr>
            </a:pPr>
            <a:r>
              <a:t>dashed = library median; two of four classes are low-deposit</a:t>
            </a:r>
          </a:p>
        </p:txBody>
      </p:sp>
      <p:pic>
        <p:nvPicPr>
          <p:cNvPr id="4" name="Picture 3" descr="class_spect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826971"/>
            <a:ext cx="11521440" cy="430133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The library by Ward class, with the SPARTAN targets overlaid</a:t>
            </a:r>
          </a:p>
        </p:txBody>
      </p:sp>
      <p:pic>
        <p:nvPicPr>
          <p:cNvPr id="3" name="Picture 2" descr="class_map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397" y="960120"/>
            <a:ext cx="7200899" cy="576071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The IMPROVE network by median corrected spectrum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6F76"/>
                </a:solidFill>
              </a:defRPr>
            </a:pPr>
            <a:r>
              <a:t>SPARTAN sites in red</a:t>
            </a:r>
          </a:p>
        </p:txBody>
      </p:sp>
      <p:pic>
        <p:nvPicPr>
          <p:cNvPr id="4" name="Picture 3" descr="site_dend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980590"/>
            <a:ext cx="11521440" cy="399409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How similar IMPROVE sites are to each other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6F76"/>
                </a:solidFill>
              </a:defRPr>
            </a:pPr>
            <a:r>
              <a:t>vertical lines mark each SPARTAN site's best match</a:t>
            </a:r>
          </a:p>
        </p:txBody>
      </p:sp>
      <p:pic>
        <p:nvPicPr>
          <p:cNvPr id="4" name="Picture 3" descr="improve_pair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234440"/>
            <a:ext cx="109728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Raw versus baselined site similarity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6F76"/>
                </a:solidFill>
              </a:defRPr>
            </a:pPr>
            <a:r>
              <a:t>plotted as 1 minus r on log axes; 92 percent of sites change nearest neighbour</a:t>
            </a:r>
          </a:p>
        </p:txBody>
      </p:sp>
      <p:pic>
        <p:nvPicPr>
          <p:cNvPr id="4" name="Picture 3" descr="raw_vs_baselined_s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840598"/>
            <a:ext cx="11521440" cy="427408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Addis analogs chosen in raw space versus baselined 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6F76"/>
                </a:solidFill>
              </a:defRPr>
            </a:pPr>
            <a:r>
              <a:t>median overlap of the two top-50 sets is 12 percent</a:t>
            </a:r>
          </a:p>
        </p:txBody>
      </p:sp>
      <p:pic>
        <p:nvPicPr>
          <p:cNvPr id="4" name="Picture 3" descr="addis_raw_vs_baselined_analo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914098"/>
            <a:ext cx="11521440" cy="412708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The same raw-chosen analogs, redrawn after baselining</a:t>
            </a:r>
          </a:p>
        </p:txBody>
      </p:sp>
      <p:pic>
        <p:nvPicPr>
          <p:cNvPr id="3" name="Picture 2" descr="addis_raw_analogs_after_basel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862919"/>
            <a:ext cx="11521440" cy="395512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Where a spectral match becomes trustworthy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6F76"/>
                </a:solidFill>
              </a:defRPr>
            </a:pPr>
            <a:r>
              <a:t>EC agreement never reaches 75 percent precision at any cutoff</a:t>
            </a:r>
          </a:p>
        </p:txBody>
      </p:sp>
      <p:pic>
        <p:nvPicPr>
          <p:cNvPr id="4" name="Picture 3" descr="threshold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593" y="1234440"/>
            <a:ext cx="9476509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Addis median spectrum by Ethiopian season</a:t>
            </a:r>
          </a:p>
        </p:txBody>
      </p:sp>
      <p:pic>
        <p:nvPicPr>
          <p:cNvPr id="3" name="Picture 2" descr="season_medi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832956"/>
            <a:ext cx="11521440" cy="401504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Each season's five nearest IMPROVE spectra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6F76"/>
                </a:solidFill>
              </a:defRPr>
            </a:pPr>
            <a:r>
              <a:t>top-200 analog overlap is 0 percent dry versus either wet season</a:t>
            </a:r>
          </a:p>
        </p:txBody>
      </p:sp>
      <p:pic>
        <p:nvPicPr>
          <p:cNvPr id="4" name="Picture 3" descr="season_top_analo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2352821"/>
            <a:ext cx="11521440" cy="324963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What each season draws from the network</a:t>
            </a:r>
          </a:p>
        </p:txBody>
      </p:sp>
      <p:pic>
        <p:nvPicPr>
          <p:cNvPr id="3" name="Picture 2" descr="season_analog_charac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53" y="960120"/>
            <a:ext cx="11259589" cy="5760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