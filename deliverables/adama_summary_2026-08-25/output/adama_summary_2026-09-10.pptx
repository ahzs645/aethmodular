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4a9d5ebc914c2f" /><Relationship Type="http://schemas.openxmlformats.org/officeDocument/2006/relationships/extended-properties" Target="/docProps/app.xml" Id="R6a8c8e8272f54ed3" /><Relationship Type="http://schemas.openxmlformats.org/officeDocument/2006/relationships/officeDocument" Target="/ppt/presentation.xml" Id="R18046dd3e1184031" /></Relationships>
</file>

<file path=ppt/presentation.xml><?xml version="1.0" encoding="utf-8"?>
<p:presentation xmlns:p="http://schemas.openxmlformats.org/presentationml/2006/main">
  <p:sldMasterIdLst>
    <p:sldMasterId xmlns:r="http://schemas.openxmlformats.org/officeDocument/2006/relationships" id="2147483648" r:id="Rd6185b6b9dd04a16"/>
  </p:sldMasterIdLst>
  <p:notesMasterIdLst>
    <p:notesMasterId xmlns:r="http://schemas.openxmlformats.org/officeDocument/2006/relationships" r:id="R15430c5eb26248a5"/>
  </p:notesMasterIdLst>
  <p:sldIdLst>
    <p:sldId xmlns:r="http://schemas.openxmlformats.org/officeDocument/2006/relationships" id="256" r:id="R51b62ea471524932"/>
    <p:sldId xmlns:r="http://schemas.openxmlformats.org/officeDocument/2006/relationships" id="257" r:id="Ra6ce47029d724471"/>
    <p:sldId xmlns:r="http://schemas.openxmlformats.org/officeDocument/2006/relationships" id="258" r:id="R7a869267dcbb4bee"/>
    <p:sldId xmlns:r="http://schemas.openxmlformats.org/officeDocument/2006/relationships" id="259" r:id="R400ba6b79f1744ca"/>
    <p:sldId xmlns:r="http://schemas.openxmlformats.org/officeDocument/2006/relationships" id="260" r:id="R577972cb204144ae"/>
    <p:sldId xmlns:r="http://schemas.openxmlformats.org/officeDocument/2006/relationships" id="261" r:id="R5f7ae3998d464a54"/>
    <p:sldId xmlns:r="http://schemas.openxmlformats.org/officeDocument/2006/relationships" id="262" r:id="R69be111ed9a3440d"/>
    <p:sldId xmlns:r="http://schemas.openxmlformats.org/officeDocument/2006/relationships" id="263" r:id="Re3ed6a16545d4003"/>
    <p:sldId xmlns:r="http://schemas.openxmlformats.org/officeDocument/2006/relationships" id="264" r:id="R3e4f194d62a0480d"/>
    <p:sldId xmlns:r="http://schemas.openxmlformats.org/officeDocument/2006/relationships" id="265" r:id="R8701ad98163c4980"/>
    <p:sldId xmlns:r="http://schemas.openxmlformats.org/officeDocument/2006/relationships" id="266" r:id="Re97daf0fe7824f2b"/>
    <p:sldId xmlns:r="http://schemas.openxmlformats.org/officeDocument/2006/relationships" id="267" r:id="Rea2ef9f7d19d46c9"/>
    <p:sldId xmlns:r="http://schemas.openxmlformats.org/officeDocument/2006/relationships" id="268" r:id="Rc5c2d54920174dc1"/>
    <p:sldId xmlns:r="http://schemas.openxmlformats.org/officeDocument/2006/relationships" id="269" r:id="R055b98d9f7734ade"/>
    <p:sldId xmlns:r="http://schemas.openxmlformats.org/officeDocument/2006/relationships" id="270" r:id="Rb7cdd1bae6d94a6c"/>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7037831a3c34607" /><Relationship Type="http://schemas.openxmlformats.org/officeDocument/2006/relationships/slideMaster" Target="/ppt/slideMasters/slideMaster1.xml" Id="Rd6185b6b9dd04a16" /><Relationship Type="http://schemas.openxmlformats.org/officeDocument/2006/relationships/notesMaster" Target="/ppt/notesMasters/notesMaster1.xml" Id="R15430c5eb26248a5" /><Relationship Type="http://schemas.openxmlformats.org/officeDocument/2006/relationships/presProps" Target="/ppt/presProps.xml" Id="R3b8098fb299e41d5" /><Relationship Type="http://schemas.openxmlformats.org/officeDocument/2006/relationships/viewProps" Target="/ppt/viewProps.xml" Id="R6d91e4a359d64f57" /><Relationship Type="http://schemas.openxmlformats.org/officeDocument/2006/relationships/tableStyles" Target="/ppt/tableStyles.xml" Id="Rb01627bf847b4b82" /><Relationship Type="http://schemas.openxmlformats.org/officeDocument/2006/relationships/slide" Target="/ppt/slides/slide1.xml" Id="R51b62ea471524932" /><Relationship Type="http://schemas.openxmlformats.org/officeDocument/2006/relationships/slide" Target="/ppt/slides/slide2.xml" Id="Ra6ce47029d724471" /><Relationship Type="http://schemas.openxmlformats.org/officeDocument/2006/relationships/slide" Target="/ppt/slides/slide3.xml" Id="R7a869267dcbb4bee" /><Relationship Type="http://schemas.openxmlformats.org/officeDocument/2006/relationships/slide" Target="/ppt/slides/slide4.xml" Id="R400ba6b79f1744ca" /><Relationship Type="http://schemas.openxmlformats.org/officeDocument/2006/relationships/slide" Target="/ppt/slides/slide5.xml" Id="R577972cb204144ae" /><Relationship Type="http://schemas.openxmlformats.org/officeDocument/2006/relationships/slide" Target="/ppt/slides/slide6.xml" Id="R5f7ae3998d464a54" /><Relationship Type="http://schemas.openxmlformats.org/officeDocument/2006/relationships/slide" Target="/ppt/slides/slide7.xml" Id="R69be111ed9a3440d" /><Relationship Type="http://schemas.openxmlformats.org/officeDocument/2006/relationships/slide" Target="/ppt/slides/slide8.xml" Id="Re3ed6a16545d4003" /><Relationship Type="http://schemas.openxmlformats.org/officeDocument/2006/relationships/slide" Target="/ppt/slides/slide9.xml" Id="R3e4f194d62a0480d" /><Relationship Type="http://schemas.openxmlformats.org/officeDocument/2006/relationships/slide" Target="/ppt/slides/slide10.xml" Id="R8701ad98163c4980" /><Relationship Type="http://schemas.openxmlformats.org/officeDocument/2006/relationships/slide" Target="/ppt/slides/slide11.xml" Id="Re97daf0fe7824f2b" /><Relationship Type="http://schemas.openxmlformats.org/officeDocument/2006/relationships/slide" Target="/ppt/slides/slide12.xml" Id="Rea2ef9f7d19d46c9" /><Relationship Type="http://schemas.openxmlformats.org/officeDocument/2006/relationships/slide" Target="/ppt/slides/slide13.xml" Id="Rc5c2d54920174dc1" /><Relationship Type="http://schemas.openxmlformats.org/officeDocument/2006/relationships/slide" Target="/ppt/slides/slide14.xml" Id="R055b98d9f7734ade" /><Relationship Type="http://schemas.openxmlformats.org/officeDocument/2006/relationships/slide" Target="/ppt/slides/slide15.xml" Id="Rb7cdd1bae6d94a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4fe44a521846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c45ee887f34d9b" /><Relationship Type="http://schemas.openxmlformats.org/officeDocument/2006/relationships/notesMaster" Target="/ppt/notesMasters/notesMaster1.xml" Id="Rb1a94c814c0542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cad2b9eacd447e" /><Relationship Type="http://schemas.openxmlformats.org/officeDocument/2006/relationships/notesMaster" Target="/ppt/notesMasters/notesMaster1.xml" Id="R1cd26d9fabc941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67f3ac68fd41d9" /><Relationship Type="http://schemas.openxmlformats.org/officeDocument/2006/relationships/notesMaster" Target="/ppt/notesMasters/notesMaster1.xml" Id="Re0527e0864834d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2000a7c8944723" /><Relationship Type="http://schemas.openxmlformats.org/officeDocument/2006/relationships/notesMaster" Target="/ppt/notesMasters/notesMaster1.xml" Id="Rd37c325097cf4e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7e6b7f84fd4f7c" /><Relationship Type="http://schemas.openxmlformats.org/officeDocument/2006/relationships/notesMaster" Target="/ppt/notesMasters/notesMaster1.xml" Id="Ra58a991c29034e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70487da5a247b0" /><Relationship Type="http://schemas.openxmlformats.org/officeDocument/2006/relationships/notesMaster" Target="/ppt/notesMasters/notesMaster1.xml" Id="R3a2f752a72c44c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82bec167d745ba" /><Relationship Type="http://schemas.openxmlformats.org/officeDocument/2006/relationships/notesMaster" Target="/ppt/notesMasters/notesMaster1.xml" Id="Rb4086c34c29843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1218e1cf69445a" /><Relationship Type="http://schemas.openxmlformats.org/officeDocument/2006/relationships/notesMaster" Target="/ppt/notesMasters/notesMaster1.xml" Id="Rb5604b3c365347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8b940d37cd412c" /><Relationship Type="http://schemas.openxmlformats.org/officeDocument/2006/relationships/notesMaster" Target="/ppt/notesMasters/notesMaster1.xml" Id="Rabd80eb6e1164f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f35906bfba4ad3" /><Relationship Type="http://schemas.openxmlformats.org/officeDocument/2006/relationships/notesMaster" Target="/ppt/notesMasters/notesMaster1.xml" Id="R0cf5a973a8b24c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107fd549e5454a" /><Relationship Type="http://schemas.openxmlformats.org/officeDocument/2006/relationships/notesMaster" Target="/ppt/notesMasters/notesMaster1.xml" Id="Rb9c61c96cde448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1f17f6bb0d42a0" /><Relationship Type="http://schemas.openxmlformats.org/officeDocument/2006/relationships/notesMaster" Target="/ppt/notesMasters/notesMaster1.xml" Id="Ra3902f6f05074a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84b6e9b76e482c" /><Relationship Type="http://schemas.openxmlformats.org/officeDocument/2006/relationships/notesMaster" Target="/ppt/notesMasters/notesMaster1.xml" Id="R4f831ae5ee8141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eb906e2331942a7" /><Relationship Type="http://schemas.openxmlformats.org/officeDocument/2006/relationships/notesMaster" Target="/ppt/notesMasters/notesMaster1.xml" Id="R4d3b8324f1d64e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20cb3dedc14daa" /><Relationship Type="http://schemas.openxmlformats.org/officeDocument/2006/relationships/notesMaster" Target="/ppt/notesMasters/notesMaster1.xml" Id="R6fb0cdafd20146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Meeting 05:55–08:09 and 14:11–14:50: add Adama to the concentration/loading comparison. Density histograms make the unequal sample sizes explicit. The Adama vertical lines are the five observations, not a density estimate. Median Fabs is 40.51 Mm⁻¹ at Adama, 47.11 at Addis and 26.94 at Bishoftu. Optical depth medians are 0.294, 0.954 and 0.547, respectively. HIPS optical depth is a filter loading diagnostic. Air volume, deposit area and aerosol properties all matter. The site periods are not matched, so these distributions do not establish a city-wide or seasonal difference.</a:t>
            </a:r>
          </a:p>
          <a:p xmlns:a="http://schemas.openxmlformats.org/drawingml/2006/main">
            <a:r>
              <a:t>/Users/ahmadjalil/github/aethmodular/research/ftir_hips_chem/output/tables/adama_summary_20260910/adama_pairs.csv</a:t>
            </a:r>
          </a:p>
          <a:p xmlns:a="http://schemas.openxmlformats.org/drawingml/2006/main">
            <a:r>
              <a:t>/Users/ahmadjalil/github/aethmodular/research/ftir_hips_chem/output/tables/adama_summary_20260910/addis_hips_population.csv</a:t>
            </a:r>
          </a:p>
          <a:p xmlns:a="http://schemas.openxmlformats.org/drawingml/2006/main">
            <a:r>
              <a:t>/Users/ahmadjalil/github/aethmodular/research/ftir_hips_chem/output/tables/adama_summary_20260910/sources.json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Meeting 04:11–05:55 and 17:20–17:58. Each IMPROVE marker is a site median over at least 100 valid days. The Adama median is at approximately the 65th percentile of those site medians, rather than exactly at their median. Addis has FTIR OC/EC 1.34 and is at the lower edge of this reference. This is not an independent validation of FTIR at Addis because its plotted carbon products come from that calibration. It does not prove a universal composition difference from five July dates. Central sample exclusions apply to the SPARTAN markers, with positive finite ratio eligibility recorded.</a:t>
            </a:r>
          </a:p>
          <a:p xmlns:a="http://schemas.openxmlformats.org/drawingml/2006/main">
            <a:r>
              <a:t>/Users/ahmadjalil/github/aethmodular/research/ftir_hips_chem/output/tables/adama_summary_20260910/site_ratio_medians.csv</a:t>
            </a:r>
          </a:p>
          <a:p xmlns:a="http://schemas.openxmlformats.org/drawingml/2006/main">
            <a:r>
              <a:t>/Users/ahmadjalil/github/aethmodular/research/ftir_hips_chem/output/tables/adama_summary_20260910/improve_oc_ec_site_medians.csv</a:t>
            </a:r>
          </a:p>
          <a:p xmlns:a="http://schemas.openxmlformats.org/drawingml/2006/main">
            <a:r>
              <a:t>/Users/ahmadjalil/github/aethmodular/research/ftir_hips_chem/output/tables/adama_summary_20260910/adama_pairs.csv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Meeting 21:00: add OC/Fabs. The older deck says Adama HIPS is unavailable. Batch 54 contains these measurements. The updated cloud has 198 eligible IMPROVE sites, not the older hardcoded count of 199. Adama all-five median TOR OC/Fabs = 0.38791. The FTIR OC/Fabs median is 0.1689. Mixed media and different OC methods limit interpretation. Pairing flags remain in the source table.</a:t>
            </a:r>
          </a:p>
          <a:p xmlns:a="http://schemas.openxmlformats.org/drawingml/2006/main">
            <a:r>
              <a:t>/Users/ahmadjalil/github/aethmodular/research/ftir_hips_chem/output/tables/adama_summary_20260910/site_ratio_medians.csv</a:t>
            </a:r>
          </a:p>
          <a:p xmlns:a="http://schemas.openxmlformats.org/drawingml/2006/main">
            <a:r>
              <a:t>/Users/ahmadjalil/github/aethmodular/research/ftir_hips_chem/output/tables/adama_summary_20260910/improve_oc_fabs_site_medians.csv</a:t>
            </a:r>
          </a:p>
          <a:p xmlns:a="http://schemas.openxmlformats.org/drawingml/2006/main">
            <a:r>
              <a:t>/Users/ahmadjalil/github/aethmodular/research/ftir_hips_chem/output/tables/adama_summary_20260910/adama_pairs.csv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absorption-per-mass comparison is retained with refreshed source medians and the correct count of eligible IMPROVE sites. No FTIR product enters this ratio. The Adama absence is a missing PM2.5 denominator, not missing optics. Regional BAM or PurpleAir PM may give ambient context, but cannot be substituted directly for paired gravimetric mass on these five filters.</a:t>
            </a:r>
          </a:p>
          <a:p xmlns:a="http://schemas.openxmlformats.org/drawingml/2006/main">
            <a:r>
              <a:t>/Users/ahmadjalil/github/aethmodular/research/ftir_hips_chem/output/tables/adama_summary_20260910/site_ratio_medians.csv</a:t>
            </a:r>
          </a:p>
          <a:p xmlns:a="http://schemas.openxmlformats.org/drawingml/2006/main">
            <a:r>
              <a:t>/Users/ahmadjalil/github/aethmodular/research/ftir_hips_chem/output/tables/adama_summary_20260910/improve_fabs_pm_site_medians.csv</a:t>
            </a:r>
          </a:p>
          <a:p xmlns:a="http://schemas.openxmlformats.org/drawingml/2006/main">
            <a:r>
              <a:t>/Users/ahmadjalil/github/aethmodular/research/ftir_hips_chem/output/tables/adama_summary_20260910/bishoftu_mass_pairs.csv</a:t>
            </a:r>
          </a:p>
          <a:p xmlns:a="http://schemas.openxmlformats.org/drawingml/2006/main">
            <a:r>
              <a:t>/Users/ahmadjalil/github/aethmodular/research/ftir_hips_chem/output/tables/adama_summary_20260910/sources.json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Meeting 14:50–16:34: preserve Addis and add Adama FTIR versus HIPS. Paired PTFE and quartz samplers, July 2024. HIPS and FTIR share the PTFE filter. Quartz is a separate co-located filter. All comparisons use each sampler's own reported air volume. FTIR is the AMOD Batch 54 deployed EC export, CalibrationSetId 26. HIPS Fabs/MAC is an assumed EC-equivalent, not a direct EC measurement. Open rings mark the 9 July timing flag and 30 July volume flag. All five pairs remain visible. Addis includes 190 pairs from 7 December 2022 to 21 September 2024. The larger HIPS population continues to January 2026. OLS slope 1.898, intercept −4.170, R² 0.764. The Deming error model uses median measured HIPS uncertainty / MAC = 0.2908 µg/m³ and approximate FTIR sigma_y = 0.531 µg/m³ from the prior AIRSpec held-out TOR RMSE. This gives lambda 3.335, slope 2.226 and intercept -5.774. Lambda is a sensitivity assumption, not an exact error model for this deployed calibration.</a:t>
            </a:r>
          </a:p>
          <a:p xmlns:a="http://schemas.openxmlformats.org/drawingml/2006/main">
            <a:r>
              <a:t>/Users/ahmadjalil/github/aethmodular/research/ftir_hips_chem/output/tables/adama_summary_20260910/addis_ec_pairs.csv</a:t>
            </a:r>
          </a:p>
          <a:p xmlns:a="http://schemas.openxmlformats.org/drawingml/2006/main">
            <a:r>
              <a:t>/Users/ahmadjalil/github/aethmodular/research/ftir_hips_chem/output/tables/adama_summary_20260910/adama_pairs.csv</a:t>
            </a:r>
          </a:p>
          <a:p xmlns:a="http://schemas.openxmlformats.org/drawingml/2006/main">
            <a:r>
              <a:t>/Users/ahmadjalil/github/aethmodular/research/ftir_hips_chem/output/tables/adama_summary_20260910/summary.json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Meeting 14:50–16:34 requested all three measurement relationships. Separate panels avoid a dual-axis scale ambiguity. Paired PTFE and quartz samplers, July 2024. HIPS and FTIR share the PTFE filter. Quartz is a separate co-located filter. All comparisons use each sampler's own reported air volume. FTIR is the AMOD Batch 54 deployed EC export, CalibrationSetId 26. HIPS Fabs/MAC is an assumed EC-equivalent, not a direct EC measurement. Open rings mark the 9 July timing flag and 30 July volume flag. All five pairs remain visible. Quartz TOR EC spans 1.86–3.38 µg/m³. The approximately 4.8–8.9 values in the old crossplot were micrograms per filter, not ambient concentrations. HIPS / 10 exceeds quartz TOR EC on all five dates. These five observations cannot establish a population regression or rule out an Addis-like discrepancy in other Adama seasons.</a:t>
            </a:r>
          </a:p>
          <a:p xmlns:a="http://schemas.openxmlformats.org/drawingml/2006/main">
            <a:r>
              <a:t>/Users/ahmadjalil/github/aethmodular/research/ftir_hips_chem/output/tables/adama_summary_20260910/adama_pairs.csv</a:t>
            </a:r>
          </a:p>
          <a:p xmlns:a="http://schemas.openxmlformats.org/drawingml/2006/main">
            <a:r>
              <a:t>/Users/ahmadjalil/github/aethmodular/research/ftir_hips_chem/output/tables/adama_summary_20260910/legacy_calibrations_concentration_ratios.csv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Meeting 07:02–08:09: color FTIR EC versus Fabs by sampled air volume. HIPS volume and the FTIR metadata volume agree for all 239 HIPS evaluation rows. The 190 deployed-EC pairs contain one low-volume record: ETAD-0248-8, 7 August 2024, 2.0736 m³. Display strata (&lt;6, 6–8 m³) are not exclusions or documented sampling regimes. This plot does not have two well-populated volume regimes and cannot validate a before/after loading effect. The OLS / Deming assumptions are the same as slide 5.</a:t>
            </a:r>
          </a:p>
          <a:p xmlns:a="http://schemas.openxmlformats.org/drawingml/2006/main">
            <a:r>
              <a:t>/Users/ahmadjalil/github/aethmodular/research/ftir_hips_chem/output/tables/adama_summary_20260910/addis_ec_pairs.csv</a:t>
            </a:r>
          </a:p>
          <a:p xmlns:a="http://schemas.openxmlformats.org/drawingml/2006/main">
            <a:r>
              <a:t>/Users/ahmadjalil/github/aethmodular/research/ftir_hips_chem/output/tables/adama_summary_20260910/addis_volume_counts.csv</a:t>
            </a:r>
          </a:p>
          <a:p xmlns:a="http://schemas.openxmlformats.org/drawingml/2006/main">
            <a:r>
              <a:t>/Users/ahmadjalil/github/aethmodular/research/ftir_hips_chem/output/tables/adama_summary_20260910/summary.json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Meeting 07:19 and 12:30–12:49: distinguish the data available from the paired subset used by this deck. There are 239 HIPS/spectra filters but only 190 with a deployed EC product in the canonical unified dataset. No aethalometer flow-fix dates have been used as filter-sampler intervention dates. The optical-depth residual screen has Spearman r = 0.100. Residuals are computed from the pooled y-on-x OLS in slide 5, so this is an exploratory screen, not a causal test. Obtain the filter sampling protocol/logs and missing deployed EC products before claiming a regime comparison.</a:t>
            </a:r>
          </a:p>
          <a:p xmlns:a="http://schemas.openxmlformats.org/drawingml/2006/main">
            <a:r>
              <a:t>/Users/ahmadjalil/github/aethmodular/research/ftir_hips_chem/output/tables/adama_summary_20260910/addis_hips_population.csv</a:t>
            </a:r>
          </a:p>
          <a:p xmlns:a="http://schemas.openxmlformats.org/drawingml/2006/main">
            <a:r>
              <a:t>/Users/ahmadjalil/github/aethmodular/research/ftir_hips_chem/output/tables/adama_summary_20260910/addis_ec_pairs.csv</a:t>
            </a:r>
          </a:p>
          <a:p xmlns:a="http://schemas.openxmlformats.org/drawingml/2006/main">
            <a:r>
              <a:t>/Users/ahmadjalil/github/aethmodular/research/ftir_hips_chem/output/tables/adama_summary_20260910/summary.json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Meeting 09:39–14:11: retain the production/biomass comparison and thermal-fraction diagnostic. The old deck reported a median of 0.77 from FTIR mass / quartz mass. Because PTFE and quartz volumes differ, that is not a concentration ratio. New values divide each model mass by PTFE air volume, then by quartz TOR concentration. The production mass reproduces the AMOD set-26 EC concentration to numerical precision. Char/soot here is only the existing empirical fraction ratio (EC1−OPTR)/(EC2+EC3). All five ratios are below one (0.018–0.580). That does not independently identify a combustion source or resolve the calibration mechanism. Open rings mark the 9 July timing flag and 30 July volume flag. All five pairs remain visible.</a:t>
            </a:r>
          </a:p>
          <a:p xmlns:a="http://schemas.openxmlformats.org/drawingml/2006/main">
            <a:r>
              <a:t>/Users/ahmadjalil/github/aethmodular/research/ftir_hips_chem/output/tables/adama_summary_20260910/legacy_calibrations_concentration_ratios.csv</a:t>
            </a:r>
          </a:p>
          <a:p xmlns:a="http://schemas.openxmlformats.org/drawingml/2006/main">
            <a:r>
              <a:t>/Users/ahmadjalil/github/aethmodular/research/ftir_hips_chem/output/tables/adama_summary_20260910/adama_pairs.csv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three-method content is retained with the measured definitions and explicit sample flags. Paired PTFE and quartz samplers, July 2024. HIPS and FTIR share the PTFE filter. Quartz is a separate co-located filter. All comparisons use each sampler's own reported air volume. FTIR is the AMOD Batch 54 deployed EC export, CalibrationSetId 26. HIPS Fabs/MAC is an assumed EC-equivalent, not a direct EC measurement. The inferred MAC is Fabs divided by the selected EC definition, with units m²/g. Bars use only the three pairs with no comparability flag and all five points remain displayed. The earlier comparison to an Addis value near 47 is omitted from the claim because that number is a composition-bridge inference, not a same-site quartz measurement. Pure-EC universal upper-bound claims are not needed for this evidence.</a:t>
            </a:r>
          </a:p>
          <a:p xmlns:a="http://schemas.openxmlformats.org/drawingml/2006/main">
            <a:r>
              <a:t>/Users/ahmadjalil/github/aethmodular/research/ftir_hips_chem/output/tables/adama_summary_20260910/adama_pairs.csv</a:t>
            </a:r>
          </a:p>
          <a:p xmlns:a="http://schemas.openxmlformats.org/drawingml/2006/main">
            <a:r>
              <a:t>/Users/ahmadjalil/github/aethmodular/research/ftir_hips_chem/output/tables/adama_summary_20260910/summary.json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Preserves the September 1 deck's locked-calibration comparison, with separate TOR and TOT panels and readable labels. The source predictions come from ftir_44 and were not refitted for this deck. Model/TOR medians are 0.69 deployed, 1.40 locked 800, 2.00 winner 440, and 1.01 TOT-target. Paired-sampler flags apply. The older model workflow inferred spectrum-to-FilterId order from spectral rank agreement. That does not replace a definitive lab crosswalk, so these model values remain provisional. This is not enough evidence to declare the models generally invalid or to tune a new calibration.</a:t>
            </a:r>
          </a:p>
          <a:p xmlns:a="http://schemas.openxmlformats.org/drawingml/2006/main">
            <a:r>
              <a:t>/Users/ahmadjalil/github/aethmodular/research/ftir_hips_chem/output/tables/adama_summary_20260910/locked_model_ratios.csv</a:t>
            </a:r>
          </a:p>
          <a:p xmlns:a="http://schemas.openxmlformats.org/drawingml/2006/main">
            <a:r>
              <a:t>/Users/ahmadjalil/github/aethmodular/research/ftir_ec_phase3/output/tables/ftir44/adama_three_method_with_phase3_models.csv</a:t>
            </a:r>
          </a:p>
          <a:p xmlns:a="http://schemas.openxmlformats.org/drawingml/2006/main">
            <a:r>
              <a:t>/Users/ahmadjalil/github/aethmodular/research/ftir_ec_phase3/output/tables/ftir44/id_mapping_audit.csv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Requested in Ann Dillner's pasted email. Five Adama spectra overlay every filter in the existing 239-filter Addis spectra/HIPS evaluation set. Addis replicate FTIR scans are averaged by MediaId through the canonical phase3_common loader. No additional exclusions. Both slide 12 and slide 13 use identical x and y limits in each corresponding panel. The detailed panel enlarges 3500–1500 cm⁻¹ without changing the exported absorbance. Native wavenumber grids are plotted without interpolation. Addis spans 3998–500 cm⁻¹, Adama extends to 420 cm⁻¹. No confirmed row-ID-to-FilterId crosswalk is present, so the curves carry source IDs only. Raw differences mix baseline, substrate and loading effects with aerosol features, and are not a source diagnosis.</a:t>
            </a:r>
          </a:p>
          <a:p xmlns:a="http://schemas.openxmlformats.org/drawingml/2006/main">
            <a:r>
              <a:t>/Users/ahmadjalil/github/aethmodular/research/ftir_hips_chem/output/tables/adama_summary_20260910/spectral_overlay_manifest.json</a:t>
            </a:r>
          </a:p>
          <a:p xmlns:a="http://schemas.openxmlformats.org/drawingml/2006/main">
            <a:r>
              <a:t>/Users/ahmadjalil/github/aethmodular/research/ftir_hips_chem/output/tables/adama_summary_20260910/spectral_overlay_addis_population.csv</a:t>
            </a:r>
          </a:p>
          <a:p xmlns:a="http://schemas.openxmlformats.org/drawingml/2006/main">
            <a:r>
              <a:t>/Users/ahmadjalil/github/aethmodular/research/ftir_hips_chem/output/tables/adama_summary_20260910/spectral_overlay_adama_ids.csv</a:t>
            </a:r>
          </a:p>
          <a:p xmlns:a="http://schemas.openxmlformats.org/drawingml/2006/main">
            <a:r>
              <a:t>/Users/ahmadjalil/Library/CloudStorage/GoogleDrive-ahzs645@gmail.com/My Drive/University/Research/Grad/Data/Davis Data/DAVIS/CSU_AMOD/csu_amod_Batch_54_ShipDate_2026-05-29_spectra.csv</a:t>
            </a:r>
          </a:p>
          <a:p xmlns:a="http://schemas.openxmlformats.org/drawingml/2006/main">
            <a:r>
              <a:t>/Users/ahmadjalil/Library/CloudStorage/GoogleDrive-ahzs645@gmail.com/My Drive/University/Research/Grad/Data/Davis Data/DAVIS/ETAD FTIR/ETAD_FTIR_spectra.csv</a:t>
            </a:r>
          </a:p>
          <a:p xmlns:a="http://schemas.openxmlformats.org/drawingml/2006/main">
            <a:r>
              <a:t>/Users/ahmadjalil/Library/CloudStorage/GoogleDrive-ahzs645@gmail.com/My Drive/University/Research/Grad/Data/Davis Data/DAVIS/ETAD FTIR/ETAD_metadata.csv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 requested a summer-only Addis overlay because Adama was sampled in July. Summer is explicitly operationalized as Kiremt (June–September), via config.ETHIOPIA_SEASONS under season convention dry_feb. The alternate registered calendar changes February only, so it does not change this summer selection. 73 Addis filters qualify, spanning 2023-06-01 to 2025-08-02. This pools available summers and is not restricted to July 2024 or the 190 deployed-EC pairs. The plots show raw spectra with identical corresponding panel limits. Adama source row IDs do not assert a physical-filter match.</a:t>
            </a:r>
          </a:p>
          <a:p xmlns:a="http://schemas.openxmlformats.org/drawingml/2006/main">
            <a:r>
              <a:t>/Users/ahmadjalil/github/aethmodular/research/ftir_hips_chem/output/tables/adama_summary_20260910/spectral_overlay_manifest.json</a:t>
            </a:r>
          </a:p>
          <a:p xmlns:a="http://schemas.openxmlformats.org/drawingml/2006/main">
            <a:r>
              <a:t>/Users/ahmadjalil/github/aethmodular/research/ftir_hips_chem/output/tables/adama_summary_20260910/spectral_overlay_addis_population.csv</a:t>
            </a:r>
          </a:p>
          <a:p xmlns:a="http://schemas.openxmlformats.org/drawingml/2006/main">
            <a:r>
              <a:t>/Users/ahmadjalil/github/aethmodular/research/ftir_hips_chem/output/tables/adama_summary_20260910/spectral_overlay_adama_ids.csv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Flags reproduced from ftir_41 using the source timestamps and sampler volumes. 9 July has a quartz start 39.73 minutes after PTFE. 30 July has PTFE volume only 0.456 times quartz volume. Neither is automatically excluded or corrected. No sampler-log explanation is available in the input. Review whether the volume discrepancy reflects true collection or a metadata error before correcting any concentration.</a:t>
            </a:r>
          </a:p>
          <a:p xmlns:a="http://schemas.openxmlformats.org/drawingml/2006/main">
            <a:r>
              <a:t>/Users/ahmadjalil/github/aethmodular/research/ftir_hips_chem/output/tables/adama_summary_20260910/adama_pairs.csv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Meeting 18:27–21:00: inspect BAM availability through the MAIA portal and consider PurpleAir for relative PM context. Meeting 21:46–25:50: prioritize quartz in Addis. Same-site co-location is preferred, but the meeting described the existing southern Addis site as a more feasible alternative. Meeting 26:00–29:11: Ann will investigate the available paired Delhi filters. The earlier 36-filter sizing remains a separate proposal, not a decision of this meeting. No messages have been sent.</a:t>
            </a:r>
          </a:p>
          <a:p xmlns:a="http://schemas.openxmlformats.org/drawingml/2006/main">
            <a:r>
              <a:t>Public data route checked 10 September 2026: NASA/JPL MAIA GIVT supports download of quality-controlled daily surface PM observations: https://maia.jpl.nasa.gov/mmgis/ . This confirms a source route, not a date-matched Adama BAM/PurpleAir data series. No ambient PM city ratio is presented without verified station, method, date and completeness coverage. NASA product announcement: https://www.earthdata.nasa.gov/data/alerts-outages/multi-angle-imager-aerosols-maia-surface-monitor-data-product-released .</a:t>
            </a:r>
          </a:p>
          <a:p xmlns:a="http://schemas.openxmlformats.org/drawingml/2006/main">
            <a:r>
              <a:t>Meeting source: user-pasted transcript, Adama discussion 03:04–30:05. Subsequent pasted email from Ann requests slides 12–13.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30708630a94d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a47ec3ae0540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346a16c66342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a078a77e6c49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f288b99e0c47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5cda01fffc41f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7e2aa3c7533403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e96cdcaff1f439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c36a816f4d44ba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296163349d643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8d6fc6f9f73448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4FAB8A-82B8-4E9E-B09C-07DA07F2F5D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C5C7EA50-A7F8-48C1-ACFC-79835752E5CB}"/>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BFF6FB20-E2EF-4ABB-A499-2B4E63415D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91D601D-AD75-47F5-9076-E19E4C4014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211F91E-38A7-40E0-97D0-1E758CAABAD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61527EB-3B01-4FFC-8718-6ECB6435DB2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2EB5FBC-91F3-49A7-82FB-5FD743ED91D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A08EBE0-2478-485B-9D14-37DD93F0441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8B0647F-7465-4BF9-8C09-F304BE255C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8002E06-1B5E-4E59-BD35-9B2E873043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EBB545A-314D-4109-8811-333C8E056E84}"/>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C0D8C6F-B31B-4DC9-8B20-40127178E8F0}"/>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D074C5F-890F-409C-97F4-ED7800C3A6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870332A-2E92-455C-B613-E4A713C441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E0C4370-031E-4947-BC0F-310BC64352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C7182F-9F2E-40E7-B231-5AB8DA58E1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9BF0312-BE7B-4FC3-9E22-1172A6D036BE}"/>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81B1779-B17B-4D7C-A524-AC31CB44650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E77C684A-E592-4046-96A8-89D7202CB3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AB44FE74-71FA-4C52-A601-CE3A2A1A24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AEB5B50-9C91-43C8-BA74-C5CB21CDB4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2F6D8F-A16E-4F69-8A0E-E05B2EC0772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DD29FC5-5EBE-46E6-87C2-AF5760CE672F}"/>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DBEA8C7-2114-4D0B-9BB4-CD7975433276}"/>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4102C939-CA5B-4231-897B-DA19A5E02C17}"/>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558978EF-7714-4A6B-B324-13B54F71F9B7}"/>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93985A6E-7F20-428F-9739-8AE7683756B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9035C13-55B0-47F1-883F-16C4CB77D6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A9AC147-CC8F-46B6-8477-DEDB75A153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06D3FA-D0E9-4D98-8DAD-A79B08EAFE4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4BA829A-69E2-47E6-9416-84500F2D08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66D185DB-D54D-471B-9536-3CAB724E95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31998721-33D7-42C9-A882-DAE3CE924F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BC55478A-7497-486F-AD55-770362F78F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B4CA0FE9-B607-4504-9BA8-A2D3AF1C1A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F980BD57-4C36-42EE-A64A-9B3FD571151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CF732A-BFCE-4D7C-BB23-E16ED9F6BE67}"/>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7AEF2F1-6553-48BE-9294-85B08AA659D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6AB613D8-CDC9-42BF-B04E-67FAED75AB97}"/>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5FF59CC-8F5A-43DF-8F82-2E56FC75A9E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36E9F8BF-8CF6-45C2-A04D-6B5DE5BD25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2A36DC9-3DB6-4755-BF56-D45C63D86B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76AB87C-00BB-4A19-B871-1FB2BDD0C8E3}"/>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4B596757-59FC-4696-B029-3C01431EEBE0}"/>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0B6593F-B893-4C2F-8C43-068911B7BB6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9EB1CBC-EF68-4C2B-8D71-2F297621A8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F3BBB39E-BD32-496C-9882-D3046B0FEB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F24AE8D-2916-4A17-A403-61815030AA9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E730080-C4F8-45C3-AC2A-080A7C1A450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2B3F8E1-F42D-4ED0-8F4A-7CFB2C818E3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8626E58-A6FD-40B6-821F-A5B28BE505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6C0C392-380F-4126-8F62-0F83C88A3D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13E9DDD-D615-46ED-A87E-2633A6DBBA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1B7C760-BB48-43FB-A0A2-421DB829D55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5E70EFF-E988-42D8-91F3-701D64BA11D9}"/>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C0ECD05-BF31-4822-ADFB-15C6F71312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7FCDE2D-40B5-476E-BECD-9BA3AEE59A5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6A3B424-4898-4C89-A5CA-930AF4C76E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ad55afd7824ee3" /><Relationship Type="http://schemas.openxmlformats.org/officeDocument/2006/relationships/slideLayout" Target="/ppt/slideLayouts/slideLayout1.xml" Id="Rf5d46f22ad814a7b" /><Relationship Type="http://schemas.openxmlformats.org/officeDocument/2006/relationships/slideLayout" Target="/ppt/slideLayouts/slideLayout2.xml" Id="Re5c86634952d4776" /><Relationship Type="http://schemas.openxmlformats.org/officeDocument/2006/relationships/slideLayout" Target="/ppt/slideLayouts/slideLayout3.xml" Id="Rd88c04c3e2c34989" /><Relationship Type="http://schemas.openxmlformats.org/officeDocument/2006/relationships/slideLayout" Target="/ppt/slideLayouts/slideLayout4.xml" Id="Rc499e0c034b24073" /><Relationship Type="http://schemas.openxmlformats.org/officeDocument/2006/relationships/slideLayout" Target="/ppt/slideLayouts/slideLayout5.xml" Id="R0df07225ca2c409c" /><Relationship Type="http://schemas.openxmlformats.org/officeDocument/2006/relationships/slideLayout" Target="/ppt/slideLayouts/slideLayout6.xml" Id="R9c6339d828e04890" /><Relationship Type="http://schemas.openxmlformats.org/officeDocument/2006/relationships/slideLayout" Target="/ppt/slideLayouts/slideLayout7.xml" Id="R3ac145b820114863" /><Relationship Type="http://schemas.openxmlformats.org/officeDocument/2006/relationships/slideLayout" Target="/ppt/slideLayouts/slideLayout8.xml" Id="R48a291e4e9994bb2" /><Relationship Type="http://schemas.openxmlformats.org/officeDocument/2006/relationships/slideLayout" Target="/ppt/slideLayouts/slideLayout9.xml" Id="Rcf6611dc88d24fa8" /><Relationship Type="http://schemas.openxmlformats.org/officeDocument/2006/relationships/slideLayout" Target="/ppt/slideLayouts/slideLayout10.xml" Id="Rde3104b0b32e4d88" /><Relationship Type="http://schemas.openxmlformats.org/officeDocument/2006/relationships/slideLayout" Target="/ppt/slideLayouts/slideLayout11.xml" Id="R1d85a9e6cf894da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4B63FA1-8F75-4687-A609-FA272E4886A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39DD841-5BCA-41BB-9174-6D54B4F9B96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1E4D755-FED5-47D2-9E0B-709570FD9A8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E410674-CC82-489F-8659-5964398514EE}"/>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817D1C2-CC28-4096-9D7B-993C2DCBA9FF}"/>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d46f22ad814a7b"/>
    <p:sldLayoutId xmlns:r="http://schemas.openxmlformats.org/officeDocument/2006/relationships" id="2147483650" r:id="Re5c86634952d4776"/>
    <p:sldLayoutId xmlns:r="http://schemas.openxmlformats.org/officeDocument/2006/relationships" id="2147483651" r:id="Rd88c04c3e2c34989"/>
    <p:sldLayoutId xmlns:r="http://schemas.openxmlformats.org/officeDocument/2006/relationships" id="2147483652" r:id="Rc499e0c034b24073"/>
    <p:sldLayoutId xmlns:r="http://schemas.openxmlformats.org/officeDocument/2006/relationships" id="2147483653" r:id="R0df07225ca2c409c"/>
    <p:sldLayoutId xmlns:r="http://schemas.openxmlformats.org/officeDocument/2006/relationships" id="2147483654" r:id="R9c6339d828e04890"/>
    <p:sldLayoutId xmlns:r="http://schemas.openxmlformats.org/officeDocument/2006/relationships" id="2147483655" r:id="R3ac145b820114863"/>
    <p:sldLayoutId xmlns:r="http://schemas.openxmlformats.org/officeDocument/2006/relationships" id="2147483656" r:id="R48a291e4e9994bb2"/>
    <p:sldLayoutId xmlns:r="http://schemas.openxmlformats.org/officeDocument/2006/relationships" id="2147483657" r:id="Rcf6611dc88d24fa8"/>
    <p:sldLayoutId xmlns:r="http://schemas.openxmlformats.org/officeDocument/2006/relationships" id="2147483658" r:id="Rde3104b0b32e4d88"/>
    <p:sldLayoutId xmlns:r="http://schemas.openxmlformats.org/officeDocument/2006/relationships" id="2147483659" r:id="R1d85a9e6cf894daf"/>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3cd38064906a459b" /><Relationship Type="http://schemas.openxmlformats.org/officeDocument/2006/relationships/image" Target="/ppt/media/image.png" Id="Rcf60ef5146ea47f8" /><Relationship Type="http://schemas.openxmlformats.org/officeDocument/2006/relationships/notesSlide" Target="/ppt/notesSlides/notesSlide1.xml" Id="R082d268afb4f41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fdacb2c15564150" /><Relationship Type="http://schemas.openxmlformats.org/officeDocument/2006/relationships/image" Target="/ppt/media/image2.png" Id="R6e5024375cde4f99" /><Relationship Type="http://schemas.openxmlformats.org/officeDocument/2006/relationships/notesSlide" Target="/ppt/notesSlides/notesSlide2.xml" Id="Rd81d300822aa42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5ab5b0c24087477d" /><Relationship Type="http://schemas.openxmlformats.org/officeDocument/2006/relationships/image" Target="/ppt/media/image3.png" Id="R4514f84fe0634989" /><Relationship Type="http://schemas.openxmlformats.org/officeDocument/2006/relationships/notesSlide" Target="/ppt/notesSlides/notesSlide3.xml" Id="Rfb27654938f94f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9cbf7d1d23fd4df9" /><Relationship Type="http://schemas.openxmlformats.org/officeDocument/2006/relationships/image" Target="/ppt/media/image4.png" Id="R202d28f89c774e70" /><Relationship Type="http://schemas.openxmlformats.org/officeDocument/2006/relationships/notesSlide" Target="/ppt/notesSlides/notesSlide4.xml" Id="Rd6849ffc301b44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657113374ae24e5e" /><Relationship Type="http://schemas.openxmlformats.org/officeDocument/2006/relationships/image" Target="/ppt/media/image5.png" Id="R8ff97bdcb9ad4543" /><Relationship Type="http://schemas.openxmlformats.org/officeDocument/2006/relationships/notesSlide" Target="/ppt/notesSlides/notesSlide5.xml" Id="R55cf4dbafe7548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79d635ab9c134d65" /><Relationship Type="http://schemas.openxmlformats.org/officeDocument/2006/relationships/image" Target="/ppt/media/image6.png" Id="Rc709f6fb040b4ee2" /><Relationship Type="http://schemas.openxmlformats.org/officeDocument/2006/relationships/notesSlide" Target="/ppt/notesSlides/notesSlide6.xml" Id="R16586da8aced41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c99093506e8948d0" /><Relationship Type="http://schemas.openxmlformats.org/officeDocument/2006/relationships/image" Target="/ppt/media/image7.png" Id="Rd7a8d3a76c5f4fec" /><Relationship Type="http://schemas.openxmlformats.org/officeDocument/2006/relationships/notesSlide" Target="/ppt/notesSlides/notesSlide7.xml" Id="Reb3f75b7ade14d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08af8dd7a284c88" /><Relationship Type="http://schemas.openxmlformats.org/officeDocument/2006/relationships/image" Target="/ppt/media/image8.png" Id="R0e432d2802774aa6" /><Relationship Type="http://schemas.openxmlformats.org/officeDocument/2006/relationships/notesSlide" Target="/ppt/notesSlides/notesSlide8.xml" Id="Rea2f7f7a92a44e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c1b10fb455f542b7" /><Relationship Type="http://schemas.openxmlformats.org/officeDocument/2006/relationships/image" Target="/ppt/media/image9.png" Id="Rc31c50365f8a43f1" /><Relationship Type="http://schemas.openxmlformats.org/officeDocument/2006/relationships/notesSlide" Target="/ppt/notesSlides/notesSlide9.xml" Id="R2761d8b1cd794f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167a136d34704d68" /><Relationship Type="http://schemas.openxmlformats.org/officeDocument/2006/relationships/image" Target="/ppt/media/image10.png" Id="R5f21d697d1894b9b" /><Relationship Type="http://schemas.openxmlformats.org/officeDocument/2006/relationships/notesSlide" Target="/ppt/notesSlides/notesSlide10.xml" Id="R466fc8c6ad544fe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9e7d98d0056f4d93" /><Relationship Type="http://schemas.openxmlformats.org/officeDocument/2006/relationships/image" Target="/ppt/media/image11.png" Id="R3dc778b33df84802" /><Relationship Type="http://schemas.openxmlformats.org/officeDocument/2006/relationships/notesSlide" Target="/ppt/notesSlides/notesSlide11.xml" Id="R4f63724f43f148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937938a89a994303" /><Relationship Type="http://schemas.openxmlformats.org/officeDocument/2006/relationships/image" Target="/ppt/media/image12.png" Id="R836dd945ce26445e" /><Relationship Type="http://schemas.openxmlformats.org/officeDocument/2006/relationships/notesSlide" Target="/ppt/notesSlides/notesSlide12.xml" Id="Rc2f16465555348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67574c0bca244147" /><Relationship Type="http://schemas.openxmlformats.org/officeDocument/2006/relationships/image" Target="/ppt/media/image13.png" Id="Refc55a6d04d24b91" /><Relationship Type="http://schemas.openxmlformats.org/officeDocument/2006/relationships/notesSlide" Target="/ppt/notesSlides/notesSlide13.xml" Id="R796c56a3aaae4a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5cbf4e37a9714f17" /><Relationship Type="http://schemas.openxmlformats.org/officeDocument/2006/relationships/notesSlide" Target="/ppt/notesSlides/notesSlide14.xml" Id="Redd6b42de15c490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1426ef0d308d4b1e" /><Relationship Type="http://schemas.openxmlformats.org/officeDocument/2006/relationships/notesSlide" Target="/ppt/notesSlides/notesSlide15.xml" Id="R1eb5ce9b90f941a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88053EC-38E2-473F-97E4-F208AAFD0E3F}"/>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Adama absorption overlaps Addis, while filter optical depth is lower</a:t>
            </a:r>
          </a:p>
        </p:txBody>
      </p:sp>
      <p:sp>
        <p:nvSpPr>
          <p:cNvPr id="4" name="">
            <a:extLst xmlns:a="http://schemas.openxmlformats.org/drawingml/2006/main">
              <a:ext uri="{FF2B5EF4-FFF2-40B4-BE49-F238E27FC236}">
                <a16:creationId xmlns:a16="http://schemas.microsoft.com/office/drawing/2014/main" id="{F4B53936-26EA-42EB-8D29-A75BE3C77D1B}"/>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Five July 2024 Adama filters added to the existing Addis and Bishoftu comparison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f60ef5146ea47f8"/>
          <a:stretch xmlns:a="http://schemas.openxmlformats.org/drawingml/2006/main"/>
        </p:blipFill>
        <p:spPr>
          <a:xfrm xmlns:a="http://schemas.openxmlformats.org/drawingml/2006/main">
            <a:off x="710443" y="1657350"/>
            <a:ext cx="10770733" cy="424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4838363-EA48-41D6-B65D-DAB1042E1074}"/>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Different collection periods and samplers. Median sampled volumes: Addis 7.25 m³, Bishoftu 7.17 m³, Adama 2.88 m³.</a:t>
            </a:r>
          </a:p>
        </p:txBody>
      </p:sp>
    </p:spTree>
    <p:extLst>
      <p:ext uri="{BB962C8B-B14F-4D97-AF65-F5344CB8AC3E}">
        <p14:creationId xmlns:p14="http://schemas.microsoft.com/office/powerpoint/2010/main" val="211242058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1C32926-16F4-4BB9-8108-684C49E705C2}"/>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Adama TOR OC/EC falls within the IMPROVE distribution</a:t>
            </a:r>
          </a:p>
        </p:txBody>
      </p:sp>
      <p:sp>
        <p:nvSpPr>
          <p:cNvPr id="4" name="">
            <a:extLst xmlns:a="http://schemas.openxmlformats.org/drawingml/2006/main">
              <a:ext uri="{FF2B5EF4-FFF2-40B4-BE49-F238E27FC236}">
                <a16:creationId xmlns:a16="http://schemas.microsoft.com/office/drawing/2014/main" id="{333D3BCF-458D-405C-9B52-CA319D133884}"/>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Adama median OC/EC = 6.08 across five dates, compared with 199 IMPROVE site medians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e5024375cde4f99"/>
          <a:stretch xmlns:a="http://schemas.openxmlformats.org/drawingml/2006/main"/>
        </p:blipFill>
        <p:spPr>
          <a:xfrm xmlns:a="http://schemas.openxmlformats.org/drawingml/2006/main">
            <a:off x="517970" y="1822710"/>
            <a:ext cx="11155680" cy="391742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F9D3A0E-8014-44AB-A388-AF44B96D9F2F}"/>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IMPROVE and Adama use quartz TOR. The four SPARTAN city markers use deployed FTIR products, so the methods differ.</a:t>
            </a:r>
          </a:p>
        </p:txBody>
      </p:sp>
    </p:spTree>
    <p:extLst>
      <p:ext uri="{BB962C8B-B14F-4D97-AF65-F5344CB8AC3E}">
        <p14:creationId xmlns:p14="http://schemas.microsoft.com/office/powerpoint/2010/main" val="75218613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9900B34-D144-444E-AE80-0CAC3B8F69C2}"/>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Adama can join the OC-to-absorption comparison</a:t>
            </a:r>
          </a:p>
        </p:txBody>
      </p:sp>
      <p:sp>
        <p:nvSpPr>
          <p:cNvPr id="4" name="">
            <a:extLst xmlns:a="http://schemas.openxmlformats.org/drawingml/2006/main">
              <a:ext uri="{FF2B5EF4-FFF2-40B4-BE49-F238E27FC236}">
                <a16:creationId xmlns:a16="http://schemas.microsoft.com/office/drawing/2014/main" id="{234AEB40-50AA-47DF-98AB-E22506377205}"/>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The Adama marker combines quartz TOR OC with HIPS on the paired PTFE filter</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514f84fe0634989"/>
          <a:stretch xmlns:a="http://schemas.openxmlformats.org/drawingml/2006/main"/>
        </p:blipFill>
        <p:spPr>
          <a:xfrm xmlns:a="http://schemas.openxmlformats.org/drawingml/2006/main">
            <a:off x="517970" y="1822710"/>
            <a:ext cx="11155680" cy="391742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F613FFD-9339-4ECC-9C57-EB1435482285}"/>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Adama median OC/Fabs is 0.39 using TOR OC and 0.17 using FTIR OC. The marker depends on the OC measurement method.</a:t>
            </a:r>
          </a:p>
        </p:txBody>
      </p:sp>
    </p:spTree>
    <p:extLst>
      <p:ext uri="{BB962C8B-B14F-4D97-AF65-F5344CB8AC3E}">
        <p14:creationId xmlns:p14="http://schemas.microsoft.com/office/powerpoint/2010/main" val="11462938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6412E18-4790-4C4A-A4B3-D2858D3AE93F}"/>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Absorption per PM₂.₅ mass still needs paired Adama gravimetry</a:t>
            </a:r>
          </a:p>
        </p:txBody>
      </p:sp>
      <p:sp>
        <p:nvSpPr>
          <p:cNvPr id="4" name="">
            <a:extLst xmlns:a="http://schemas.openxmlformats.org/drawingml/2006/main">
              <a:ext uri="{FF2B5EF4-FFF2-40B4-BE49-F238E27FC236}">
                <a16:creationId xmlns:a16="http://schemas.microsoft.com/office/drawing/2014/main" id="{84403B65-9E91-4010-A0A5-F61678739605}"/>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Existing HIPS and filter-mass data provide context for Addis and Bishoftu</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02d28f89c774e70"/>
          <a:stretch xmlns:a="http://schemas.openxmlformats.org/drawingml/2006/main"/>
        </p:blipFill>
        <p:spPr>
          <a:xfrm xmlns:a="http://schemas.openxmlformats.org/drawingml/2006/main">
            <a:off x="517970" y="1822710"/>
            <a:ext cx="11155680" cy="391742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F7A0834-B7F0-485C-B1E3-9E8BC53A4804}"/>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Adama HIPS is available. A matched PM₂.₅ mass value for each Adama PTFE filter is still missing from these source exports.</a:t>
            </a:r>
          </a:p>
        </p:txBody>
      </p:sp>
    </p:spTree>
    <p:extLst>
      <p:ext uri="{BB962C8B-B14F-4D97-AF65-F5344CB8AC3E}">
        <p14:creationId xmlns:p14="http://schemas.microsoft.com/office/powerpoint/2010/main" val="143189900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E1A876D-983E-4B7A-8185-7FBEC2AB7393}"/>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Addis and Adama against the same HIPS reference</a:t>
            </a:r>
          </a:p>
        </p:txBody>
      </p:sp>
      <p:sp>
        <p:nvSpPr>
          <p:cNvPr id="4" name="">
            <a:extLst xmlns:a="http://schemas.openxmlformats.org/drawingml/2006/main">
              <a:ext uri="{FF2B5EF4-FFF2-40B4-BE49-F238E27FC236}">
                <a16:creationId xmlns:a16="http://schemas.microsoft.com/office/drawing/2014/main" id="{8B7AE5E1-9793-4332-9198-B840D05FF834}"/>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Both panels use concentrations, identical axes and the configured MAC of 10 m²/g</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ff97bdcb9ad4543"/>
          <a:stretch xmlns:a="http://schemas.openxmlformats.org/drawingml/2006/main"/>
        </p:blipFill>
        <p:spPr>
          <a:xfrm xmlns:a="http://schemas.openxmlformats.org/drawingml/2006/main">
            <a:off x="1597886" y="1657350"/>
            <a:ext cx="8995847" cy="424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F07926F-8308-445A-ADEE-2565FFE147AC}"/>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Adama n = 5, with no fitted line. Open rings identify the two pairing flags. HIPS / MAC depends on the assumed MAC.</a:t>
            </a:r>
          </a:p>
        </p:txBody>
      </p:sp>
    </p:spTree>
    <p:extLst>
      <p:ext uri="{BB962C8B-B14F-4D97-AF65-F5344CB8AC3E}">
        <p14:creationId xmlns:p14="http://schemas.microsoft.com/office/powerpoint/2010/main" val="12972732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88053EC-38E2-473F-97E4-F208AAFD0E3F}"/>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The five Adama pairs connect FTIR, HIPS and quartz TOR</a:t>
            </a:r>
          </a:p>
        </p:txBody>
      </p:sp>
      <p:sp>
        <p:nvSpPr>
          <p:cNvPr id="4" name="">
            <a:extLst xmlns:a="http://schemas.openxmlformats.org/drawingml/2006/main">
              <a:ext uri="{FF2B5EF4-FFF2-40B4-BE49-F238E27FC236}">
                <a16:creationId xmlns:a16="http://schemas.microsoft.com/office/drawing/2014/main" id="{EF44E068-C22C-4550-9604-879685DD72C8}"/>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All three pairwise comparisons use the same five dates and a 1:1 reference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709f6fb040b4ee2"/>
          <a:stretch xmlns:a="http://schemas.openxmlformats.org/drawingml/2006/main"/>
        </p:blipFill>
        <p:spPr>
          <a:xfrm xmlns:a="http://schemas.openxmlformats.org/drawingml/2006/main">
            <a:off x="517970" y="1805736"/>
            <a:ext cx="11155680" cy="395137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EEEAB5F-5C9D-495A-86BD-1D78A21EEBA9}"/>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Concentrations in µg/m³. HIPS uses MAC = 10 m²/g. Open rings flag pairing issues, with no exclusion or correction.</a:t>
            </a:r>
          </a:p>
        </p:txBody>
      </p:sp>
    </p:spTree>
    <p:extLst>
      <p:ext uri="{BB962C8B-B14F-4D97-AF65-F5344CB8AC3E}">
        <p14:creationId xmlns:p14="http://schemas.microsoft.com/office/powerpoint/2010/main" val="211242058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88053EC-38E2-473F-97E4-F208AAFD0E3F}"/>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The Addis comparison mostly contains one sampled-volume range</a:t>
            </a:r>
          </a:p>
        </p:txBody>
      </p:sp>
      <p:sp>
        <p:nvSpPr>
          <p:cNvPr id="4" name="">
            <a:extLst xmlns:a="http://schemas.openxmlformats.org/drawingml/2006/main">
              <a:ext uri="{FF2B5EF4-FFF2-40B4-BE49-F238E27FC236}">
                <a16:creationId xmlns:a16="http://schemas.microsoft.com/office/drawing/2014/main" id="{1B0A5042-A140-43EA-9F18-40EC082A15C4}"/>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189 of 190 pairs span 6.78–7.36 m³. One filter has a recorded volume of 2.07 m³.</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7a8d3a76c5f4fec"/>
          <a:stretch xmlns:a="http://schemas.openxmlformats.org/drawingml/2006/main"/>
        </p:blipFill>
        <p:spPr>
          <a:xfrm xmlns:a="http://schemas.openxmlformats.org/drawingml/2006/main">
            <a:off x="1244854" y="1657350"/>
            <a:ext cx="9701911" cy="424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25F2640-B1C3-4B61-8854-C65743DF0843}"/>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Color shows recorded air volume. The solid line is pooled OLS. Residuals include every paired filter.</a:t>
            </a:r>
          </a:p>
        </p:txBody>
      </p:sp>
    </p:spTree>
    <p:extLst>
      <p:ext uri="{BB962C8B-B14F-4D97-AF65-F5344CB8AC3E}">
        <p14:creationId xmlns:p14="http://schemas.microsoft.com/office/powerpoint/2010/main" val="21124205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88053EC-38E2-473F-97E4-F208AAFD0E3F}"/>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Later HIPS samples have no deployed FTIR EC in this subset</a:t>
            </a:r>
          </a:p>
        </p:txBody>
      </p:sp>
      <p:sp>
        <p:nvSpPr>
          <p:cNvPr id="4" name="">
            <a:extLst xmlns:a="http://schemas.openxmlformats.org/drawingml/2006/main">
              <a:ext uri="{FF2B5EF4-FFF2-40B4-BE49-F238E27FC236}">
                <a16:creationId xmlns:a16="http://schemas.microsoft.com/office/drawing/2014/main" id="{4A352493-61FF-4DBA-A97E-8D5D5F11691C}"/>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The HIPS population extends to January 2026. The 190 deployed-EC pairs end in September 2024.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e432d2802774aa6"/>
          <a:stretch xmlns:a="http://schemas.openxmlformats.org/drawingml/2006/main"/>
        </p:blipFill>
        <p:spPr>
          <a:xfrm xmlns:a="http://schemas.openxmlformats.org/drawingml/2006/main">
            <a:off x="644089" y="1657350"/>
            <a:ext cx="10903441" cy="424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B158D6A-694B-42F2-BB4F-F2CEB9E2F292}"/>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The weak residual–optical-depth association is descriptive. It does not establish that loading or volume has no effect.</a:t>
            </a:r>
          </a:p>
        </p:txBody>
      </p:sp>
    </p:spTree>
    <p:extLst>
      <p:ext uri="{BB962C8B-B14F-4D97-AF65-F5344CB8AC3E}">
        <p14:creationId xmlns:p14="http://schemas.microsoft.com/office/powerpoint/2010/main" val="211242058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BD450F6-D6C5-459D-8D3F-5C264BFB6514}"/>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Adama FTIR/TOR ratios depend on calibration and sampled volume</a:t>
            </a:r>
          </a:p>
        </p:txBody>
      </p:sp>
      <p:sp>
        <p:nvSpPr>
          <p:cNvPr id="4" name="">
            <a:extLst xmlns:a="http://schemas.openxmlformats.org/drawingml/2006/main">
              <a:ext uri="{FF2B5EF4-FFF2-40B4-BE49-F238E27FC236}">
                <a16:creationId xmlns:a16="http://schemas.microsoft.com/office/drawing/2014/main" id="{F54B29B4-9F36-4B78-B5E7-43271E5119FA}"/>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Deployed FTIR/TOR median = 0.69 on a concentration basis, with a range of 0.58–1.56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31c50365f8a43f1"/>
          <a:stretch xmlns:a="http://schemas.openxmlformats.org/drawingml/2006/main"/>
        </p:blipFill>
        <p:spPr>
          <a:xfrm xmlns:a="http://schemas.openxmlformats.org/drawingml/2006/main">
            <a:off x="644089" y="1657350"/>
            <a:ext cx="10903441" cy="424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91C7921-B9B1-4B0C-BD94-886C54B060D4}"/>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The three unflagged deployed ratios span 0.64–0.81. Open rings identify the two pairing flags.</a:t>
            </a:r>
          </a:p>
        </p:txBody>
      </p:sp>
    </p:spTree>
    <p:extLst>
      <p:ext uri="{BB962C8B-B14F-4D97-AF65-F5344CB8AC3E}">
        <p14:creationId xmlns:p14="http://schemas.microsoft.com/office/powerpoint/2010/main" val="185349937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39EE5AA-083A-4424-888C-DE1409B60B4D}"/>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At MAC 10, HIPS EC-equivalent exceeds Adama quartz EC</a:t>
            </a:r>
          </a:p>
        </p:txBody>
      </p:sp>
      <p:sp>
        <p:nvSpPr>
          <p:cNvPr id="4" name="">
            <a:extLst xmlns:a="http://schemas.openxmlformats.org/drawingml/2006/main">
              <a:ext uri="{FF2B5EF4-FFF2-40B4-BE49-F238E27FC236}">
                <a16:creationId xmlns:a16="http://schemas.microsoft.com/office/drawing/2014/main" id="{7BDEDD9E-8AA2-483B-AD73-9BD5AC55987E}"/>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For the three unflagged pairs, implied MAC medians are 16.5 versus TOR and 20.8 versus TOT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f21d697d1894b9b"/>
          <a:stretch xmlns:a="http://schemas.openxmlformats.org/drawingml/2006/main"/>
        </p:blipFill>
        <p:spPr>
          <a:xfrm xmlns:a="http://schemas.openxmlformats.org/drawingml/2006/main">
            <a:off x="644089" y="1657350"/>
            <a:ext cx="10903441" cy="424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9BFE9EF-A74D-4ACF-8E56-7F0695DF2B6D}"/>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Open rings show flagged dates. The MAC 6–10 band illustrates how the assumed MAC changes the HIPS EC-equivalent.</a:t>
            </a:r>
          </a:p>
        </p:txBody>
      </p:sp>
    </p:spTree>
    <p:extLst>
      <p:ext uri="{BB962C8B-B14F-4D97-AF65-F5344CB8AC3E}">
        <p14:creationId xmlns:p14="http://schemas.microsoft.com/office/powerpoint/2010/main" val="17400116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EE17AE5-8542-4DAD-97AE-27293EB559B5}"/>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The Addis-selected models predict more EC at Adama</a:t>
            </a:r>
          </a:p>
        </p:txBody>
      </p:sp>
      <p:sp>
        <p:nvSpPr>
          <p:cNvPr id="4" name="">
            <a:extLst xmlns:a="http://schemas.openxmlformats.org/drawingml/2006/main">
              <a:ext uri="{FF2B5EF4-FFF2-40B4-BE49-F238E27FC236}">
                <a16:creationId xmlns:a16="http://schemas.microsoft.com/office/drawing/2014/main" id="{C69C25F2-34A8-4E87-BC52-19E8AF27D1CD}"/>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Median model/TOR ratios for three unflagged pairs: locked 800 = 1.40, winner 440 = 2.00</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dc778b33df84802"/>
          <a:stretch xmlns:a="http://schemas.openxmlformats.org/drawingml/2006/main"/>
        </p:blipFill>
        <p:spPr>
          <a:xfrm xmlns:a="http://schemas.openxmlformats.org/drawingml/2006/main">
            <a:off x="644089" y="1657350"/>
            <a:ext cx="10903441" cy="424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52E3F8A-4283-488C-945A-56A34BDB2D41}"/>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Exploratory transfer check. The spectrum-to-FilterId mapping used by these earlier model predictions remains provisional.</a:t>
            </a:r>
          </a:p>
        </p:txBody>
      </p:sp>
    </p:spTree>
    <p:extLst>
      <p:ext uri="{BB962C8B-B14F-4D97-AF65-F5344CB8AC3E}">
        <p14:creationId xmlns:p14="http://schemas.microsoft.com/office/powerpoint/2010/main" val="98000803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88053EC-38E2-473F-97E4-F208AAFD0E3F}"/>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Five Adama spectra over the Addis evaluation set</a:t>
            </a:r>
          </a:p>
        </p:txBody>
      </p:sp>
      <p:sp>
        <p:nvSpPr>
          <p:cNvPr id="4" name="">
            <a:extLst xmlns:a="http://schemas.openxmlformats.org/drawingml/2006/main">
              <a:ext uri="{FF2B5EF4-FFF2-40B4-BE49-F238E27FC236}">
                <a16:creationId xmlns:a16="http://schemas.microsoft.com/office/drawing/2014/main" id="{5F5DFDB0-CA58-4972-B5E4-BA6831AE4383}"/>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Adama in color (n = 5). Addis in light gray (n = 239), December 2022–January 2026.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36dd945ce26445e"/>
          <a:stretch xmlns:a="http://schemas.openxmlformats.org/drawingml/2006/main"/>
        </p:blipFill>
        <p:spPr>
          <a:xfrm xmlns:a="http://schemas.openxmlformats.org/drawingml/2006/main">
            <a:off x="649623" y="1657350"/>
            <a:ext cx="10892373" cy="424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254CCCC-A8F9-45BC-A227-8E08D85A772A}"/>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Raw absorbance, with no normalization or baseline correction. Legend labels 4744–4748 are Adama source spectrum IDs.</a:t>
            </a:r>
          </a:p>
        </p:txBody>
      </p:sp>
    </p:spTree>
    <p:extLst>
      <p:ext uri="{BB962C8B-B14F-4D97-AF65-F5344CB8AC3E}">
        <p14:creationId xmlns:p14="http://schemas.microsoft.com/office/powerpoint/2010/main" val="211242058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88053EC-38E2-473F-97E4-F208AAFD0E3F}"/>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Five Adama spectra over summer Addis</a:t>
            </a:r>
          </a:p>
        </p:txBody>
      </p:sp>
      <p:sp>
        <p:nvSpPr>
          <p:cNvPr id="4" name="">
            <a:extLst xmlns:a="http://schemas.openxmlformats.org/drawingml/2006/main">
              <a:ext uri="{FF2B5EF4-FFF2-40B4-BE49-F238E27FC236}">
                <a16:creationId xmlns:a16="http://schemas.microsoft.com/office/drawing/2014/main" id="{A780A1D9-D13F-46C5-9B72-7D1E845945E1}"/>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Summer = Kiremt, June–September. Addis in light gray (n = 73), pooled across 2023–2025.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fc55a6d04d24b91"/>
          <a:stretch xmlns:a="http://schemas.openxmlformats.org/drawingml/2006/main"/>
        </p:blipFill>
        <p:spPr>
          <a:xfrm xmlns:a="http://schemas.openxmlformats.org/drawingml/2006/main">
            <a:off x="649623" y="1657350"/>
            <a:ext cx="10892373" cy="424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C296EBE-9EA1-4EC0-A8EA-B43D7C0ED324}"/>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The same five July 2024 Adama spectra and axis limits as the previous slide. Summer selection uses the repo’s canonical calendar.</a:t>
            </a:r>
          </a:p>
        </p:txBody>
      </p:sp>
    </p:spTree>
    <p:extLst>
      <p:ext uri="{BB962C8B-B14F-4D97-AF65-F5344CB8AC3E}">
        <p14:creationId xmlns:p14="http://schemas.microsoft.com/office/powerpoint/2010/main" val="21124205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88053EC-38E2-473F-97E4-F208AAFD0E3F}"/>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defRPr sz="2100" b="1">
                <a:solidFill>
                  <a:srgbClr val="22252A"/>
                </a:solidFill>
                <a:latin typeface="Calibri"/>
                <a:ea typeface="Calibri"/>
                <a:cs typeface="Calibri"/>
              </a:defRPr>
            </a:pPr>
            <a:r>
              <a:rPr sz="2100" b="1">
                <a:solidFill>
                  <a:srgbClr val="22252A"/>
                </a:solidFill>
                <a:latin typeface="Calibri"/>
                <a:ea typeface="Calibri"/>
                <a:cs typeface="Calibri"/>
              </a:rPr>
              <a:t>Two Adama pairs need sampler-log review</a:t>
            </a:r>
          </a:p>
        </p:txBody>
      </p:sp>
      <p:sp>
        <p:nvSpPr>
          <p:cNvPr id="4" name="">
            <a:extLst xmlns:a="http://schemas.openxmlformats.org/drawingml/2006/main">
              <a:ext uri="{FF2B5EF4-FFF2-40B4-BE49-F238E27FC236}">
                <a16:creationId xmlns:a16="http://schemas.microsoft.com/office/drawing/2014/main" id="{C0F04EE4-E04F-400B-B2FA-5971C76518FD}"/>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Paired samplers use different filters and recorded air volumes. Both flagged pairs remain in every main comparison.</a:t>
            </a:r>
          </a:p>
        </p:txBody>
      </p:sp>
      <p:graphicFrame>
        <p:nvGraphicFramePr>
          <p:cNvPr id="9" name=""/>
          <p:cNvGraphicFramePr/>
          <p:nvPr/>
        </p:nvGraphicFramePr>
        <p:xfrm>
          <a:off xmlns:a="http://schemas.openxmlformats.org/drawingml/2006/main" x="571500" y="1885950"/>
          <a:ext xmlns:a="http://schemas.openxmlformats.org/drawingml/2006/main" cx="10953750" cy="3429000"/>
        </p:xfrm>
        <a:graphic xmlns:a="http://schemas.openxmlformats.org/drawingml/2006/main">
          <a:graphicData uri="http://schemas.openxmlformats.org/drawingml/2006/table">
            <a:tbl>
              <a:tblPr/>
              <a:tblGrid>
                <a:gridCol w="1190625"/>
                <a:gridCol w="2333625"/>
                <a:gridCol w="1238250"/>
                <a:gridCol w="1238250"/>
                <a:gridCol w="1333500"/>
                <a:gridCol w="1333500"/>
                <a:gridCol w="2286000"/>
              </a:tblGrid>
              <a:tr h="571500">
                <a:tc>
                  <a:txBody>
                    <a:bodyPr>
                      <a:noAutofit/>
                    </a:bodyPr>
                    <a:lstStyle/>
                    <a:p>
                      <a:r>
                        <a:rPr sz="1500" b="1">
                          <a:solidFill>
                            <a:srgbClr val="22252A"/>
                          </a:solidFill>
                          <a:latin typeface="Calibri"/>
                          <a:ea typeface="Calibri"/>
                          <a:cs typeface="Calibri"/>
                        </a:rPr>
                        <a:t>July 2024</a:t>
                      </a:r>
                    </a:p>
                  </a:txBody>
                  <a:tcPr marL="91440" marR="91440" marT="45720" marB="45720">
                    <a:solidFill>
                      <a:srgbClr val="EFEFEF"/>
                    </a:solidFill>
                  </a:tcPr>
                </a:tc>
                <a:tc>
                  <a:txBody>
                    <a:bodyPr>
                      <a:noAutofit/>
                    </a:bodyPr>
                    <a:lstStyle/>
                    <a:p>
                      <a:r>
                        <a:rPr sz="1500" b="1">
                          <a:solidFill>
                            <a:srgbClr val="22252A"/>
                          </a:solidFill>
                          <a:latin typeface="Calibri"/>
                          <a:ea typeface="Calibri"/>
                          <a:cs typeface="Calibri"/>
                        </a:rPr>
                        <a:t>PTFE / quartz</a:t>
                      </a:r>
                    </a:p>
                  </a:txBody>
                  <a:tcPr marL="91440" marR="91440" marT="45720" marB="45720">
                    <a:solidFill>
                      <a:srgbClr val="EFEFEF"/>
                    </a:solidFill>
                  </a:tcPr>
                </a:tc>
                <a:tc>
                  <a:txBody>
                    <a:bodyPr>
                      <a:noAutofit/>
                    </a:bodyPr>
                    <a:lstStyle/>
                    <a:p>
                      <a:r>
                        <a:rPr sz="1500" b="1">
                          <a:solidFill>
                            <a:srgbClr val="22252A"/>
                          </a:solidFill>
                          <a:latin typeface="Calibri"/>
                          <a:ea typeface="Calibri"/>
                          <a:cs typeface="Calibri"/>
                        </a:rPr>
                        <a:t>PTFE</a:t>
                      </a:r>
                    </a:p>
                    <a:p>
                      <a:r>
                        <a:rPr sz="1500" b="1">
                          <a:solidFill>
                            <a:srgbClr val="22252A"/>
                          </a:solidFill>
                          <a:latin typeface="Calibri"/>
                          <a:ea typeface="Calibri"/>
                          <a:cs typeface="Calibri"/>
                        </a:rPr>
                        <a:t>m³</a:t>
                      </a:r>
                    </a:p>
                  </a:txBody>
                  <a:tcPr marL="91440" marR="91440" marT="45720" marB="45720">
                    <a:solidFill>
                      <a:srgbClr val="EFEFEF"/>
                    </a:solidFill>
                  </a:tcPr>
                </a:tc>
                <a:tc>
                  <a:txBody>
                    <a:bodyPr>
                      <a:noAutofit/>
                    </a:bodyPr>
                    <a:lstStyle/>
                    <a:p>
                      <a:r>
                        <a:rPr sz="1500" b="1">
                          <a:solidFill>
                            <a:srgbClr val="22252A"/>
                          </a:solidFill>
                          <a:latin typeface="Calibri"/>
                          <a:ea typeface="Calibri"/>
                          <a:cs typeface="Calibri"/>
                        </a:rPr>
                        <a:t>Quartz</a:t>
                      </a:r>
                    </a:p>
                    <a:p>
                      <a:r>
                        <a:rPr sz="1500" b="1">
                          <a:solidFill>
                            <a:srgbClr val="22252A"/>
                          </a:solidFill>
                          <a:latin typeface="Calibri"/>
                          <a:ea typeface="Calibri"/>
                          <a:cs typeface="Calibri"/>
                        </a:rPr>
                        <a:t>m³</a:t>
                      </a:r>
                    </a:p>
                  </a:txBody>
                  <a:tcPr marL="91440" marR="91440" marT="45720" marB="45720">
                    <a:solidFill>
                      <a:srgbClr val="EFEFEF"/>
                    </a:solidFill>
                  </a:tcPr>
                </a:tc>
                <a:tc>
                  <a:txBody>
                    <a:bodyPr>
                      <a:noAutofit/>
                    </a:bodyPr>
                    <a:lstStyle/>
                    <a:p>
                      <a:r>
                        <a:rPr sz="1500" b="1">
                          <a:solidFill>
                            <a:srgbClr val="22252A"/>
                          </a:solidFill>
                          <a:latin typeface="Calibri"/>
                          <a:ea typeface="Calibri"/>
                          <a:cs typeface="Calibri"/>
                        </a:rPr>
                        <a:t>Volume</a:t>
                      </a:r>
                    </a:p>
                    <a:p>
                      <a:r>
                        <a:rPr sz="1500" b="1">
                          <a:solidFill>
                            <a:srgbClr val="22252A"/>
                          </a:solidFill>
                          <a:latin typeface="Calibri"/>
                          <a:ea typeface="Calibri"/>
                          <a:cs typeface="Calibri"/>
                        </a:rPr>
                        <a:t>ratio</a:t>
                      </a:r>
                    </a:p>
                  </a:txBody>
                  <a:tcPr marL="91440" marR="91440" marT="45720" marB="45720">
                    <a:solidFill>
                      <a:srgbClr val="EFEFEF"/>
                    </a:solidFill>
                  </a:tcPr>
                </a:tc>
                <a:tc>
                  <a:txBody>
                    <a:bodyPr>
                      <a:noAutofit/>
                    </a:bodyPr>
                    <a:lstStyle/>
                    <a:p>
                      <a:r>
                        <a:rPr sz="1500" b="1">
                          <a:solidFill>
                            <a:srgbClr val="22252A"/>
                          </a:solidFill>
                          <a:latin typeface="Calibri"/>
                          <a:ea typeface="Calibri"/>
                          <a:cs typeface="Calibri"/>
                        </a:rPr>
                        <a:t>Offset</a:t>
                      </a:r>
                    </a:p>
                    <a:p>
                      <a:r>
                        <a:rPr sz="1500" b="1">
                          <a:solidFill>
                            <a:srgbClr val="22252A"/>
                          </a:solidFill>
                          <a:latin typeface="Calibri"/>
                          <a:ea typeface="Calibri"/>
                          <a:cs typeface="Calibri"/>
                        </a:rPr>
                        <a:t>min</a:t>
                      </a:r>
                    </a:p>
                  </a:txBody>
                  <a:tcPr marL="91440" marR="91440" marT="45720" marB="45720">
                    <a:solidFill>
                      <a:srgbClr val="EFEFEF"/>
                    </a:solidFill>
                  </a:tcPr>
                </a:tc>
                <a:tc>
                  <a:txBody>
                    <a:bodyPr>
                      <a:noAutofit/>
                    </a:bodyPr>
                    <a:lstStyle/>
                    <a:p>
                      <a:r>
                        <a:rPr sz="1500" b="1">
                          <a:solidFill>
                            <a:srgbClr val="22252A"/>
                          </a:solidFill>
                          <a:latin typeface="Calibri"/>
                          <a:ea typeface="Calibri"/>
                          <a:cs typeface="Calibri"/>
                        </a:rPr>
                        <a:t>Review note</a:t>
                      </a:r>
                    </a:p>
                  </a:txBody>
                  <a:tcPr marL="91440" marR="91440" marT="45720" marB="45720">
                    <a:solidFill>
                      <a:srgbClr val="EFEFEF"/>
                    </a:solidFill>
                  </a:tcPr>
                </a:tc>
              </a:tr>
              <a:tr h="571500">
                <a:tc>
                  <a:txBody>
                    <a:bodyPr>
                      <a:noAutofit/>
                    </a:bodyPr>
                    <a:lstStyle/>
                    <a:p>
                      <a:r>
                        <a:rPr sz="1650" b="0">
                          <a:solidFill>
                            <a:srgbClr val="22252A"/>
                          </a:solidFill>
                          <a:latin typeface="Calibri"/>
                          <a:ea typeface="Calibri"/>
                          <a:cs typeface="Calibri"/>
                        </a:rPr>
                        <a:t>9</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J1269 / J1693</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2.879</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2.621</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1.098</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+39.73</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Start time</a:t>
                      </a:r>
                    </a:p>
                  </a:txBody>
                  <a:tcPr marL="91440" marR="91440" marT="45720" marB="45720">
                    <a:solidFill>
                      <a:srgbClr val="FFFFFF"/>
                    </a:solidFill>
                  </a:tcPr>
                </a:tc>
              </a:tr>
              <a:tr h="571500">
                <a:tc>
                  <a:txBody>
                    <a:bodyPr>
                      <a:noAutofit/>
                    </a:bodyPr>
                    <a:lstStyle/>
                    <a:p>
                      <a:r>
                        <a:rPr sz="1650" b="0">
                          <a:solidFill>
                            <a:srgbClr val="22252A"/>
                          </a:solidFill>
                          <a:latin typeface="Calibri"/>
                          <a:ea typeface="Calibri"/>
                          <a:cs typeface="Calibri"/>
                        </a:rPr>
                        <a:t>20</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J1266 / J1701</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2.880</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2.606</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1.105</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-0.08</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No flag</a:t>
                      </a:r>
                    </a:p>
                  </a:txBody>
                  <a:tcPr marL="91440" marR="91440" marT="45720" marB="45720">
                    <a:solidFill>
                      <a:srgbClr val="FFFFFF"/>
                    </a:solidFill>
                  </a:tcPr>
                </a:tc>
              </a:tr>
              <a:tr h="571500">
                <a:tc>
                  <a:txBody>
                    <a:bodyPr>
                      <a:noAutofit/>
                    </a:bodyPr>
                    <a:lstStyle/>
                    <a:p>
                      <a:r>
                        <a:rPr sz="1650" b="0">
                          <a:solidFill>
                            <a:srgbClr val="22252A"/>
                          </a:solidFill>
                          <a:latin typeface="Calibri"/>
                          <a:ea typeface="Calibri"/>
                          <a:cs typeface="Calibri"/>
                        </a:rPr>
                        <a:t>23</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J1285 / J1675</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2.882</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2.585</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1.115</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-0.25</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No flag</a:t>
                      </a:r>
                    </a:p>
                  </a:txBody>
                  <a:tcPr marL="91440" marR="91440" marT="45720" marB="45720">
                    <a:solidFill>
                      <a:srgbClr val="FFFFFF"/>
                    </a:solidFill>
                  </a:tcPr>
                </a:tc>
              </a:tr>
              <a:tr h="571500">
                <a:tc>
                  <a:txBody>
                    <a:bodyPr>
                      <a:noAutofit/>
                    </a:bodyPr>
                    <a:lstStyle/>
                    <a:p>
                      <a:r>
                        <a:rPr sz="1650" b="0">
                          <a:solidFill>
                            <a:srgbClr val="22252A"/>
                          </a:solidFill>
                          <a:latin typeface="Calibri"/>
                          <a:ea typeface="Calibri"/>
                          <a:cs typeface="Calibri"/>
                        </a:rPr>
                        <a:t>26</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J1233 / J1703</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2.881</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2.583</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1.116</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+0.15</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No flag</a:t>
                      </a:r>
                    </a:p>
                  </a:txBody>
                  <a:tcPr marL="91440" marR="91440" marT="45720" marB="45720">
                    <a:solidFill>
                      <a:srgbClr val="FFFFFF"/>
                    </a:solidFill>
                  </a:tcPr>
                </a:tc>
              </a:tr>
              <a:tr h="571500">
                <a:tc>
                  <a:txBody>
                    <a:bodyPr>
                      <a:noAutofit/>
                    </a:bodyPr>
                    <a:lstStyle/>
                    <a:p>
                      <a:r>
                        <a:rPr sz="1650" b="0">
                          <a:solidFill>
                            <a:srgbClr val="22252A"/>
                          </a:solidFill>
                          <a:latin typeface="Calibri"/>
                          <a:ea typeface="Calibri"/>
                          <a:cs typeface="Calibri"/>
                        </a:rPr>
                        <a:t>30</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J1270 / J1679</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1.161</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2.547</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0.456</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-0.25</a:t>
                      </a:r>
                    </a:p>
                  </a:txBody>
                  <a:tcPr marL="91440" marR="91440" marT="45720" marB="45720">
                    <a:solidFill>
                      <a:srgbClr val="FFFFFF"/>
                    </a:solidFill>
                  </a:tcPr>
                </a:tc>
                <a:tc>
                  <a:txBody>
                    <a:bodyPr>
                      <a:noAutofit/>
                    </a:bodyPr>
                    <a:lstStyle/>
                    <a:p>
                      <a:r>
                        <a:rPr sz="1650" b="0">
                          <a:solidFill>
                            <a:srgbClr val="22252A"/>
                          </a:solidFill>
                          <a:latin typeface="Calibri"/>
                          <a:ea typeface="Calibri"/>
                          <a:cs typeface="Calibri"/>
                        </a:rPr>
                        <a:t>Air volume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5A3AC68-F20A-4A89-92DD-1EED61843FC3}"/>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Volume ratio = PTFE / quartz. Start offset = quartz start minus PTFE start. Flags follow the existing &gt;5 min and &gt;20% rules.</a:t>
            </a:r>
          </a:p>
        </p:txBody>
      </p:sp>
    </p:spTree>
    <p:extLst>
      <p:ext uri="{BB962C8B-B14F-4D97-AF65-F5344CB8AC3E}">
        <p14:creationId xmlns:p14="http://schemas.microsoft.com/office/powerpoint/2010/main" val="211242058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5100CE-1F44-4EF7-812C-15A94B4C3393}"/>
              </a:ext>
            </a:extLst>
          </p:cNvPr>
          <p:cNvSpPr>
            <a:spLocks xmlns:a="http://schemas.openxmlformats.org/drawingml/2006/main" noGrp="1"/>
          </p:cNvSpPr>
          <p:nvPr/>
        </p:nvSpPr>
        <p:spPr>
          <a:xfrm xmlns:a="http://schemas.openxmlformats.org/drawingml/2006/main">
            <a:off x="411480" y="201168"/>
            <a:ext cx="11430000"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Calibri"/>
                <a:ea typeface="Calibri"/>
                <a:cs typeface="Calibri"/>
              </a:defRPr>
            </a:pPr>
            <a:r>
              <a:rPr sz="2100" b="1">
                <a:solidFill>
                  <a:srgbClr val="22252A"/>
                </a:solidFill>
                <a:latin typeface="Calibri"/>
                <a:ea typeface="Calibri"/>
                <a:cs typeface="Calibri"/>
              </a:rPr>
              <a:t>Sampling priorities from the meeting</a:t>
            </a:r>
          </a:p>
        </p:txBody>
      </p:sp>
      <p:sp>
        <p:nvSpPr>
          <p:cNvPr id="2" name="">
            <a:extLst xmlns:a="http://schemas.openxmlformats.org/drawingml/2006/main">
              <a:ext uri="{FF2B5EF4-FFF2-40B4-BE49-F238E27FC236}">
                <a16:creationId xmlns:a16="http://schemas.microsoft.com/office/drawing/2014/main" id="{89F3FC49-5208-47C5-A9F2-BD7BDDDD06AB}"/>
              </a:ext>
            </a:extLst>
          </p:cNvPr>
          <p:cNvSpPr>
            <a:spLocks xmlns:a="http://schemas.openxmlformats.org/drawingml/2006/main" noGrp="1"/>
          </p:cNvSpPr>
          <p:nvPr/>
        </p:nvSpPr>
        <p:spPr>
          <a:xfrm xmlns:a="http://schemas.openxmlformats.org/drawingml/2006/main">
            <a:off x="504825" y="1019175"/>
            <a:ext cx="1114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72"/>
                </a:solidFill>
                <a:latin typeface="Calibri"/>
                <a:ea typeface="Calibri"/>
                <a:cs typeface="Calibri"/>
              </a:defRPr>
            </a:pPr>
            <a:r>
              <a:rPr sz="1650" b="0">
                <a:solidFill>
                  <a:srgbClr val="666B72"/>
                </a:solidFill>
                <a:latin typeface="Calibri"/>
                <a:ea typeface="Calibri"/>
                <a:cs typeface="Calibri"/>
              </a:rPr>
              <a:t>The five Adama dates inform the campaign design. They do not resolve the Addis discrepancy.</a:t>
            </a:r>
          </a:p>
        </p:txBody>
      </p:sp>
      <p:sp>
        <p:nvSpPr>
          <p:cNvPr id="3" name="">
            <a:extLst xmlns:a="http://schemas.openxmlformats.org/drawingml/2006/main">
              <a:ext uri="{FF2B5EF4-FFF2-40B4-BE49-F238E27FC236}">
                <a16:creationId xmlns:a16="http://schemas.microsoft.com/office/drawing/2014/main" id="{F3019D21-491A-402A-B6FA-A9B5EABE9285}"/>
              </a:ext>
            </a:extLst>
          </p:cNvPr>
          <p:cNvSpPr>
            <a:spLocks xmlns:a="http://schemas.openxmlformats.org/drawingml/2006/main" noGrp="1"/>
          </p:cNvSpPr>
          <p:nvPr/>
        </p:nvSpPr>
        <p:spPr>
          <a:xfrm xmlns:a="http://schemas.openxmlformats.org/drawingml/2006/main">
            <a:off x="609600" y="177165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2252A"/>
                </a:solidFill>
                <a:latin typeface="Calibri"/>
                <a:ea typeface="Calibri"/>
                <a:cs typeface="Calibri"/>
              </a:defRPr>
            </a:pPr>
            <a:r>
              <a:rPr sz="1800" b="1">
                <a:solidFill>
                  <a:srgbClr val="22252A"/>
                </a:solidFill>
                <a:latin typeface="Calibri"/>
                <a:ea typeface="Calibri"/>
                <a:cs typeface="Calibri"/>
              </a:rPr>
              <a:t>Quartz in Addis</a:t>
            </a:r>
          </a:p>
        </p:txBody>
      </p:sp>
      <p:sp>
        <p:nvSpPr>
          <p:cNvPr id="4" name="">
            <a:extLst xmlns:a="http://schemas.openxmlformats.org/drawingml/2006/main">
              <a:ext uri="{FF2B5EF4-FFF2-40B4-BE49-F238E27FC236}">
                <a16:creationId xmlns:a16="http://schemas.microsoft.com/office/drawing/2014/main" id="{7AE40DD6-9D57-4E47-A1D4-6C6742ED348B}"/>
              </a:ext>
            </a:extLst>
          </p:cNvPr>
          <p:cNvSpPr>
            <a:spLocks xmlns:a="http://schemas.openxmlformats.org/drawingml/2006/main" noGrp="1"/>
          </p:cNvSpPr>
          <p:nvPr/>
        </p:nvSpPr>
        <p:spPr>
          <a:xfrm xmlns:a="http://schemas.openxmlformats.org/drawingml/2006/main">
            <a:off x="3209925" y="1733550"/>
            <a:ext cx="82105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2252A"/>
                </a:solidFill>
                <a:latin typeface="Calibri"/>
                <a:ea typeface="Calibri"/>
                <a:cs typeface="Calibri"/>
              </a:defRPr>
            </a:pPr>
            <a:r>
              <a:rPr sz="1800" b="0">
                <a:solidFill>
                  <a:srgbClr val="22252A"/>
                </a:solidFill>
                <a:latin typeface="Calibri"/>
                <a:ea typeface="Calibri"/>
                <a:cs typeface="Calibri"/>
              </a:rPr>
              <a:t>Prioritize paired quartz and PTFE at Addis. If the SPARTAN location is infeasible, assess the existing southern Addis site and document the site differences.</a:t>
            </a:r>
          </a:p>
        </p:txBody>
      </p:sp>
      <p:sp>
        <p:nvSpPr>
          <p:cNvPr id="5" name="">
            <a:extLst xmlns:a="http://schemas.openxmlformats.org/drawingml/2006/main">
              <a:ext uri="{FF2B5EF4-FFF2-40B4-BE49-F238E27FC236}">
                <a16:creationId xmlns:a16="http://schemas.microsoft.com/office/drawing/2014/main" id="{C44138EF-A452-421F-AD0D-6B5B2D36A718}"/>
              </a:ext>
            </a:extLst>
          </p:cNvPr>
          <p:cNvSpPr>
            <a:spLocks xmlns:a="http://schemas.openxmlformats.org/drawingml/2006/main" noGrp="1"/>
          </p:cNvSpPr>
          <p:nvPr/>
        </p:nvSpPr>
        <p:spPr>
          <a:xfrm xmlns:a="http://schemas.openxmlformats.org/drawingml/2006/main">
            <a:off x="609600" y="2790825"/>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2252A"/>
                </a:solidFill>
                <a:latin typeface="Calibri"/>
                <a:ea typeface="Calibri"/>
                <a:cs typeface="Calibri"/>
              </a:defRPr>
            </a:pPr>
            <a:r>
              <a:rPr sz="1800" b="1">
                <a:solidFill>
                  <a:srgbClr val="22252A"/>
                </a:solidFill>
                <a:latin typeface="Calibri"/>
                <a:ea typeface="Calibri"/>
                <a:cs typeface="Calibri"/>
              </a:rPr>
              <a:t>Paired Delhi filters</a:t>
            </a:r>
          </a:p>
        </p:txBody>
      </p:sp>
      <p:sp>
        <p:nvSpPr>
          <p:cNvPr id="6" name="">
            <a:extLst xmlns:a="http://schemas.openxmlformats.org/drawingml/2006/main">
              <a:ext uri="{FF2B5EF4-FFF2-40B4-BE49-F238E27FC236}">
                <a16:creationId xmlns:a16="http://schemas.microsoft.com/office/drawing/2014/main" id="{5F4A6C3C-6D7A-4C06-8D16-C12EA0FA44AF}"/>
              </a:ext>
            </a:extLst>
          </p:cNvPr>
          <p:cNvSpPr>
            <a:spLocks xmlns:a="http://schemas.openxmlformats.org/drawingml/2006/main" noGrp="1"/>
          </p:cNvSpPr>
          <p:nvPr/>
        </p:nvSpPr>
        <p:spPr>
          <a:xfrm xmlns:a="http://schemas.openxmlformats.org/drawingml/2006/main">
            <a:off x="3209925" y="2752725"/>
            <a:ext cx="82105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2252A"/>
                </a:solidFill>
                <a:latin typeface="Calibri"/>
                <a:ea typeface="Calibri"/>
                <a:cs typeface="Calibri"/>
              </a:defRPr>
            </a:pPr>
            <a:r>
              <a:rPr sz="1800" b="0">
                <a:solidFill>
                  <a:srgbClr val="22252A"/>
                </a:solidFill>
                <a:latin typeface="Calibri"/>
                <a:ea typeface="Calibri"/>
                <a:cs typeface="Calibri"/>
              </a:rPr>
              <a:t>Follow up on the quartz/PTFE material discussed with Ann. Use a known thermal reference to test whether the Addis spectral pattern appears elsewhere.</a:t>
            </a:r>
          </a:p>
        </p:txBody>
      </p:sp>
      <p:sp>
        <p:nvSpPr>
          <p:cNvPr id="7" name="">
            <a:extLst xmlns:a="http://schemas.openxmlformats.org/drawingml/2006/main">
              <a:ext uri="{FF2B5EF4-FFF2-40B4-BE49-F238E27FC236}">
                <a16:creationId xmlns:a16="http://schemas.microsoft.com/office/drawing/2014/main" id="{DCC92FB7-6CFD-4E84-BD0B-4FE6129C8E2A}"/>
              </a:ext>
            </a:extLst>
          </p:cNvPr>
          <p:cNvSpPr>
            <a:spLocks xmlns:a="http://schemas.openxmlformats.org/drawingml/2006/main" noGrp="1"/>
          </p:cNvSpPr>
          <p:nvPr/>
        </p:nvSpPr>
        <p:spPr>
          <a:xfrm xmlns:a="http://schemas.openxmlformats.org/drawingml/2006/main">
            <a:off x="609600" y="381000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2252A"/>
                </a:solidFill>
                <a:latin typeface="Calibri"/>
                <a:ea typeface="Calibri"/>
                <a:cs typeface="Calibri"/>
              </a:defRPr>
            </a:pPr>
            <a:r>
              <a:rPr sz="1800" b="1">
                <a:solidFill>
                  <a:srgbClr val="22252A"/>
                </a:solidFill>
                <a:latin typeface="Calibri"/>
                <a:ea typeface="Calibri"/>
                <a:cs typeface="Calibri"/>
              </a:rPr>
              <a:t>Regional PM context</a:t>
            </a:r>
          </a:p>
        </p:txBody>
      </p:sp>
      <p:sp>
        <p:nvSpPr>
          <p:cNvPr id="8" name="">
            <a:extLst xmlns:a="http://schemas.openxmlformats.org/drawingml/2006/main">
              <a:ext uri="{FF2B5EF4-FFF2-40B4-BE49-F238E27FC236}">
                <a16:creationId xmlns:a16="http://schemas.microsoft.com/office/drawing/2014/main" id="{594E18AB-765E-4E70-9070-30935625C7BD}"/>
              </a:ext>
            </a:extLst>
          </p:cNvPr>
          <p:cNvSpPr>
            <a:spLocks xmlns:a="http://schemas.openxmlformats.org/drawingml/2006/main" noGrp="1"/>
          </p:cNvSpPr>
          <p:nvPr/>
        </p:nvSpPr>
        <p:spPr>
          <a:xfrm xmlns:a="http://schemas.openxmlformats.org/drawingml/2006/main">
            <a:off x="3209925" y="3771900"/>
            <a:ext cx="82105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2252A"/>
                </a:solidFill>
                <a:latin typeface="Calibri"/>
                <a:ea typeface="Calibri"/>
                <a:cs typeface="Calibri"/>
              </a:defRPr>
            </a:pPr>
            <a:r>
              <a:rPr sz="1800" b="0">
                <a:solidFill>
                  <a:srgbClr val="22252A"/>
                </a:solidFill>
                <a:latin typeface="Calibri"/>
                <a:ea typeface="Calibri"/>
                <a:cs typeface="Calibri"/>
              </a:rPr>
              <a:t>Check MAIA daily BAM data for Adama, Bishoftu and Addis. Use comparable PurpleAir records if needed, with matched dates and clear method labels.</a:t>
            </a:r>
          </a:p>
        </p:txBody>
      </p:sp>
      <p:sp>
        <p:nvSpPr>
          <p:cNvPr id="9" name="">
            <a:extLst xmlns:a="http://schemas.openxmlformats.org/drawingml/2006/main">
              <a:ext uri="{FF2B5EF4-FFF2-40B4-BE49-F238E27FC236}">
                <a16:creationId xmlns:a16="http://schemas.microsoft.com/office/drawing/2014/main" id="{2100307C-113F-4F53-BB1F-7E0B3A8F8FA7}"/>
              </a:ext>
            </a:extLst>
          </p:cNvPr>
          <p:cNvSpPr>
            <a:spLocks xmlns:a="http://schemas.openxmlformats.org/drawingml/2006/main" noGrp="1"/>
          </p:cNvSpPr>
          <p:nvPr/>
        </p:nvSpPr>
        <p:spPr>
          <a:xfrm xmlns:a="http://schemas.openxmlformats.org/drawingml/2006/main">
            <a:off x="609600" y="4829175"/>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2252A"/>
                </a:solidFill>
                <a:latin typeface="Calibri"/>
                <a:ea typeface="Calibri"/>
                <a:cs typeface="Calibri"/>
              </a:defRPr>
            </a:pPr>
            <a:r>
              <a:rPr sz="1800" b="1">
                <a:solidFill>
                  <a:srgbClr val="22252A"/>
                </a:solidFill>
                <a:latin typeface="Calibri"/>
                <a:ea typeface="Calibri"/>
                <a:cs typeface="Calibri"/>
              </a:rPr>
              <a:t>Sampler metadata</a:t>
            </a:r>
          </a:p>
        </p:txBody>
      </p:sp>
      <p:sp>
        <p:nvSpPr>
          <p:cNvPr id="10" name="">
            <a:extLst xmlns:a="http://schemas.openxmlformats.org/drawingml/2006/main">
              <a:ext uri="{FF2B5EF4-FFF2-40B4-BE49-F238E27FC236}">
                <a16:creationId xmlns:a16="http://schemas.microsoft.com/office/drawing/2014/main" id="{5F9D0ACF-7342-452A-87FC-0058E1ED3EBE}"/>
              </a:ext>
            </a:extLst>
          </p:cNvPr>
          <p:cNvSpPr>
            <a:spLocks xmlns:a="http://schemas.openxmlformats.org/drawingml/2006/main" noGrp="1"/>
          </p:cNvSpPr>
          <p:nvPr/>
        </p:nvSpPr>
        <p:spPr>
          <a:xfrm xmlns:a="http://schemas.openxmlformats.org/drawingml/2006/main">
            <a:off x="3209925" y="4791075"/>
            <a:ext cx="82105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2252A"/>
                </a:solidFill>
                <a:latin typeface="Calibri"/>
                <a:ea typeface="Calibri"/>
                <a:cs typeface="Calibri"/>
              </a:defRPr>
            </a:pPr>
            <a:r>
              <a:rPr sz="1800" b="0">
                <a:solidFill>
                  <a:srgbClr val="22252A"/>
                </a:solidFill>
                <a:latin typeface="Calibri"/>
                <a:ea typeface="Calibri"/>
                <a:cs typeface="Calibri"/>
              </a:rPr>
              <a:t>Resolve the two Adama pairing flags and obtain the Addis filter sampling protocol. Confirm the Adama spectrum-to-FilterId crosswalk with the lab.</a:t>
            </a:r>
          </a:p>
        </p:txBody>
      </p:sp>
      <p:sp>
        <p:nvSpPr>
          <p:cNvPr id="11" name="">
            <a:extLst xmlns:a="http://schemas.openxmlformats.org/drawingml/2006/main">
              <a:ext uri="{FF2B5EF4-FFF2-40B4-BE49-F238E27FC236}">
                <a16:creationId xmlns:a16="http://schemas.microsoft.com/office/drawing/2014/main" id="{F2F9A42A-3DE4-4D80-8E8E-8074090EC575}"/>
              </a:ext>
            </a:extLst>
          </p:cNvPr>
          <p:cNvSpPr>
            <a:spLocks xmlns:a="http://schemas.openxmlformats.org/drawingml/2006/main" noGrp="1"/>
          </p:cNvSpPr>
          <p:nvPr/>
        </p:nvSpPr>
        <p:spPr>
          <a:xfrm xmlns:a="http://schemas.openxmlformats.org/drawingml/2006/main">
            <a:off x="514350" y="6076950"/>
            <a:ext cx="11153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6B72"/>
                </a:solidFill>
                <a:latin typeface="Calibri"/>
                <a:ea typeface="Calibri"/>
                <a:cs typeface="Calibri"/>
              </a:defRPr>
            </a:pPr>
            <a:r>
              <a:rPr sz="1350" b="0">
                <a:solidFill>
                  <a:srgbClr val="666B72"/>
                </a:solidFill>
                <a:latin typeface="Calibri"/>
                <a:ea typeface="Calibri"/>
                <a:cs typeface="Calibri"/>
              </a:rPr>
              <a:t>PM context and sampler-log review remain open. Collection scope, duration and costs need agreement with the sampling team.</a:t>
            </a:r>
          </a:p>
        </p:txBody>
      </p:sp>
    </p:spTree>
    <p:extLst>
      <p:ext uri="{BB962C8B-B14F-4D97-AF65-F5344CB8AC3E}">
        <p14:creationId xmlns:p14="http://schemas.microsoft.com/office/powerpoint/2010/main" val="6878020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2026-09-11T01:51:44.8540000Z</dcterms:created>
  <dcterms:modified xsi:type="dcterms:W3CDTF">2026-09-11T01:51:44.8540000Z</dcterms:modified>
</coreProperties>
</file>