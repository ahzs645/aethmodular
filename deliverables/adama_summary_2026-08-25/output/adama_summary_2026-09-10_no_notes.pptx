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05bb2d9e564005" /><Relationship Type="http://schemas.openxmlformats.org/officeDocument/2006/relationships/extended-properties" Target="/docProps/app.xml" Id="R91a7d80811504c35" /><Relationship Type="http://schemas.openxmlformats.org/officeDocument/2006/relationships/officeDocument" Target="/ppt/presentation.xml" Id="Rc4c5bebe7dbf4c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34c1f2781043c3"/>
  </p:sldMasterIdLst>
  <p:sldIdLst>
    <p:sldId xmlns:r="http://schemas.openxmlformats.org/officeDocument/2006/relationships" id="256" r:id="R0922ab345040403d"/>
    <p:sldId xmlns:r="http://schemas.openxmlformats.org/officeDocument/2006/relationships" id="257" r:id="R1596d8a557b94149"/>
    <p:sldId xmlns:r="http://schemas.openxmlformats.org/officeDocument/2006/relationships" id="258" r:id="R768673601c9f441d"/>
    <p:sldId xmlns:r="http://schemas.openxmlformats.org/officeDocument/2006/relationships" id="259" r:id="Rfbf45b7905fb427d"/>
    <p:sldId xmlns:r="http://schemas.openxmlformats.org/officeDocument/2006/relationships" id="260" r:id="Rf7e0920194314a28"/>
    <p:sldId xmlns:r="http://schemas.openxmlformats.org/officeDocument/2006/relationships" id="261" r:id="Rbdfb8cd13b6e463d"/>
    <p:sldId xmlns:r="http://schemas.openxmlformats.org/officeDocument/2006/relationships" id="262" r:id="Rc4747bbb34174add"/>
    <p:sldId xmlns:r="http://schemas.openxmlformats.org/officeDocument/2006/relationships" id="263" r:id="Rf9c50e49ed1a4d56"/>
    <p:sldId xmlns:r="http://schemas.openxmlformats.org/officeDocument/2006/relationships" id="264" r:id="Rb9e42b5f9cfc412e"/>
    <p:sldId xmlns:r="http://schemas.openxmlformats.org/officeDocument/2006/relationships" id="265" r:id="R0ae49c3ed6f44737"/>
    <p:sldId xmlns:r="http://schemas.openxmlformats.org/officeDocument/2006/relationships" id="266" r:id="R548cb8797a434205"/>
    <p:sldId xmlns:r="http://schemas.openxmlformats.org/officeDocument/2006/relationships" id="267" r:id="R77c81b91860e41c1"/>
    <p:sldId xmlns:r="http://schemas.openxmlformats.org/officeDocument/2006/relationships" id="268" r:id="R44c57d98022048e0"/>
    <p:sldId xmlns:r="http://schemas.openxmlformats.org/officeDocument/2006/relationships" id="269" r:id="Rfd4a167db3ce4587"/>
    <p:sldId xmlns:r="http://schemas.openxmlformats.org/officeDocument/2006/relationships" id="270" r:id="R02224c36b8174d4a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3ac02611db464a" /><Relationship Type="http://schemas.openxmlformats.org/officeDocument/2006/relationships/slideMaster" Target="/ppt/slideMasters/slideMaster1.xml" Id="Rf034c1f2781043c3" /><Relationship Type="http://schemas.openxmlformats.org/officeDocument/2006/relationships/presProps" Target="/ppt/presProps.xml" Id="R02f5bfcb008f4dfc" /><Relationship Type="http://schemas.openxmlformats.org/officeDocument/2006/relationships/viewProps" Target="/ppt/viewProps.xml" Id="R26683fe3ad7e4171" /><Relationship Type="http://schemas.openxmlformats.org/officeDocument/2006/relationships/tableStyles" Target="/ppt/tableStyles.xml" Id="R15a12bdba10744f4" /><Relationship Type="http://schemas.openxmlformats.org/officeDocument/2006/relationships/slide" Target="/ppt/slides/slide1.xml" Id="R0922ab345040403d" /><Relationship Type="http://schemas.openxmlformats.org/officeDocument/2006/relationships/slide" Target="/ppt/slides/slide2.xml" Id="R1596d8a557b94149" /><Relationship Type="http://schemas.openxmlformats.org/officeDocument/2006/relationships/slide" Target="/ppt/slides/slide3.xml" Id="R768673601c9f441d" /><Relationship Type="http://schemas.openxmlformats.org/officeDocument/2006/relationships/slide" Target="/ppt/slides/slide4.xml" Id="Rfbf45b7905fb427d" /><Relationship Type="http://schemas.openxmlformats.org/officeDocument/2006/relationships/slide" Target="/ppt/slides/slide5.xml" Id="Rf7e0920194314a28" /><Relationship Type="http://schemas.openxmlformats.org/officeDocument/2006/relationships/slide" Target="/ppt/slides/slide6.xml" Id="Rbdfb8cd13b6e463d" /><Relationship Type="http://schemas.openxmlformats.org/officeDocument/2006/relationships/slide" Target="/ppt/slides/slide7.xml" Id="Rc4747bbb34174add" /><Relationship Type="http://schemas.openxmlformats.org/officeDocument/2006/relationships/slide" Target="/ppt/slides/slide8.xml" Id="Rf9c50e49ed1a4d56" /><Relationship Type="http://schemas.openxmlformats.org/officeDocument/2006/relationships/slide" Target="/ppt/slides/slide9.xml" Id="Rb9e42b5f9cfc412e" /><Relationship Type="http://schemas.openxmlformats.org/officeDocument/2006/relationships/slide" Target="/ppt/slides/slide10.xml" Id="R0ae49c3ed6f44737" /><Relationship Type="http://schemas.openxmlformats.org/officeDocument/2006/relationships/slide" Target="/ppt/slides/slide11.xml" Id="R548cb8797a434205" /><Relationship Type="http://schemas.openxmlformats.org/officeDocument/2006/relationships/slide" Target="/ppt/slides/slide12.xml" Id="R77c81b91860e41c1" /><Relationship Type="http://schemas.openxmlformats.org/officeDocument/2006/relationships/slide" Target="/ppt/slides/slide13.xml" Id="R44c57d98022048e0" /><Relationship Type="http://schemas.openxmlformats.org/officeDocument/2006/relationships/slide" Target="/ppt/slides/slide14.xml" Id="Rfd4a167db3ce4587" /><Relationship Type="http://schemas.openxmlformats.org/officeDocument/2006/relationships/slide" Target="/ppt/slides/slide15.xml" Id="R02224c36b8174d4a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9082fd70d048a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5d6c47e80d4ad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73f1208f2f4c6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bae04b02cf4df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ce8c210e0f417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28a015a3ba4f4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f53fb67f32440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3974c8f6c4450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84aa82910340d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3ec645b5604c5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9d5d70326a422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4FAB8A-82B8-4E9E-B09C-07DA07F2F5D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C7EA50-A7F8-48C1-ACFC-79835752E5C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F6FB20-E2EF-4ABB-A499-2B4E63415D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1D601D-AD75-47F5-9076-E19E4C4014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211F91E-38A7-40E0-97D0-1E758CAABA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61527EB-3B01-4FFC-8718-6ECB6435DB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2EB5FBC-91F3-49A7-82FB-5FD743ED91D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A08EBE0-2478-485B-9D14-37DD93F044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8B0647F-7465-4BF9-8C09-F304BE255C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8002E06-1B5E-4E59-BD35-9B2E873043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EBB545A-314D-4109-8811-333C8E056E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0D8C6F-B31B-4DC9-8B20-40127178E8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D074C5F-890F-409C-97F4-ED7800C3A6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870332A-2E92-455C-B613-E4A713C441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E0C4370-031E-4947-BC0F-310BC64352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C7182F-9F2E-40E7-B231-5AB8DA58E1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9BF0312-BE7B-4FC3-9E22-1172A6D036B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81B1779-B17B-4D7C-A524-AC31CB44650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77C684A-E592-4046-96A8-89D7202CB3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B44FE74-71FA-4C52-A601-CE3A2A1A24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AEB5B50-9C91-43C8-BA74-C5CB21CDB4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2F6D8F-A16E-4F69-8A0E-E05B2EC077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DD29FC5-5EBE-46E6-87C2-AF5760CE67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DBEA8C7-2114-4D0B-9BB4-CD797543327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102C939-CA5B-4231-897B-DA19A5E02C1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58978EF-7714-4A6B-B324-13B54F71F9B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3985A6E-7F20-428F-9739-8AE7683756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B9035C13-55B0-47F1-883F-16C4CB77D6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A9AC147-CC8F-46B6-8477-DEDB75A153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06D3FA-D0E9-4D98-8DAD-A79B08EAFE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94BA829A-69E2-47E6-9416-84500F2D08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6D185DB-D54D-471B-9536-3CAB724E95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1998721-33D7-42C9-A882-DAE3CE924F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C55478A-7497-486F-AD55-770362F78F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4CA0FE9-B607-4504-9BA8-A2D3AF1C1A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980BD57-4C36-42EE-A64A-9B3FD57115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5CF732A-BFCE-4D7C-BB23-E16ED9F6BE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7AEF2F1-6553-48BE-9294-85B08AA659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AB613D8-CDC9-42BF-B04E-67FAED75AB9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5FF59CC-8F5A-43DF-8F82-2E56FC75A9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6E9F8BF-8CF6-45C2-A04D-6B5DE5BD25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2A36DC9-3DB6-4755-BF56-D45C63D86B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76AB87C-00BB-4A19-B871-1FB2BDD0C8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B596757-59FC-4696-B029-3C01431EEBE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0B6593F-B893-4C2F-8C43-068911B7BB6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9EB1CBC-EF68-4C2B-8D71-2F297621A86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3BBB39E-BD32-496C-9882-D3046B0FEB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F24AE8D-2916-4A17-A403-61815030AA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E730080-C4F8-45C3-AC2A-080A7C1A45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2B3F8E1-F42D-4ED0-8F4A-7CFB2C818E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8626E58-A6FD-40B6-821F-A5B28BE505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C0C392-380F-4126-8F62-0F83C88A3D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13E9DDD-D615-46ED-A87E-2633A6DBBA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1B7C760-BB48-43FB-A0A2-421DB829D5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5E70EFF-E988-42D8-91F3-701D64BA11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C0ECD05-BF31-4822-ADFB-15C6F71312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7FCDE2D-40B5-476E-BECD-9BA3AEE59A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6A3B424-4898-4C89-A5CA-930AF4C76E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611f96a03f4325" /><Relationship Type="http://schemas.openxmlformats.org/officeDocument/2006/relationships/slideLayout" Target="/ppt/slideLayouts/slideLayout1.xml" Id="Re0911739f7424e56" /><Relationship Type="http://schemas.openxmlformats.org/officeDocument/2006/relationships/slideLayout" Target="/ppt/slideLayouts/slideLayout2.xml" Id="Rad9469bf7b62403c" /><Relationship Type="http://schemas.openxmlformats.org/officeDocument/2006/relationships/slideLayout" Target="/ppt/slideLayouts/slideLayout3.xml" Id="R8d39e06116ee4192" /><Relationship Type="http://schemas.openxmlformats.org/officeDocument/2006/relationships/slideLayout" Target="/ppt/slideLayouts/slideLayout4.xml" Id="R7d580634df424292" /><Relationship Type="http://schemas.openxmlformats.org/officeDocument/2006/relationships/slideLayout" Target="/ppt/slideLayouts/slideLayout5.xml" Id="Re43def5371ea4dd4" /><Relationship Type="http://schemas.openxmlformats.org/officeDocument/2006/relationships/slideLayout" Target="/ppt/slideLayouts/slideLayout6.xml" Id="R64aa366110f74149" /><Relationship Type="http://schemas.openxmlformats.org/officeDocument/2006/relationships/slideLayout" Target="/ppt/slideLayouts/slideLayout7.xml" Id="R8f60bd81528c4c00" /><Relationship Type="http://schemas.openxmlformats.org/officeDocument/2006/relationships/slideLayout" Target="/ppt/slideLayouts/slideLayout8.xml" Id="R113ac4e8474443a2" /><Relationship Type="http://schemas.openxmlformats.org/officeDocument/2006/relationships/slideLayout" Target="/ppt/slideLayouts/slideLayout9.xml" Id="R462145247cb94ada" /><Relationship Type="http://schemas.openxmlformats.org/officeDocument/2006/relationships/slideLayout" Target="/ppt/slideLayouts/slideLayout10.xml" Id="R665993d85edb4b5f" /><Relationship Type="http://schemas.openxmlformats.org/officeDocument/2006/relationships/slideLayout" Target="/ppt/slideLayouts/slideLayout11.xml" Id="R955cf71ac68b472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4B63FA1-8F75-4687-A609-FA272E4886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39DD841-5BCA-41BB-9174-6D54B4F9B9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1E4D755-FED5-47D2-9E0B-709570FD9A8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E410674-CC82-489F-8659-5964398514E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817D1C2-CC28-4096-9D7B-993C2DCBA9F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911739f7424e56"/>
    <p:sldLayoutId xmlns:r="http://schemas.openxmlformats.org/officeDocument/2006/relationships" id="2147483650" r:id="Rad9469bf7b62403c"/>
    <p:sldLayoutId xmlns:r="http://schemas.openxmlformats.org/officeDocument/2006/relationships" id="2147483651" r:id="R8d39e06116ee4192"/>
    <p:sldLayoutId xmlns:r="http://schemas.openxmlformats.org/officeDocument/2006/relationships" id="2147483652" r:id="R7d580634df424292"/>
    <p:sldLayoutId xmlns:r="http://schemas.openxmlformats.org/officeDocument/2006/relationships" id="2147483653" r:id="Re43def5371ea4dd4"/>
    <p:sldLayoutId xmlns:r="http://schemas.openxmlformats.org/officeDocument/2006/relationships" id="2147483654" r:id="R64aa366110f74149"/>
    <p:sldLayoutId xmlns:r="http://schemas.openxmlformats.org/officeDocument/2006/relationships" id="2147483655" r:id="R8f60bd81528c4c00"/>
    <p:sldLayoutId xmlns:r="http://schemas.openxmlformats.org/officeDocument/2006/relationships" id="2147483656" r:id="R113ac4e8474443a2"/>
    <p:sldLayoutId xmlns:r="http://schemas.openxmlformats.org/officeDocument/2006/relationships" id="2147483657" r:id="R462145247cb94ada"/>
    <p:sldLayoutId xmlns:r="http://schemas.openxmlformats.org/officeDocument/2006/relationships" id="2147483658" r:id="R665993d85edb4b5f"/>
    <p:sldLayoutId xmlns:r="http://schemas.openxmlformats.org/officeDocument/2006/relationships" id="2147483659" r:id="R955cf71ac68b472d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5bbb4360e2e4980" /><Relationship Type="http://schemas.openxmlformats.org/officeDocument/2006/relationships/image" Target="/ppt/media/image.png" Id="R65cec3c0194045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f077578c1e34230" /><Relationship Type="http://schemas.openxmlformats.org/officeDocument/2006/relationships/image" Target="/ppt/media/image2.png" Id="Rbe04a2539dd24f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b02759de00847ee" /><Relationship Type="http://schemas.openxmlformats.org/officeDocument/2006/relationships/image" Target="/ppt/media/image3.png" Id="R6628b58b277c4e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e276fb142c546dc" /><Relationship Type="http://schemas.openxmlformats.org/officeDocument/2006/relationships/image" Target="/ppt/media/image4.png" Id="Rfb00c843f17d48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b75edfeaf4b402d" /><Relationship Type="http://schemas.openxmlformats.org/officeDocument/2006/relationships/image" Target="/ppt/media/image5.png" Id="R736ddf95c5df4d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a0fcf47143949fe" /><Relationship Type="http://schemas.openxmlformats.org/officeDocument/2006/relationships/image" Target="/ppt/media/image6.png" Id="R309fef6f2c8544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7f4ea8cbae744dd" /><Relationship Type="http://schemas.openxmlformats.org/officeDocument/2006/relationships/image" Target="/ppt/media/image7.png" Id="Rced138b4915b4d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2f172a966d7463d" /><Relationship Type="http://schemas.openxmlformats.org/officeDocument/2006/relationships/image" Target="/ppt/media/image8.png" Id="Rf00911e3fcd54c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f7a6bdc030e488b" /><Relationship Type="http://schemas.openxmlformats.org/officeDocument/2006/relationships/image" Target="/ppt/media/image9.png" Id="R83c9a2d6068542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9295c9c652542de" /><Relationship Type="http://schemas.openxmlformats.org/officeDocument/2006/relationships/image" Target="/ppt/media/image10.png" Id="R17a0b1fe4cec4b5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59037e5d544f22" /><Relationship Type="http://schemas.openxmlformats.org/officeDocument/2006/relationships/image" Target="/ppt/media/image11.png" Id="R6883ce0c634448a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472bbf50e0240ca" /><Relationship Type="http://schemas.openxmlformats.org/officeDocument/2006/relationships/image" Target="/ppt/media/image12.png" Id="Rb94f15d9ad46430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41ee2cb5ac24c0e" /><Relationship Type="http://schemas.openxmlformats.org/officeDocument/2006/relationships/image" Target="/ppt/media/image13.png" Id="R4a46555159374d3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daeae1581054d1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c9a494ceb5c47c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88053EC-38E2-473F-97E4-F208AAFD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1168"/>
            <a:ext cx="114300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225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2252A"/>
                </a:solidFill>
                <a:latin typeface="Calibri"/>
                <a:ea typeface="Calibri"/>
                <a:cs typeface="Calibri"/>
              </a:rPr>
              <a:t>Adama absorption overlaps Addis, while filter optical depth is lower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53936-26EA-42EB-8D29-A75BE3C7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019175"/>
            <a:ext cx="11144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66B72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6B72"/>
                </a:solidFill>
                <a:latin typeface="Calibri"/>
                <a:ea typeface="Calibri"/>
                <a:cs typeface="Calibri"/>
              </a:rPr>
              <a:t>Five July 2024 Adama filters added to the existing Addis and Bishoftu comparison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cec3c019404528"/>
          <a:stretch xmlns:a="http://schemas.openxmlformats.org/drawingml/2006/main"/>
        </p:blipFill>
        <p:spPr>
          <a:xfrm xmlns:a="http://schemas.openxmlformats.org/drawingml/2006/main">
            <a:off x="710443" y="1657350"/>
            <a:ext cx="10770733" cy="4248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838363-EA48-41D6-B65D-DAB1042E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76950"/>
            <a:ext cx="11153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66B7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6B72"/>
                </a:solidFill>
                <a:latin typeface="Calibri"/>
                <a:ea typeface="Calibri"/>
                <a:cs typeface="Calibri"/>
              </a:rPr>
              <a:t>Different collection periods and samplers. Median sampled volumes: Addis 7.25 m³, Bishoftu 7.17 m³, Adama 2.88 m³.</a:t>
            </a:r>
          </a:p>
        </p:txBody>
      </p:sp>
    </p:spTree>
    <p:extLst>
      <p:ext uri="{BB962C8B-B14F-4D97-AF65-F5344CB8AC3E}">
        <p14:creationId xmlns:p14="http://schemas.microsoft.com/office/powerpoint/2010/main" val="211242058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1C32926-16F4-4BB9-8108-684C49E7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1168"/>
            <a:ext cx="114300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225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2252A"/>
                </a:solidFill>
                <a:latin typeface="Calibri"/>
                <a:ea typeface="Calibri"/>
                <a:cs typeface="Calibri"/>
              </a:rPr>
              <a:t>Adama TOR OC/EC falls within the IMPROVE distribution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D3BCF-458D-405C-9B52-CA319D13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019175"/>
            <a:ext cx="11144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66B72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6B72"/>
                </a:solidFill>
                <a:latin typeface="Calibri"/>
                <a:ea typeface="Calibri"/>
                <a:cs typeface="Calibri"/>
              </a:rPr>
              <a:t>Adama median OC/EC = 6.08 across five dates, compared with 199 IMPROVE site medians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04a2539dd24f72"/>
          <a:stretch xmlns:a="http://schemas.openxmlformats.org/drawingml/2006/main"/>
        </p:blipFill>
        <p:spPr>
          <a:xfrm xmlns:a="http://schemas.openxmlformats.org/drawingml/2006/main">
            <a:off x="517970" y="1822710"/>
            <a:ext cx="11155680" cy="391742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D3A0E-8014-44AB-A388-AF44B96D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76950"/>
            <a:ext cx="11153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66B7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6B72"/>
                </a:solidFill>
                <a:latin typeface="Calibri"/>
                <a:ea typeface="Calibri"/>
                <a:cs typeface="Calibri"/>
              </a:rPr>
              <a:t>IMPROVE and Adama use quartz TOR. The four SPARTAN city markers use deployed FTIR products, so the methods differ.</a:t>
            </a:r>
          </a:p>
        </p:txBody>
      </p:sp>
    </p:spTree>
    <p:extLst>
      <p:ext uri="{BB962C8B-B14F-4D97-AF65-F5344CB8AC3E}">
        <p14:creationId xmlns:p14="http://schemas.microsoft.com/office/powerpoint/2010/main" val="7521861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9900B34-D144-444E-AE80-0CAC3B8F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1168"/>
            <a:ext cx="114300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225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2252A"/>
                </a:solidFill>
                <a:latin typeface="Calibri"/>
                <a:ea typeface="Calibri"/>
                <a:cs typeface="Calibri"/>
              </a:rPr>
              <a:t>Adama can join the OC-to-absorption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AEB40-50AA-47DF-98AB-E2250637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019175"/>
            <a:ext cx="11144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66B72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6B72"/>
                </a:solidFill>
                <a:latin typeface="Calibri"/>
                <a:ea typeface="Calibri"/>
                <a:cs typeface="Calibri"/>
              </a:rPr>
              <a:t>The Adama marker combines quartz TOR OC with HIPS on the paired PTFE filter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28b58b277c4ed2"/>
          <a:stretch xmlns:a="http://schemas.openxmlformats.org/drawingml/2006/main"/>
        </p:blipFill>
        <p:spPr>
          <a:xfrm xmlns:a="http://schemas.openxmlformats.org/drawingml/2006/main">
            <a:off x="517970" y="1822710"/>
            <a:ext cx="11155680" cy="391742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613FFD-9339-4ECC-9C57-EB143548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76950"/>
            <a:ext cx="11153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66B7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6B72"/>
                </a:solidFill>
                <a:latin typeface="Calibri"/>
                <a:ea typeface="Calibri"/>
                <a:cs typeface="Calibri"/>
              </a:rPr>
              <a:t>Adama median OC/Fabs is 0.39 using TOR OC and 0.17 using FTIR OC. The marker depends on the OC measurement method.</a:t>
            </a:r>
          </a:p>
        </p:txBody>
      </p:sp>
    </p:spTree>
    <p:extLst>
      <p:ext uri="{BB962C8B-B14F-4D97-AF65-F5344CB8AC3E}">
        <p14:creationId xmlns:p14="http://schemas.microsoft.com/office/powerpoint/2010/main" val="11462938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6412E18-4790-4C4A-A4B3-D2858D3A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1168"/>
            <a:ext cx="114300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225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2252A"/>
                </a:solidFill>
                <a:latin typeface="Calibri"/>
                <a:ea typeface="Calibri"/>
                <a:cs typeface="Calibri"/>
              </a:rPr>
              <a:t>Absorption per PM₂.₅ mass still needs paired Adama gravimetry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403B65-9E91-4010-A0A5-F6167873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019175"/>
            <a:ext cx="11144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66B72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6B72"/>
                </a:solidFill>
                <a:latin typeface="Calibri"/>
                <a:ea typeface="Calibri"/>
                <a:cs typeface="Calibri"/>
              </a:rPr>
              <a:t>Existing HIPS and filter-mass data provide context for Addis and Bishoftu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00c843f17d4838"/>
          <a:stretch xmlns:a="http://schemas.openxmlformats.org/drawingml/2006/main"/>
        </p:blipFill>
        <p:spPr>
          <a:xfrm xmlns:a="http://schemas.openxmlformats.org/drawingml/2006/main">
            <a:off x="517970" y="1822710"/>
            <a:ext cx="11155680" cy="391742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A0834-B7F0-485C-B1E3-9E8BC53A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76950"/>
            <a:ext cx="11153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66B7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6B72"/>
                </a:solidFill>
                <a:latin typeface="Calibri"/>
                <a:ea typeface="Calibri"/>
                <a:cs typeface="Calibri"/>
              </a:rPr>
              <a:t>Adama HIPS is available. A matched PM₂.₅ mass value for each Adama PTFE filter is still missing from these source exports.</a:t>
            </a:r>
          </a:p>
        </p:txBody>
      </p:sp>
    </p:spTree>
    <p:extLst>
      <p:ext uri="{BB962C8B-B14F-4D97-AF65-F5344CB8AC3E}">
        <p14:creationId xmlns:p14="http://schemas.microsoft.com/office/powerpoint/2010/main" val="14318990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E1A876D-983E-4B7A-8185-7FBEC2AB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1168"/>
            <a:ext cx="114300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225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2252A"/>
                </a:solidFill>
                <a:latin typeface="Calibri"/>
                <a:ea typeface="Calibri"/>
                <a:cs typeface="Calibri"/>
              </a:rPr>
              <a:t>Addis and Adama against the same HIPS 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AE5E1-9793-4332-9198-B840D05F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019175"/>
            <a:ext cx="11144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66B72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6B72"/>
                </a:solidFill>
                <a:latin typeface="Calibri"/>
                <a:ea typeface="Calibri"/>
                <a:cs typeface="Calibri"/>
              </a:rPr>
              <a:t>Both panels use concentrations, identical axes and the configured MAC of 10 m²/g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6ddf95c5df4d2d"/>
          <a:stretch xmlns:a="http://schemas.openxmlformats.org/drawingml/2006/main"/>
        </p:blipFill>
        <p:spPr>
          <a:xfrm xmlns:a="http://schemas.openxmlformats.org/drawingml/2006/main">
            <a:off x="1597886" y="1657350"/>
            <a:ext cx="8995847" cy="4248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7926F-8308-445A-ADEE-2565FFE1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76950"/>
            <a:ext cx="11153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66B7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6B72"/>
                </a:solidFill>
                <a:latin typeface="Calibri"/>
                <a:ea typeface="Calibri"/>
                <a:cs typeface="Calibri"/>
              </a:rPr>
              <a:t>Adama n = 5, with no fitted line. Open rings identify the two pairing flags. HIPS / MAC depends on the assumed MAC.</a:t>
            </a:r>
          </a:p>
        </p:txBody>
      </p:sp>
    </p:spTree>
    <p:extLst>
      <p:ext uri="{BB962C8B-B14F-4D97-AF65-F5344CB8AC3E}">
        <p14:creationId xmlns:p14="http://schemas.microsoft.com/office/powerpoint/2010/main" val="12972732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88053EC-38E2-473F-97E4-F208AAFD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1168"/>
            <a:ext cx="114300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225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2252A"/>
                </a:solidFill>
                <a:latin typeface="Calibri"/>
                <a:ea typeface="Calibri"/>
                <a:cs typeface="Calibri"/>
              </a:rPr>
              <a:t>The five Adama pairs connect FTIR, HIPS and quartz 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4E068-C22C-4550-9604-879685DD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019175"/>
            <a:ext cx="11144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66B72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6B72"/>
                </a:solidFill>
                <a:latin typeface="Calibri"/>
                <a:ea typeface="Calibri"/>
                <a:cs typeface="Calibri"/>
              </a:rPr>
              <a:t>All three pairwise comparisons use the same five dates and a 1:1 reference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9fef6f2c8544e2"/>
          <a:stretch xmlns:a="http://schemas.openxmlformats.org/drawingml/2006/main"/>
        </p:blipFill>
        <p:spPr>
          <a:xfrm xmlns:a="http://schemas.openxmlformats.org/drawingml/2006/main">
            <a:off x="517970" y="1805736"/>
            <a:ext cx="11155680" cy="395137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EAB5F-5C9D-495A-86BD-1D78A21E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76950"/>
            <a:ext cx="11153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66B7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6B72"/>
                </a:solidFill>
                <a:latin typeface="Calibri"/>
                <a:ea typeface="Calibri"/>
                <a:cs typeface="Calibri"/>
              </a:rPr>
              <a:t>Concentrations in µg/m³. HIPS uses MAC = 10 m²/g. Open rings flag pairing issues, with no exclusion or correction.</a:t>
            </a:r>
          </a:p>
        </p:txBody>
      </p:sp>
    </p:spTree>
    <p:extLst>
      <p:ext uri="{BB962C8B-B14F-4D97-AF65-F5344CB8AC3E}">
        <p14:creationId xmlns:p14="http://schemas.microsoft.com/office/powerpoint/2010/main" val="211242058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88053EC-38E2-473F-97E4-F208AAFD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1168"/>
            <a:ext cx="114300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225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2252A"/>
                </a:solidFill>
                <a:latin typeface="Calibri"/>
                <a:ea typeface="Calibri"/>
                <a:cs typeface="Calibri"/>
              </a:rPr>
              <a:t>The Addis comparison mostly contains one sampled-volume range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A5042-A140-43EA-9F18-40EC082A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019175"/>
            <a:ext cx="11144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66B72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6B72"/>
                </a:solidFill>
                <a:latin typeface="Calibri"/>
                <a:ea typeface="Calibri"/>
                <a:cs typeface="Calibri"/>
              </a:rPr>
              <a:t>189 of 190 pairs span 6.78–7.36 m³. One filter has a recorded volume of 2.07 m³.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d138b4915b4df5"/>
          <a:stretch xmlns:a="http://schemas.openxmlformats.org/drawingml/2006/main"/>
        </p:blipFill>
        <p:spPr>
          <a:xfrm xmlns:a="http://schemas.openxmlformats.org/drawingml/2006/main">
            <a:off x="1244854" y="1657350"/>
            <a:ext cx="9701911" cy="4248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F2640-B1C3-4B61-8854-C65743DF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76950"/>
            <a:ext cx="11153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66B7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6B72"/>
                </a:solidFill>
                <a:latin typeface="Calibri"/>
                <a:ea typeface="Calibri"/>
                <a:cs typeface="Calibri"/>
              </a:rPr>
              <a:t>Color shows recorded air volume. The solid line is pooled OLS. Residuals include every paired filter.</a:t>
            </a:r>
          </a:p>
        </p:txBody>
      </p:sp>
    </p:spTree>
    <p:extLst>
      <p:ext uri="{BB962C8B-B14F-4D97-AF65-F5344CB8AC3E}">
        <p14:creationId xmlns:p14="http://schemas.microsoft.com/office/powerpoint/2010/main" val="211242058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88053EC-38E2-473F-97E4-F208AAFD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1168"/>
            <a:ext cx="114300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225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2252A"/>
                </a:solidFill>
                <a:latin typeface="Calibri"/>
                <a:ea typeface="Calibri"/>
                <a:cs typeface="Calibri"/>
              </a:rPr>
              <a:t>Later HIPS samples have no deployed FTIR EC in this subset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52493-61FF-4DBA-A97E-8D5D5F11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019175"/>
            <a:ext cx="11144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66B72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6B72"/>
                </a:solidFill>
                <a:latin typeface="Calibri"/>
                <a:ea typeface="Calibri"/>
                <a:cs typeface="Calibri"/>
              </a:rPr>
              <a:t>The HIPS population extends to January 2026. The 190 deployed-EC pairs end in September 2024.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911e3fcd54cd3"/>
          <a:stretch xmlns:a="http://schemas.openxmlformats.org/drawingml/2006/main"/>
        </p:blipFill>
        <p:spPr>
          <a:xfrm xmlns:a="http://schemas.openxmlformats.org/drawingml/2006/main">
            <a:off x="644089" y="1657350"/>
            <a:ext cx="10903441" cy="4248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58D6A-694B-42F2-BB4F-F2CEB9E2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76950"/>
            <a:ext cx="11153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66B7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6B72"/>
                </a:solidFill>
                <a:latin typeface="Calibri"/>
                <a:ea typeface="Calibri"/>
                <a:cs typeface="Calibri"/>
              </a:rPr>
              <a:t>The weak residual–optical-depth association is descriptive. It does not establish that loading or volume has no effect.</a:t>
            </a:r>
          </a:p>
        </p:txBody>
      </p:sp>
    </p:spTree>
    <p:extLst>
      <p:ext uri="{BB962C8B-B14F-4D97-AF65-F5344CB8AC3E}">
        <p14:creationId xmlns:p14="http://schemas.microsoft.com/office/powerpoint/2010/main" val="211242058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BD450F6-D6C5-459D-8D3F-5C264BFB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1168"/>
            <a:ext cx="114300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225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2252A"/>
                </a:solidFill>
                <a:latin typeface="Calibri"/>
                <a:ea typeface="Calibri"/>
                <a:cs typeface="Calibri"/>
              </a:rPr>
              <a:t>Adama FTIR/TOR ratios depend on calibration and sampled volume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4B29B4-9F36-4B78-B5E7-43271E51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019175"/>
            <a:ext cx="11144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66B72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6B72"/>
                </a:solidFill>
                <a:latin typeface="Calibri"/>
                <a:ea typeface="Calibri"/>
                <a:cs typeface="Calibri"/>
              </a:rPr>
              <a:t>Deployed FTIR/TOR median = 0.69 on a concentration basis, with a range of 0.58–1.56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9a2d606854212"/>
          <a:stretch xmlns:a="http://schemas.openxmlformats.org/drawingml/2006/main"/>
        </p:blipFill>
        <p:spPr>
          <a:xfrm xmlns:a="http://schemas.openxmlformats.org/drawingml/2006/main">
            <a:off x="644089" y="1657350"/>
            <a:ext cx="10903441" cy="4248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1C7921-B9B1-4B0C-BD94-886C54B0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76950"/>
            <a:ext cx="11153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66B7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6B72"/>
                </a:solidFill>
                <a:latin typeface="Calibri"/>
                <a:ea typeface="Calibri"/>
                <a:cs typeface="Calibri"/>
              </a:rPr>
              <a:t>The three unflagged deployed ratios span 0.64–0.81. Open rings identify the two pairing flags.</a:t>
            </a:r>
          </a:p>
        </p:txBody>
      </p:sp>
    </p:spTree>
    <p:extLst>
      <p:ext uri="{BB962C8B-B14F-4D97-AF65-F5344CB8AC3E}">
        <p14:creationId xmlns:p14="http://schemas.microsoft.com/office/powerpoint/2010/main" val="185349937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39EE5AA-083A-4424-888C-DE1409B6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1168"/>
            <a:ext cx="114300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225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2252A"/>
                </a:solidFill>
                <a:latin typeface="Calibri"/>
                <a:ea typeface="Calibri"/>
                <a:cs typeface="Calibri"/>
              </a:rPr>
              <a:t>At MAC 10, HIPS EC-equivalent exceeds Adama quartz EC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DEDD9E-8AA2-483B-AD73-9BD5AC55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019175"/>
            <a:ext cx="11144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66B72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6B72"/>
                </a:solidFill>
                <a:latin typeface="Calibri"/>
                <a:ea typeface="Calibri"/>
                <a:cs typeface="Calibri"/>
              </a:rPr>
              <a:t>For the three unflagged pairs, implied MAC medians are 16.5 versus TOR and 20.8 versus TOT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a0b1fe4cec4b5a"/>
          <a:stretch xmlns:a="http://schemas.openxmlformats.org/drawingml/2006/main"/>
        </p:blipFill>
        <p:spPr>
          <a:xfrm xmlns:a="http://schemas.openxmlformats.org/drawingml/2006/main">
            <a:off x="644089" y="1657350"/>
            <a:ext cx="10903441" cy="4248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FE9EF-A74D-4ACF-8E56-7F0695DF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76950"/>
            <a:ext cx="11153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66B7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6B72"/>
                </a:solidFill>
                <a:latin typeface="Calibri"/>
                <a:ea typeface="Calibri"/>
                <a:cs typeface="Calibri"/>
              </a:rPr>
              <a:t>Open rings show flagged dates. The MAC 6–10 band illustrates how the assumed MAC changes the HIPS EC-equivalent.</a:t>
            </a:r>
          </a:p>
        </p:txBody>
      </p:sp>
    </p:spTree>
    <p:extLst>
      <p:ext uri="{BB962C8B-B14F-4D97-AF65-F5344CB8AC3E}">
        <p14:creationId xmlns:p14="http://schemas.microsoft.com/office/powerpoint/2010/main" val="174001165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EE17AE5-8542-4DAD-97AE-27293EB5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1168"/>
            <a:ext cx="114300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225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2252A"/>
                </a:solidFill>
                <a:latin typeface="Calibri"/>
                <a:ea typeface="Calibri"/>
                <a:cs typeface="Calibri"/>
              </a:rPr>
              <a:t>The Addis-selected models predict more EC at Adama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9C25F2-34A8-4E87-BC52-19E8AF27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019175"/>
            <a:ext cx="11144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66B72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6B72"/>
                </a:solidFill>
                <a:latin typeface="Calibri"/>
                <a:ea typeface="Calibri"/>
                <a:cs typeface="Calibri"/>
              </a:rPr>
              <a:t>Median model/TOR ratios for three unflagged pairs: locked 800 = 1.40, winner 440 = 2.00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83ce0c634448af"/>
          <a:stretch xmlns:a="http://schemas.openxmlformats.org/drawingml/2006/main"/>
        </p:blipFill>
        <p:spPr>
          <a:xfrm xmlns:a="http://schemas.openxmlformats.org/drawingml/2006/main">
            <a:off x="644089" y="1657350"/>
            <a:ext cx="10903441" cy="4248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E3F8A-4283-488C-945A-56A34BDB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76950"/>
            <a:ext cx="11153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66B7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6B72"/>
                </a:solidFill>
                <a:latin typeface="Calibri"/>
                <a:ea typeface="Calibri"/>
                <a:cs typeface="Calibri"/>
              </a:rPr>
              <a:t>Exploratory transfer check. The spectrum-to-FilterId mapping used by these earlier model predictions remains provisional.</a:t>
            </a:r>
          </a:p>
        </p:txBody>
      </p:sp>
    </p:spTree>
    <p:extLst>
      <p:ext uri="{BB962C8B-B14F-4D97-AF65-F5344CB8AC3E}">
        <p14:creationId xmlns:p14="http://schemas.microsoft.com/office/powerpoint/2010/main" val="98000803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88053EC-38E2-473F-97E4-F208AAFD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1168"/>
            <a:ext cx="114300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225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2252A"/>
                </a:solidFill>
                <a:latin typeface="Calibri"/>
                <a:ea typeface="Calibri"/>
                <a:cs typeface="Calibri"/>
              </a:rPr>
              <a:t>Five Adama spectra over the Addis evaluation set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5DFDB0-CA58-4972-B5E4-BA6831AE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019175"/>
            <a:ext cx="11144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66B72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6B72"/>
                </a:solidFill>
                <a:latin typeface="Calibri"/>
                <a:ea typeface="Calibri"/>
                <a:cs typeface="Calibri"/>
              </a:rPr>
              <a:t>Adama in color (n = 5). Addis in light gray (n = 239), December 2022–January 2026.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4f15d9ad464304"/>
          <a:stretch xmlns:a="http://schemas.openxmlformats.org/drawingml/2006/main"/>
        </p:blipFill>
        <p:spPr>
          <a:xfrm xmlns:a="http://schemas.openxmlformats.org/drawingml/2006/main">
            <a:off x="649623" y="1657350"/>
            <a:ext cx="10892373" cy="4248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54CCCC-A8F9-45BC-A227-8E08D85A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76950"/>
            <a:ext cx="11153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66B7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6B72"/>
                </a:solidFill>
                <a:latin typeface="Calibri"/>
                <a:ea typeface="Calibri"/>
                <a:cs typeface="Calibri"/>
              </a:rPr>
              <a:t>Raw absorbance, with no normalization or baseline correction. Legend labels 4744–4748 are Adama source spectrum IDs.</a:t>
            </a:r>
          </a:p>
        </p:txBody>
      </p:sp>
    </p:spTree>
    <p:extLst>
      <p:ext uri="{BB962C8B-B14F-4D97-AF65-F5344CB8AC3E}">
        <p14:creationId xmlns:p14="http://schemas.microsoft.com/office/powerpoint/2010/main" val="211242058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88053EC-38E2-473F-97E4-F208AAFD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1168"/>
            <a:ext cx="114300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225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2252A"/>
                </a:solidFill>
                <a:latin typeface="Calibri"/>
                <a:ea typeface="Calibri"/>
                <a:cs typeface="Calibri"/>
              </a:rPr>
              <a:t>Five Adama spectra over summer Addis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0A1D9-D13F-46C5-9B72-7D1E8459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019175"/>
            <a:ext cx="11144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66B72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6B72"/>
                </a:solidFill>
                <a:latin typeface="Calibri"/>
                <a:ea typeface="Calibri"/>
                <a:cs typeface="Calibri"/>
              </a:rPr>
              <a:t>Summer = Kiremt, June–September. Addis in light gray (n = 73), pooled across 2023–2025.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46555159374d33"/>
          <a:stretch xmlns:a="http://schemas.openxmlformats.org/drawingml/2006/main"/>
        </p:blipFill>
        <p:spPr>
          <a:xfrm xmlns:a="http://schemas.openxmlformats.org/drawingml/2006/main">
            <a:off x="649623" y="1657350"/>
            <a:ext cx="10892373" cy="4248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96EBE-9EA1-4EC0-A8EA-B43D7C0E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76950"/>
            <a:ext cx="11153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66B7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6B72"/>
                </a:solidFill>
                <a:latin typeface="Calibri"/>
                <a:ea typeface="Calibri"/>
                <a:cs typeface="Calibri"/>
              </a:rPr>
              <a:t>The same five July 2024 Adama spectra and axis limits as the previous slide. Summer selection uses the repo’s canonical calendar.</a:t>
            </a:r>
          </a:p>
        </p:txBody>
      </p:sp>
    </p:spTree>
    <p:extLst>
      <p:ext uri="{BB962C8B-B14F-4D97-AF65-F5344CB8AC3E}">
        <p14:creationId xmlns:p14="http://schemas.microsoft.com/office/powerpoint/2010/main" val="211242058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88053EC-38E2-473F-97E4-F208AAFD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1168"/>
            <a:ext cx="114300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225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2252A"/>
                </a:solidFill>
                <a:latin typeface="Calibri"/>
                <a:ea typeface="Calibri"/>
                <a:cs typeface="Calibri"/>
              </a:rPr>
              <a:t>Two Adama pairs need sampler-log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04EE4-E04F-400B-B2FA-5971C765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019175"/>
            <a:ext cx="11144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66B72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6B72"/>
                </a:solidFill>
                <a:latin typeface="Calibri"/>
                <a:ea typeface="Calibri"/>
                <a:cs typeface="Calibri"/>
              </a:rPr>
              <a:t>Paired samplers use different filters and recorded air volumes. Both flagged pairs remain in every main comparison.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1885950"/>
          <a:ext xmlns:a="http://schemas.openxmlformats.org/drawingml/2006/main" cx="1095375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90625"/>
                <a:gridCol w="2333625"/>
                <a:gridCol w="1238250"/>
                <a:gridCol w="1238250"/>
                <a:gridCol w="1333500"/>
                <a:gridCol w="1333500"/>
                <a:gridCol w="2286000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July 2024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PTFE / quartz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PTFE</a:t>
                      </a:r>
                    </a:p>
                    <a:p>
                      <a:r>
                        <a:rPr sz="1500" b="1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m³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Quartz</a:t>
                      </a:r>
                    </a:p>
                    <a:p>
                      <a:r>
                        <a:rPr sz="1500" b="1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m³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Volume</a:t>
                      </a:r>
                    </a:p>
                    <a:p>
                      <a:r>
                        <a:rPr sz="1500" b="1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ratio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Offset</a:t>
                      </a:r>
                    </a:p>
                    <a:p>
                      <a:r>
                        <a:rPr sz="1500" b="1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min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Review note</a:t>
                      </a:r>
                    </a:p>
                  </a:txBody>
                  <a:tcPr marL="91440" marR="91440" marT="45720" marB="45720">
                    <a:solidFill>
                      <a:srgbClr val="EFEFE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J1269 / J1693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2.879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2.621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1.098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+39.73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Start time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J1266 / J1701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2.880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2.606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1.105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-0.08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No flag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23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J1285 / J1675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2.882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2.585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1.115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-0.25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No flag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J1233 / J1703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2.881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2.583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1.116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+0.15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No flag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J1270 / J1679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1.161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2.547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0.456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-0.25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52A"/>
                          </a:solidFill>
                          <a:latin typeface="Calibri"/>
                          <a:ea typeface="Calibri"/>
                          <a:cs typeface="Calibri"/>
                        </a:rPr>
                        <a:t>Air volume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3AC68-F20A-4A89-92DD-1EED6184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76950"/>
            <a:ext cx="11153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66B7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6B72"/>
                </a:solidFill>
                <a:latin typeface="Calibri"/>
                <a:ea typeface="Calibri"/>
                <a:cs typeface="Calibri"/>
              </a:rPr>
              <a:t>Volume ratio = PTFE / quartz. Start offset = quartz start minus PTFE start. Flags follow the existing &gt;5 min and &gt;20% rules.</a:t>
            </a:r>
          </a:p>
        </p:txBody>
      </p:sp>
    </p:spTree>
    <p:extLst>
      <p:ext uri="{BB962C8B-B14F-4D97-AF65-F5344CB8AC3E}">
        <p14:creationId xmlns:p14="http://schemas.microsoft.com/office/powerpoint/2010/main" val="211242058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5100CE-1F44-4EF7-812C-15A94B4C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1168"/>
            <a:ext cx="11430000" cy="86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225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2252A"/>
                </a:solidFill>
                <a:latin typeface="Calibri"/>
                <a:ea typeface="Calibri"/>
                <a:cs typeface="Calibri"/>
              </a:rPr>
              <a:t>Sampling priorities from the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F3FC49-5208-47C5-A9F2-BD7BDDDD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019175"/>
            <a:ext cx="11144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66B72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666B72"/>
                </a:solidFill>
                <a:latin typeface="Calibri"/>
                <a:ea typeface="Calibri"/>
                <a:cs typeface="Calibri"/>
              </a:rPr>
              <a:t>The five Adama dates inform the campaign design. They do not resolve the Addis discrepancy.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19D21-491A-402A-B6FA-A9B5EABE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225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2252A"/>
                </a:solidFill>
                <a:latin typeface="Calibri"/>
                <a:ea typeface="Calibri"/>
                <a:cs typeface="Calibri"/>
              </a:rPr>
              <a:t>Quartz in Addis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40DD6-9D57-4E47-A1D4-6C6742ED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733550"/>
            <a:ext cx="8210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22252A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2252A"/>
                </a:solidFill>
                <a:latin typeface="Calibri"/>
                <a:ea typeface="Calibri"/>
                <a:cs typeface="Calibri"/>
              </a:rPr>
              <a:t>Prioritize paired quartz and PTFE at Addis. If the SPARTAN location is infeasible, assess the existing southern Addis site and document the site differences.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138EF-A452-421F-AD0D-6B5B2D36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225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2252A"/>
                </a:solidFill>
                <a:latin typeface="Calibri"/>
                <a:ea typeface="Calibri"/>
                <a:cs typeface="Calibri"/>
              </a:rPr>
              <a:t>Paired Delhi filters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A6C3C-6D7A-4C06-8D16-C12EA0FA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752725"/>
            <a:ext cx="8210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22252A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2252A"/>
                </a:solidFill>
                <a:latin typeface="Calibri"/>
                <a:ea typeface="Calibri"/>
                <a:cs typeface="Calibri"/>
              </a:rPr>
              <a:t>Follow up on the quartz/PTFE material discussed with Ann. Use a known thermal reference to test whether the Addis spectral pattern appears elsewhere.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92FB7-6CFD-4E84-BD0B-4FE6129C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225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2252A"/>
                </a:solidFill>
                <a:latin typeface="Calibri"/>
                <a:ea typeface="Calibri"/>
                <a:cs typeface="Calibri"/>
              </a:rPr>
              <a:t>Regional PM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4E18AB-765E-4E70-9070-30935625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771900"/>
            <a:ext cx="8210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22252A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2252A"/>
                </a:solidFill>
                <a:latin typeface="Calibri"/>
                <a:ea typeface="Calibri"/>
                <a:cs typeface="Calibri"/>
              </a:rPr>
              <a:t>Check MAIA daily BAM data for Adama, Bishoftu and Addis. Use comparable PurpleAir records if needed, with matched dates and clear method labels.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00307C-113F-4F53-BB1F-7E0B3A8F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225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2252A"/>
                </a:solidFill>
                <a:latin typeface="Calibri"/>
                <a:ea typeface="Calibri"/>
                <a:cs typeface="Calibri"/>
              </a:rPr>
              <a:t>Sampler metadata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D0ACF-7342-452A-87FC-0058E1ED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791075"/>
            <a:ext cx="8210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22252A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2252A"/>
                </a:solidFill>
                <a:latin typeface="Calibri"/>
                <a:ea typeface="Calibri"/>
                <a:cs typeface="Calibri"/>
              </a:rPr>
              <a:t>Resolve the two Adama pairing flags and obtain the Addis filter sampling protocol. Confirm the Adama spectrum-to-FilterId crosswalk with the lab.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F9A42A-3DE4-4D80-8E8E-8074090E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76950"/>
            <a:ext cx="11153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66B72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6B72"/>
                </a:solidFill>
                <a:latin typeface="Calibri"/>
                <a:ea typeface="Calibri"/>
                <a:cs typeface="Calibri"/>
              </a:rPr>
              <a:t>PM context and sampler-log review remain open. Collection scope, duration and costs need agreement with the sampling team.</a:t>
            </a:r>
          </a:p>
        </p:txBody>
      </p:sp>
    </p:spTree>
    <p:extLst>
      <p:ext uri="{BB962C8B-B14F-4D97-AF65-F5344CB8AC3E}">
        <p14:creationId xmlns:p14="http://schemas.microsoft.com/office/powerpoint/2010/main" val="68780208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2026-09-11T07:41:44.4540000Z</dcterms:created>
  <dcterms:modified xsi:type="dcterms:W3CDTF">2026-09-11T07:41:44.4540000Z</dcterms:modified>
</coreProperties>
</file>