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Today I want to show you that a problem we first saw in Addis Ababa is not only an Ethiopia problem. First a bit of context on what the air in Addis is made of. Then the problem itself: FTIR elemental carbon in Addis correlates with an independent measurement but sits on the wrong scale. Then the twist: the same FTIR method works well on typical US filters, but not on the US filters that look most like Addis. Last, why: those samples are much more heavily loaded than what the calibration learned from, and FTIR under-reads more the heavier a filter gets.</a:t>
            </a:r>
          </a:p>
          <a:p/>
          <a:p>
            <a:r>
              <a:t>NOTES: This is a practice run of the AAAR poster story, laid out as slides first (Ann's suggestion). PLS calibration-search material (specification curve, cohorts, VIBES baseline, k-sweep) is deliberately left out of the main slides; it is for discussion. Leave at least 20 minutes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what PM2.5 in Addis Ababa is made of, by season. Each bar is the median of each component. Ethiopia has three seasons: a long dry season, the short Belg rains, and the main Kiremt rainy season. Kiremt has the highest concentrations, partly because the boundary layer is shallow then, so pollution is trapped close to the ground. Organic matter and dust are big pieces, and black carbon is a few µg/m³, far above typical US rural levels. Keep that in mind: these are very different filters from what US networks see.</a:t>
            </a:r>
          </a:p>
          <a:p/>
          <a:p>
            <a:r>
              <a:t>NOTES: Medians of each component are stacked; medians do not add up exactly to the median PM2.5 mass (black tick), and unmeasured mass (water, other ions) is not shown. Organic matter is SPARTAN's FTIR-derived OM. Black carbon is the SPARTAN HIPS-based BC, not FTIR EC. Dust uses the IMPROVE soil formula (2.20 Al + 2.49 Si + 1.63 Ca + 2.42 Fe + 1.94 Ti). Season medians: see figures/f6_addis_chemistry_medians.csv. Boundary layer: ERA5 median daily BLH ~370-410 m in Kiremt vs 650-800 m in Dry; normalising by BLH is on the list, not done. Season names: 'Bega' for Dry is from one source; the literature mostly says Dry / Belg / Kiremt.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problem. Each point is one Addis filter. Along the bottom is EC from HIPS, an optical absorption measurement. Up the side is EC from FTIR with the current SPARTAN calibration. The correlation is strong, R² 0.78, but the line has a slope of 2.3 and an intercept of -6 µg/m³. The lower-EC filters, mostly dry season, come out too low, and the high Kiremt filters come out too high. So FTIR sees the EC signal, but the calibration maps it onto the wrong scale.</a:t>
            </a:r>
          </a:p>
          <a:p/>
          <a:p>
            <a:r>
              <a:t>NOTES: Deming regression, HIPS EC = Fabs / MAC 10 on x. The Deming intercept does not depend on MAC; slope does. Why HIPS and not TOR: SPARTAN filters have no thermal-optical TOR analysis, so HIPS is the independent reference at Addis. n 189 filters with both. Current SPARTAN calibration = the deployed network calibration (built on IMPROVE filters). Season colours: Dry amber, Belg purple, Kiremt blue. Expected question: 'is HIPS right?' HIPS and TOR agree on IMPROVE (next slides), including on the Addis-like filters.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US. The IMPROVE network has both FTIR and the thermal reference method, TOR. We built the calibration on IMPROVE filters and tested it on filters from sites the calibration never saw. On these 2,078 held-out filters, FTIR matches TOR well: slope 0.93, intercept close to zero, R² 0.73. This is the established method working as intended.</a:t>
            </a:r>
          </a:p>
          <a:p/>
          <a:p>
            <a:r>
              <a:t>NOTES: Spline (AIRSpec) baseline-corrected spectra, all-IMPROVE calibration on lot 251, read out on held-out sites (site-disjoint split). Same baseline and calibration approach as the next slide; only the samples change. TOR vs HIPS on the same held-out filters: Deming 1.19x -0.02, R² 0.72. Axis clipped at 1.2 µg/m³ for readability; count of clipped points is printed on the figure. Units µg/m³; IMPROVE samples ~33 m³ per filter, SPARTAN ~7 m³, so concentrations understate the loading gap (slide 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key result. Out of the held-out US filters, we picked the 97 whose infrared spectra look most like Addis Ababa, in red. On the left, the two reference methods, TOR and HIPS, still agree on them: slope 0.91, R² 0.82. So the reference values are fine. On the right, FTIR reads only about half of TOR: slope 0.48, R² 0.46. For the analogs of the dry season it is worse, slope 0.44. Same calibration, same baseline. Only the samples changed. So the Addis problem also shows up inside the US network, for its most Addis-like filters.</a:t>
            </a:r>
          </a:p>
          <a:p/>
          <a:p>
            <a:r>
              <a:t>NOTES: Analogs: the 500 IMPROVE filters whose spectra correlate best with the Addis spectra (Pearson r on the spline-corrected spectra); 97 of them come from held-out sites and are shown. All 97 are from the test split (88 lot 251, 9 lot 248), so none trained the calibration. Grey = all held-out IMPROVE for context. Deming fit drawn in red; OLS in the box. Caveat: 'most Addis-like' depends on the similarity metric and window; the spline and VIBES baselines choose mostly different analogs (shared of 500: Dry 31, Belg 128, Kiremt 166). Ann's self-prediction question: IMPROVE predicts IMPROVE well overall (slide 4) and the analogs fit well when they are themselves the calibration set (CV R² 0.5-0.9, bias ~0); the failure is transfer.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would that happen? First, loading. This shows how much EC sits on each filter, on a log scale. Grey is the IMPROVE calibration pool, amber is Addis. The median Addis filter has about 9 times more EC on it than the median IMPROVE filter, and 76 percent of Addis filters are above IMPROVE's 99th percentile. The calibration has almost never seen filters like these.</a:t>
            </a:r>
          </a:p>
          <a:p/>
          <a:p>
            <a:r>
              <a:t>NOTES: Per filter = HIPS Fabs / MAC 10 × sampled volume, so both networks are on the same footing (IMPROVE ~33 m³ per filter at 22 L/min, SPARTAN ~7 m³ at 5 L/min). In concentration the gap looks like ~41× because of the volume difference; per filter is the fair comparison for what the FTIR sees. Loading alone is not the whole story: analogs that cover the Addis loading range are still biased.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ties the last two slides together. Each point is one held-out US filter: how much EC is on it along the bottom, and FTIR divided by TOR up the side, where 1 means they agree. For typical loadings FTIR and TOR agree, a ratio of about 1.1. As filters get heavier the ratio drops below 1, to about 0.8 for the heaviest US filters, and the Addis-like ones in red follow the same path, about 0.9. The shaded band is where Addis filters sit: past the end of almost everything the calibration has seen. So the heavier the sample, the more FTIR under-reads, and Addis is the extreme case.</a:t>
            </a:r>
          </a:p>
          <a:p/>
          <a:p>
            <a:r>
              <a:t>NOTES: Loading on x is from HIPS (Fabs / MAC 10 × volume), not TOR, so the ratio is not plotted against its own denominator. Same all-IMPROVE lot-251 spline calibration and held-out sites as slides 4 and 5. Filters below 1 µg are not shown and ratios above 2 are drawn at the top edge. At low loadings the ratio is above 1 mostly because of the small positive intercept (+0.02 µg/m³ ≈ 0.6 µg per IMPROVE filter); read the right-hand side. Binned medians, held-out IMPROVE: 2 to 8 µg 1.08, above 16 µg 0.80; Addis-like above 16 µg 0.86 (n 11, small). The Addis band is from HIPS, because Addis has no TOR: we cannot plot Addis points here. Composition, if asked: Addis spectra have about 2× the Si-O dust band (~1035 cm⁻¹) of a typical IMPROVE filter, and Kiremt CH peaks stand out more against OH/NH, but both stay inside IMPROVE's range filter by filter (about 2 % of Addis above IMPROVE p95). Loading is the clear outlier; composition is not on its own.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sum up. The established FTIR method works on the samples it was built from. It struggles on samples that look like Addis, and those exist inside the US network too, they are just rare, so whole-network validation never flags them. That matters for anyone using US-built calibrations in polluted, dusty, smoke-rich places, which is most of the Global South. Next we are working out which spectral features drive the shift and how to choose calibration samples that cover it.</a:t>
            </a:r>
          </a:p>
          <a:p/>
          <a:p>
            <a:r>
              <a:t>NOTES: Open work, for discussion only: VIBES full-range baseline (more consistent on IMPROVE, worse Addis intercept); the 14 Oct k-sweep (Addis intercept falls as PLS factors increase: spline -0.1 to -1.6, VIBES -0.3 to -7.0 µg/m³ at k 2 to 20; smoke-like IMPROVE filters do not drift the same way); boundary-layer normalisation; Chile sites after AAAR.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011680"/>
            <a:ext cx="11155680" cy="822960"/>
          </a:xfrm>
          <a:prstGeom prst="rect">
            <a:avLst/>
          </a:prstGeom>
          <a:noFill/>
        </p:spPr>
        <p:txBody>
          <a:bodyPr wrap="square">
            <a:spAutoFit/>
          </a:bodyPr>
          <a:lstStyle/>
          <a:p>
            <a:pPr>
              <a:defRPr sz="2800" b="1">
                <a:solidFill>
                  <a:srgbClr val="22252A"/>
                </a:solidFill>
              </a:defRPr>
            </a:pPr>
            <a:r>
              <a:t>FTIR elemental carbon calibrated on US filters transfers poorly to heavily loaded, Ethiopia-like samples, in Addis Ababa and in the US network itself</a:t>
            </a:r>
          </a:p>
        </p:txBody>
      </p:sp>
      <p:sp>
        <p:nvSpPr>
          <p:cNvPr id="3" name="TextBox 2"/>
          <p:cNvSpPr txBox="1"/>
          <p:nvPr/>
        </p:nvSpPr>
        <p:spPr>
          <a:xfrm>
            <a:off x="502920" y="4023360"/>
            <a:ext cx="10972800" cy="1097280"/>
          </a:xfrm>
          <a:prstGeom prst="rect">
            <a:avLst/>
          </a:prstGeom>
          <a:noFill/>
        </p:spPr>
        <p:txBody>
          <a:bodyPr wrap="none">
            <a:spAutoFit/>
          </a:bodyPr>
          <a:lstStyle/>
          <a:p>
            <a:pPr>
              <a:defRPr sz="1600">
                <a:solidFill>
                  <a:srgbClr val="8F8C84"/>
                </a:solidFill>
              </a:defRPr>
            </a:pPr>
            <a:r>
              <a:t>Ahmad Jalil, Ann M. Dillner, Satoshi Takahama  [FILL IN: affiliations, co-authors]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Ababa PM2.5 peaks in the Kiremt rainy season; black carbon, organics and dust are each large shares</a:t>
            </a:r>
          </a:p>
        </p:txBody>
      </p:sp>
      <p:pic>
        <p:nvPicPr>
          <p:cNvPr id="3" name="Picture 2" descr="f6_addis_chemistry.png"/>
          <p:cNvPicPr>
            <a:picLocks noChangeAspect="1"/>
          </p:cNvPicPr>
          <p:nvPr/>
        </p:nvPicPr>
        <p:blipFill>
          <a:blip r:embed="rId2"/>
          <a:stretch>
            <a:fillRect/>
          </a:stretch>
        </p:blipFill>
        <p:spPr>
          <a:xfrm>
            <a:off x="518007" y="1143000"/>
            <a:ext cx="11155680" cy="48927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In Addis Ababa, FTIR EC tracks HIPS EC closely but on the wrong scale</a:t>
            </a:r>
          </a:p>
        </p:txBody>
      </p:sp>
      <p:pic>
        <p:nvPicPr>
          <p:cNvPr id="3" name="Picture 2" descr="f1_addis_problem.png"/>
          <p:cNvPicPr>
            <a:picLocks noChangeAspect="1"/>
          </p:cNvPicPr>
          <p:nvPr/>
        </p:nvPicPr>
        <p:blipFill>
          <a:blip r:embed="rId2"/>
          <a:stretch>
            <a:fillRect/>
          </a:stretch>
        </p:blipFill>
        <p:spPr>
          <a:xfrm>
            <a:off x="2952463" y="1143000"/>
            <a:ext cx="6286768" cy="54864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On typical US filters the same FTIR method predicts EC well</a:t>
            </a:r>
          </a:p>
        </p:txBody>
      </p:sp>
      <p:pic>
        <p:nvPicPr>
          <p:cNvPr id="3" name="Picture 2" descr="f2_improve_heldout.png"/>
          <p:cNvPicPr>
            <a:picLocks noChangeAspect="1"/>
          </p:cNvPicPr>
          <p:nvPr/>
        </p:nvPicPr>
        <p:blipFill>
          <a:blip r:embed="rId2"/>
          <a:stretch>
            <a:fillRect/>
          </a:stretch>
        </p:blipFill>
        <p:spPr>
          <a:xfrm>
            <a:off x="2910508" y="1143000"/>
            <a:ext cx="6370678" cy="54864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The same calibration under-reads the US filters whose spectra look most like Addis</a:t>
            </a:r>
          </a:p>
        </p:txBody>
      </p:sp>
      <p:pic>
        <p:nvPicPr>
          <p:cNvPr id="3" name="Picture 2" descr="f3_addis_like_improve.png"/>
          <p:cNvPicPr>
            <a:picLocks noChangeAspect="1"/>
          </p:cNvPicPr>
          <p:nvPr/>
        </p:nvPicPr>
        <p:blipFill>
          <a:blip r:embed="rId2"/>
          <a:stretch>
            <a:fillRect/>
          </a:stretch>
        </p:blipFill>
        <p:spPr>
          <a:xfrm>
            <a:off x="518007" y="1143000"/>
            <a:ext cx="11155680" cy="50180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Addis filters carry about 9 times more EC per filter than a typical IMPROVE filter</a:t>
            </a:r>
          </a:p>
        </p:txBody>
      </p:sp>
      <p:pic>
        <p:nvPicPr>
          <p:cNvPr id="3" name="Picture 2" descr="f4_loading_per_filter.png"/>
          <p:cNvPicPr>
            <a:picLocks noChangeAspect="1"/>
          </p:cNvPicPr>
          <p:nvPr/>
        </p:nvPicPr>
        <p:blipFill>
          <a:blip r:embed="rId2"/>
          <a:stretch>
            <a:fillRect/>
          </a:stretch>
        </p:blipFill>
        <p:spPr>
          <a:xfrm>
            <a:off x="518007" y="1143000"/>
            <a:ext cx="11155680" cy="493344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FTIR under-reads more as filters get heavier, and Addis filters are heavier still</a:t>
            </a:r>
          </a:p>
        </p:txBody>
      </p:sp>
      <p:pic>
        <p:nvPicPr>
          <p:cNvPr id="3" name="Picture 2" descr="f5_ratio_vs_loading.png"/>
          <p:cNvPicPr>
            <a:picLocks noChangeAspect="1"/>
          </p:cNvPicPr>
          <p:nvPr/>
        </p:nvPicPr>
        <p:blipFill>
          <a:blip r:embed="rId2"/>
          <a:stretch>
            <a:fillRect/>
          </a:stretch>
        </p:blipFill>
        <p:spPr>
          <a:xfrm>
            <a:off x="715910" y="1143000"/>
            <a:ext cx="10759873"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20040"/>
            <a:ext cx="11155680" cy="822960"/>
          </a:xfrm>
          <a:prstGeom prst="rect">
            <a:avLst/>
          </a:prstGeom>
          <a:noFill/>
        </p:spPr>
        <p:txBody>
          <a:bodyPr wrap="square">
            <a:spAutoFit/>
          </a:bodyPr>
          <a:lstStyle/>
          <a:p>
            <a:pPr>
              <a:defRPr sz="2000" b="1">
                <a:solidFill>
                  <a:srgbClr val="22252A"/>
                </a:solidFill>
              </a:defRPr>
            </a:pPr>
            <a:r>
              <a:t>Validating on the whole US network hides a calibration gap that matters for the Global South</a:t>
            </a:r>
          </a:p>
        </p:txBody>
      </p:sp>
      <p:sp>
        <p:nvSpPr>
          <p:cNvPr id="3" name="TextBox 2"/>
          <p:cNvSpPr txBox="1"/>
          <p:nvPr/>
        </p:nvSpPr>
        <p:spPr>
          <a:xfrm>
            <a:off x="822960" y="1554480"/>
            <a:ext cx="10515600" cy="4572000"/>
          </a:xfrm>
          <a:prstGeom prst="rect">
            <a:avLst/>
          </a:prstGeom>
          <a:noFill/>
        </p:spPr>
        <p:txBody>
          <a:bodyPr wrap="square">
            <a:spAutoFit/>
          </a:bodyPr>
          <a:lstStyle/>
          <a:p>
            <a:pPr>
              <a:spcAft>
                <a:spcPts val="1400"/>
              </a:spcAft>
              <a:defRPr sz="1700">
                <a:solidFill>
                  <a:srgbClr val="22252A"/>
                </a:solidFill>
              </a:defRPr>
            </a:pPr>
            <a:r>
              <a:t>FTIR EC calibrated on IMPROVE works well on typical US filters.</a:t>
            </a:r>
          </a:p>
          <a:p>
            <a:pPr>
              <a:spcAft>
                <a:spcPts val="1400"/>
              </a:spcAft>
              <a:defRPr sz="1700">
                <a:solidFill>
                  <a:srgbClr val="22252A"/>
                </a:solidFill>
              </a:defRPr>
            </a:pPr>
            <a:r>
              <a:t>It under-reads the US filters that look most like Addis Ababa, even though TOR and HIPS agree on them.</a:t>
            </a:r>
          </a:p>
          <a:p>
            <a:pPr>
              <a:spcAft>
                <a:spcPts val="1400"/>
              </a:spcAft>
              <a:defRPr sz="1700">
                <a:solidFill>
                  <a:srgbClr val="22252A"/>
                </a:solidFill>
              </a:defRPr>
            </a:pPr>
            <a:r>
              <a:t>FTIR under-reads more as loading rises, and Addis filters are far more heavily loaded than the calibration set.</a:t>
            </a:r>
          </a:p>
          <a:p>
            <a:pPr>
              <a:spcAft>
                <a:spcPts val="1400"/>
              </a:spcAft>
              <a:defRPr sz="1700">
                <a:solidFill>
                  <a:srgbClr val="22252A"/>
                </a:solidFill>
              </a:defRPr>
            </a:pPr>
            <a:r>
              <a:t>So the Addis bias is a coverage problem that also exists inside the US network, not a quirk of one site.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