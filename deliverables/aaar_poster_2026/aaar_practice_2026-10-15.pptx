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Today I want to show you that a problem we first saw in Addis Ababa is not only an Ethiopia problem. First a bit of context on what the air in Addis is made of. Then the problem itself: FTIR elemental carbon in Addis correlates with an independent measurement but sits on the wrong scale. Then the twist: the same FTIR method works well on typical US filters, but not on the US filters that look most like Addis. Last, why: those samples are much more heavily loaded and contain more dust than what the calibration learned from.</a:t>
            </a:r>
          </a:p>
          <a:p/>
          <a:p>
            <a:r>
              <a:t>NOTES: This is a practice run of the AAAR poster story, laid out as slides first (Ann's suggestion). PLS calibration-search material (specification curve, cohorts, VIBES baseline, k-sweep) is deliberately left out of the main slides; it is for discussion. Leave at least 20 minutes for questions.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This is what PM2.5 in Addis Ababa is made of, by season. Each bar is the median of each component. Ethiopia has three seasons: a long dry season, the short Belg rains, and the main Kiremt rainy season. Kiremt has the highest concentrations, partly because the boundary layer is shallow then, so pollution is trapped close to the ground. Organic matter and dust are big pieces, and black carbon is a few µg/m³, far above typical US rural levels. Keep that in mind: these are very different filters from what US networks see.</a:t>
            </a:r>
          </a:p>
          <a:p/>
          <a:p>
            <a:r>
              <a:t>NOTES: Medians of each component are stacked; medians do not add up exactly to the median PM2.5 mass (black tick), and unmeasured mass (water, other ions) is not shown. Organic matter is SPARTAN's FTIR-derived OM. Black carbon is the SPARTAN HIPS-based BC, not FTIR EC. Dust uses the IMPROVE soil formula (2.20 Al + 2.49 Si + 1.63 Ca + 2.42 Fe + 1.94 Ti). Season medians: see figures/f6_addis_chemistry_medians.csv. Boundary layer: ERA5 median daily BLH ~370-410 m in Kiremt vs 650-800 m in Dry; normalising by BLH is on the list, not done. Season names: 'Bega' for Dry is from one source; the literature mostly says Dry / Belg / Kiremt.</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Here is the problem. Each point is one Addis filter. Along the bottom is EC from HIPS, an optical absorption measurement. Up the side is EC from FTIR with the current SPARTAN calibration. The correlation is strong, R² 0.78, but the line has a slope of 2.3 and an intercept of -6 µg/m³. The lower-EC filters, mostly dry season, come out too low, and the high Kiremt filters come out too high. So FTIR sees the EC signal, but the calibration maps it onto the wrong scale.</a:t>
            </a:r>
          </a:p>
          <a:p/>
          <a:p>
            <a:r>
              <a:t>NOTES: Deming regression, HIPS EC = Fabs / MAC 10 on x. The Deming intercept does not depend on MAC; slope does. Why HIPS and not TOR: SPARTAN filters have no thermal-optical TOR analysis, so HIPS is the independent reference at Addis. n 189 filters with both. Current SPARTAN calibration = the deployed network calibration (built on IMPROVE filters). Season colours: Dry amber, Belg purple, Kiremt blue. Expected question: 'is HIPS right?' HIPS and TOR agree on IMPROVE (next slides), including on the Addis-like filters.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Now the US. The IMPROVE network has both FTIR and the thermal reference method, TOR. We built the calibration on IMPROVE filters and tested it on filters from sites the calibration never saw. On these 2,078 held-out filters, FTIR matches TOR well: slope 0.93, intercept close to zero, R² 0.73. This is the established method working as intended.</a:t>
            </a:r>
          </a:p>
          <a:p/>
          <a:p>
            <a:r>
              <a:t>NOTES: Spline (AIRSpec) baseline-corrected spectra, all-IMPROVE calibration on lot 251, read out on held-out sites (site-disjoint split). Same baseline and calibration approach as the next slide; only the samples change. TOR vs HIPS on the same held-out filters: Deming 1.19x -0.02, R² 0.72. Axis clipped at 1.2 µg/m³ for readability; count of clipped points is printed on the figure. Units µg/m³; IMPROVE samples ~33 m³ per filter, SPARTAN ~7 m³, so concentrations understate the loading gap (slide 6).</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Here is the key result. Out of the held-out US filters, we picked the 97 whose infrared spectra look most like Addis Ababa, in red. On the left, the two reference methods, TOR and HIPS, still agree on them: slope 0.91, R² 0.82. So the reference values are fine. On the right, FTIR reads only about half of TOR: slope 0.48, R² 0.46. For the analogs of the dry season it is worse, slope 0.44. Same calibration, same baseline. Only the samples changed. So the Addis problem also shows up inside the US network, for its most Addis-like filters.</a:t>
            </a:r>
          </a:p>
          <a:p/>
          <a:p>
            <a:r>
              <a:t>NOTES: Analogs: the 500 IMPROVE filters whose spectra correlate best with the Addis spectra (Pearson r on the spline-corrected spectra); 97 of them come from held-out sites and are shown. All 97 are from the test split (88 lot 251, 9 lot 248), so none trained the calibration. Grey = all held-out IMPROVE for context. Deming fit drawn in red; OLS in the box. Caveat: 'most Addis-like' depends on the similarity metric and window; the spline and VIBES baselines choose mostly different analogs (shared of 500: Dry 31, Belg 128, Kiremt 166). Ann's self-prediction question: IMPROVE predicts IMPROVE well overall (slide 4) and the analogs fit well when they are themselves the calibration set (CV R² 0.5-0.9, bias ~0); the failure is transfer.</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Why would that happen? First, loading. This shows how much EC sits on each filter, on a log scale. Grey is the IMPROVE calibration pool, amber is Addis. The median Addis filter has about 9 times more EC on it than the median IMPROVE filter, and 76 percent of Addis filters are above IMPROVE's 99th percentile. The calibration has almost never seen filters like these.</a:t>
            </a:r>
          </a:p>
          <a:p/>
          <a:p>
            <a:r>
              <a:t>NOTES: Per filter = HIPS Fabs / MAC 10 × sampled volume, so both networks are on the same footing (IMPROVE ~33 m³ per filter at 22 L/min, SPARTAN ~7 m³ at 5 L/min). In concentration the gap looks like ~41× because of the volume difference; per filter is the fair comparison for what the FTIR sees. Loading alone is not the whole story: analogs that cover the Addis loading range are still biased.</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Second, composition. These are the typical infrared spectra in the low-wavenumber region, US in grey and Addis by season in colour. Look at the band near 1035: that is silicon-oxygen, mineral dust. Addis has 1.4 to 2.6 times more of it than IMPROVE, depending on season, and it correlates with aluminium and silicon in the Addis chemistry. The sulfate band, by contrast, is about the same. So Addis samples are both heavier and dustier than what the calibration learned from.</a:t>
            </a:r>
          </a:p>
          <a:p/>
          <a:p>
            <a:r>
              <a:t>NOTES: Figure from the 9 Oct notebook (research/ftir_hips_chem/ann_followup_20261009.ipynb, section 4); medians of band-area-normalised spectra (an exception to 'no averages' because the point is the typical shape; the gallery shows the IQR). Si-O ~1035 cm⁻¹: Spearman ρ with Si 0.90, Al 0.92. The sharp peaks at 1153/1210 are PTFE filter residue (3.7× IMPROVE), separate from the dust hump. Not sulfate: the SO₄ ν3 band is no stronger than IMPROVE. Colours here are the notebook's, not the house palette [FIX before AAAR].</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To sum up. The established FTIR method works on the samples it was built from. It struggles on samples that look like Addis, and those exist inside the US network too, they are just rare, so whole-network validation never flags them. That matters for anyone using US-built calibrations in polluted, dusty, smoke-rich places, which is most of the Global South. Next we are working out which spectral features drive the shift and how to choose calibration samples that cover it.</a:t>
            </a:r>
          </a:p>
          <a:p/>
          <a:p>
            <a:r>
              <a:t>NOTES: Open work, for discussion only: VIBES full-range baseline (more consistent on IMPROVE, worse Addis intercept); the 14 Oct k-sweep (Addis intercept falls as PLS factors increase: spline -0.1 to -1.6, VIBES -0.3 to -7.0 µg/m³ at k 2 to 20; smoke-like IMPROVE filters do not drift the same way); boundary-layer normalisation; Chile sites after AAAR.</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011680"/>
            <a:ext cx="11155680" cy="822960"/>
          </a:xfrm>
          <a:prstGeom prst="rect">
            <a:avLst/>
          </a:prstGeom>
          <a:noFill/>
        </p:spPr>
        <p:txBody>
          <a:bodyPr wrap="square">
            <a:spAutoFit/>
          </a:bodyPr>
          <a:lstStyle/>
          <a:p>
            <a:pPr>
              <a:defRPr sz="2800" b="1">
                <a:solidFill>
                  <a:srgbClr val="22252A"/>
                </a:solidFill>
              </a:defRPr>
            </a:pPr>
            <a:r>
              <a:t>FTIR elemental carbon calibrated on US filters transfers poorly to heavily loaded, Ethiopia-like samples, in Addis Ababa and in the US network itself</a:t>
            </a:r>
          </a:p>
        </p:txBody>
      </p:sp>
      <p:sp>
        <p:nvSpPr>
          <p:cNvPr id="3" name="TextBox 2"/>
          <p:cNvSpPr txBox="1"/>
          <p:nvPr/>
        </p:nvSpPr>
        <p:spPr>
          <a:xfrm>
            <a:off x="502920" y="4023360"/>
            <a:ext cx="10972800" cy="1097280"/>
          </a:xfrm>
          <a:prstGeom prst="rect">
            <a:avLst/>
          </a:prstGeom>
          <a:noFill/>
        </p:spPr>
        <p:txBody>
          <a:bodyPr wrap="none">
            <a:spAutoFit/>
          </a:bodyPr>
          <a:lstStyle/>
          <a:p>
            <a:pPr>
              <a:defRPr sz="1600">
                <a:solidFill>
                  <a:srgbClr val="8F8C84"/>
                </a:solidFill>
              </a:defRPr>
            </a:pPr>
            <a:r>
              <a:t>Ahmad Jalil, Ann M. Dillner, Satoshi Takahama  [FILL IN: affiliations, co-authors]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320040"/>
            <a:ext cx="11155680" cy="822960"/>
          </a:xfrm>
          <a:prstGeom prst="rect">
            <a:avLst/>
          </a:prstGeom>
          <a:noFill/>
        </p:spPr>
        <p:txBody>
          <a:bodyPr wrap="square">
            <a:spAutoFit/>
          </a:bodyPr>
          <a:lstStyle/>
          <a:p>
            <a:pPr>
              <a:defRPr sz="2000" b="1">
                <a:solidFill>
                  <a:srgbClr val="22252A"/>
                </a:solidFill>
              </a:defRPr>
            </a:pPr>
            <a:r>
              <a:t>Addis Ababa PM2.5 peaks in the Kiremt rainy season; black carbon, organics and dust are each large shares</a:t>
            </a:r>
          </a:p>
        </p:txBody>
      </p:sp>
      <p:pic>
        <p:nvPicPr>
          <p:cNvPr id="3" name="Picture 2" descr="f6_addis_chemistry.png"/>
          <p:cNvPicPr>
            <a:picLocks noChangeAspect="1"/>
          </p:cNvPicPr>
          <p:nvPr/>
        </p:nvPicPr>
        <p:blipFill>
          <a:blip r:embed="rId2"/>
          <a:stretch>
            <a:fillRect/>
          </a:stretch>
        </p:blipFill>
        <p:spPr>
          <a:xfrm>
            <a:off x="518007" y="1143000"/>
            <a:ext cx="11155680" cy="4892728"/>
          </a:xfrm>
          <a:prstGeom prst="rect">
            <a:avLst/>
          </a:prstGeom>
        </p:spPr>
      </p:pic>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320040"/>
            <a:ext cx="11155680" cy="822960"/>
          </a:xfrm>
          <a:prstGeom prst="rect">
            <a:avLst/>
          </a:prstGeom>
          <a:noFill/>
        </p:spPr>
        <p:txBody>
          <a:bodyPr wrap="square">
            <a:spAutoFit/>
          </a:bodyPr>
          <a:lstStyle/>
          <a:p>
            <a:pPr>
              <a:defRPr sz="2000" b="1">
                <a:solidFill>
                  <a:srgbClr val="22252A"/>
                </a:solidFill>
              </a:defRPr>
            </a:pPr>
            <a:r>
              <a:t>In Addis Ababa, FTIR EC tracks HIPS EC closely but on the wrong scale</a:t>
            </a:r>
          </a:p>
        </p:txBody>
      </p:sp>
      <p:pic>
        <p:nvPicPr>
          <p:cNvPr id="3" name="Picture 2" descr="f1_addis_problem.png"/>
          <p:cNvPicPr>
            <a:picLocks noChangeAspect="1"/>
          </p:cNvPicPr>
          <p:nvPr/>
        </p:nvPicPr>
        <p:blipFill>
          <a:blip r:embed="rId2"/>
          <a:stretch>
            <a:fillRect/>
          </a:stretch>
        </p:blipFill>
        <p:spPr>
          <a:xfrm>
            <a:off x="2952463" y="1143000"/>
            <a:ext cx="6286768" cy="5486400"/>
          </a:xfrm>
          <a:prstGeom prst="rect">
            <a:avLst/>
          </a:prstGeom>
        </p:spPr>
      </p:pic>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320040"/>
            <a:ext cx="11155680" cy="822960"/>
          </a:xfrm>
          <a:prstGeom prst="rect">
            <a:avLst/>
          </a:prstGeom>
          <a:noFill/>
        </p:spPr>
        <p:txBody>
          <a:bodyPr wrap="square">
            <a:spAutoFit/>
          </a:bodyPr>
          <a:lstStyle/>
          <a:p>
            <a:pPr>
              <a:defRPr sz="2000" b="1">
                <a:solidFill>
                  <a:srgbClr val="22252A"/>
                </a:solidFill>
              </a:defRPr>
            </a:pPr>
            <a:r>
              <a:t>On typical US filters the same FTIR method predicts EC well</a:t>
            </a:r>
          </a:p>
        </p:txBody>
      </p:sp>
      <p:pic>
        <p:nvPicPr>
          <p:cNvPr id="3" name="Picture 2" descr="f2_improve_heldout.png"/>
          <p:cNvPicPr>
            <a:picLocks noChangeAspect="1"/>
          </p:cNvPicPr>
          <p:nvPr/>
        </p:nvPicPr>
        <p:blipFill>
          <a:blip r:embed="rId2"/>
          <a:stretch>
            <a:fillRect/>
          </a:stretch>
        </p:blipFill>
        <p:spPr>
          <a:xfrm>
            <a:off x="2910508" y="1143000"/>
            <a:ext cx="6370678" cy="5486400"/>
          </a:xfrm>
          <a:prstGeom prst="rect">
            <a:avLst/>
          </a:prstGeom>
        </p:spPr>
      </p:pic>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320040"/>
            <a:ext cx="11155680" cy="822960"/>
          </a:xfrm>
          <a:prstGeom prst="rect">
            <a:avLst/>
          </a:prstGeom>
          <a:noFill/>
        </p:spPr>
        <p:txBody>
          <a:bodyPr wrap="square">
            <a:spAutoFit/>
          </a:bodyPr>
          <a:lstStyle/>
          <a:p>
            <a:pPr>
              <a:defRPr sz="2000" b="1">
                <a:solidFill>
                  <a:srgbClr val="22252A"/>
                </a:solidFill>
              </a:defRPr>
            </a:pPr>
            <a:r>
              <a:t>The same calibration under-reads the US filters whose spectra look most like Addis</a:t>
            </a:r>
          </a:p>
        </p:txBody>
      </p:sp>
      <p:pic>
        <p:nvPicPr>
          <p:cNvPr id="3" name="Picture 2" descr="f3_addis_like_improve.png"/>
          <p:cNvPicPr>
            <a:picLocks noChangeAspect="1"/>
          </p:cNvPicPr>
          <p:nvPr/>
        </p:nvPicPr>
        <p:blipFill>
          <a:blip r:embed="rId2"/>
          <a:stretch>
            <a:fillRect/>
          </a:stretch>
        </p:blipFill>
        <p:spPr>
          <a:xfrm>
            <a:off x="518007" y="1143000"/>
            <a:ext cx="11155680" cy="5018025"/>
          </a:xfrm>
          <a:prstGeom prst="rect">
            <a:avLst/>
          </a:prstGeom>
        </p:spPr>
      </p:pic>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320040"/>
            <a:ext cx="11155680" cy="822960"/>
          </a:xfrm>
          <a:prstGeom prst="rect">
            <a:avLst/>
          </a:prstGeom>
          <a:noFill/>
        </p:spPr>
        <p:txBody>
          <a:bodyPr wrap="square">
            <a:spAutoFit/>
          </a:bodyPr>
          <a:lstStyle/>
          <a:p>
            <a:pPr>
              <a:defRPr sz="2000" b="1">
                <a:solidFill>
                  <a:srgbClr val="22252A"/>
                </a:solidFill>
              </a:defRPr>
            </a:pPr>
            <a:r>
              <a:t>Addis filters carry about 9 times more EC per filter than a typical IMPROVE filter</a:t>
            </a:r>
          </a:p>
        </p:txBody>
      </p:sp>
      <p:pic>
        <p:nvPicPr>
          <p:cNvPr id="3" name="Picture 2" descr="f4_loading_per_filter.png"/>
          <p:cNvPicPr>
            <a:picLocks noChangeAspect="1"/>
          </p:cNvPicPr>
          <p:nvPr/>
        </p:nvPicPr>
        <p:blipFill>
          <a:blip r:embed="rId2"/>
          <a:stretch>
            <a:fillRect/>
          </a:stretch>
        </p:blipFill>
        <p:spPr>
          <a:xfrm>
            <a:off x="518007" y="1143000"/>
            <a:ext cx="11155680" cy="4933443"/>
          </a:xfrm>
          <a:prstGeom prst="rect">
            <a:avLst/>
          </a:prstGeom>
        </p:spPr>
      </p:pic>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320040"/>
            <a:ext cx="11155680" cy="822960"/>
          </a:xfrm>
          <a:prstGeom prst="rect">
            <a:avLst/>
          </a:prstGeom>
          <a:noFill/>
        </p:spPr>
        <p:txBody>
          <a:bodyPr wrap="square">
            <a:spAutoFit/>
          </a:bodyPr>
          <a:lstStyle/>
          <a:p>
            <a:pPr>
              <a:defRPr sz="2000" b="1">
                <a:solidFill>
                  <a:srgbClr val="22252A"/>
                </a:solidFill>
              </a:defRPr>
            </a:pPr>
            <a:r>
              <a:t>Addis spectra also carry a strong silicate dust band that IMPROVE filters lack</a:t>
            </a:r>
          </a:p>
        </p:txBody>
      </p:sp>
      <p:pic>
        <p:nvPicPr>
          <p:cNvPr id="3" name="Picture 2" descr="f5_addis_vs_improve_spectra.png"/>
          <p:cNvPicPr>
            <a:picLocks noChangeAspect="1"/>
          </p:cNvPicPr>
          <p:nvPr/>
        </p:nvPicPr>
        <p:blipFill>
          <a:blip r:embed="rId2"/>
          <a:stretch>
            <a:fillRect/>
          </a:stretch>
        </p:blipFill>
        <p:spPr>
          <a:xfrm>
            <a:off x="518007" y="1143000"/>
            <a:ext cx="11155680" cy="4056610"/>
          </a:xfrm>
          <a:prstGeom prst="rect">
            <a:avLst/>
          </a:prstGeom>
        </p:spPr>
      </p:pic>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320040"/>
            <a:ext cx="11155680" cy="822960"/>
          </a:xfrm>
          <a:prstGeom prst="rect">
            <a:avLst/>
          </a:prstGeom>
          <a:noFill/>
        </p:spPr>
        <p:txBody>
          <a:bodyPr wrap="square">
            <a:spAutoFit/>
          </a:bodyPr>
          <a:lstStyle/>
          <a:p>
            <a:pPr>
              <a:defRPr sz="2000" b="1">
                <a:solidFill>
                  <a:srgbClr val="22252A"/>
                </a:solidFill>
              </a:defRPr>
            </a:pPr>
            <a:r>
              <a:t>Validating on the whole US network hides a calibration gap that matters for the Global South</a:t>
            </a:r>
          </a:p>
        </p:txBody>
      </p:sp>
      <p:sp>
        <p:nvSpPr>
          <p:cNvPr id="3" name="TextBox 2"/>
          <p:cNvSpPr txBox="1"/>
          <p:nvPr/>
        </p:nvSpPr>
        <p:spPr>
          <a:xfrm>
            <a:off x="822960" y="1554480"/>
            <a:ext cx="10515600" cy="4572000"/>
          </a:xfrm>
          <a:prstGeom prst="rect">
            <a:avLst/>
          </a:prstGeom>
          <a:noFill/>
        </p:spPr>
        <p:txBody>
          <a:bodyPr wrap="square">
            <a:spAutoFit/>
          </a:bodyPr>
          <a:lstStyle/>
          <a:p>
            <a:pPr>
              <a:spcAft>
                <a:spcPts val="1400"/>
              </a:spcAft>
              <a:defRPr sz="1700">
                <a:solidFill>
                  <a:srgbClr val="22252A"/>
                </a:solidFill>
              </a:defRPr>
            </a:pPr>
            <a:r>
              <a:t>FTIR EC calibrated on IMPROVE works well on typical US filters.</a:t>
            </a:r>
          </a:p>
          <a:p>
            <a:pPr>
              <a:spcAft>
                <a:spcPts val="1400"/>
              </a:spcAft>
              <a:defRPr sz="1700">
                <a:solidFill>
                  <a:srgbClr val="22252A"/>
                </a:solidFill>
              </a:defRPr>
            </a:pPr>
            <a:r>
              <a:t>It under-reads the US filters that look most like Addis Ababa, even though TOR and HIPS agree on them.</a:t>
            </a:r>
          </a:p>
          <a:p>
            <a:pPr>
              <a:spcAft>
                <a:spcPts val="1400"/>
              </a:spcAft>
              <a:defRPr sz="1700">
                <a:solidFill>
                  <a:srgbClr val="22252A"/>
                </a:solidFill>
              </a:defRPr>
            </a:pPr>
            <a:r>
              <a:t>Addis filters are far more heavily loaded and dustier than the calibration set.</a:t>
            </a:r>
          </a:p>
          <a:p>
            <a:pPr>
              <a:spcAft>
                <a:spcPts val="1400"/>
              </a:spcAft>
              <a:defRPr sz="1700">
                <a:solidFill>
                  <a:srgbClr val="22252A"/>
                </a:solidFill>
              </a:defRPr>
            </a:pPr>
            <a:r>
              <a:t>So the Addis bias is a coverage problem that also exists inside the US network, not a quirk of one site.</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