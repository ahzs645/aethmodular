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talk is about measuring elemental carbon in Addis Ababa, the capital of Ethiopia, a high-altitude city of about five million people. Elemental carbon, EC, is the black, soot-like part of fine particle pollution, mostly from burning. Organic carbon, OC, is the rest of the particle carbon, and organic matter, OM, is that carbon plus the hydrogen and oxygen attached to it. First why we care: EC in Addis is very high. Then the problem: the current FTIR calibration predicts Addis EC on the wrong scale, and the same calibration also struggles on the IMPROVE filters whose spectra most resemble Addis spectra. Then why: Addis filters carry far more EC than almost anything the calibration learned from. Then what we are doing about it: baseline correction of the spectra, a calibration explorer to test thousands of calibrations, and season-specific calibrations.</a:t>
            </a:r>
          </a:p>
          <a:p/>
          <a:p>
            <a:r>
              <a:t>NOTES: Practice run of the AAAR poster, laid out as slides first. Work in progress by design: the goal is feedback. Leave at least 20 minutes for questions; keep the first part of the discussion general. Each later slide defines its terms the first time they come up; a full glossary is in talking_points.md.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Addis Ababa has three seasons: a long dry season, the short Belg rains, and the main Kiremt rainy season. The Addis filters come from SPARTAN, a global network of low-cost filter samplers in mostly urban, polluted places; we compare with IMPROVE, the US network that samples air in national parks and rural areas. Point at the axes first. On the left, up the side is concentration in the air, micrograms per cubic metre. The grey bars are total PM2.5, the fine particle mass, and the coloured bars are EC. EC here comes from HIPS, a measurement of how much light the filter absorbs. The three lines are IMPROVE references: the dotted line is typical IMPROVE EC, 0.15 µg/m³; the red dash-dot line is the IMPROVE 95th percentile, 0.64, so 95 percent of IMPROVE filters are below it; and the dashed line is typical IMPROVE PM2.5, 3.4. Addis EC is around 4 to 6 µg/m³ in every season, about 7 times even the 95th-percentile IMPROVE filter, and higher than typical IMPROVE PM2.5 as a whole. EC is also a much bigger share of the mass: about 19 to 25 percent of PM2.5 in Addis, against about 4 percent at a typical IMPROVE site. The rainy Kiremt season has the worst air. The right panel is the same thing as mass on the filter, which is what FTIR actually sees. IMPROVE pulls about 22 litres of air per minute through its filter, SPARTAN about 5, so an IMPROVE filter collects about four times more air. On the filter the EC gap shrinks from about 32 times to about 9 times, but Addis is still above the IMPROVE 95th percentile in every season. That is why we care about measuring EC well in Addis.</a:t>
            </a:r>
          </a:p>
          <a:p/>
          <a:p>
            <a:r>
              <a:t>NOTES: EC = SPARTAN 'BC PM2.5', which is HIPS absorption / 10 (checked on Addis: median ratio 10.00), the same definition as IMPROVE fAbs / 10 for the reference lines. IMPROVE references over all 398,786 IMPROVE filters with fAbs in the FED export (2003 to 2025): EC median 0.149, 95th percentile 0.635, PM2.5 median 3.45 µg/m³ (IMPROVE gravimetric mass, MF, on the same Teflon filter). Per filter, IMPROVE EC is 1 to 11% of PM2.5 for the middle 90% of filters. Per-filter panel: IMPROVE volume = flow × sampling time where the export has both (159,414 filters; median 21.2 L/min, 30.5 m³), giving EC median 3.9 µg, 95th percentile 17.1 µg, PM2.5 median 91 µg per filter; Addis volumes from the evaluation table (median 7.3 m³). Medians with IQR over the 188 of the 189 Addis filters used on every Addis slide that have a public BC value; SPARTAN public release v3.1.4 (Aug 2026). Kiremt is partly worse because the boundary layer is shallow (ERA5 median ~370-410 m vs 650-800 m in Dry). Season names: Dry is also called Bega. To do: per-filter comparison ignores any difference in deposit area between the two samplers; check before quoting areal loading (µg/cm²).</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problem. Point at the axes first. Along the bottom is EC from HIPS: HIPS measures how much light the filter absorbs, Fabs, and we turn that into EC by dividing by the mass absorption cross-section, MAC, which is how strongly one gram of EC absorbs light; we use 10 square metres per gram. Up the side is EC predicted from the FTIR spectrum with the current SPARTAN calibration. FTIR is infrared spectroscopy: infrared light goes through the filter and we record how much is absorbed at each wavenumber; that curve is the spectrum. A PLS model, partial least squares, a standard regression method for spectra, learns from a calibration set, here IMPROVE filters whose EC was measured in the lab by TOR, how to turn a spectrum into EC. Each point is one Addis filter. R² is 0.78, so the two measurements are clearly related. But the slope of 2.3 and the intercept of -6 µg/m³ are not physically sensible: a filter with no EC on it would be predicted at about -6. Lower-EC filters, mostly dry season, come out too low, and the high Kiremt filters too high. And it is not just the MAC: changing the MAC stretches the bottom axis, which changes the slope, not the intercept.</a:t>
            </a:r>
          </a:p>
          <a:p/>
          <a:p>
            <a:r>
              <a:t>NOTES: Deming regression, HIPS EC = Fabs / MAC 10 on x. SPARTAN filters have no thermal-optical (TOR) analysis, so HIPS is the independent reference at Addis. n 189. The current calibration uses spectra without baseline correction (slide 8). Colours are the three seasons from slide 2. MAC check (Deming with the HIPS error rescaled with the axis): MAC 6 gives 1.38x -6.09, MAC 14 gives 3.22x -6.09; the intercept does not move. (If the Deming error ratio is held fixed instead, the intercept drifts a little, -5.4 to -6.5, but stays strongly negative.)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IMPROVE. Point at the axes first: along the bottom is EC from TOR, thermal-optical reflectance, the standard lab method that heats a punch of a quartz-fibre filter and measures the carbon that comes off; up the side is EC predicted from the FTIR spectrum. IMPROVE collects a Teflon filter for FTIR and a quartz filter for TOR from the same air at the same time, which is why every FTIR EC calibration is built on IMPROVE. Here the calibration is built on IMPROVE filters and tested on filters from sites it never saw. On these 2,078 held-out filters, FTIR matches TOR well: slope 0.93, intercept close to zero, R² 0.73.</a:t>
            </a:r>
          </a:p>
          <a:p/>
          <a:p>
            <a:r>
              <a:t>NOTES: Why calibrate with IMPROVE? (likely question) IMPROVE's collocated FTIR + TOR quartz library is the only one that exists anywhere; there is no Addis or urban equivalent, and CSN (the US urban network) filters are different (bigger, thicker, lower flow), so they cannot simply be added. Baseline-corrected (spline, AIRSpec) spectra, all-IMPROVE calibration on lot 251, held-out sites. TOR vs HIPS on the same filters: 1.19x -0.02, R² 0.72. FTIR vs HIPS on the same filters: 0.88x +0.04, R² 0.47. Axis clipped at 1.2 µg/m³.</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Out of the held-out IMPROVE filters, we picked 97 from the IMPROVE spectra that most resemble Addis spectra (highest correlation across wavenumbers, excluding defined regions such as the CO₂ band), in red; grey is all held-out IMPROVE. Point at the axes first: both panels have HIPS EC along the bottom; up the side is TOR EC on the left and FTIR-predicted EC on the right. On the left, TOR and HIPS agree on them: slope 0.91, R² 0.82. On the right, FTIR EC against HIPS: slope 0.46 and R² 0.52. FTIR is too high at the low end and too low at the high end. Same calibration as the last slide; only the samples changed. So the Addis problem also shows up inside IMPROVE, for the IMPROVE filters whose spectra most resemble Addis spectra.</a:t>
            </a:r>
          </a:p>
          <a:p/>
          <a:p>
            <a:r>
              <a:t>NOTES: Analogs: the 500 IMPROVE filters whose spectra correlate best with the Addis median spectrum (Pearson correlation across wavenumbers, CO₂ region masked); 97 are from held-out sites (88 lot 251, 9 lot 248) and none trained the calibration. Against TOR instead of HIPS: 0.48x +0.12, R² 0.46. Self-prediction: IMPROVE predicts IMPROVE well (slide 4), and the analogs fit well when they are themselves the calibration set (CV R² 0.5-0.9); the failure is transfer.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Point at the axes first. Along the bottom is how much EC sits on one filter, in micrograms, on a log scale, so each labelled tick is ten times the one before. Up the side is the percent of filters at that loading; each network adds up to 100 percent, so the small Addis set and the large IMPROVE set can share one plot. Grey is the IMPROVE filters the calibration learned from, gold is Addis. The two humps barely overlap. The dashed lines are the medians: the typical Addis filter has about 9 times more EC on it. The dotted line is IMPROVE's 99th percentile, and 79 percent of Addis filters are to the right of it. The calibration has almost never seen filters like these.</a:t>
            </a:r>
          </a:p>
          <a:p/>
          <a:p>
            <a:r>
              <a:t>NOTES: Per filter = HIPS Fabs / MAC 10 × sampled volume, so both networks are on the same footing (IMPROVE ~33 m³ per filter at 22 L/min, SPARTAN ~7 m³ at 5 L/min). Addis: the same 189 filters as slides 3, 8 and 10. IMPROVE: the calibration pool (n 11,974), volume from the TOR record. Medians 3.9 and 34.1 µg, IMPROVE 99th percentile 28.7 µg. The 15 Oct version of this slide used a cumulative distribution (figures/f4_loading_per_filter.png, still built) that needed too much explaining.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site in both networks, ranked by its typical EC. Grey dots are the 213 IMPROVE sites; each coloured star is one of the 29 SPARTAN sites around the world. Addis, the big gold star, is at about 4.7 µg/m³, above every IMPROVE site, and most SPARTAN sites sit at the high end. So this is not only Addis: the IMPROVE calibration network barely covers the EC levels much of the world lives with.</a:t>
            </a:r>
          </a:p>
          <a:p/>
          <a:p>
            <a:r>
              <a:t>NOTES: EC from HIPS for both networks (IMPROVE fAbs / 10, SPARTAN 'BC PM2.5' = fAbs / 10), so no FTIR EC is used. SPARTAN BC values estimated from the HIPS-SSR curve (method 220) are left out; only HIPS measurements count. Site medians with IQR, log scale; every site, Addis included, uses all its public filters (Addis n 246), so the comparison is like for like across sites. IMPROVE sites with &gt;= 50 filters (FED export, 1988-2025); SPARTAN &gt;= 10 (public release v3.1.4). Addis is number 3 of 242 sites from the top; 17 SPARTAN sites are above the highest IMPROVE site (1.16 µg/m³). Concentration, not per-filter loading: per filter the SPARTAN values would be ~4.6x lower relative to IMPROVE. Table: figures/f5_ec_site_continuum.csv.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are we doing about it? The first thing we learned is that the spectra need baseline correction. A raw spectrum sits on a sloping, curved background from the filter material and from light scattering; baseline correction fits that background and subtracts it, so only the absorption bands of the particles are left. Point at the axes first: the same as slide 3, HIPS EC along the bottom and FTIR-predicted EC up the side. On the left is the current calibration, without baseline correction. On the right, the same Addis filters predicted by a calibration built on baseline-corrected IMPROVE spectra. The intercept moves from -6.1 to -1.2 µg/m³. The slope drops to 0.59, so FTIR now reads low at high EC: better, but not solved. As before, R² only says the two are related; the slope and intercept are what have to become physically sensible, and the MAC choice moves the slope, not the intercept.</a:t>
            </a:r>
          </a:p>
          <a:p/>
          <a:p>
            <a:r>
              <a:t>NOTES: Both panels: the same 189 Addis filters (those with a current SPARTAN FTIR EC value). Right: spline (AIRSpec) baseline, all-IMPROVE lot-251 calibration, R² 0.69; on all 233 filters it is 0.56x -1.08. The two calibrations differ in more than the baseline (training set and protocol too), so this is before/after for the approach, not a single-variable test. A second baseline method (VIBES) is being tested as well; it gives a more negative Addis intercept so far.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Next, we built a tool that runs and compares many calibrations. Here are 3,138 of them, all on baseline-corrected spectra, ordered by how far off their Addis intercept is, from worst on the left to best on the right. The top line is that intercept; the current calibration is the red dashed line. Underneath, each row shows which calibrations used a choice: first, which IMPROVE filters to calibrate with, for example filters with the lowest OC/EC, or the IMPROVE spectra that most resemble each Addis season's spectra; second, the calibration settings. 3,137 of the 3,138 do better than the current calibration, and 254 get the intercept within half a microgram of zero, though not always with a good slope. We have not found a calibration that gets Addis right yet, but this is how we are searching.</a:t>
            </a:r>
          </a:p>
          <a:p/>
          <a:p>
            <a:r>
              <a:t>NOTES: Spline baseline only (the VIBES baseline and no-baseline runs have their own versions of this plot). Deming intercept at MAC 10, median -1.4 µg/m³. Settings rows: cross-validation scheme, number of PLS factors and cohort size; name them if asked, but don't go into them. The explorer scores all 233 Addis filters with HIPS (its stored grid has no per-filter predictions to re-score), while slides 3, 8 and 10 use the 189 that also have a current SPARTAN value. From the gallery export gallery/app/public/data/meeting-r70/spec_curve_20260917.json (rank-70 run). Selection rows: 'Spectral analogs' = the IMPROVE spectra with the highest correlation to the Addis (or one season's) median spectrum across wavenumbers, excluding defined regions such as the CO₂ band; 'weighted distance' ranks by a distance that weights wavenumbers by their importance in the PLS model; 'Smoke filters nearest Addis in C-H/carbonyl bands' (called 'Ethiopia-shaped smoke' in the explorer) = IMPROVE smoke-affected filters ranked by how close three band heights (C-H, carbonyl, 1600 cm⁻¹ shoulder) are to the Addis median.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option we tried: a separate calibration for each Addis season, built from the IMPROVE spectra that most resemble that season's Addis spectra (highest correlation across wavenumbers, excluding defined regions). Axes as before: HIPS EC along the bottom, FTIR-predicted EC up the side. Grey points and the grey line are the single IMPROVE calibration from slide 8; coloured points and line are the season-specific one; the dotted line is 1:1. In Kiremt the slope improves from 0.50 to 0.94 and R² from 0.51 to 0.67. In the dry season it barely changes, and in Belg it gets worse. So seasonality matters, and it is one of the levers we are exploring.</a:t>
            </a:r>
          </a:p>
          <a:p/>
          <a:p>
            <a:r>
              <a:t>NOTES: Each season: 500 IMPROVE spectral analogs (correlation, spectral region 600-3600 cm⁻¹ without CO₂ and the Teflon band), spline baseline, site-grouped calibration. Dry 0.31x -0.17 -&gt; 0.35x -0.29; Belg 0.49x -0.78 -&gt; 0.32x +1.06; Kiremt 0.50x -0.48 -&gt; 0.94x -0.57. Putting the three seasonal predictions together gives 1.51x -4.59 overall, because each season lands at a different offset. Same 189 Addis filters as slides 3 and 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sum up. Addis has very high EC, and the calibrations built on IMPROVE do not predict it well, for Addis and for the IMPROVE filters whose spectra most resemble Addis. Addis filters are far heavier than what the calibration has seen. Baseline correction is a real improvement, season-specific calibrations help in one season, and we have a tool to test many more options. I would love your ideas on what to try next.</a:t>
            </a:r>
          </a:p>
          <a:p/>
          <a:p>
            <a:r>
              <a:t>NOTES: Open for discussion: VIBES baseline; the 14 Oct k-sweep (Addis intercept gets more negative with more PLS factors: spline -0.1 to -1.6, VIBES -0.3 to -7.0 µg/m³ at k 2 to 20); OC/fAbs by site (Addis lowest of the IMPROVE sites, a possible reason; not on a slide); boundary-layer normalisation; Chile sites after AAAR. From the 15 Oct practice talk (not run yet): EC-to-PM2.5 mass ratio as a calibration-set selection criterion; check TOR optical pyrolysis (OP) on fire-affected and Addis-like IMPROVE filters.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0"/>
            <a:ext cx="11155680" cy="822960"/>
          </a:xfrm>
          <a:prstGeom prst="rect">
            <a:avLst/>
          </a:prstGeom>
          <a:noFill/>
        </p:spPr>
        <p:txBody>
          <a:bodyPr wrap="square">
            <a:spAutoFit/>
          </a:bodyPr>
          <a:lstStyle/>
          <a:p>
            <a:pPr>
              <a:defRPr sz="2800" b="1">
                <a:solidFill>
                  <a:srgbClr val="22252A"/>
                </a:solidFill>
              </a:defRPr>
            </a:pPr>
            <a:r>
              <a:t>FTIR elemental carbon calibrated on IMPROVE filters transfers poorly to heavily loaded samples like those in Addis Ababa, and to similar samples within IMPROVE</a:t>
            </a:r>
          </a:p>
        </p:txBody>
      </p:sp>
      <p:sp>
        <p:nvSpPr>
          <p:cNvPr id="3" name="TextBox 2"/>
          <p:cNvSpPr txBox="1"/>
          <p:nvPr/>
        </p:nvSpPr>
        <p:spPr>
          <a:xfrm>
            <a:off x="502920" y="3886200"/>
            <a:ext cx="11155680" cy="2377440"/>
          </a:xfrm>
          <a:prstGeom prst="rect">
            <a:avLst/>
          </a:prstGeom>
          <a:noFill/>
        </p:spPr>
        <p:txBody>
          <a:bodyPr wrap="square">
            <a:spAutoFit/>
          </a:bodyPr>
          <a:lstStyle/>
          <a:p>
            <a:pPr>
              <a:spcAft>
                <a:spcPts val="800"/>
              </a:spcAft>
              <a:defRPr sz="1600" b="1">
                <a:solidFill>
                  <a:srgbClr val="22252A"/>
                </a:solidFill>
              </a:defRPr>
            </a:pPr>
            <a:r>
              <a:t>Ahmad Jalil¹,⁴, Sina Hasheminassab², Kyan Shlipak⁵,², Tesfaye Mamo Mekonnen³, Araya Asfaw³, Hossein Kazemian¹, Ann M. Dillner⁴</a:t>
            </a:r>
          </a:p>
          <a:p>
            <a:pPr>
              <a:defRPr sz="1200">
                <a:solidFill>
                  <a:srgbClr val="6E6B64"/>
                </a:solidFill>
              </a:defRPr>
            </a:pPr>
            <a:r>
              <a:t>¹ Materials Technology &amp; Environmental Research (MATTER) lab, University of Northern British Columbia, Prince George, BC, Canada</a:t>
            </a:r>
          </a:p>
          <a:p>
            <a:pPr>
              <a:defRPr sz="1200">
                <a:solidFill>
                  <a:srgbClr val="6E6B64"/>
                </a:solidFill>
              </a:defRPr>
            </a:pPr>
            <a:r>
              <a:t>² NASA Jet Propulsion Laboratory, Pasadena, CA, USA</a:t>
            </a:r>
          </a:p>
          <a:p>
            <a:pPr>
              <a:defRPr sz="1200">
                <a:solidFill>
                  <a:srgbClr val="6E6B64"/>
                </a:solidFill>
              </a:defRPr>
            </a:pPr>
            <a:r>
              <a:t>³ Addis Ababa University, Addis Ababa, Ethiopia</a:t>
            </a:r>
          </a:p>
          <a:p>
            <a:pPr>
              <a:defRPr sz="1200">
                <a:solidFill>
                  <a:srgbClr val="6E6B64"/>
                </a:solidFill>
              </a:defRPr>
            </a:pPr>
            <a:r>
              <a:t>⁴ University of California Davis, Air Quality Research Center, Davis, CA, USA</a:t>
            </a:r>
          </a:p>
          <a:p>
            <a:pPr>
              <a:defRPr sz="1200">
                <a:solidFill>
                  <a:srgbClr val="6E6B64"/>
                </a:solidFill>
              </a:defRPr>
            </a:pPr>
            <a:r>
              <a:t>⁵ Northwestern University, Evanston, IL, USA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Elemental carbon in Addis Ababa is very high in every season, about 32× the typical IMPROVE level</a:t>
            </a:r>
          </a:p>
        </p:txBody>
      </p:sp>
      <p:pic>
        <p:nvPicPr>
          <p:cNvPr id="3" name="Picture 2" descr="f2b_addis_ec_by_season.png"/>
          <p:cNvPicPr>
            <a:picLocks noChangeAspect="1"/>
          </p:cNvPicPr>
          <p:nvPr/>
        </p:nvPicPr>
        <p:blipFill>
          <a:blip r:embed="rId2"/>
          <a:stretch>
            <a:fillRect/>
          </a:stretch>
        </p:blipFill>
        <p:spPr>
          <a:xfrm>
            <a:off x="518007" y="1143000"/>
            <a:ext cx="11155680" cy="479192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In Addis Ababa, current SPARTAN FTIR EC is well correlated with HIPS EC but on the wrong scale</a:t>
            </a:r>
          </a:p>
        </p:txBody>
      </p:sp>
      <p:pic>
        <p:nvPicPr>
          <p:cNvPr id="3" name="Picture 2" descr="f1_addis_problem.png"/>
          <p:cNvPicPr>
            <a:picLocks noChangeAspect="1"/>
          </p:cNvPicPr>
          <p:nvPr/>
        </p:nvPicPr>
        <p:blipFill>
          <a:blip r:embed="rId2"/>
          <a:stretch>
            <a:fillRect/>
          </a:stretch>
        </p:blipFill>
        <p:spPr>
          <a:xfrm>
            <a:off x="2849189" y="1143000"/>
            <a:ext cx="6493315" cy="5486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On typical IMPROVE filters, the same FTIR method predicts EC well</a:t>
            </a:r>
          </a:p>
        </p:txBody>
      </p:sp>
      <p:pic>
        <p:nvPicPr>
          <p:cNvPr id="3" name="Picture 2" descr="f2_improve_heldout.png"/>
          <p:cNvPicPr>
            <a:picLocks noChangeAspect="1"/>
          </p:cNvPicPr>
          <p:nvPr/>
        </p:nvPicPr>
        <p:blipFill>
          <a:blip r:embed="rId2"/>
          <a:stretch>
            <a:fillRect/>
          </a:stretch>
        </p:blipFill>
        <p:spPr>
          <a:xfrm>
            <a:off x="2910508" y="1143000"/>
            <a:ext cx="6370678" cy="5486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Current calibrations poorly predict IMPROVE FTIR EC for spectra similar to Addis Ababa spectra</a:t>
            </a:r>
          </a:p>
        </p:txBody>
      </p:sp>
      <p:pic>
        <p:nvPicPr>
          <p:cNvPr id="3" name="Picture 2" descr="f3_addis_like_improve.png"/>
          <p:cNvPicPr>
            <a:picLocks noChangeAspect="1"/>
          </p:cNvPicPr>
          <p:nvPr/>
        </p:nvPicPr>
        <p:blipFill>
          <a:blip r:embed="rId2"/>
          <a:stretch>
            <a:fillRect/>
          </a:stretch>
        </p:blipFill>
        <p:spPr>
          <a:xfrm>
            <a:off x="518007" y="1143000"/>
            <a:ext cx="11155680" cy="50180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filters carry about 9 times more EC per filter than a typical IMPROVE filter</a:t>
            </a:r>
          </a:p>
        </p:txBody>
      </p:sp>
      <p:pic>
        <p:nvPicPr>
          <p:cNvPr id="3" name="Picture 2" descr="f4b_loading_per_filter_hist.png"/>
          <p:cNvPicPr>
            <a:picLocks noChangeAspect="1"/>
          </p:cNvPicPr>
          <p:nvPr/>
        </p:nvPicPr>
        <p:blipFill>
          <a:blip r:embed="rId2"/>
          <a:stretch>
            <a:fillRect/>
          </a:stretch>
        </p:blipFill>
        <p:spPr>
          <a:xfrm>
            <a:off x="518007" y="1143000"/>
            <a:ext cx="11155680" cy="539459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Ababa EC is higher than at any IMPROVE site, and 28 of 29 SPARTAN sites sit above the typical IMPROVE site</a:t>
            </a:r>
          </a:p>
        </p:txBody>
      </p:sp>
      <p:pic>
        <p:nvPicPr>
          <p:cNvPr id="3" name="Picture 2" descr="f5_ec_site_continuum.png"/>
          <p:cNvPicPr>
            <a:picLocks noChangeAspect="1"/>
          </p:cNvPicPr>
          <p:nvPr/>
        </p:nvPicPr>
        <p:blipFill>
          <a:blip r:embed="rId2"/>
          <a:stretch>
            <a:fillRect/>
          </a:stretch>
        </p:blipFill>
        <p:spPr>
          <a:xfrm>
            <a:off x="579532" y="1143000"/>
            <a:ext cx="11032629" cy="54864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Baseline-correcting the spectra shrinks the Addis intercept from -6.1 to -1.2 µg/m³</a:t>
            </a:r>
          </a:p>
        </p:txBody>
      </p:sp>
      <p:pic>
        <p:nvPicPr>
          <p:cNvPr id="3" name="Picture 2" descr="f6_baseline_before_after.png"/>
          <p:cNvPicPr>
            <a:picLocks noChangeAspect="1"/>
          </p:cNvPicPr>
          <p:nvPr/>
        </p:nvPicPr>
        <p:blipFill>
          <a:blip r:embed="rId2"/>
          <a:stretch>
            <a:fillRect/>
          </a:stretch>
        </p:blipFill>
        <p:spPr>
          <a:xfrm>
            <a:off x="518007" y="1143000"/>
            <a:ext cx="11155680" cy="511664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 calibration explorer lets us evaluate thousands of calibrations to improve EC predictions</a:t>
            </a:r>
          </a:p>
        </p:txBody>
      </p:sp>
      <p:pic>
        <p:nvPicPr>
          <p:cNvPr id="3" name="Picture 2" descr="f7_calibration_explorer.png"/>
          <p:cNvPicPr>
            <a:picLocks noChangeAspect="1"/>
          </p:cNvPicPr>
          <p:nvPr/>
        </p:nvPicPr>
        <p:blipFill>
          <a:blip r:embed="rId2"/>
          <a:stretch>
            <a:fillRect/>
          </a:stretch>
        </p:blipFill>
        <p:spPr>
          <a:xfrm>
            <a:off x="518007" y="1143000"/>
            <a:ext cx="11155680" cy="448727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Season-specific calibrations help in Kiremt, but not yet in the Dry or Belg seasons</a:t>
            </a:r>
          </a:p>
        </p:txBody>
      </p:sp>
      <p:pic>
        <p:nvPicPr>
          <p:cNvPr id="3" name="Picture 2" descr="f8_seasonal_calibrations.png"/>
          <p:cNvPicPr>
            <a:picLocks noChangeAspect="1"/>
          </p:cNvPicPr>
          <p:nvPr/>
        </p:nvPicPr>
        <p:blipFill>
          <a:blip r:embed="rId2"/>
          <a:stretch>
            <a:fillRect/>
          </a:stretch>
        </p:blipFill>
        <p:spPr>
          <a:xfrm>
            <a:off x="518007" y="1143000"/>
            <a:ext cx="11155680" cy="41338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Conclusions</a:t>
            </a:r>
          </a:p>
        </p:txBody>
      </p:sp>
      <p:sp>
        <p:nvSpPr>
          <p:cNvPr id="3" name="TextBox 2"/>
          <p:cNvSpPr txBox="1"/>
          <p:nvPr/>
        </p:nvSpPr>
        <p:spPr>
          <a:xfrm>
            <a:off x="822960" y="1554480"/>
            <a:ext cx="10515600" cy="4572000"/>
          </a:xfrm>
          <a:prstGeom prst="rect">
            <a:avLst/>
          </a:prstGeom>
          <a:noFill/>
        </p:spPr>
        <p:txBody>
          <a:bodyPr wrap="square">
            <a:spAutoFit/>
          </a:bodyPr>
          <a:lstStyle/>
          <a:p>
            <a:pPr>
              <a:spcAft>
                <a:spcPts val="1400"/>
              </a:spcAft>
              <a:defRPr sz="1600">
                <a:solidFill>
                  <a:srgbClr val="22252A"/>
                </a:solidFill>
              </a:defRPr>
            </a:pPr>
            <a:r>
              <a:t>EC in Addis Ababa is very high, about 32× typical IMPROVE, and highest in the Kiremt rainy season.</a:t>
            </a:r>
          </a:p>
          <a:p>
            <a:pPr>
              <a:spcAft>
                <a:spcPts val="1400"/>
              </a:spcAft>
              <a:defRPr sz="1600">
                <a:solidFill>
                  <a:srgbClr val="22252A"/>
                </a:solidFill>
              </a:defRPr>
            </a:pPr>
            <a:r>
              <a:t>Current FTIR calibrations poorly predict Addis EC, and also the IMPROVE filters whose spectra most resemble Addis.</a:t>
            </a:r>
          </a:p>
          <a:p>
            <a:pPr>
              <a:spcAft>
                <a:spcPts val="1400"/>
              </a:spcAft>
              <a:defRPr sz="1600">
                <a:solidFill>
                  <a:srgbClr val="22252A"/>
                </a:solidFill>
              </a:defRPr>
            </a:pPr>
            <a:r>
              <a:t>Addis filters carry ~9× more EC than typical IMPROVE filters; most SPARTAN sites are also beyond IMPROVE.</a:t>
            </a:r>
          </a:p>
          <a:p>
            <a:pPr>
              <a:spcAft>
                <a:spcPts val="1400"/>
              </a:spcAft>
              <a:defRPr sz="1600">
                <a:solidFill>
                  <a:srgbClr val="22252A"/>
                </a:solidFill>
              </a:defRPr>
            </a:pPr>
            <a:r>
              <a:t>Baseline correction helps: the Addis intercept goes from -6.1 to -1.2 µg/m³.</a:t>
            </a:r>
          </a:p>
          <a:p>
            <a:pPr>
              <a:spcAft>
                <a:spcPts val="1400"/>
              </a:spcAft>
              <a:defRPr sz="1600">
                <a:solidFill>
                  <a:srgbClr val="22252A"/>
                </a:solidFill>
              </a:defRPr>
            </a:pPr>
            <a:r>
              <a:t>Season-specific calibrations help in Kiremt; a calibration explorer is helping us search for better 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