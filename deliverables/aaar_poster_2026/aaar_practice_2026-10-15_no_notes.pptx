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52A"/>
                </a:solidFill>
              </a:defRPr>
            </a:pPr>
            <a:r>
              <a:t>FTIR elemental carbon calibrated on IMPROVE filters transfers poorly to heavily loaded samples like those in Addis Ababa, and to similar samples within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862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2252A"/>
                </a:solidFill>
              </a:defRPr>
            </a:pPr>
            <a:r>
              <a:t>Ahmad Jalil¹,⁴, Sina Hasheminassab², Kyan Shlipak⁵,², Tesfaye Mamo Mekonnen³, Araya Asfaw³, Hossein Kazemian¹, Ann M. Dillner⁴</a:t>
            </a:r>
          </a:p>
          <a:p>
            <a:pPr>
              <a:defRPr sz="1200">
                <a:solidFill>
                  <a:srgbClr val="6E6B64"/>
                </a:solidFill>
              </a:defRPr>
            </a:pPr>
            <a:r>
              <a:t>¹ Materials Technology &amp; Environmental Research (MATTER) lab, University of Northern British Columbia, Prince George, BC, Canada</a:t>
            </a:r>
          </a:p>
          <a:p>
            <a:pPr>
              <a:defRPr sz="1200">
                <a:solidFill>
                  <a:srgbClr val="6E6B64"/>
                </a:solidFill>
              </a:defRPr>
            </a:pPr>
            <a:r>
              <a:t>² NASA Jet Propulsion Laboratory, Pasadena, CA, USA</a:t>
            </a:r>
          </a:p>
          <a:p>
            <a:pPr>
              <a:defRPr sz="1200">
                <a:solidFill>
                  <a:srgbClr val="6E6B64"/>
                </a:solidFill>
              </a:defRPr>
            </a:pPr>
            <a:r>
              <a:t>³ Addis Ababa University, Addis Ababa, Ethiopia</a:t>
            </a:r>
          </a:p>
          <a:p>
            <a:pPr>
              <a:defRPr sz="1200">
                <a:solidFill>
                  <a:srgbClr val="6E6B64"/>
                </a:solidFill>
              </a:defRPr>
            </a:pPr>
            <a:r>
              <a:t>⁴ University of California Davis, Air Quality Research Center, Davis, CA, USA</a:t>
            </a:r>
          </a:p>
          <a:p>
            <a:pPr>
              <a:defRPr sz="1200">
                <a:solidFill>
                  <a:srgbClr val="6E6B64"/>
                </a:solidFill>
              </a:defRPr>
            </a:pPr>
            <a:r>
              <a:t>⁵ Northwestern University, Evanston, IL, 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Elemental carbon in Addis Ababa is very high in every season, about 32× the typical IMPROVE level</a:t>
            </a:r>
          </a:p>
        </p:txBody>
      </p:sp>
      <p:pic>
        <p:nvPicPr>
          <p:cNvPr id="3" name="Picture 2" descr="f2b_addis_ec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479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In Addis Ababa, current SPARTAN FTIR EC is well correlated with HIPS EC but on the wrong scale</a:t>
            </a:r>
          </a:p>
        </p:txBody>
      </p:sp>
      <p:pic>
        <p:nvPicPr>
          <p:cNvPr id="3" name="Picture 2" descr="f1_addis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189" y="1143000"/>
            <a:ext cx="649331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On typical IMPROVE filters, the same FTIR method predicts EC well</a:t>
            </a:r>
          </a:p>
        </p:txBody>
      </p:sp>
      <p:pic>
        <p:nvPicPr>
          <p:cNvPr id="3" name="Picture 2" descr="f2_improve_he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08" y="1143000"/>
            <a:ext cx="637067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Current calibrations poorly predict IMPROVE FTIR EC for spectra similar to Addis Ababa spectra</a:t>
            </a:r>
          </a:p>
        </p:txBody>
      </p:sp>
      <p:pic>
        <p:nvPicPr>
          <p:cNvPr id="3" name="Picture 2" descr="f3_addis_like_im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5018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filters carry about 9 times more EC per filter than a typical IMPROVE filter</a:t>
            </a:r>
          </a:p>
        </p:txBody>
      </p:sp>
      <p:pic>
        <p:nvPicPr>
          <p:cNvPr id="3" name="Picture 2" descr="f4b_loading_per_filter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5394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Addis Ababa EC is higher than at any IMPROVE site, and 28 of 29 SPARTAN sites sit above the typical IMPROVE site</a:t>
            </a:r>
          </a:p>
        </p:txBody>
      </p:sp>
      <p:pic>
        <p:nvPicPr>
          <p:cNvPr id="3" name="Picture 2" descr="f5_ec_site_continu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32" y="1143000"/>
            <a:ext cx="1103262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Baseline-correcting the spectra shrinks the Addis intercept from -6.1 to -1.2 µg/m³</a:t>
            </a:r>
          </a:p>
        </p:txBody>
      </p:sp>
      <p:pic>
        <p:nvPicPr>
          <p:cNvPr id="3" name="Picture 2" descr="f6_baselin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5116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 calibration explorer lets us evaluate thousands of calibrations to improve EC predictions</a:t>
            </a:r>
          </a:p>
        </p:txBody>
      </p:sp>
      <p:pic>
        <p:nvPicPr>
          <p:cNvPr id="3" name="Picture 2" descr="f7_calibration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4487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Season-specific calibrations help in Kiremt, but not yet in the Dry or Belg seasons</a:t>
            </a:r>
          </a:p>
        </p:txBody>
      </p:sp>
      <p:pic>
        <p:nvPicPr>
          <p:cNvPr id="3" name="Picture 2" descr="f8_seasonal_calib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80" cy="4133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2252A"/>
                </a:solidFill>
              </a:defRPr>
            </a:pPr>
            <a:r>
              <a:t>EC in Addis Ababa is very high, about 32× typical IMPROVE, and highest in the Kiremt rainy season.</a:t>
            </a:r>
          </a:p>
          <a:p>
            <a:pPr>
              <a:spcAft>
                <a:spcPts val="1400"/>
              </a:spcAft>
              <a:defRPr sz="1600">
                <a:solidFill>
                  <a:srgbClr val="22252A"/>
                </a:solidFill>
              </a:defRPr>
            </a:pPr>
            <a:r>
              <a:t>Current FTIR calibrations poorly predict Addis EC, and also the IMPROVE filters whose spectra most resemble Addis.</a:t>
            </a:r>
          </a:p>
          <a:p>
            <a:pPr>
              <a:spcAft>
                <a:spcPts val="1400"/>
              </a:spcAft>
              <a:defRPr sz="1600">
                <a:solidFill>
                  <a:srgbClr val="22252A"/>
                </a:solidFill>
              </a:defRPr>
            </a:pPr>
            <a:r>
              <a:t>Addis filters carry ~9× more EC than typical IMPROVE filters; most SPARTAN sites are also beyond IMPROVE.</a:t>
            </a:r>
          </a:p>
          <a:p>
            <a:pPr>
              <a:spcAft>
                <a:spcPts val="1400"/>
              </a:spcAft>
              <a:defRPr sz="1600">
                <a:solidFill>
                  <a:srgbClr val="22252A"/>
                </a:solidFill>
              </a:defRPr>
            </a:pPr>
            <a:r>
              <a:t>Baseline correction helps: the Addis intercept goes from -6.1 to -1.2 µg/m³.</a:t>
            </a:r>
          </a:p>
          <a:p>
            <a:pPr>
              <a:spcAft>
                <a:spcPts val="1400"/>
              </a:spcAft>
              <a:defRPr sz="1600">
                <a:solidFill>
                  <a:srgbClr val="22252A"/>
                </a:solidFill>
              </a:defRPr>
            </a:pPr>
            <a:r>
              <a:t>Season-specific calibrations help in Kiremt; a calibration explorer is helping us search for better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