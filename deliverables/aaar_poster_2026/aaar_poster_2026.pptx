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0233600" cy="4114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0233600" cy="41148000"/>
          </a:xfrm>
          <a:prstGeom prst="rect">
            <a:avLst/>
          </a:prstGeom>
          <a:solidFill>
            <a:srgbClr val="E4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457200"/>
            <a:ext cx="38679120" cy="5577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24160" y="685800"/>
            <a:ext cx="19385280" cy="1737360"/>
          </a:xfrm>
          <a:prstGeom prst="rect">
            <a:avLst/>
          </a:prstGeom>
          <a:noFill/>
        </p:spPr>
        <p:txBody>
          <a:bodyPr wrap="square" tIns="27432" bIns="27432">
            <a:spAutoFit/>
          </a:bodyPr>
          <a:lstStyle/>
          <a:p>
            <a:pPr algn="ctr">
              <a:spcAft>
                <a:spcPts val="0"/>
              </a:spcAft>
            </a:pPr>
            <a:r>
              <a:rPr sz="5400" b="1" i="0">
                <a:solidFill>
                  <a:srgbClr val="1B365D"/>
                </a:solidFill>
                <a:latin typeface="Calibri"/>
              </a:rPr>
              <a:t>Challenges of using rural U.S. IMPROVE FTIR elemental carbon (EC) measurements to calibrate FTIR EC in Addis Ababa, Ethiopia</a:t>
            </a:r>
          </a:p>
        </p:txBody>
      </p:sp>
      <p:sp>
        <p:nvSpPr>
          <p:cNvPr id="5" name="TextBox 4"/>
          <p:cNvSpPr txBox="1"/>
          <p:nvPr/>
        </p:nvSpPr>
        <p:spPr>
          <a:xfrm>
            <a:off x="10424160" y="2697480"/>
            <a:ext cx="19385280" cy="1097280"/>
          </a:xfrm>
          <a:prstGeom prst="rect">
            <a:avLst/>
          </a:prstGeom>
          <a:noFill/>
        </p:spPr>
        <p:txBody>
          <a:bodyPr wrap="square" tIns="27432" bIns="27432">
            <a:spAutoFit/>
          </a:bodyPr>
          <a:lstStyle/>
          <a:p>
            <a:pPr algn="ctr">
              <a:spcAft>
                <a:spcPts val="0"/>
              </a:spcAft>
            </a:pPr>
            <a:r>
              <a:rPr sz="3200" b="0" i="0">
                <a:solidFill>
                  <a:srgbClr val="22252A"/>
                </a:solidFill>
                <a:latin typeface="Calibri"/>
              </a:rPr>
              <a:t>Ahmad Jalil¹˒⁴, Sina Hasheminassab², Kyan Shlipak⁵˒², Tesfaye Mamo Mekonnen³, Araya Asfaw³, Hossein Kazemian¹, Ann M. Dillner⁴</a:t>
            </a:r>
          </a:p>
        </p:txBody>
      </p:sp>
      <p:sp>
        <p:nvSpPr>
          <p:cNvPr id="6" name="TextBox 5"/>
          <p:cNvSpPr txBox="1"/>
          <p:nvPr/>
        </p:nvSpPr>
        <p:spPr>
          <a:xfrm>
            <a:off x="10424160" y="3886200"/>
            <a:ext cx="19385280" cy="1188720"/>
          </a:xfrm>
          <a:prstGeom prst="rect">
            <a:avLst/>
          </a:prstGeom>
          <a:noFill/>
        </p:spPr>
        <p:txBody>
          <a:bodyPr wrap="square" tIns="27432" bIns="27432">
            <a:spAutoFit/>
          </a:bodyPr>
          <a:lstStyle/>
          <a:p>
            <a:pPr algn="ctr">
              <a:spcAft>
                <a:spcPts val="0"/>
              </a:spcAft>
            </a:pPr>
            <a:r>
              <a:rPr sz="2100" b="0" i="0">
                <a:solidFill>
                  <a:srgbClr val="55585E"/>
                </a:solidFill>
                <a:latin typeface="Calibri"/>
              </a:rPr>
              <a:t>¹ MATTER lab, University of Northern British Columbia, Prince George, BC, Canada · ² NASA Jet Propulsion Laboratory, Pasadena, CA, USA · ³ Addis Ababa University, Addis Ababa, Ethiopia · ⁴ Air Quality Research Center, University of California Davis, Davis, CA, USA · ⁵ Northwestern University, Evanston, IL, USA</a:t>
            </a:r>
          </a:p>
        </p:txBody>
      </p:sp>
      <p:pic>
        <p:nvPicPr>
          <p:cNvPr id="7" name="Picture 6" descr="unbc.png"/>
          <p:cNvPicPr>
            <a:picLocks noChangeAspect="1"/>
          </p:cNvPicPr>
          <p:nvPr/>
        </p:nvPicPr>
        <p:blipFill>
          <a:blip r:embed="rId2"/>
          <a:stretch>
            <a:fillRect/>
          </a:stretch>
        </p:blipFill>
        <p:spPr>
          <a:xfrm>
            <a:off x="1371600" y="1097280"/>
            <a:ext cx="8595360" cy="1481631"/>
          </a:xfrm>
          <a:prstGeom prst="rect">
            <a:avLst/>
          </a:prstGeom>
        </p:spPr>
      </p:pic>
      <p:pic>
        <p:nvPicPr>
          <p:cNvPr id="8" name="Picture 7" descr="ucdavis_aqrc.png"/>
          <p:cNvPicPr>
            <a:picLocks noChangeAspect="1"/>
          </p:cNvPicPr>
          <p:nvPr/>
        </p:nvPicPr>
        <p:blipFill>
          <a:blip r:embed="rId3"/>
          <a:stretch>
            <a:fillRect/>
          </a:stretch>
        </p:blipFill>
        <p:spPr>
          <a:xfrm>
            <a:off x="1371600" y="3291840"/>
            <a:ext cx="8595360" cy="1460749"/>
          </a:xfrm>
          <a:prstGeom prst="rect">
            <a:avLst/>
          </a:prstGeom>
        </p:spPr>
      </p:pic>
      <p:pic>
        <p:nvPicPr>
          <p:cNvPr id="9" name="Picture 8" descr="nasa_jpl.png"/>
          <p:cNvPicPr>
            <a:picLocks noChangeAspect="1"/>
          </p:cNvPicPr>
          <p:nvPr/>
        </p:nvPicPr>
        <p:blipFill>
          <a:blip r:embed="rId4"/>
          <a:stretch>
            <a:fillRect/>
          </a:stretch>
        </p:blipFill>
        <p:spPr>
          <a:xfrm>
            <a:off x="30175200" y="1490472"/>
            <a:ext cx="6035040" cy="1136644"/>
          </a:xfrm>
          <a:prstGeom prst="rect">
            <a:avLst/>
          </a:prstGeom>
        </p:spPr>
      </p:pic>
      <p:pic>
        <p:nvPicPr>
          <p:cNvPr id="10" name="Picture 9" descr="maia.png"/>
          <p:cNvPicPr>
            <a:picLocks noChangeAspect="1"/>
          </p:cNvPicPr>
          <p:nvPr/>
        </p:nvPicPr>
        <p:blipFill>
          <a:blip r:embed="rId5"/>
          <a:stretch>
            <a:fillRect/>
          </a:stretch>
        </p:blipFill>
        <p:spPr>
          <a:xfrm>
            <a:off x="36530280" y="731520"/>
            <a:ext cx="2651760" cy="2651760"/>
          </a:xfrm>
          <a:prstGeom prst="rect">
            <a:avLst/>
          </a:prstGeom>
        </p:spPr>
      </p:pic>
      <p:pic>
        <p:nvPicPr>
          <p:cNvPr id="11" name="Picture 10" descr="spartan_cyan.png"/>
          <p:cNvPicPr>
            <a:picLocks noChangeAspect="1"/>
          </p:cNvPicPr>
          <p:nvPr/>
        </p:nvPicPr>
        <p:blipFill>
          <a:blip r:embed="rId6"/>
          <a:stretch>
            <a:fillRect/>
          </a:stretch>
        </p:blipFill>
        <p:spPr>
          <a:xfrm>
            <a:off x="31272480" y="3611880"/>
            <a:ext cx="6766560" cy="1583119"/>
          </a:xfrm>
          <a:prstGeom prst="rect">
            <a:avLst/>
          </a:prstGeom>
        </p:spPr>
      </p:pic>
      <p:sp>
        <p:nvSpPr>
          <p:cNvPr id="12" name="Rectangle 11"/>
          <p:cNvSpPr/>
          <p:nvPr/>
        </p:nvSpPr>
        <p:spPr>
          <a:xfrm>
            <a:off x="777240" y="6446520"/>
            <a:ext cx="12527280" cy="34061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853159" y="6446520"/>
            <a:ext cx="12527280" cy="34061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929080" y="6446520"/>
            <a:ext cx="12527280" cy="34061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6446520"/>
            <a:ext cx="12527280" cy="77724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3800" b="1" i="0">
                <a:solidFill>
                  <a:srgbClr val="FFFFFF"/>
                </a:solidFill>
                <a:latin typeface="Calibri"/>
              </a:rPr>
              <a:t>Why elemental carbon in Addis Ababa?</a:t>
            </a:r>
          </a:p>
        </p:txBody>
      </p:sp>
      <p:sp>
        <p:nvSpPr>
          <p:cNvPr id="16" name="TextBox 15"/>
          <p:cNvSpPr txBox="1"/>
          <p:nvPr/>
        </p:nvSpPr>
        <p:spPr>
          <a:xfrm>
            <a:off x="1051560" y="7406640"/>
            <a:ext cx="11978640" cy="6306820"/>
          </a:xfrm>
          <a:prstGeom prst="rect">
            <a:avLst/>
          </a:prstGeom>
          <a:noFill/>
        </p:spPr>
        <p:txBody>
          <a:bodyPr wrap="square" tIns="27432" bIns="27432">
            <a:spAutoFit/>
          </a:bodyPr>
          <a:lstStyle/>
          <a:p>
            <a:pPr algn="l" marL="384048" indent="-384048">
              <a:spcAft>
                <a:spcPts val="979"/>
              </a:spcAft>
              <a:buChar char="•"/>
            </a:pPr>
            <a:r>
              <a:rPr sz="2800" b="1" i="0">
                <a:solidFill>
                  <a:srgbClr val="22252A"/>
                </a:solidFill>
                <a:latin typeface="Calibri"/>
              </a:rPr>
              <a:t>Elemental carbon (EC)</a:t>
            </a:r>
            <a:r>
              <a:rPr sz="2800" b="0" i="0">
                <a:solidFill>
                  <a:srgbClr val="22252A"/>
                </a:solidFill>
                <a:latin typeface="Calibri"/>
              </a:rPr>
              <a:t> is the black, soot-like carbon from burning. It warms the climate and harms health.</a:t>
            </a:r>
          </a:p>
          <a:p>
            <a:pPr algn="l" marL="384048" indent="-384048">
              <a:spcAft>
                <a:spcPts val="979"/>
              </a:spcAft>
              <a:buChar char="•"/>
            </a:pPr>
            <a:r>
              <a:rPr sz="2800" b="1" i="0">
                <a:solidFill>
                  <a:srgbClr val="22252A"/>
                </a:solidFill>
                <a:latin typeface="Calibri"/>
              </a:rPr>
              <a:t>SPARTAN</a:t>
            </a:r>
            <a:r>
              <a:rPr sz="2800" b="0" i="0">
                <a:solidFill>
                  <a:srgbClr val="22252A"/>
                </a:solidFill>
                <a:latin typeface="Calibri"/>
              </a:rPr>
              <a:t> (Surface PARTiculate mAtter Network, www.spartan-network.org, Fig 1) samples particles onto filters in cities around the world, mostly in the Global South. It measures EC by </a:t>
            </a:r>
            <a:r>
              <a:rPr sz="2800" b="1" i="0">
                <a:solidFill>
                  <a:srgbClr val="22252A"/>
                </a:solidFill>
                <a:latin typeface="Calibri"/>
              </a:rPr>
              <a:t>FTIR</a:t>
            </a:r>
            <a:r>
              <a:rPr sz="2800" b="0" i="0">
                <a:solidFill>
                  <a:srgbClr val="22252A"/>
                </a:solidFill>
                <a:latin typeface="Calibri"/>
              </a:rPr>
              <a:t> (below).</a:t>
            </a:r>
          </a:p>
          <a:p>
            <a:pPr algn="l" marL="384048" indent="-384048">
              <a:spcAft>
                <a:spcPts val="979"/>
              </a:spcAft>
              <a:buChar char="•"/>
            </a:pPr>
            <a:r>
              <a:rPr sz="2800" b="0" i="0">
                <a:solidFill>
                  <a:srgbClr val="22252A"/>
                </a:solidFill>
                <a:latin typeface="Calibri"/>
              </a:rPr>
              <a:t>FTIR EC compares well to absorption measurements (Fabs) at most SPARTAN sites, but not in Addis Ababa.</a:t>
            </a:r>
          </a:p>
          <a:p>
            <a:pPr algn="l" marL="384048" indent="-384048">
              <a:spcAft>
                <a:spcPts val="979"/>
              </a:spcAft>
              <a:buChar char="•"/>
            </a:pPr>
            <a:r>
              <a:rPr sz="2800" b="1" i="0">
                <a:solidFill>
                  <a:srgbClr val="22252A"/>
                </a:solidFill>
                <a:latin typeface="Calibri"/>
              </a:rPr>
              <a:t>Addis Ababa</a:t>
            </a:r>
            <a:r>
              <a:rPr sz="2800" b="0" i="0">
                <a:solidFill>
                  <a:srgbClr val="22252A"/>
                </a:solidFill>
                <a:latin typeface="Calibri"/>
              </a:rPr>
              <a:t>, capital of Ethiopia (about 2,400 m elevation, about 5 million people), has some of the highest EC in SPARTAN. Households cook and heat with wood and charcoal.</a:t>
            </a:r>
          </a:p>
          <a:p>
            <a:pPr algn="l" marL="384048" indent="-384048">
              <a:spcAft>
                <a:spcPts val="979"/>
              </a:spcAft>
              <a:buChar char="•"/>
            </a:pPr>
            <a:r>
              <a:rPr sz="2800" b="0" i="0">
                <a:solidFill>
                  <a:srgbClr val="22252A"/>
                </a:solidFill>
                <a:latin typeface="Calibri"/>
              </a:rPr>
              <a:t>We use 189 Addis filters (Dec 2022 to Sep 2024) across three seasons: </a:t>
            </a:r>
            <a:r>
              <a:rPr sz="2800" b="1" i="0">
                <a:solidFill>
                  <a:srgbClr val="22252A"/>
                </a:solidFill>
                <a:latin typeface="Calibri"/>
              </a:rPr>
              <a:t>Dry</a:t>
            </a:r>
            <a:r>
              <a:rPr sz="2800" b="0" i="0">
                <a:solidFill>
                  <a:srgbClr val="22252A"/>
                </a:solidFill>
                <a:latin typeface="Calibri"/>
              </a:rPr>
              <a:t> (Bega, Oct to Feb), </a:t>
            </a:r>
            <a:r>
              <a:rPr sz="2800" b="1" i="0">
                <a:solidFill>
                  <a:srgbClr val="22252A"/>
                </a:solidFill>
                <a:latin typeface="Calibri"/>
              </a:rPr>
              <a:t>Belg</a:t>
            </a:r>
            <a:r>
              <a:rPr sz="2800" b="0" i="0">
                <a:solidFill>
                  <a:srgbClr val="22252A"/>
                </a:solidFill>
                <a:latin typeface="Calibri"/>
              </a:rPr>
              <a:t> short rains (Mar to May) and </a:t>
            </a:r>
            <a:r>
              <a:rPr sz="2800" b="1" i="0">
                <a:solidFill>
                  <a:srgbClr val="22252A"/>
                </a:solidFill>
                <a:latin typeface="Calibri"/>
              </a:rPr>
              <a:t>Kiremt</a:t>
            </a:r>
            <a:r>
              <a:rPr sz="2800" b="0" i="0">
                <a:solidFill>
                  <a:srgbClr val="22252A"/>
                </a:solidFill>
                <a:latin typeface="Calibri"/>
              </a:rPr>
              <a:t> long rains (Jun to Sep).</a:t>
            </a:r>
          </a:p>
        </p:txBody>
      </p:sp>
      <p:pic>
        <p:nvPicPr>
          <p:cNvPr id="17" name="Picture 16" descr="f0_network_map.png"/>
          <p:cNvPicPr>
            <a:picLocks noChangeAspect="1"/>
          </p:cNvPicPr>
          <p:nvPr/>
        </p:nvPicPr>
        <p:blipFill>
          <a:blip r:embed="rId7"/>
          <a:stretch>
            <a:fillRect/>
          </a:stretch>
        </p:blipFill>
        <p:spPr>
          <a:xfrm>
            <a:off x="2971800" y="13713460"/>
            <a:ext cx="8138159" cy="3786386"/>
          </a:xfrm>
          <a:prstGeom prst="rect">
            <a:avLst/>
          </a:prstGeom>
        </p:spPr>
      </p:pic>
      <p:sp>
        <p:nvSpPr>
          <p:cNvPr id="18" name="TextBox 17"/>
          <p:cNvSpPr txBox="1"/>
          <p:nvPr/>
        </p:nvSpPr>
        <p:spPr>
          <a:xfrm>
            <a:off x="1051560" y="17545566"/>
            <a:ext cx="11978640" cy="896620"/>
          </a:xfrm>
          <a:prstGeom prst="rect">
            <a:avLst/>
          </a:prstGeom>
          <a:noFill/>
        </p:spPr>
        <p:txBody>
          <a:bodyPr wrap="square" tIns="27432" bIns="27432">
            <a:spAutoFit/>
          </a:bodyPr>
          <a:lstStyle/>
          <a:p>
            <a:pPr algn="l">
              <a:spcAft>
                <a:spcPts val="460"/>
              </a:spcAft>
            </a:pPr>
            <a:r>
              <a:rPr sz="2300" b="1" i="0">
                <a:solidFill>
                  <a:srgbClr val="55585E"/>
                </a:solidFill>
                <a:latin typeface="Calibri"/>
              </a:rPr>
              <a:t>Figure 1.</a:t>
            </a:r>
            <a:r>
              <a:rPr sz="2300" b="0" i="0">
                <a:solidFill>
                  <a:srgbClr val="55585E"/>
                </a:solidFill>
                <a:latin typeface="Calibri"/>
              </a:rPr>
              <a:t> Where the filters come from. Grey: IMPROVE sites (US), which provide the calibration. Blue stars: SPARTAN sites, where the calibration is applied.</a:t>
            </a:r>
          </a:p>
        </p:txBody>
      </p:sp>
      <p:sp>
        <p:nvSpPr>
          <p:cNvPr id="19" name="Rectangle 18"/>
          <p:cNvSpPr/>
          <p:nvPr/>
        </p:nvSpPr>
        <p:spPr>
          <a:xfrm>
            <a:off x="777240" y="18670786"/>
            <a:ext cx="12527280" cy="77724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3800" b="1" i="0">
                <a:solidFill>
                  <a:srgbClr val="FFFFFF"/>
                </a:solidFill>
                <a:latin typeface="Calibri"/>
              </a:rPr>
              <a:t>How FTIR measures EC: a calibration</a:t>
            </a:r>
          </a:p>
        </p:txBody>
      </p:sp>
      <p:sp>
        <p:nvSpPr>
          <p:cNvPr id="20" name="TextBox 19"/>
          <p:cNvSpPr txBox="1"/>
          <p:nvPr/>
        </p:nvSpPr>
        <p:spPr>
          <a:xfrm>
            <a:off x="1051560" y="19630906"/>
            <a:ext cx="11978640" cy="4653280"/>
          </a:xfrm>
          <a:prstGeom prst="rect">
            <a:avLst/>
          </a:prstGeom>
          <a:noFill/>
        </p:spPr>
        <p:txBody>
          <a:bodyPr wrap="square" tIns="27432" bIns="27432">
            <a:spAutoFit/>
          </a:bodyPr>
          <a:lstStyle/>
          <a:p>
            <a:pPr algn="l">
              <a:spcAft>
                <a:spcPts val="979"/>
              </a:spcAft>
            </a:pPr>
            <a:r>
              <a:rPr sz="2800" b="1" i="0">
                <a:solidFill>
                  <a:srgbClr val="22252A"/>
                </a:solidFill>
                <a:latin typeface="Calibri"/>
              </a:rPr>
              <a:t>FTIR</a:t>
            </a:r>
            <a:r>
              <a:rPr sz="2800" b="0" i="0">
                <a:solidFill>
                  <a:srgbClr val="22252A"/>
                </a:solidFill>
                <a:latin typeface="Calibri"/>
              </a:rPr>
              <a:t> (Fourier-transform infrared spectroscopy) passes infrared light through a Teflon filter and records absorption across the wavenumbers. That curve is the filter's </a:t>
            </a:r>
            <a:r>
              <a:rPr sz="2800" b="1" i="0">
                <a:solidFill>
                  <a:srgbClr val="22252A"/>
                </a:solidFill>
                <a:latin typeface="Calibri"/>
              </a:rPr>
              <a:t>spectrum</a:t>
            </a:r>
            <a:r>
              <a:rPr sz="2800" b="0" i="0">
                <a:solidFill>
                  <a:srgbClr val="22252A"/>
                </a:solidFill>
                <a:latin typeface="Calibri"/>
              </a:rPr>
              <a:t>. FTIR is fast, cheap and does not destroy the filter, but a spectrum does not give EC directly: it has to be </a:t>
            </a:r>
            <a:r>
              <a:rPr sz="2800" b="1" i="0">
                <a:solidFill>
                  <a:srgbClr val="22252A"/>
                </a:solidFill>
                <a:latin typeface="Calibri"/>
              </a:rPr>
              <a:t>calibrated</a:t>
            </a:r>
            <a:r>
              <a:rPr sz="2800" b="0" i="0">
                <a:solidFill>
                  <a:srgbClr val="22252A"/>
                </a:solidFill>
                <a:latin typeface="Calibri"/>
              </a:rPr>
              <a:t> against a reference.</a:t>
            </a:r>
          </a:p>
          <a:p>
            <a:pPr algn="l">
              <a:spcAft>
                <a:spcPts val="979"/>
              </a:spcAft>
            </a:pPr>
            <a:r>
              <a:rPr sz="2800" b="0" i="0">
                <a:solidFill>
                  <a:srgbClr val="22252A"/>
                </a:solidFill>
                <a:latin typeface="Calibri"/>
              </a:rPr>
              <a:t>Most methods are calibrated with laboratory standards. FTIR EC is calibrated with </a:t>
            </a:r>
            <a:r>
              <a:rPr sz="2800" b="1" i="0">
                <a:solidFill>
                  <a:srgbClr val="22252A"/>
                </a:solidFill>
                <a:latin typeface="Calibri"/>
              </a:rPr>
              <a:t>ambient samples</a:t>
            </a:r>
            <a:r>
              <a:rPr sz="2800" b="0" i="0">
                <a:solidFill>
                  <a:srgbClr val="22252A"/>
                </a:solidFill>
                <a:latin typeface="Calibri"/>
              </a:rPr>
              <a:t> (Dillner and Takahama, 2015): IMPROVE filters on which the same air was collected on a Teflon filter (FTIR spectrum) and on a quartz filter (EC measured by </a:t>
            </a:r>
            <a:r>
              <a:rPr sz="2800" b="1" i="0">
                <a:solidFill>
                  <a:srgbClr val="22252A"/>
                </a:solidFill>
                <a:latin typeface="Calibri"/>
              </a:rPr>
              <a:t>TOR</a:t>
            </a:r>
            <a:r>
              <a:rPr sz="2800" b="0" i="0">
                <a:solidFill>
                  <a:srgbClr val="22252A"/>
                </a:solidFill>
                <a:latin typeface="Calibri"/>
              </a:rPr>
              <a:t>, the reference method) (Figs 1 and 2).</a:t>
            </a:r>
          </a:p>
        </p:txBody>
      </p:sp>
      <p:sp>
        <p:nvSpPr>
          <p:cNvPr id="21" name="Rounded Rectangle 20"/>
          <p:cNvSpPr/>
          <p:nvPr/>
        </p:nvSpPr>
        <p:spPr>
          <a:xfrm>
            <a:off x="1051560" y="24375626"/>
            <a:ext cx="3337560" cy="3063240"/>
          </a:xfrm>
          <a:prstGeom prst="roundRect">
            <a:avLst>
              <a:gd name="adj" fmla="val 12000"/>
            </a:avLst>
          </a:prstGeom>
          <a:solidFill>
            <a:srgbClr val="EEF2F7"/>
          </a:solidFill>
          <a:ln w="25400">
            <a:solidFill>
              <a:srgbClr val="1B365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100" b="1" i="0">
                <a:solidFill>
                  <a:srgbClr val="22252A"/>
                </a:solidFill>
                <a:latin typeface="Calibri"/>
              </a:rPr>
              <a:t>IMPROVE</a:t>
            </a:r>
          </a:p>
          <a:p>
            <a:pPr algn="ctr"/>
            <a:r>
              <a:rPr sz="2100" b="0" i="0">
                <a:solidFill>
                  <a:srgbClr val="22252A"/>
                </a:solidFill>
                <a:latin typeface="Calibri"/>
              </a:rPr>
              <a:t>ambient samples</a:t>
            </a:r>
          </a:p>
          <a:p>
            <a:pPr algn="ctr"/>
            <a:r>
              <a:rPr sz="2100" b="0" i="0">
                <a:solidFill>
                  <a:srgbClr val="22252A"/>
                </a:solidFill>
                <a:latin typeface="Calibri"/>
              </a:rPr>
              <a:t>(US national</a:t>
            </a:r>
          </a:p>
          <a:p>
            <a:pPr algn="ctr"/>
            <a:r>
              <a:rPr sz="2100" b="0" i="0">
                <a:solidFill>
                  <a:srgbClr val="22252A"/>
                </a:solidFill>
                <a:latin typeface="Calibri"/>
              </a:rPr>
              <a:t>parks, rural)</a:t>
            </a:r>
          </a:p>
        </p:txBody>
      </p:sp>
      <p:sp>
        <p:nvSpPr>
          <p:cNvPr id="22" name="Right Arrow 21"/>
          <p:cNvSpPr/>
          <p:nvPr/>
        </p:nvSpPr>
        <p:spPr>
          <a:xfrm>
            <a:off x="4434840" y="24883118"/>
            <a:ext cx="502920" cy="411480"/>
          </a:xfrm>
          <a:prstGeom prst="rightArrow">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Arrow 22"/>
          <p:cNvSpPr/>
          <p:nvPr/>
        </p:nvSpPr>
        <p:spPr>
          <a:xfrm>
            <a:off x="4434840" y="26529038"/>
            <a:ext cx="502920" cy="411480"/>
          </a:xfrm>
          <a:prstGeom prst="rightArrow">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983479" y="24375626"/>
            <a:ext cx="3154680" cy="1417320"/>
          </a:xfrm>
          <a:prstGeom prst="roundRect">
            <a:avLst>
              <a:gd name="adj" fmla="val 12000"/>
            </a:avLst>
          </a:prstGeom>
          <a:solidFill>
            <a:srgbClr val="FFFFFF"/>
          </a:solidFill>
          <a:ln w="25400">
            <a:solidFill>
              <a:srgbClr val="1B365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100" b="0" i="0">
                <a:solidFill>
                  <a:srgbClr val="22252A"/>
                </a:solidFill>
                <a:latin typeface="Calibri"/>
              </a:rPr>
              <a:t>Teflon filter</a:t>
            </a:r>
          </a:p>
          <a:p>
            <a:pPr algn="ctr"/>
            <a:r>
              <a:rPr sz="2100" b="0" i="0">
                <a:solidFill>
                  <a:srgbClr val="22252A"/>
                </a:solidFill>
                <a:latin typeface="Calibri"/>
              </a:rPr>
              <a:t>→ </a:t>
            </a:r>
            <a:r>
              <a:rPr sz="2100" b="1" i="0">
                <a:solidFill>
                  <a:srgbClr val="22252A"/>
                </a:solidFill>
                <a:latin typeface="Calibri"/>
              </a:rPr>
              <a:t>FTIR spectrum</a:t>
            </a:r>
          </a:p>
        </p:txBody>
      </p:sp>
      <p:sp>
        <p:nvSpPr>
          <p:cNvPr id="25" name="Rounded Rectangle 24"/>
          <p:cNvSpPr/>
          <p:nvPr/>
        </p:nvSpPr>
        <p:spPr>
          <a:xfrm>
            <a:off x="4983479" y="26021546"/>
            <a:ext cx="3154680" cy="1417320"/>
          </a:xfrm>
          <a:prstGeom prst="roundRect">
            <a:avLst>
              <a:gd name="adj" fmla="val 12000"/>
            </a:avLst>
          </a:prstGeom>
          <a:solidFill>
            <a:srgbClr val="FFFFFF"/>
          </a:solidFill>
          <a:ln w="25400">
            <a:solidFill>
              <a:srgbClr val="1B365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100" b="0" i="0">
                <a:solidFill>
                  <a:srgbClr val="22252A"/>
                </a:solidFill>
                <a:latin typeface="Calibri"/>
              </a:rPr>
              <a:t>Quartz filter</a:t>
            </a:r>
          </a:p>
          <a:p>
            <a:pPr algn="ctr"/>
            <a:r>
              <a:rPr sz="2100" b="0" i="0">
                <a:solidFill>
                  <a:srgbClr val="22252A"/>
                </a:solidFill>
                <a:latin typeface="Calibri"/>
              </a:rPr>
              <a:t>→ </a:t>
            </a:r>
            <a:r>
              <a:rPr sz="2100" b="1" i="0">
                <a:solidFill>
                  <a:srgbClr val="22252A"/>
                </a:solidFill>
                <a:latin typeface="Calibri"/>
              </a:rPr>
              <a:t>TOR EC</a:t>
            </a:r>
          </a:p>
        </p:txBody>
      </p:sp>
      <p:sp>
        <p:nvSpPr>
          <p:cNvPr id="26" name="Right Arrow 25"/>
          <p:cNvSpPr/>
          <p:nvPr/>
        </p:nvSpPr>
        <p:spPr>
          <a:xfrm>
            <a:off x="8183879" y="25130006"/>
            <a:ext cx="502920" cy="411480"/>
          </a:xfrm>
          <a:prstGeom prst="rightArrow">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ight Arrow 26"/>
          <p:cNvSpPr/>
          <p:nvPr/>
        </p:nvSpPr>
        <p:spPr>
          <a:xfrm>
            <a:off x="8183879" y="26273006"/>
            <a:ext cx="502920" cy="411480"/>
          </a:xfrm>
          <a:prstGeom prst="rightArrow">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732519" y="24375626"/>
            <a:ext cx="4297680" cy="3063240"/>
          </a:xfrm>
          <a:prstGeom prst="roundRect">
            <a:avLst>
              <a:gd name="adj" fmla="val 12000"/>
            </a:avLst>
          </a:prstGeom>
          <a:solidFill>
            <a:srgbClr val="EEF2F7"/>
          </a:solidFill>
          <a:ln w="25400">
            <a:solidFill>
              <a:srgbClr val="1B365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100" b="1" i="0">
                <a:solidFill>
                  <a:srgbClr val="22252A"/>
                </a:solidFill>
                <a:latin typeface="Calibri"/>
              </a:rPr>
              <a:t>PLS calibration</a:t>
            </a:r>
          </a:p>
          <a:p>
            <a:pPr algn="ctr"/>
            <a:r>
              <a:rPr sz="2100" b="0" i="0">
                <a:solidFill>
                  <a:srgbClr val="22252A"/>
                </a:solidFill>
                <a:latin typeface="Calibri"/>
              </a:rPr>
              <a:t>learns which</a:t>
            </a:r>
          </a:p>
          <a:p>
            <a:pPr algn="ctr"/>
            <a:r>
              <a:rPr sz="2100" b="0" i="0">
                <a:solidFill>
                  <a:srgbClr val="22252A"/>
                </a:solidFill>
                <a:latin typeface="Calibri"/>
              </a:rPr>
              <a:t>spectral features</a:t>
            </a:r>
          </a:p>
          <a:p>
            <a:pPr algn="ctr"/>
            <a:r>
              <a:rPr sz="2100" b="0" i="0">
                <a:solidFill>
                  <a:srgbClr val="22252A"/>
                </a:solidFill>
                <a:latin typeface="Calibri"/>
              </a:rPr>
              <a:t>predict TOR EC</a:t>
            </a:r>
          </a:p>
        </p:txBody>
      </p:sp>
      <p:sp>
        <p:nvSpPr>
          <p:cNvPr id="29" name="Down Arrow 28"/>
          <p:cNvSpPr/>
          <p:nvPr/>
        </p:nvSpPr>
        <p:spPr>
          <a:xfrm>
            <a:off x="10607039" y="27484586"/>
            <a:ext cx="548640" cy="457200"/>
          </a:xfrm>
          <a:prstGeom prst="downArrow">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51560" y="27987506"/>
            <a:ext cx="11978640" cy="1143000"/>
          </a:xfrm>
          <a:prstGeom prst="roundRect">
            <a:avLst>
              <a:gd name="adj" fmla="val 12000"/>
            </a:avLst>
          </a:prstGeom>
          <a:solidFill>
            <a:srgbClr val="FBF3E4"/>
          </a:solidFill>
          <a:ln w="25400">
            <a:solidFill>
              <a:srgbClr val="1B365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100" b="0" i="0">
                <a:solidFill>
                  <a:srgbClr val="22252A"/>
                </a:solidFill>
                <a:latin typeface="Calibri"/>
              </a:rPr>
              <a:t>Applied to </a:t>
            </a:r>
            <a:r>
              <a:rPr sz="2100" b="1" i="0">
                <a:solidFill>
                  <a:srgbClr val="22252A"/>
                </a:solidFill>
                <a:latin typeface="Calibri"/>
              </a:rPr>
              <a:t>SPARTAN</a:t>
            </a:r>
            <a:r>
              <a:rPr sz="2100" b="0" i="0">
                <a:solidFill>
                  <a:srgbClr val="22252A"/>
                </a:solidFill>
                <a:latin typeface="Calibri"/>
              </a:rPr>
              <a:t> spectra (Addis Ababa): FTIR EC, QC checks against </a:t>
            </a:r>
            <a:r>
              <a:rPr sz="2100" b="1" i="0">
                <a:solidFill>
                  <a:srgbClr val="22252A"/>
                </a:solidFill>
                <a:latin typeface="Calibri"/>
              </a:rPr>
              <a:t>HIPS</a:t>
            </a:r>
            <a:r>
              <a:rPr sz="2100" b="0" i="0">
                <a:solidFill>
                  <a:srgbClr val="22252A"/>
                </a:solidFill>
                <a:latin typeface="Calibri"/>
              </a:rPr>
              <a:t> light absorption (Fig 4b; no TOR at Addis)</a:t>
            </a:r>
          </a:p>
        </p:txBody>
      </p:sp>
      <p:sp>
        <p:nvSpPr>
          <p:cNvPr id="31" name="TextBox 30"/>
          <p:cNvSpPr txBox="1"/>
          <p:nvPr/>
        </p:nvSpPr>
        <p:spPr>
          <a:xfrm>
            <a:off x="1051560" y="29267666"/>
            <a:ext cx="11978640" cy="546100"/>
          </a:xfrm>
          <a:prstGeom prst="rect">
            <a:avLst/>
          </a:prstGeom>
          <a:noFill/>
        </p:spPr>
        <p:txBody>
          <a:bodyPr wrap="square" tIns="27432" bIns="27432">
            <a:spAutoFit/>
          </a:bodyPr>
          <a:lstStyle/>
          <a:p>
            <a:pPr algn="l">
              <a:spcAft>
                <a:spcPts val="460"/>
              </a:spcAft>
            </a:pPr>
            <a:r>
              <a:rPr sz="2300" b="1" i="0">
                <a:solidFill>
                  <a:srgbClr val="55585E"/>
                </a:solidFill>
                <a:latin typeface="Calibri"/>
              </a:rPr>
              <a:t>Figure 2.</a:t>
            </a:r>
            <a:r>
              <a:rPr sz="2300" b="0" i="0">
                <a:solidFill>
                  <a:srgbClr val="55585E"/>
                </a:solidFill>
                <a:latin typeface="Calibri"/>
              </a:rPr>
              <a:t> The calibration behind every SPARTAN FTIR EC value.</a:t>
            </a:r>
          </a:p>
        </p:txBody>
      </p:sp>
      <p:sp>
        <p:nvSpPr>
          <p:cNvPr id="32" name="Rectangle 31"/>
          <p:cNvSpPr/>
          <p:nvPr/>
        </p:nvSpPr>
        <p:spPr>
          <a:xfrm>
            <a:off x="1051560" y="29996646"/>
            <a:ext cx="11978640" cy="2290445"/>
          </a:xfrm>
          <a:prstGeom prst="rect">
            <a:avLst/>
          </a:prstGeom>
          <a:solidFill>
            <a:srgbClr val="FBF3E4"/>
          </a:solidFill>
          <a:ln w="25400">
            <a:solidFill>
              <a:srgbClr val="C49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88719" y="30069798"/>
            <a:ext cx="11704319" cy="2153285"/>
          </a:xfrm>
          <a:prstGeom prst="rect">
            <a:avLst/>
          </a:prstGeom>
          <a:noFill/>
        </p:spPr>
        <p:txBody>
          <a:bodyPr wrap="square" tIns="27432" bIns="27432">
            <a:spAutoFit/>
          </a:bodyPr>
          <a:lstStyle/>
          <a:p>
            <a:pPr algn="l">
              <a:spcAft>
                <a:spcPts val="875"/>
              </a:spcAft>
            </a:pPr>
            <a:r>
              <a:rPr sz="2500" b="1" i="0">
                <a:solidFill>
                  <a:srgbClr val="22252A"/>
                </a:solidFill>
                <a:latin typeface="Calibri"/>
              </a:rPr>
              <a:t>Why calibrate with IMPROVE filters?</a:t>
            </a:r>
            <a:r>
              <a:rPr sz="2500" b="0" i="0">
                <a:solidFill>
                  <a:srgbClr val="22252A"/>
                </a:solidFill>
                <a:latin typeface="Calibri"/>
              </a:rPr>
              <a:t> Because it is the only data set that exists: no other large library of matched Teflon (FTIR) and quartz (TOR) ambient filters exists, and there are no quartz filters from Addis Ababa. CSN (the US urban network) filters are bigger and thicker and sample at a lower flow, so FTIR calibrations built on CSN filters predict less well.</a:t>
            </a:r>
          </a:p>
        </p:txBody>
      </p:sp>
      <p:sp>
        <p:nvSpPr>
          <p:cNvPr id="34" name="Rectangle 33"/>
          <p:cNvSpPr/>
          <p:nvPr/>
        </p:nvSpPr>
        <p:spPr>
          <a:xfrm>
            <a:off x="777240" y="32515691"/>
            <a:ext cx="12527280" cy="77724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3800" b="1" i="0">
                <a:solidFill>
                  <a:srgbClr val="FFFFFF"/>
                </a:solidFill>
                <a:latin typeface="Calibri"/>
              </a:rPr>
              <a:t>Key terms</a:t>
            </a:r>
          </a:p>
        </p:txBody>
      </p:sp>
      <p:sp>
        <p:nvSpPr>
          <p:cNvPr id="35" name="TextBox 34"/>
          <p:cNvSpPr txBox="1"/>
          <p:nvPr/>
        </p:nvSpPr>
        <p:spPr>
          <a:xfrm>
            <a:off x="1051560" y="33430091"/>
            <a:ext cx="11978640" cy="6516624"/>
          </a:xfrm>
          <a:prstGeom prst="rect">
            <a:avLst/>
          </a:prstGeom>
          <a:noFill/>
        </p:spPr>
        <p:txBody>
          <a:bodyPr wrap="square" tIns="27432" bIns="27432">
            <a:spAutoFit/>
          </a:bodyPr>
          <a:lstStyle/>
          <a:p>
            <a:pPr algn="l">
              <a:spcAft>
                <a:spcPts val="413"/>
              </a:spcAft>
            </a:pPr>
            <a:r>
              <a:rPr sz="2300" b="1" i="0">
                <a:solidFill>
                  <a:srgbClr val="22252A"/>
                </a:solidFill>
                <a:latin typeface="Calibri"/>
              </a:rPr>
              <a:t>IMPROVE</a:t>
            </a:r>
            <a:r>
              <a:rPr sz="2300" b="0" i="0">
                <a:solidFill>
                  <a:srgbClr val="22252A"/>
                </a:solidFill>
                <a:latin typeface="Calibri"/>
              </a:rPr>
              <a:t>: Interagency Monitoring of PROtected Visual Environments, the US network sampling in national parks and rural areas (vista.cira.colostate.edu/Improve).</a:t>
            </a:r>
          </a:p>
          <a:p>
            <a:pPr algn="l">
              <a:spcAft>
                <a:spcPts val="413"/>
              </a:spcAft>
            </a:pPr>
            <a:r>
              <a:rPr sz="2300" b="1" i="0">
                <a:solidFill>
                  <a:srgbClr val="22252A"/>
                </a:solidFill>
                <a:latin typeface="Calibri"/>
              </a:rPr>
              <a:t>TOR</a:t>
            </a:r>
            <a:r>
              <a:rPr sz="2300" b="0" i="0">
                <a:solidFill>
                  <a:srgbClr val="22252A"/>
                </a:solidFill>
                <a:latin typeface="Calibri"/>
              </a:rPr>
              <a:t>: thermal-optical reflectance. Heats a quartz filter and measures the carbon that evolves; the standard reference for EC.</a:t>
            </a:r>
          </a:p>
          <a:p>
            <a:pPr algn="l">
              <a:spcAft>
                <a:spcPts val="413"/>
              </a:spcAft>
            </a:pPr>
            <a:r>
              <a:rPr sz="2300" b="1" i="0">
                <a:solidFill>
                  <a:srgbClr val="22252A"/>
                </a:solidFill>
                <a:latin typeface="Calibri"/>
              </a:rPr>
              <a:t>HIPS</a:t>
            </a:r>
            <a:r>
              <a:rPr sz="2300" b="0" i="0">
                <a:solidFill>
                  <a:srgbClr val="22252A"/>
                </a:solidFill>
                <a:latin typeface="Calibri"/>
              </a:rPr>
              <a:t>: hybrid integrating plate/sphere. Measures how much red light (633 nm) a Teflon filter absorbs, called </a:t>
            </a:r>
            <a:r>
              <a:rPr sz="2300" b="1" i="0">
                <a:solidFill>
                  <a:srgbClr val="22252A"/>
                </a:solidFill>
                <a:latin typeface="Calibri"/>
              </a:rPr>
              <a:t>Fabs</a:t>
            </a:r>
            <a:r>
              <a:rPr sz="2300" b="0" i="0">
                <a:solidFill>
                  <a:srgbClr val="22252A"/>
                </a:solidFill>
                <a:latin typeface="Calibri"/>
              </a:rPr>
              <a:t>.</a:t>
            </a:r>
          </a:p>
          <a:p>
            <a:pPr algn="l">
              <a:spcAft>
                <a:spcPts val="413"/>
              </a:spcAft>
            </a:pPr>
            <a:r>
              <a:rPr sz="2300" b="1" i="0">
                <a:solidFill>
                  <a:srgbClr val="22252A"/>
                </a:solidFill>
                <a:latin typeface="Calibri"/>
              </a:rPr>
              <a:t>MAC</a:t>
            </a:r>
            <a:r>
              <a:rPr sz="2300" b="0" i="0">
                <a:solidFill>
                  <a:srgbClr val="22252A"/>
                </a:solidFill>
                <a:latin typeface="Calibri"/>
              </a:rPr>
              <a:t>: mass absorption cross-section, the light absorbed per gram of EC (m²/g). Fabs / MAC is a good estimate of EC. We use MAC = 10 m²/g, a common default; the true value varies with sources. Changing MAC changes the slope in Figure 4, not the intercept, so MAC alone cannot fix Addis' poor intercept.</a:t>
            </a:r>
          </a:p>
          <a:p>
            <a:pPr algn="l">
              <a:spcAft>
                <a:spcPts val="413"/>
              </a:spcAft>
            </a:pPr>
            <a:r>
              <a:rPr sz="2300" b="1" i="0">
                <a:solidFill>
                  <a:srgbClr val="22252A"/>
                </a:solidFill>
                <a:latin typeface="Calibri"/>
              </a:rPr>
              <a:t>Calibration set</a:t>
            </a:r>
            <a:r>
              <a:rPr sz="2300" b="0" i="0">
                <a:solidFill>
                  <a:srgbClr val="22252A"/>
                </a:solidFill>
                <a:latin typeface="Calibri"/>
              </a:rPr>
              <a:t>: the IMPROVE filters (with TOR EC) that a calibration is built from.</a:t>
            </a:r>
          </a:p>
          <a:p>
            <a:pPr algn="l">
              <a:spcAft>
                <a:spcPts val="413"/>
              </a:spcAft>
            </a:pPr>
            <a:r>
              <a:rPr sz="2300" b="1" i="0">
                <a:solidFill>
                  <a:srgbClr val="22252A"/>
                </a:solidFill>
                <a:latin typeface="Calibri"/>
              </a:rPr>
              <a:t>PLS</a:t>
            </a:r>
            <a:r>
              <a:rPr sz="2300" b="0" i="0">
                <a:solidFill>
                  <a:srgbClr val="22252A"/>
                </a:solidFill>
                <a:latin typeface="Calibri"/>
              </a:rPr>
              <a:t>: partial least squares regression, which turns a whole spectrum into one number (EC).</a:t>
            </a:r>
          </a:p>
          <a:p>
            <a:pPr algn="l">
              <a:spcAft>
                <a:spcPts val="413"/>
              </a:spcAft>
            </a:pPr>
            <a:r>
              <a:rPr sz="2300" b="1" i="0">
                <a:solidFill>
                  <a:srgbClr val="22252A"/>
                </a:solidFill>
                <a:latin typeface="Calibri"/>
              </a:rPr>
              <a:t>Baseline correction of the spectra</a:t>
            </a:r>
            <a:r>
              <a:rPr sz="2300" b="0" i="0">
                <a:solidFill>
                  <a:srgbClr val="22252A"/>
                </a:solidFill>
                <a:latin typeface="Calibri"/>
              </a:rPr>
              <a:t>: removing the smooth background from the Teflon filter and light scattering, so only particle absorption remains.</a:t>
            </a:r>
          </a:p>
          <a:p>
            <a:pPr algn="l">
              <a:spcAft>
                <a:spcPts val="413"/>
              </a:spcAft>
            </a:pPr>
            <a:r>
              <a:rPr sz="2300" b="1" i="0">
                <a:solidFill>
                  <a:srgbClr val="22252A"/>
                </a:solidFill>
                <a:latin typeface="Calibri"/>
              </a:rPr>
              <a:t>Deming regression</a:t>
            </a:r>
            <a:r>
              <a:rPr sz="2300" b="0" i="0">
                <a:solidFill>
                  <a:srgbClr val="22252A"/>
                </a:solidFill>
                <a:latin typeface="Calibri"/>
              </a:rPr>
              <a:t>: a straight-line fit that allows for error in both measurements. Agreement means slope 1, intercept 0.</a:t>
            </a:r>
          </a:p>
        </p:txBody>
      </p:sp>
      <p:sp>
        <p:nvSpPr>
          <p:cNvPr id="36" name="TextBox 35"/>
          <p:cNvSpPr txBox="1"/>
          <p:nvPr/>
        </p:nvSpPr>
        <p:spPr>
          <a:xfrm>
            <a:off x="1051560" y="39591615"/>
            <a:ext cx="11978640" cy="870585"/>
          </a:xfrm>
          <a:prstGeom prst="rect">
            <a:avLst/>
          </a:prstGeom>
          <a:noFill/>
        </p:spPr>
        <p:txBody>
          <a:bodyPr wrap="square" tIns="27432" bIns="27432">
            <a:spAutoFit/>
          </a:bodyPr>
          <a:lstStyle/>
          <a:p>
            <a:pPr algn="l">
              <a:spcAft>
                <a:spcPts val="735"/>
              </a:spcAft>
            </a:pPr>
            <a:r>
              <a:rPr sz="2100" b="1" i="0">
                <a:solidFill>
                  <a:srgbClr val="55585E"/>
                </a:solidFill>
                <a:latin typeface="Calibri"/>
              </a:rPr>
              <a:t>Acknowledgments:</a:t>
            </a:r>
            <a:r>
              <a:rPr sz="2100" b="0" i="0">
                <a:solidFill>
                  <a:srgbClr val="55585E"/>
                </a:solidFill>
                <a:latin typeface="Calibri"/>
              </a:rPr>
              <a:t> supported by the NASA MAIA mission. Thanks to the SPARTAN team and the UC Davis FTIR group.</a:t>
            </a:r>
          </a:p>
        </p:txBody>
      </p:sp>
      <p:sp>
        <p:nvSpPr>
          <p:cNvPr id="37" name="Rectangle 36"/>
          <p:cNvSpPr/>
          <p:nvPr/>
        </p:nvSpPr>
        <p:spPr>
          <a:xfrm>
            <a:off x="13853159" y="6446520"/>
            <a:ext cx="12527280" cy="77724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3800" b="1" i="0">
                <a:solidFill>
                  <a:srgbClr val="FFFFFF"/>
                </a:solidFill>
                <a:latin typeface="Calibri"/>
              </a:rPr>
              <a:t>Addis Ababa EC is high, and so is its share of PM2.5</a:t>
            </a:r>
          </a:p>
        </p:txBody>
      </p:sp>
      <p:pic>
        <p:nvPicPr>
          <p:cNvPr id="38" name="Picture 37" descr="fp_addis_air.png"/>
          <p:cNvPicPr>
            <a:picLocks noChangeAspect="1"/>
          </p:cNvPicPr>
          <p:nvPr/>
        </p:nvPicPr>
        <p:blipFill>
          <a:blip r:embed="rId8"/>
          <a:stretch>
            <a:fillRect/>
          </a:stretch>
        </p:blipFill>
        <p:spPr>
          <a:xfrm>
            <a:off x="15956280" y="7406640"/>
            <a:ext cx="8321040" cy="5134334"/>
          </a:xfrm>
          <a:prstGeom prst="rect">
            <a:avLst/>
          </a:prstGeom>
        </p:spPr>
      </p:pic>
      <p:sp>
        <p:nvSpPr>
          <p:cNvPr id="39" name="TextBox 38"/>
          <p:cNvSpPr txBox="1"/>
          <p:nvPr/>
        </p:nvSpPr>
        <p:spPr>
          <a:xfrm>
            <a:off x="14127480" y="12586694"/>
            <a:ext cx="11978640" cy="1247139"/>
          </a:xfrm>
          <a:prstGeom prst="rect">
            <a:avLst/>
          </a:prstGeom>
          <a:noFill/>
        </p:spPr>
        <p:txBody>
          <a:bodyPr wrap="square" tIns="27432" bIns="27432">
            <a:spAutoFit/>
          </a:bodyPr>
          <a:lstStyle/>
          <a:p>
            <a:pPr algn="l">
              <a:spcAft>
                <a:spcPts val="460"/>
              </a:spcAft>
            </a:pPr>
            <a:r>
              <a:rPr sz="2300" b="1" i="0">
                <a:solidFill>
                  <a:srgbClr val="55585E"/>
                </a:solidFill>
                <a:latin typeface="Calibri"/>
              </a:rPr>
              <a:t>Figure 3.</a:t>
            </a:r>
            <a:r>
              <a:rPr sz="2300" b="0" i="0">
                <a:solidFill>
                  <a:srgbClr val="55585E"/>
                </a:solidFill>
                <a:latin typeface="Calibri"/>
              </a:rPr>
              <a:t> Addis medians by season (bars on EC: interquartile range). EC is 4.3 to 5.6 µg/m³ and 19 to 25% of PM2.5 in every season, against about 4% for a typical IMPROVE filter.</a:t>
            </a:r>
          </a:p>
        </p:txBody>
      </p:sp>
      <p:sp>
        <p:nvSpPr>
          <p:cNvPr id="40" name="Rectangle 39"/>
          <p:cNvSpPr/>
          <p:nvPr/>
        </p:nvSpPr>
        <p:spPr>
          <a:xfrm>
            <a:off x="13853159" y="14062434"/>
            <a:ext cx="12527280" cy="77724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3800" b="1" i="0">
                <a:solidFill>
                  <a:srgbClr val="FFFFFF"/>
                </a:solidFill>
                <a:latin typeface="Calibri"/>
              </a:rPr>
              <a:t>The problem: FTIR EC is poorly predicted but well correlated</a:t>
            </a:r>
          </a:p>
        </p:txBody>
      </p:sp>
      <p:pic>
        <p:nvPicPr>
          <p:cNvPr id="41" name="Picture 40" descr="fp_problem.png"/>
          <p:cNvPicPr>
            <a:picLocks noChangeAspect="1"/>
          </p:cNvPicPr>
          <p:nvPr/>
        </p:nvPicPr>
        <p:blipFill>
          <a:blip r:embed="rId9"/>
          <a:stretch>
            <a:fillRect/>
          </a:stretch>
        </p:blipFill>
        <p:spPr>
          <a:xfrm>
            <a:off x="14127480" y="15022554"/>
            <a:ext cx="11978640" cy="5980830"/>
          </a:xfrm>
          <a:prstGeom prst="rect">
            <a:avLst/>
          </a:prstGeom>
        </p:spPr>
      </p:pic>
      <p:sp>
        <p:nvSpPr>
          <p:cNvPr id="42" name="TextBox 41"/>
          <p:cNvSpPr txBox="1"/>
          <p:nvPr/>
        </p:nvSpPr>
        <p:spPr>
          <a:xfrm>
            <a:off x="14127480" y="21049105"/>
            <a:ext cx="11978640" cy="1948180"/>
          </a:xfrm>
          <a:prstGeom prst="rect">
            <a:avLst/>
          </a:prstGeom>
          <a:noFill/>
        </p:spPr>
        <p:txBody>
          <a:bodyPr wrap="square" tIns="27432" bIns="27432">
            <a:spAutoFit/>
          </a:bodyPr>
          <a:lstStyle/>
          <a:p>
            <a:pPr algn="l">
              <a:spcAft>
                <a:spcPts val="460"/>
              </a:spcAft>
            </a:pPr>
            <a:r>
              <a:rPr sz="2300" b="1" i="0">
                <a:solidFill>
                  <a:srgbClr val="55585E"/>
                </a:solidFill>
                <a:latin typeface="Calibri"/>
              </a:rPr>
              <a:t>Figure 4.</a:t>
            </a:r>
            <a:r>
              <a:rPr sz="2300" b="0" i="0">
                <a:solidFill>
                  <a:srgbClr val="55585E"/>
                </a:solidFill>
                <a:latin typeface="Calibri"/>
              </a:rPr>
              <a:t> Each point is one filter; dotted line: 1:1. </a:t>
            </a:r>
            <a:r>
              <a:rPr sz="2300" b="1" i="0">
                <a:solidFill>
                  <a:srgbClr val="55585E"/>
                </a:solidFill>
                <a:latin typeface="Calibri"/>
              </a:rPr>
              <a:t>IMPROVE:</a:t>
            </a:r>
            <a:r>
              <a:rPr sz="2300" b="0" i="0">
                <a:solidFill>
                  <a:srgbClr val="55585E"/>
                </a:solidFill>
                <a:latin typeface="Calibri"/>
              </a:rPr>
              <a:t> 2,078 filters, FTIR against TOR EC: slope near 1, intercept near 0. </a:t>
            </a:r>
            <a:r>
              <a:rPr sz="2300" b="1" i="0">
                <a:solidFill>
                  <a:srgbClr val="55585E"/>
                </a:solidFill>
                <a:latin typeface="Calibri"/>
              </a:rPr>
              <a:t>SPARTAN:</a:t>
            </a:r>
            <a:r>
              <a:rPr sz="2300" b="0" i="0">
                <a:solidFill>
                  <a:srgbClr val="55585E"/>
                </a:solidFill>
                <a:latin typeface="Calibri"/>
              </a:rPr>
              <a:t> FTIR against HIPS EC. The other SPARTAN sites together are predicted reasonably (grey data points and grey line); Addis alone is well correlated with the wrong slope and intercept (2.3x -6.1). Every season is off (slopes 1.4 to 2.2).</a:t>
            </a:r>
          </a:p>
        </p:txBody>
      </p:sp>
      <p:sp>
        <p:nvSpPr>
          <p:cNvPr id="43" name="Rectangle 42"/>
          <p:cNvSpPr/>
          <p:nvPr/>
        </p:nvSpPr>
        <p:spPr>
          <a:xfrm>
            <a:off x="13853159" y="23225885"/>
            <a:ext cx="12527280" cy="77724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3800" b="1" i="0">
                <a:solidFill>
                  <a:srgbClr val="FFFFFF"/>
                </a:solidFill>
                <a:latin typeface="Calibri"/>
              </a:rPr>
              <a:t>IMPROVE spectra that look like Addis spectra fail too</a:t>
            </a:r>
          </a:p>
        </p:txBody>
      </p:sp>
      <p:sp>
        <p:nvSpPr>
          <p:cNvPr id="44" name="TextBox 43"/>
          <p:cNvSpPr txBox="1"/>
          <p:nvPr/>
        </p:nvSpPr>
        <p:spPr>
          <a:xfrm>
            <a:off x="14127480" y="24186005"/>
            <a:ext cx="11978640" cy="1045209"/>
          </a:xfrm>
          <a:prstGeom prst="rect">
            <a:avLst/>
          </a:prstGeom>
          <a:noFill/>
        </p:spPr>
        <p:txBody>
          <a:bodyPr wrap="square" tIns="27432" bIns="27432">
            <a:spAutoFit/>
          </a:bodyPr>
          <a:lstStyle/>
          <a:p>
            <a:pPr algn="l">
              <a:spcAft>
                <a:spcPts val="910"/>
              </a:spcAft>
            </a:pPr>
            <a:r>
              <a:rPr sz="2600" b="0" i="0">
                <a:solidFill>
                  <a:srgbClr val="22252A"/>
                </a:solidFill>
                <a:latin typeface="Calibri"/>
              </a:rPr>
              <a:t>From the IMPROVE filters we picked the 97 whose </a:t>
            </a:r>
            <a:r>
              <a:rPr sz="2600" b="1" i="0">
                <a:solidFill>
                  <a:srgbClr val="22252A"/>
                </a:solidFill>
                <a:latin typeface="Calibri"/>
              </a:rPr>
              <a:t>spectra most resemble the Addis spectra</a:t>
            </a:r>
            <a:r>
              <a:rPr sz="2600" b="0" i="0">
                <a:solidFill>
                  <a:srgbClr val="22252A"/>
                </a:solidFill>
                <a:latin typeface="Calibri"/>
              </a:rPr>
              <a:t>. Many are smoke-affected.</a:t>
            </a:r>
          </a:p>
        </p:txBody>
      </p:sp>
      <p:pic>
        <p:nvPicPr>
          <p:cNvPr id="45" name="Picture 44" descr="fp_analogs.png"/>
          <p:cNvPicPr>
            <a:picLocks noChangeAspect="1"/>
          </p:cNvPicPr>
          <p:nvPr/>
        </p:nvPicPr>
        <p:blipFill>
          <a:blip r:embed="rId10"/>
          <a:stretch>
            <a:fillRect/>
          </a:stretch>
        </p:blipFill>
        <p:spPr>
          <a:xfrm>
            <a:off x="14127480" y="25276935"/>
            <a:ext cx="11978640" cy="5980830"/>
          </a:xfrm>
          <a:prstGeom prst="rect">
            <a:avLst/>
          </a:prstGeom>
        </p:spPr>
      </p:pic>
      <p:sp>
        <p:nvSpPr>
          <p:cNvPr id="46" name="TextBox 45"/>
          <p:cNvSpPr txBox="1"/>
          <p:nvPr/>
        </p:nvSpPr>
        <p:spPr>
          <a:xfrm>
            <a:off x="14127480" y="31303485"/>
            <a:ext cx="11978640" cy="1247139"/>
          </a:xfrm>
          <a:prstGeom prst="rect">
            <a:avLst/>
          </a:prstGeom>
          <a:noFill/>
        </p:spPr>
        <p:txBody>
          <a:bodyPr wrap="square" tIns="27432" bIns="27432">
            <a:spAutoFit/>
          </a:bodyPr>
          <a:lstStyle/>
          <a:p>
            <a:pPr algn="l">
              <a:spcAft>
                <a:spcPts val="460"/>
              </a:spcAft>
            </a:pPr>
            <a:r>
              <a:rPr sz="2300" b="1" i="0">
                <a:solidFill>
                  <a:srgbClr val="55585E"/>
                </a:solidFill>
                <a:latin typeface="Calibri"/>
              </a:rPr>
              <a:t>Figure 5.</a:t>
            </a:r>
            <a:r>
              <a:rPr sz="2300" b="0" i="0">
                <a:solidFill>
                  <a:srgbClr val="55585E"/>
                </a:solidFill>
                <a:latin typeface="Calibri"/>
              </a:rPr>
              <a:t> Grey: all IMPROVE filters; red: the 97 most like Addis. TOR and HIPS agree on them, but the same FTIR calibration predicts them poorly, at IMPROVE concentrations. Same calibration; only the samples changed.</a:t>
            </a:r>
          </a:p>
        </p:txBody>
      </p:sp>
      <p:sp>
        <p:nvSpPr>
          <p:cNvPr id="47" name="Rectangle 46"/>
          <p:cNvSpPr/>
          <p:nvPr/>
        </p:nvSpPr>
        <p:spPr>
          <a:xfrm>
            <a:off x="13853159" y="32779225"/>
            <a:ext cx="12527280" cy="77724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3800" b="1" i="0">
                <a:solidFill>
                  <a:srgbClr val="FFFFFF"/>
                </a:solidFill>
                <a:latin typeface="Calibri"/>
              </a:rPr>
              <a:t>Addis filters carry far more EC than IMPROVE filters</a:t>
            </a:r>
          </a:p>
        </p:txBody>
      </p:sp>
      <p:pic>
        <p:nvPicPr>
          <p:cNvPr id="48" name="Picture 47" descr="fp_loading.png"/>
          <p:cNvPicPr>
            <a:picLocks noChangeAspect="1"/>
          </p:cNvPicPr>
          <p:nvPr/>
        </p:nvPicPr>
        <p:blipFill>
          <a:blip r:embed="rId11"/>
          <a:stretch>
            <a:fillRect/>
          </a:stretch>
        </p:blipFill>
        <p:spPr>
          <a:xfrm>
            <a:off x="14493240" y="33739345"/>
            <a:ext cx="11247119" cy="4927726"/>
          </a:xfrm>
          <a:prstGeom prst="rect">
            <a:avLst/>
          </a:prstGeom>
        </p:spPr>
      </p:pic>
      <p:sp>
        <p:nvSpPr>
          <p:cNvPr id="49" name="TextBox 48"/>
          <p:cNvSpPr txBox="1"/>
          <p:nvPr/>
        </p:nvSpPr>
        <p:spPr>
          <a:xfrm>
            <a:off x="14127480" y="38712792"/>
            <a:ext cx="11978640" cy="1247139"/>
          </a:xfrm>
          <a:prstGeom prst="rect">
            <a:avLst/>
          </a:prstGeom>
          <a:noFill/>
        </p:spPr>
        <p:txBody>
          <a:bodyPr wrap="square" tIns="27432" bIns="27432">
            <a:spAutoFit/>
          </a:bodyPr>
          <a:lstStyle/>
          <a:p>
            <a:pPr algn="l">
              <a:spcAft>
                <a:spcPts val="460"/>
              </a:spcAft>
            </a:pPr>
            <a:r>
              <a:rPr sz="2300" b="1" i="0">
                <a:solidFill>
                  <a:srgbClr val="55585E"/>
                </a:solidFill>
                <a:latin typeface="Calibri"/>
              </a:rPr>
              <a:t>Figure 6.</a:t>
            </a:r>
            <a:r>
              <a:rPr sz="2300" b="0" i="0">
                <a:solidFill>
                  <a:srgbClr val="55585E"/>
                </a:solidFill>
                <a:latin typeface="Calibri"/>
              </a:rPr>
              <a:t> EC on one filter, from each filter's own volume of air (flow × sampling time). The typical Addis filter carries about 9× the EC of a typical IMPROVE calibration filter, and 79% are above the IMPROVE 99th percentile.</a:t>
            </a:r>
          </a:p>
        </p:txBody>
      </p:sp>
      <p:sp>
        <p:nvSpPr>
          <p:cNvPr id="50" name="Rectangle 49"/>
          <p:cNvSpPr/>
          <p:nvPr/>
        </p:nvSpPr>
        <p:spPr>
          <a:xfrm>
            <a:off x="26929080" y="6446520"/>
            <a:ext cx="12527280" cy="77724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3800" b="1" i="0">
                <a:solidFill>
                  <a:srgbClr val="FFFFFF"/>
                </a:solidFill>
                <a:latin typeface="Calibri"/>
              </a:rPr>
              <a:t>Toward a better calibration (work in progress)</a:t>
            </a:r>
          </a:p>
        </p:txBody>
      </p:sp>
      <p:sp>
        <p:nvSpPr>
          <p:cNvPr id="51" name="TextBox 50"/>
          <p:cNvSpPr txBox="1"/>
          <p:nvPr/>
        </p:nvSpPr>
        <p:spPr>
          <a:xfrm>
            <a:off x="27203400" y="7406640"/>
            <a:ext cx="11978640" cy="648970"/>
          </a:xfrm>
          <a:prstGeom prst="rect">
            <a:avLst/>
          </a:prstGeom>
          <a:noFill/>
        </p:spPr>
        <p:txBody>
          <a:bodyPr wrap="square" tIns="27432" bIns="27432">
            <a:spAutoFit/>
          </a:bodyPr>
          <a:lstStyle/>
          <a:p>
            <a:pPr algn="l">
              <a:spcAft>
                <a:spcPts val="910"/>
              </a:spcAft>
            </a:pPr>
            <a:r>
              <a:rPr sz="2600" b="1" i="0">
                <a:solidFill>
                  <a:srgbClr val="22252A"/>
                </a:solidFill>
                <a:latin typeface="Calibri"/>
              </a:rPr>
              <a:t>Step 1. Baseline correction of the spectra</a:t>
            </a:r>
            <a:r>
              <a:rPr sz="2600" b="0" i="0">
                <a:solidFill>
                  <a:srgbClr val="22252A"/>
                </a:solidFill>
                <a:latin typeface="Calibri"/>
              </a:rPr>
              <a:t>, the biggest gain so far.</a:t>
            </a:r>
          </a:p>
        </p:txBody>
      </p:sp>
      <p:pic>
        <p:nvPicPr>
          <p:cNvPr id="52" name="Picture 51" descr="fp_baseline.png"/>
          <p:cNvPicPr>
            <a:picLocks noChangeAspect="1"/>
          </p:cNvPicPr>
          <p:nvPr/>
        </p:nvPicPr>
        <p:blipFill>
          <a:blip r:embed="rId12"/>
          <a:stretch>
            <a:fillRect/>
          </a:stretch>
        </p:blipFill>
        <p:spPr>
          <a:xfrm>
            <a:off x="27203400" y="8101330"/>
            <a:ext cx="11978640" cy="6035683"/>
          </a:xfrm>
          <a:prstGeom prst="rect">
            <a:avLst/>
          </a:prstGeom>
        </p:spPr>
      </p:pic>
      <p:sp>
        <p:nvSpPr>
          <p:cNvPr id="53" name="TextBox 52"/>
          <p:cNvSpPr txBox="1"/>
          <p:nvPr/>
        </p:nvSpPr>
        <p:spPr>
          <a:xfrm>
            <a:off x="27203400" y="14182733"/>
            <a:ext cx="11978640" cy="896620"/>
          </a:xfrm>
          <a:prstGeom prst="rect">
            <a:avLst/>
          </a:prstGeom>
          <a:noFill/>
        </p:spPr>
        <p:txBody>
          <a:bodyPr wrap="square" tIns="27432" bIns="27432">
            <a:spAutoFit/>
          </a:bodyPr>
          <a:lstStyle/>
          <a:p>
            <a:pPr algn="l">
              <a:spcAft>
                <a:spcPts val="460"/>
              </a:spcAft>
            </a:pPr>
            <a:r>
              <a:rPr sz="2300" b="1" i="0">
                <a:solidFill>
                  <a:srgbClr val="55585E"/>
                </a:solidFill>
                <a:latin typeface="Calibri"/>
              </a:rPr>
              <a:t>Figure 7.</a:t>
            </a:r>
            <a:r>
              <a:rPr sz="2300" b="0" i="0">
                <a:solidFill>
                  <a:srgbClr val="55585E"/>
                </a:solidFill>
                <a:latin typeface="Calibri"/>
              </a:rPr>
              <a:t> Same Addis filters, same axes as Figure 4. Correcting the baseline moves the intercept from -6.1 to -1.2 µg/m³, but the slope drops to 0.59.</a:t>
            </a:r>
          </a:p>
        </p:txBody>
      </p:sp>
      <p:sp>
        <p:nvSpPr>
          <p:cNvPr id="54" name="TextBox 53"/>
          <p:cNvSpPr txBox="1"/>
          <p:nvPr/>
        </p:nvSpPr>
        <p:spPr>
          <a:xfrm>
            <a:off x="27203400" y="15262233"/>
            <a:ext cx="11978640" cy="1045209"/>
          </a:xfrm>
          <a:prstGeom prst="rect">
            <a:avLst/>
          </a:prstGeom>
          <a:noFill/>
        </p:spPr>
        <p:txBody>
          <a:bodyPr wrap="square" tIns="27432" bIns="27432">
            <a:spAutoFit/>
          </a:bodyPr>
          <a:lstStyle/>
          <a:p>
            <a:pPr algn="l">
              <a:spcAft>
                <a:spcPts val="910"/>
              </a:spcAft>
            </a:pPr>
            <a:r>
              <a:rPr sz="2600" b="1" i="0">
                <a:solidFill>
                  <a:srgbClr val="22252A"/>
                </a:solidFill>
                <a:latin typeface="Calibri"/>
              </a:rPr>
              <a:t>Step 2. Test thousands of calibrations</a:t>
            </a:r>
            <a:r>
              <a:rPr sz="2600" b="0" i="0">
                <a:solidFill>
                  <a:srgbClr val="22252A"/>
                </a:solidFill>
                <a:latin typeface="Calibri"/>
              </a:rPr>
              <a:t> with an interactive app we built, changing which IMPROVE filters are in the calibration set and how it is built.</a:t>
            </a:r>
          </a:p>
        </p:txBody>
      </p:sp>
      <p:pic>
        <p:nvPicPr>
          <p:cNvPr id="55" name="Picture 54" descr="fp_explorer.png"/>
          <p:cNvPicPr>
            <a:picLocks noChangeAspect="1"/>
          </p:cNvPicPr>
          <p:nvPr/>
        </p:nvPicPr>
        <p:blipFill>
          <a:blip r:embed="rId13"/>
          <a:stretch>
            <a:fillRect/>
          </a:stretch>
        </p:blipFill>
        <p:spPr>
          <a:xfrm>
            <a:off x="27203400" y="16353163"/>
            <a:ext cx="11978640" cy="5080394"/>
          </a:xfrm>
          <a:prstGeom prst="rect">
            <a:avLst/>
          </a:prstGeom>
        </p:spPr>
      </p:pic>
      <p:sp>
        <p:nvSpPr>
          <p:cNvPr id="56" name="TextBox 55"/>
          <p:cNvSpPr txBox="1"/>
          <p:nvPr/>
        </p:nvSpPr>
        <p:spPr>
          <a:xfrm>
            <a:off x="27203400" y="21479278"/>
            <a:ext cx="11978640" cy="1597659"/>
          </a:xfrm>
          <a:prstGeom prst="rect">
            <a:avLst/>
          </a:prstGeom>
          <a:noFill/>
        </p:spPr>
        <p:txBody>
          <a:bodyPr wrap="square" tIns="27432" bIns="27432">
            <a:spAutoFit/>
          </a:bodyPr>
          <a:lstStyle/>
          <a:p>
            <a:pPr algn="l">
              <a:spcAft>
                <a:spcPts val="460"/>
              </a:spcAft>
            </a:pPr>
            <a:r>
              <a:rPr sz="2300" b="1" i="0">
                <a:solidFill>
                  <a:srgbClr val="55585E"/>
                </a:solidFill>
                <a:latin typeface="Calibri"/>
              </a:rPr>
              <a:t>Figure 8.</a:t>
            </a:r>
            <a:r>
              <a:rPr sz="2300" b="0" i="0">
                <a:solidFill>
                  <a:srgbClr val="55585E"/>
                </a:solidFill>
                <a:latin typeface="Calibri"/>
              </a:rPr>
              <a:t> Each column is one calibration (3,138, all on baseline-corrected spectra), sorted by its Addis intercept (top). Tick marks show which choices it used. 254 put the intercept within ±0.5 µg/m³ of zero; 20 of those also have a slope between 0.8 and 1.25. Next: find out why those work, or whether it is chance.</a:t>
            </a:r>
          </a:p>
        </p:txBody>
      </p:sp>
      <p:sp>
        <p:nvSpPr>
          <p:cNvPr id="57" name="TextBox 56"/>
          <p:cNvSpPr txBox="1"/>
          <p:nvPr/>
        </p:nvSpPr>
        <p:spPr>
          <a:xfrm>
            <a:off x="27203400" y="23259818"/>
            <a:ext cx="11978640" cy="1045209"/>
          </a:xfrm>
          <a:prstGeom prst="rect">
            <a:avLst/>
          </a:prstGeom>
          <a:noFill/>
        </p:spPr>
        <p:txBody>
          <a:bodyPr wrap="square" tIns="27432" bIns="27432">
            <a:spAutoFit/>
          </a:bodyPr>
          <a:lstStyle/>
          <a:p>
            <a:pPr algn="l">
              <a:spcAft>
                <a:spcPts val="910"/>
              </a:spcAft>
            </a:pPr>
            <a:r>
              <a:rPr sz="2600" b="1" i="0">
                <a:solidFill>
                  <a:srgbClr val="22252A"/>
                </a:solidFill>
                <a:latin typeface="Calibri"/>
              </a:rPr>
              <a:t>Step 3. One calibration per season</a:t>
            </a:r>
            <a:r>
              <a:rPr sz="2600" b="0" i="0">
                <a:solidFill>
                  <a:srgbClr val="22252A"/>
                </a:solidFill>
                <a:latin typeface="Calibri"/>
              </a:rPr>
              <a:t>, built from the IMPROVE filters whose spectra most resemble that season's Addis spectra.</a:t>
            </a:r>
          </a:p>
        </p:txBody>
      </p:sp>
      <p:pic>
        <p:nvPicPr>
          <p:cNvPr id="58" name="Picture 57" descr="fp_seasons.png"/>
          <p:cNvPicPr>
            <a:picLocks noChangeAspect="1"/>
          </p:cNvPicPr>
          <p:nvPr/>
        </p:nvPicPr>
        <p:blipFill>
          <a:blip r:embed="rId14"/>
          <a:stretch>
            <a:fillRect/>
          </a:stretch>
        </p:blipFill>
        <p:spPr>
          <a:xfrm>
            <a:off x="27203400" y="24350748"/>
            <a:ext cx="11978640" cy="4843156"/>
          </a:xfrm>
          <a:prstGeom prst="rect">
            <a:avLst/>
          </a:prstGeom>
        </p:spPr>
      </p:pic>
      <p:sp>
        <p:nvSpPr>
          <p:cNvPr id="59" name="TextBox 58"/>
          <p:cNvSpPr txBox="1"/>
          <p:nvPr/>
        </p:nvSpPr>
        <p:spPr>
          <a:xfrm>
            <a:off x="27203400" y="29239625"/>
            <a:ext cx="11978640" cy="896620"/>
          </a:xfrm>
          <a:prstGeom prst="rect">
            <a:avLst/>
          </a:prstGeom>
          <a:noFill/>
        </p:spPr>
        <p:txBody>
          <a:bodyPr wrap="square" tIns="27432" bIns="27432">
            <a:spAutoFit/>
          </a:bodyPr>
          <a:lstStyle/>
          <a:p>
            <a:pPr algn="l">
              <a:spcAft>
                <a:spcPts val="460"/>
              </a:spcAft>
            </a:pPr>
            <a:r>
              <a:rPr sz="2300" b="1" i="0">
                <a:solidFill>
                  <a:srgbClr val="55585E"/>
                </a:solidFill>
                <a:latin typeface="Calibri"/>
              </a:rPr>
              <a:t>Figure 9.</a:t>
            </a:r>
            <a:r>
              <a:rPr sz="2300" b="0" i="0">
                <a:solidFill>
                  <a:srgbClr val="55585E"/>
                </a:solidFill>
                <a:latin typeface="Calibri"/>
              </a:rPr>
              <a:t> Dashed: current calibration; grey: baseline-corrected (Step 1); colour: season-specific. Kiremt improves (slope 0.50 to 0.94); Dry and Belg do not yet.</a:t>
            </a:r>
          </a:p>
        </p:txBody>
      </p:sp>
      <p:sp>
        <p:nvSpPr>
          <p:cNvPr id="60" name="Rectangle 59"/>
          <p:cNvSpPr/>
          <p:nvPr/>
        </p:nvSpPr>
        <p:spPr>
          <a:xfrm>
            <a:off x="26929080" y="30364845"/>
            <a:ext cx="12527280" cy="77724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3800" b="1" i="0">
                <a:solidFill>
                  <a:srgbClr val="FFFFFF"/>
                </a:solidFill>
                <a:latin typeface="Calibri"/>
              </a:rPr>
              <a:t>Conclusions and next steps</a:t>
            </a:r>
          </a:p>
        </p:txBody>
      </p:sp>
      <p:sp>
        <p:nvSpPr>
          <p:cNvPr id="61" name="TextBox 60"/>
          <p:cNvSpPr txBox="1"/>
          <p:nvPr/>
        </p:nvSpPr>
        <p:spPr>
          <a:xfrm>
            <a:off x="27203400" y="31324965"/>
            <a:ext cx="11978640" cy="4114800"/>
          </a:xfrm>
          <a:prstGeom prst="rect">
            <a:avLst/>
          </a:prstGeom>
          <a:noFill/>
        </p:spPr>
        <p:txBody>
          <a:bodyPr wrap="square" tIns="27432" bIns="27432">
            <a:spAutoFit/>
          </a:bodyPr>
          <a:lstStyle/>
          <a:p>
            <a:pPr algn="l" marL="384048" indent="-384048">
              <a:spcAft>
                <a:spcPts val="839"/>
              </a:spcAft>
              <a:buChar char="•"/>
            </a:pPr>
            <a:r>
              <a:rPr sz="2400" b="0" i="0">
                <a:solidFill>
                  <a:srgbClr val="22252A"/>
                </a:solidFill>
                <a:latin typeface="Calibri"/>
              </a:rPr>
              <a:t>FTIR EC calibrated on ambient IMPROVE filters predicts IMPROVE, and the SPARTAN network as a whole, reasonably, but not Addis Ababa.</a:t>
            </a:r>
          </a:p>
          <a:p>
            <a:pPr algn="l" marL="384048" indent="-384048">
              <a:spcAft>
                <a:spcPts val="839"/>
              </a:spcAft>
              <a:buChar char="•"/>
            </a:pPr>
            <a:r>
              <a:rPr sz="2400" b="0" i="0">
                <a:solidFill>
                  <a:srgbClr val="22252A"/>
                </a:solidFill>
                <a:latin typeface="Calibri"/>
              </a:rPr>
              <a:t>Concentration is not the whole story: IMPROVE filters with Addis-like spectra are poorly predicted at IMPROVE concentrations. Addis burns different fuels (wood, charcoal) from rural US sites, so its EC may differ in composition.</a:t>
            </a:r>
          </a:p>
          <a:p>
            <a:pPr algn="l" marL="384048" indent="-384048">
              <a:spcAft>
                <a:spcPts val="839"/>
              </a:spcAft>
              <a:buChar char="•"/>
            </a:pPr>
            <a:r>
              <a:rPr sz="2400" b="0" i="0">
                <a:solidFill>
                  <a:srgbClr val="22252A"/>
                </a:solidFill>
                <a:latin typeface="Calibri"/>
              </a:rPr>
              <a:t>Next: find out why the Dry and Belg seasons are poorly predicted (compare IMPROVE and Addis spectra by season); try choosing calibration filters by OC/EC ratio; check TOR on the heaviest smoke-affected IMPROVE filters; longer term, collect collocated Teflon and quartz filters in Addis Ababa, at least some to check calibrations.</a:t>
            </a:r>
          </a:p>
        </p:txBody>
      </p:sp>
      <p:sp>
        <p:nvSpPr>
          <p:cNvPr id="62" name="Rectangle 61"/>
          <p:cNvSpPr/>
          <p:nvPr/>
        </p:nvSpPr>
        <p:spPr>
          <a:xfrm>
            <a:off x="26929080" y="35622645"/>
            <a:ext cx="12527280" cy="77724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3800" b="1" i="0">
                <a:solidFill>
                  <a:srgbClr val="FFFFFF"/>
                </a:solidFill>
                <a:latin typeface="Calibri"/>
              </a:rPr>
              <a:t>References</a:t>
            </a:r>
          </a:p>
        </p:txBody>
      </p:sp>
      <p:sp>
        <p:nvSpPr>
          <p:cNvPr id="63" name="TextBox 62"/>
          <p:cNvSpPr txBox="1"/>
          <p:nvPr/>
        </p:nvSpPr>
        <p:spPr>
          <a:xfrm>
            <a:off x="27203400" y="36537045"/>
            <a:ext cx="11978640" cy="3915409"/>
          </a:xfrm>
          <a:prstGeom prst="rect">
            <a:avLst/>
          </a:prstGeom>
          <a:noFill/>
        </p:spPr>
        <p:txBody>
          <a:bodyPr wrap="square" tIns="27432" bIns="27432">
            <a:spAutoFit/>
          </a:bodyPr>
          <a:lstStyle/>
          <a:p>
            <a:pPr algn="l">
              <a:spcAft>
                <a:spcPts val="170"/>
              </a:spcAft>
            </a:pPr>
            <a:r>
              <a:rPr sz="1700" b="0" i="0">
                <a:solidFill>
                  <a:srgbClr val="55585E"/>
                </a:solidFill>
                <a:latin typeface="Calibri"/>
              </a:rPr>
              <a:t>Chow, J. C., et al. (2007). The IMPROVE_A temperature protocol for thermal/optical carbon analysis. </a:t>
            </a:r>
            <a:r>
              <a:rPr sz="1700" b="0" i="1">
                <a:solidFill>
                  <a:srgbClr val="55585E"/>
                </a:solidFill>
                <a:latin typeface="Calibri"/>
              </a:rPr>
              <a:t>J. Air Waste Manag. Assoc.</a:t>
            </a:r>
            <a:r>
              <a:rPr sz="1700" b="0" i="0">
                <a:solidFill>
                  <a:srgbClr val="55585E"/>
                </a:solidFill>
                <a:latin typeface="Calibri"/>
              </a:rPr>
              <a:t>, 57, 1014-1023.</a:t>
            </a:r>
          </a:p>
          <a:p>
            <a:pPr algn="l">
              <a:spcAft>
                <a:spcPts val="170"/>
              </a:spcAft>
            </a:pPr>
            <a:r>
              <a:rPr sz="1700" b="0" i="0">
                <a:solidFill>
                  <a:srgbClr val="55585E"/>
                </a:solidFill>
                <a:latin typeface="Calibri"/>
              </a:rPr>
              <a:t>Dillner, A. M., &amp; Takahama, S. (2015). Predicting ambient aerosol thermal-optical reflectance measurements from infrared spectra: elemental carbon. </a:t>
            </a:r>
            <a:r>
              <a:rPr sz="1700" b="0" i="1">
                <a:solidFill>
                  <a:srgbClr val="55585E"/>
                </a:solidFill>
                <a:latin typeface="Calibri"/>
              </a:rPr>
              <a:t>Atmos. Meas. Tech.</a:t>
            </a:r>
            <a:r>
              <a:rPr sz="1700" b="0" i="0">
                <a:solidFill>
                  <a:srgbClr val="55585E"/>
                </a:solidFill>
                <a:latin typeface="Calibri"/>
              </a:rPr>
              <a:t>, 8, 4013-4023.</a:t>
            </a:r>
          </a:p>
          <a:p>
            <a:pPr algn="l">
              <a:spcAft>
                <a:spcPts val="170"/>
              </a:spcAft>
            </a:pPr>
            <a:r>
              <a:rPr sz="1700" b="0" i="0">
                <a:solidFill>
                  <a:srgbClr val="55585E"/>
                </a:solidFill>
                <a:latin typeface="Calibri"/>
              </a:rPr>
              <a:t>Kuzmiakova, A., Dillner, A. M., &amp; Takahama, S. (2016). An automated baseline correction protocol for infrared spectra of atmospheric aerosols collected on polytetrafluoroethylene (Teflon) filters. </a:t>
            </a:r>
            <a:r>
              <a:rPr sz="1700" b="0" i="1">
                <a:solidFill>
                  <a:srgbClr val="55585E"/>
                </a:solidFill>
                <a:latin typeface="Calibri"/>
              </a:rPr>
              <a:t>Atmos. Meas. Tech.</a:t>
            </a:r>
            <a:r>
              <a:rPr sz="1700" b="0" i="0">
                <a:solidFill>
                  <a:srgbClr val="55585E"/>
                </a:solidFill>
                <a:latin typeface="Calibri"/>
              </a:rPr>
              <a:t>, 9, 2615-2631.</a:t>
            </a:r>
          </a:p>
          <a:p>
            <a:pPr algn="l">
              <a:spcAft>
                <a:spcPts val="170"/>
              </a:spcAft>
            </a:pPr>
            <a:r>
              <a:rPr sz="1700" b="0" i="0">
                <a:solidFill>
                  <a:srgbClr val="55585E"/>
                </a:solidFill>
                <a:latin typeface="Calibri"/>
              </a:rPr>
              <a:t>Malm, W. C., et al. (1994). Spatial and seasonal trends in particle concentration and optical extinction in the United States. </a:t>
            </a:r>
            <a:r>
              <a:rPr sz="1700" b="0" i="1">
                <a:solidFill>
                  <a:srgbClr val="55585E"/>
                </a:solidFill>
                <a:latin typeface="Calibri"/>
              </a:rPr>
              <a:t>J. Geophys. Res.</a:t>
            </a:r>
            <a:r>
              <a:rPr sz="1700" b="0" i="0">
                <a:solidFill>
                  <a:srgbClr val="55585E"/>
                </a:solidFill>
                <a:latin typeface="Calibri"/>
              </a:rPr>
              <a:t>, 99, 1347-1370.</a:t>
            </a:r>
          </a:p>
          <a:p>
            <a:pPr algn="l">
              <a:spcAft>
                <a:spcPts val="170"/>
              </a:spcAft>
            </a:pPr>
            <a:r>
              <a:rPr sz="1700" b="0" i="0">
                <a:solidFill>
                  <a:srgbClr val="55585E"/>
                </a:solidFill>
                <a:latin typeface="Calibri"/>
              </a:rPr>
              <a:t>Snider, G., et al. (2015). SPARTAN: a global network to evaluate and enhance satellite-based estimates of ground-level particulate matter for global health applications. </a:t>
            </a:r>
            <a:r>
              <a:rPr sz="1700" b="0" i="1">
                <a:solidFill>
                  <a:srgbClr val="55585E"/>
                </a:solidFill>
                <a:latin typeface="Calibri"/>
              </a:rPr>
              <a:t>Atmos. Meas. Tech.</a:t>
            </a:r>
            <a:r>
              <a:rPr sz="1700" b="0" i="0">
                <a:solidFill>
                  <a:srgbClr val="55585E"/>
                </a:solidFill>
                <a:latin typeface="Calibri"/>
              </a:rPr>
              <a:t>, 8, 505-521.</a:t>
            </a:r>
          </a:p>
          <a:p>
            <a:pPr algn="l">
              <a:spcAft>
                <a:spcPts val="170"/>
              </a:spcAft>
            </a:pPr>
            <a:r>
              <a:rPr sz="1700" b="0" i="0">
                <a:solidFill>
                  <a:srgbClr val="55585E"/>
                </a:solidFill>
                <a:latin typeface="Calibri"/>
              </a:rPr>
              <a:t>White, W. H., et al. (2016). A critical review of filter transmittance measurements for aerosol light absorption, and de novo calibration for a decade of monitoring on PTFE membranes. </a:t>
            </a:r>
            <a:r>
              <a:rPr sz="1700" b="0" i="1">
                <a:solidFill>
                  <a:srgbClr val="55585E"/>
                </a:solidFill>
                <a:latin typeface="Calibri"/>
              </a:rPr>
              <a:t>Aerosol Sci. Technol.</a:t>
            </a:r>
            <a:r>
              <a:rPr sz="1700" b="0" i="0">
                <a:solidFill>
                  <a:srgbClr val="55585E"/>
                </a:solidFill>
                <a:latin typeface="Calibri"/>
              </a:rPr>
              <a:t>, 50, 984-1002.</a:t>
            </a:r>
          </a:p>
          <a:p>
            <a:pPr algn="l">
              <a:spcAft>
                <a:spcPts val="170"/>
              </a:spcAft>
            </a:pPr>
            <a:r>
              <a:rPr sz="1700" b="0" i="0">
                <a:solidFill>
                  <a:srgbClr val="55585E"/>
                </a:solidFill>
                <a:latin typeface="Calibri"/>
              </a:rPr>
              <a:t>Data: SPARTAN public release v3.1.4 (www.spartan-network.org/data); IMPROVE data from the Federal Land Manager Environmental Database (FED, views.cira.colostate.edu/fed).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