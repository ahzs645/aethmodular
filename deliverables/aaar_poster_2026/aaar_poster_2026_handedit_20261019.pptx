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0233600" cy="4114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69"/>
    <p:restoredTop sz="94677"/>
  </p:normalViewPr>
  <p:slideViewPr>
    <p:cSldViewPr snapToGrid="0" snapToObjects="1">
      <p:cViewPr>
        <p:scale>
          <a:sx n="96" d="100"/>
          <a:sy n="96" d="100"/>
        </p:scale>
        <p:origin x="-5984" y="-14840"/>
      </p:cViewPr>
      <p:guideLst>
        <p:guide orient="horz" pos="2160"/>
        <p:guide pos="2880"/>
      </p:guideLst>
    </p:cSldViewPr>
  </p:slideViewPr>
  <p:notesTextViewPr>
    <p:cViewPr>
      <p:scale>
        <a:sx n="160" d="100"/>
        <a:sy n="16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577DB-52FD-264F-8CD4-98E747882E54}" type="datetimeFigureOut">
              <a:rPr lang="en-US" smtClean="0"/>
              <a:t>10/19/26</a:t>
            </a:fld>
            <a:endParaRPr lang="en-US"/>
          </a:p>
        </p:txBody>
      </p:sp>
      <p:sp>
        <p:nvSpPr>
          <p:cNvPr id="4" name="Slide Image Placeholder 3"/>
          <p:cNvSpPr>
            <a:spLocks noGrp="1" noRot="1" noChangeAspect="1"/>
          </p:cNvSpPr>
          <p:nvPr>
            <p:ph type="sldImg" idx="2"/>
          </p:nvPr>
        </p:nvSpPr>
        <p:spPr>
          <a:xfrm>
            <a:off x="1920875" y="1143000"/>
            <a:ext cx="30162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0E75FC-0C6F-DE46-ACB5-1CE6BE83E39E}" type="slidenum">
              <a:rPr lang="en-US" smtClean="0"/>
              <a:t>‹#›</a:t>
            </a:fld>
            <a:endParaRPr lang="en-US"/>
          </a:p>
        </p:txBody>
      </p:sp>
    </p:spTree>
    <p:extLst>
      <p:ext uri="{BB962C8B-B14F-4D97-AF65-F5344CB8AC3E}">
        <p14:creationId xmlns:p14="http://schemas.microsoft.com/office/powerpoint/2010/main" val="2137148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0E75FC-0C6F-DE46-ACB5-1CE6BE83E39E}" type="slidenum">
              <a:rPr lang="en-US" smtClean="0"/>
              <a:t>1</a:t>
            </a:fld>
            <a:endParaRPr lang="en-US"/>
          </a:p>
        </p:txBody>
      </p:sp>
    </p:spTree>
    <p:extLst>
      <p:ext uri="{BB962C8B-B14F-4D97-AF65-F5344CB8AC3E}">
        <p14:creationId xmlns:p14="http://schemas.microsoft.com/office/powerpoint/2010/main" val="2278179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0233600" cy="41148000"/>
          </a:xfrm>
          <a:prstGeom prst="rect">
            <a:avLst/>
          </a:prstGeom>
          <a:solidFill>
            <a:srgbClr val="E4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77240" y="457200"/>
            <a:ext cx="38679120" cy="5577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424160" y="548640"/>
            <a:ext cx="19385280" cy="1717393"/>
          </a:xfrm>
          <a:prstGeom prst="rect">
            <a:avLst/>
          </a:prstGeom>
          <a:noFill/>
        </p:spPr>
        <p:txBody>
          <a:bodyPr wrap="square" tIns="27432" bIns="27432">
            <a:spAutoFit/>
          </a:bodyPr>
          <a:lstStyle/>
          <a:p>
            <a:pPr algn="ctr">
              <a:spcAft>
                <a:spcPts val="0"/>
              </a:spcAft>
            </a:pPr>
            <a:r>
              <a:rPr lang="en-CA" sz="5400" b="1" dirty="0">
                <a:solidFill>
                  <a:srgbClr val="1B365D"/>
                </a:solidFill>
                <a:latin typeface="Calibri"/>
              </a:rPr>
              <a:t>Comparison of </a:t>
            </a:r>
            <a:r>
              <a:rPr sz="5400" b="1" i="0" dirty="0">
                <a:solidFill>
                  <a:srgbClr val="1B365D"/>
                </a:solidFill>
                <a:latin typeface="Calibri"/>
              </a:rPr>
              <a:t>FTIR elemental carbon</a:t>
            </a:r>
            <a:r>
              <a:rPr lang="en-CA" sz="5400" b="1" i="0" dirty="0">
                <a:solidFill>
                  <a:srgbClr val="1B365D"/>
                </a:solidFill>
                <a:latin typeface="Calibri"/>
              </a:rPr>
              <a:t> (EC)</a:t>
            </a:r>
            <a:r>
              <a:rPr sz="5400" b="1" i="0" dirty="0">
                <a:solidFill>
                  <a:srgbClr val="1B365D"/>
                </a:solidFill>
                <a:latin typeface="Calibri"/>
              </a:rPr>
              <a:t> </a:t>
            </a:r>
            <a:r>
              <a:rPr lang="en-CA" sz="5400" b="1" i="0" dirty="0">
                <a:solidFill>
                  <a:srgbClr val="1B365D"/>
                </a:solidFill>
                <a:latin typeface="Calibri"/>
              </a:rPr>
              <a:t>measurements </a:t>
            </a:r>
            <a:r>
              <a:rPr sz="5400" b="1" i="0" dirty="0">
                <a:solidFill>
                  <a:srgbClr val="1B365D"/>
                </a:solidFill>
                <a:latin typeface="Calibri"/>
              </a:rPr>
              <a:t>in Addis Ababa,</a:t>
            </a:r>
            <a:r>
              <a:rPr lang="en-CA" sz="5400" b="1" dirty="0">
                <a:solidFill>
                  <a:srgbClr val="1B365D"/>
                </a:solidFill>
                <a:latin typeface="Calibri"/>
              </a:rPr>
              <a:t> Ethiopia with rural U.S. IMPROVE EC measurements</a:t>
            </a:r>
            <a:endParaRPr lang="en-CA" sz="5400" b="1" i="0" dirty="0">
              <a:solidFill>
                <a:srgbClr val="1B365D"/>
              </a:solidFill>
              <a:latin typeface="Calibri"/>
            </a:endParaRPr>
          </a:p>
        </p:txBody>
      </p:sp>
      <p:sp>
        <p:nvSpPr>
          <p:cNvPr id="5" name="TextBox 4"/>
          <p:cNvSpPr txBox="1"/>
          <p:nvPr/>
        </p:nvSpPr>
        <p:spPr>
          <a:xfrm>
            <a:off x="10424160" y="3246120"/>
            <a:ext cx="19385280" cy="1097280"/>
          </a:xfrm>
          <a:prstGeom prst="rect">
            <a:avLst/>
          </a:prstGeom>
          <a:noFill/>
        </p:spPr>
        <p:txBody>
          <a:bodyPr wrap="square" tIns="27432" bIns="27432">
            <a:spAutoFit/>
          </a:bodyPr>
          <a:lstStyle/>
          <a:p>
            <a:pPr algn="ctr">
              <a:spcAft>
                <a:spcPts val="0"/>
              </a:spcAft>
            </a:pPr>
            <a:r>
              <a:rPr sz="3200" b="0" i="0" dirty="0">
                <a:solidFill>
                  <a:srgbClr val="22252A"/>
                </a:solidFill>
                <a:latin typeface="Calibri"/>
              </a:rPr>
              <a:t>Ahmad Jalil¹˒⁴, Sina Hasheminassab², Kyan </a:t>
            </a:r>
            <a:r>
              <a:rPr sz="3200" b="0" i="0" dirty="0" err="1">
                <a:solidFill>
                  <a:srgbClr val="22252A"/>
                </a:solidFill>
                <a:latin typeface="Calibri"/>
              </a:rPr>
              <a:t>Shlipak</a:t>
            </a:r>
            <a:r>
              <a:rPr sz="3200" b="0" i="0" dirty="0">
                <a:solidFill>
                  <a:srgbClr val="22252A"/>
                </a:solidFill>
                <a:latin typeface="Calibri"/>
              </a:rPr>
              <a:t>⁵˒², Tesfaye Mamo Mekonnen³, Araya Asfaw³, Hossein Kazemian¹, Ann M. Dillner⁴</a:t>
            </a:r>
          </a:p>
        </p:txBody>
      </p:sp>
      <p:sp>
        <p:nvSpPr>
          <p:cNvPr id="6" name="TextBox 5"/>
          <p:cNvSpPr txBox="1"/>
          <p:nvPr/>
        </p:nvSpPr>
        <p:spPr>
          <a:xfrm>
            <a:off x="10424160" y="4343400"/>
            <a:ext cx="19385280" cy="701731"/>
          </a:xfrm>
          <a:prstGeom prst="rect">
            <a:avLst/>
          </a:prstGeom>
          <a:noFill/>
        </p:spPr>
        <p:txBody>
          <a:bodyPr wrap="square" tIns="27432" bIns="27432">
            <a:spAutoFit/>
          </a:bodyPr>
          <a:lstStyle/>
          <a:p>
            <a:pPr algn="ctr">
              <a:spcAft>
                <a:spcPts val="0"/>
              </a:spcAft>
            </a:pPr>
            <a:r>
              <a:rPr sz="2100" b="0" i="0" dirty="0">
                <a:solidFill>
                  <a:srgbClr val="55585E"/>
                </a:solidFill>
                <a:latin typeface="Calibri"/>
              </a:rPr>
              <a:t>¹ MATTER lab, University of Northern British Columbia, Prince George, BC, Canada · ² NASA Jet Propulsion Laboratory, Pasadena, CA, USA · ³ Addis Ababa University,</a:t>
            </a:r>
            <a:r>
              <a:rPr lang="en-CA" sz="2100" b="0" i="0" dirty="0">
                <a:solidFill>
                  <a:srgbClr val="55585E"/>
                </a:solidFill>
                <a:latin typeface="Calibri"/>
              </a:rPr>
              <a:t> Addis Ababa,</a:t>
            </a:r>
            <a:r>
              <a:rPr sz="2100" b="0" i="0" dirty="0">
                <a:solidFill>
                  <a:srgbClr val="55585E"/>
                </a:solidFill>
                <a:latin typeface="Calibri"/>
              </a:rPr>
              <a:t> Ethiopia · ⁴ Air Quality Research Center, University of California Davis,</a:t>
            </a:r>
            <a:r>
              <a:rPr lang="en-CA" sz="2100" b="0" i="0" dirty="0">
                <a:solidFill>
                  <a:srgbClr val="55585E"/>
                </a:solidFill>
                <a:latin typeface="Calibri"/>
              </a:rPr>
              <a:t> Davis,</a:t>
            </a:r>
            <a:r>
              <a:rPr sz="2100" b="0" i="0" dirty="0">
                <a:solidFill>
                  <a:srgbClr val="55585E"/>
                </a:solidFill>
                <a:latin typeface="Calibri"/>
              </a:rPr>
              <a:t> CA, USA · ⁵ Northwestern University, Evanston, IL, USA</a:t>
            </a:r>
          </a:p>
        </p:txBody>
      </p:sp>
      <p:pic>
        <p:nvPicPr>
          <p:cNvPr id="7" name="Picture 6" descr="unbc.png"/>
          <p:cNvPicPr>
            <a:picLocks noChangeAspect="1"/>
          </p:cNvPicPr>
          <p:nvPr/>
        </p:nvPicPr>
        <p:blipFill>
          <a:blip r:embed="rId3"/>
          <a:stretch>
            <a:fillRect/>
          </a:stretch>
        </p:blipFill>
        <p:spPr>
          <a:xfrm>
            <a:off x="1371600" y="1097280"/>
            <a:ext cx="8595360" cy="1481631"/>
          </a:xfrm>
          <a:prstGeom prst="rect">
            <a:avLst/>
          </a:prstGeom>
        </p:spPr>
      </p:pic>
      <p:pic>
        <p:nvPicPr>
          <p:cNvPr id="8" name="Picture 7" descr="ucdavis_aqrc.png"/>
          <p:cNvPicPr>
            <a:picLocks noChangeAspect="1"/>
          </p:cNvPicPr>
          <p:nvPr/>
        </p:nvPicPr>
        <p:blipFill>
          <a:blip r:embed="rId4"/>
          <a:stretch>
            <a:fillRect/>
          </a:stretch>
        </p:blipFill>
        <p:spPr>
          <a:xfrm>
            <a:off x="1371600" y="3291840"/>
            <a:ext cx="8595360" cy="1460749"/>
          </a:xfrm>
          <a:prstGeom prst="rect">
            <a:avLst/>
          </a:prstGeom>
        </p:spPr>
      </p:pic>
      <p:pic>
        <p:nvPicPr>
          <p:cNvPr id="10" name="Picture 9" descr="spartan.png"/>
          <p:cNvPicPr>
            <a:picLocks noChangeAspect="1"/>
          </p:cNvPicPr>
          <p:nvPr/>
        </p:nvPicPr>
        <p:blipFill>
          <a:blip r:embed="rId5"/>
          <a:stretch>
            <a:fillRect/>
          </a:stretch>
        </p:blipFill>
        <p:spPr>
          <a:xfrm>
            <a:off x="31272480" y="3566160"/>
            <a:ext cx="6766560" cy="1554480"/>
          </a:xfrm>
          <a:prstGeom prst="rect">
            <a:avLst/>
          </a:prstGeom>
        </p:spPr>
      </p:pic>
      <p:sp>
        <p:nvSpPr>
          <p:cNvPr id="11" name="Rectangle 10"/>
          <p:cNvSpPr/>
          <p:nvPr/>
        </p:nvSpPr>
        <p:spPr>
          <a:xfrm>
            <a:off x="777240" y="6446520"/>
            <a:ext cx="12527280" cy="34061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3853159" y="6446520"/>
            <a:ext cx="12527280" cy="34061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6929080" y="6446520"/>
            <a:ext cx="12527280" cy="34061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6446520"/>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ctr"/>
            <a:r>
              <a:rPr sz="3800" b="1" i="0">
                <a:solidFill>
                  <a:srgbClr val="FFFFFF"/>
                </a:solidFill>
                <a:latin typeface="Calibri"/>
              </a:rPr>
              <a:t>Why elemental carbon in Addis Ababa?</a:t>
            </a:r>
          </a:p>
        </p:txBody>
      </p:sp>
      <p:sp>
        <p:nvSpPr>
          <p:cNvPr id="15" name="TextBox 14"/>
          <p:cNvSpPr txBox="1"/>
          <p:nvPr/>
        </p:nvSpPr>
        <p:spPr>
          <a:xfrm>
            <a:off x="1051560" y="7406640"/>
            <a:ext cx="11978640" cy="5328920"/>
          </a:xfrm>
          <a:prstGeom prst="rect">
            <a:avLst/>
          </a:prstGeom>
          <a:noFill/>
        </p:spPr>
        <p:txBody>
          <a:bodyPr wrap="square" tIns="27432" bIns="27432">
            <a:spAutoFit/>
          </a:bodyPr>
          <a:lstStyle/>
          <a:p>
            <a:pPr marL="384048" indent="-384048" algn="l">
              <a:spcAft>
                <a:spcPts val="979"/>
              </a:spcAft>
              <a:buChar char="•"/>
            </a:pPr>
            <a:r>
              <a:rPr sz="2800" b="1" i="0" dirty="0">
                <a:solidFill>
                  <a:srgbClr val="22252A"/>
                </a:solidFill>
                <a:latin typeface="Calibri"/>
              </a:rPr>
              <a:t>Elemental carbon (EC)</a:t>
            </a:r>
            <a:r>
              <a:rPr sz="2800" b="0" i="0" dirty="0">
                <a:solidFill>
                  <a:srgbClr val="22252A"/>
                </a:solidFill>
                <a:latin typeface="Calibri"/>
              </a:rPr>
              <a:t> is the black, soot-like carbon from burning. It warms the climate and harms health.</a:t>
            </a:r>
          </a:p>
          <a:p>
            <a:pPr marL="384048" indent="-384048" algn="l">
              <a:spcAft>
                <a:spcPts val="979"/>
              </a:spcAft>
              <a:buChar char="•"/>
            </a:pPr>
            <a:r>
              <a:rPr sz="2800" b="1" i="0" dirty="0">
                <a:solidFill>
                  <a:srgbClr val="22252A"/>
                </a:solidFill>
                <a:latin typeface="Calibri"/>
              </a:rPr>
              <a:t>SPARTAN</a:t>
            </a:r>
            <a:r>
              <a:rPr sz="2800" b="0" i="0" dirty="0">
                <a:solidFill>
                  <a:srgbClr val="22252A"/>
                </a:solidFill>
                <a:latin typeface="Calibri"/>
              </a:rPr>
              <a:t> (Surface </a:t>
            </a:r>
            <a:r>
              <a:rPr sz="2800" b="0" i="0" dirty="0" err="1">
                <a:solidFill>
                  <a:srgbClr val="22252A"/>
                </a:solidFill>
                <a:latin typeface="Calibri"/>
              </a:rPr>
              <a:t>PARTiculate</a:t>
            </a:r>
            <a:r>
              <a:rPr sz="2800" b="0" i="0" dirty="0">
                <a:solidFill>
                  <a:srgbClr val="22252A"/>
                </a:solidFill>
                <a:latin typeface="Calibri"/>
              </a:rPr>
              <a:t> </a:t>
            </a:r>
            <a:r>
              <a:rPr sz="2800" b="0" i="0" dirty="0" err="1">
                <a:solidFill>
                  <a:srgbClr val="22252A"/>
                </a:solidFill>
                <a:latin typeface="Calibri"/>
              </a:rPr>
              <a:t>mAtter</a:t>
            </a:r>
            <a:r>
              <a:rPr sz="2800" b="0" i="0" dirty="0">
                <a:solidFill>
                  <a:srgbClr val="22252A"/>
                </a:solidFill>
                <a:latin typeface="Calibri"/>
              </a:rPr>
              <a:t> Network) samples particles onto filters in cities around the world, mostly in the Global South. It measures EC by </a:t>
            </a:r>
            <a:r>
              <a:rPr sz="2800" b="1" i="0" dirty="0">
                <a:solidFill>
                  <a:srgbClr val="22252A"/>
                </a:solidFill>
                <a:latin typeface="Calibri"/>
              </a:rPr>
              <a:t>FTIR</a:t>
            </a:r>
            <a:r>
              <a:rPr sz="2800" b="0" i="0" dirty="0">
                <a:solidFill>
                  <a:srgbClr val="22252A"/>
                </a:solidFill>
                <a:latin typeface="Calibri"/>
              </a:rPr>
              <a:t> (below).</a:t>
            </a:r>
          </a:p>
          <a:p>
            <a:pPr marL="384048" indent="-384048" algn="l">
              <a:spcAft>
                <a:spcPts val="979"/>
              </a:spcAft>
              <a:buChar char="•"/>
            </a:pPr>
            <a:r>
              <a:rPr sz="2800" b="1" i="0" dirty="0">
                <a:solidFill>
                  <a:srgbClr val="22252A"/>
                </a:solidFill>
                <a:latin typeface="Calibri"/>
              </a:rPr>
              <a:t>Addis Ababa</a:t>
            </a:r>
            <a:r>
              <a:rPr sz="2800" b="0" i="0" dirty="0">
                <a:solidFill>
                  <a:srgbClr val="22252A"/>
                </a:solidFill>
                <a:latin typeface="Calibri"/>
              </a:rPr>
              <a:t>, capital of Ethiopia (East Africa, about 2,400 m elevation, about 5 million people) is a SPARTAN site with some of the highest EC in the network. Households cook and heat with wood and charcoal.</a:t>
            </a:r>
          </a:p>
          <a:p>
            <a:pPr marL="384048" indent="-384048" algn="l">
              <a:spcAft>
                <a:spcPts val="979"/>
              </a:spcAft>
              <a:buChar char="•"/>
            </a:pPr>
            <a:r>
              <a:rPr sz="2800" b="0" i="0" dirty="0">
                <a:solidFill>
                  <a:srgbClr val="22252A"/>
                </a:solidFill>
                <a:latin typeface="Calibri"/>
              </a:rPr>
              <a:t>We use 189 Addis filters (Dec 2022 to Sep 2024) across three seasons: </a:t>
            </a:r>
            <a:r>
              <a:rPr sz="2800" b="1" i="0" dirty="0">
                <a:solidFill>
                  <a:srgbClr val="22252A"/>
                </a:solidFill>
                <a:latin typeface="Calibri"/>
              </a:rPr>
              <a:t>Dry</a:t>
            </a:r>
            <a:r>
              <a:rPr sz="2800" b="0" i="0" dirty="0">
                <a:solidFill>
                  <a:srgbClr val="22252A"/>
                </a:solidFill>
                <a:latin typeface="Calibri"/>
              </a:rPr>
              <a:t> (Bega, Oct to Feb), </a:t>
            </a:r>
            <a:r>
              <a:rPr sz="2800" b="1" i="0" dirty="0" err="1">
                <a:solidFill>
                  <a:srgbClr val="22252A"/>
                </a:solidFill>
                <a:latin typeface="Calibri"/>
              </a:rPr>
              <a:t>Belg</a:t>
            </a:r>
            <a:r>
              <a:rPr sz="2800" b="0" i="0" dirty="0">
                <a:solidFill>
                  <a:srgbClr val="22252A"/>
                </a:solidFill>
                <a:latin typeface="Calibri"/>
              </a:rPr>
              <a:t> short rains (Mar to May) and </a:t>
            </a:r>
            <a:r>
              <a:rPr sz="2800" b="1" i="0" dirty="0" err="1">
                <a:solidFill>
                  <a:srgbClr val="22252A"/>
                </a:solidFill>
                <a:latin typeface="Calibri"/>
              </a:rPr>
              <a:t>Kiremt</a:t>
            </a:r>
            <a:r>
              <a:rPr sz="2800" b="0" i="0" dirty="0">
                <a:solidFill>
                  <a:srgbClr val="22252A"/>
                </a:solidFill>
                <a:latin typeface="Calibri"/>
              </a:rPr>
              <a:t> long rains (Jun to Sep).</a:t>
            </a:r>
          </a:p>
        </p:txBody>
      </p:sp>
      <p:pic>
        <p:nvPicPr>
          <p:cNvPr id="16" name="Picture 15" descr="f0_network_map.png"/>
          <p:cNvPicPr>
            <a:picLocks noChangeAspect="1"/>
          </p:cNvPicPr>
          <p:nvPr/>
        </p:nvPicPr>
        <p:blipFill>
          <a:blip r:embed="rId6"/>
          <a:stretch>
            <a:fillRect/>
          </a:stretch>
        </p:blipFill>
        <p:spPr>
          <a:xfrm>
            <a:off x="1508760" y="12735560"/>
            <a:ext cx="11064240" cy="5147783"/>
          </a:xfrm>
          <a:prstGeom prst="rect">
            <a:avLst/>
          </a:prstGeom>
        </p:spPr>
      </p:pic>
      <p:sp>
        <p:nvSpPr>
          <p:cNvPr id="17" name="TextBox 16"/>
          <p:cNvSpPr txBox="1"/>
          <p:nvPr/>
        </p:nvSpPr>
        <p:spPr>
          <a:xfrm>
            <a:off x="1051560" y="17929063"/>
            <a:ext cx="11978640" cy="896620"/>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1.</a:t>
            </a:r>
            <a:r>
              <a:rPr sz="2300" b="0" i="0">
                <a:solidFill>
                  <a:srgbClr val="55585E"/>
                </a:solidFill>
                <a:latin typeface="Calibri"/>
              </a:rPr>
              <a:t> Where the filters come from. Grey: IMPROVE sites (US), which provide the calibration. Blue stars: SPARTAN sites, where the calibration is applied.</a:t>
            </a:r>
          </a:p>
        </p:txBody>
      </p:sp>
      <p:sp>
        <p:nvSpPr>
          <p:cNvPr id="18" name="Rectangle 17"/>
          <p:cNvSpPr/>
          <p:nvPr/>
        </p:nvSpPr>
        <p:spPr>
          <a:xfrm>
            <a:off x="777240" y="19054283"/>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ctr"/>
            <a:r>
              <a:rPr sz="3800" b="1" i="0">
                <a:solidFill>
                  <a:srgbClr val="FFFFFF"/>
                </a:solidFill>
                <a:latin typeface="Calibri"/>
              </a:rPr>
              <a:t>How FTIR measures EC: a calibration</a:t>
            </a:r>
          </a:p>
        </p:txBody>
      </p:sp>
      <p:sp>
        <p:nvSpPr>
          <p:cNvPr id="19" name="TextBox 18"/>
          <p:cNvSpPr txBox="1"/>
          <p:nvPr/>
        </p:nvSpPr>
        <p:spPr>
          <a:xfrm>
            <a:off x="1051560" y="20014403"/>
            <a:ext cx="11978640" cy="4226560"/>
          </a:xfrm>
          <a:prstGeom prst="rect">
            <a:avLst/>
          </a:prstGeom>
          <a:noFill/>
        </p:spPr>
        <p:txBody>
          <a:bodyPr wrap="square" tIns="27432" bIns="27432">
            <a:spAutoFit/>
          </a:bodyPr>
          <a:lstStyle/>
          <a:p>
            <a:pPr algn="l">
              <a:spcAft>
                <a:spcPts val="979"/>
              </a:spcAft>
            </a:pPr>
            <a:r>
              <a:rPr sz="2800" b="1" i="0" dirty="0">
                <a:solidFill>
                  <a:srgbClr val="22252A"/>
                </a:solidFill>
                <a:latin typeface="Calibri"/>
              </a:rPr>
              <a:t>FTIR</a:t>
            </a:r>
            <a:r>
              <a:rPr sz="2800" b="0" i="0" dirty="0">
                <a:solidFill>
                  <a:srgbClr val="22252A"/>
                </a:solidFill>
                <a:latin typeface="Calibri"/>
              </a:rPr>
              <a:t> (Fourier-transform infrared spectroscopy) passes infrared light through a Teflon filter and records how much is absorbed at each wavenumber. That curve is the filter's </a:t>
            </a:r>
            <a:r>
              <a:rPr sz="2800" b="1" i="0" dirty="0">
                <a:solidFill>
                  <a:srgbClr val="22252A"/>
                </a:solidFill>
                <a:latin typeface="Calibri"/>
              </a:rPr>
              <a:t>spectrum</a:t>
            </a:r>
            <a:r>
              <a:rPr sz="2800" b="0" i="0" dirty="0">
                <a:solidFill>
                  <a:srgbClr val="22252A"/>
                </a:solidFill>
                <a:latin typeface="Calibri"/>
              </a:rPr>
              <a:t>. FTIR is fast, cheap and does not destroy the filter, but a spectrum does not give EC directly: it has to be </a:t>
            </a:r>
            <a:r>
              <a:rPr sz="2800" b="1" i="0" dirty="0">
                <a:solidFill>
                  <a:srgbClr val="22252A"/>
                </a:solidFill>
                <a:latin typeface="Calibri"/>
              </a:rPr>
              <a:t>calibrated</a:t>
            </a:r>
            <a:r>
              <a:rPr sz="2800" b="0" i="0" dirty="0">
                <a:solidFill>
                  <a:srgbClr val="22252A"/>
                </a:solidFill>
                <a:latin typeface="Calibri"/>
              </a:rPr>
              <a:t> against a reference.</a:t>
            </a:r>
          </a:p>
          <a:p>
            <a:pPr algn="l">
              <a:spcAft>
                <a:spcPts val="979"/>
              </a:spcAft>
            </a:pPr>
            <a:r>
              <a:rPr sz="2800" b="0" i="0" dirty="0">
                <a:solidFill>
                  <a:srgbClr val="22252A"/>
                </a:solidFill>
                <a:latin typeface="Calibri"/>
              </a:rPr>
              <a:t>Most methods are calibrated with laboratory standards. FTIR EC is calibrated with </a:t>
            </a:r>
            <a:r>
              <a:rPr sz="2800" b="1" i="0" dirty="0">
                <a:solidFill>
                  <a:srgbClr val="22252A"/>
                </a:solidFill>
                <a:latin typeface="Calibri"/>
              </a:rPr>
              <a:t>ambient samples</a:t>
            </a:r>
            <a:r>
              <a:rPr sz="2800" b="0" i="0" dirty="0">
                <a:solidFill>
                  <a:srgbClr val="22252A"/>
                </a:solidFill>
                <a:latin typeface="Calibri"/>
              </a:rPr>
              <a:t>: real IMPROVE filters on which the same air was collected on a Teflon filter (FTIR spectrum) and on a quartz filter (EC measured by </a:t>
            </a:r>
            <a:r>
              <a:rPr sz="2800" b="1" i="0" dirty="0">
                <a:solidFill>
                  <a:srgbClr val="22252A"/>
                </a:solidFill>
                <a:latin typeface="Calibri"/>
              </a:rPr>
              <a:t>TOR</a:t>
            </a:r>
            <a:r>
              <a:rPr sz="2800" b="0" i="0" dirty="0">
                <a:solidFill>
                  <a:srgbClr val="22252A"/>
                </a:solidFill>
                <a:latin typeface="Calibri"/>
              </a:rPr>
              <a:t>, the reference method).</a:t>
            </a:r>
          </a:p>
        </p:txBody>
      </p:sp>
      <p:sp>
        <p:nvSpPr>
          <p:cNvPr id="20" name="Rounded Rectangle 19"/>
          <p:cNvSpPr/>
          <p:nvPr/>
        </p:nvSpPr>
        <p:spPr>
          <a:xfrm>
            <a:off x="1051560" y="24332403"/>
            <a:ext cx="3337560" cy="3063240"/>
          </a:xfrm>
          <a:prstGeom prst="roundRect">
            <a:avLst>
              <a:gd name="adj" fmla="val 12000"/>
            </a:avLst>
          </a:prstGeom>
          <a:solidFill>
            <a:srgbClr val="EEF2F7"/>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100" b="1" i="0">
                <a:solidFill>
                  <a:srgbClr val="22252A"/>
                </a:solidFill>
                <a:latin typeface="Calibri"/>
              </a:rPr>
              <a:t>IMPROVE</a:t>
            </a:r>
          </a:p>
          <a:p>
            <a:pPr algn="ctr"/>
            <a:r>
              <a:rPr sz="2100" b="0" i="0">
                <a:solidFill>
                  <a:srgbClr val="22252A"/>
                </a:solidFill>
                <a:latin typeface="Calibri"/>
              </a:rPr>
              <a:t>ambient samples</a:t>
            </a:r>
          </a:p>
          <a:p>
            <a:pPr algn="ctr"/>
            <a:r>
              <a:rPr sz="2100" b="0" i="0">
                <a:solidFill>
                  <a:srgbClr val="22252A"/>
                </a:solidFill>
                <a:latin typeface="Calibri"/>
              </a:rPr>
              <a:t>(US national</a:t>
            </a:r>
          </a:p>
          <a:p>
            <a:pPr algn="ctr"/>
            <a:r>
              <a:rPr sz="2100" b="0" i="0">
                <a:solidFill>
                  <a:srgbClr val="22252A"/>
                </a:solidFill>
                <a:latin typeface="Calibri"/>
              </a:rPr>
              <a:t>parks, rural)</a:t>
            </a:r>
          </a:p>
        </p:txBody>
      </p:sp>
      <p:sp>
        <p:nvSpPr>
          <p:cNvPr id="21" name="Right Arrow 20"/>
          <p:cNvSpPr/>
          <p:nvPr/>
        </p:nvSpPr>
        <p:spPr>
          <a:xfrm>
            <a:off x="4434840" y="24839895"/>
            <a:ext cx="502920" cy="411480"/>
          </a:xfrm>
          <a:prstGeom prst="rightArrow">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ight Arrow 21"/>
          <p:cNvSpPr/>
          <p:nvPr/>
        </p:nvSpPr>
        <p:spPr>
          <a:xfrm>
            <a:off x="4434840" y="26485815"/>
            <a:ext cx="502920" cy="411480"/>
          </a:xfrm>
          <a:prstGeom prst="rightArrow">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983479" y="24332403"/>
            <a:ext cx="3154680" cy="1417320"/>
          </a:xfrm>
          <a:prstGeom prst="roundRect">
            <a:avLst>
              <a:gd name="adj" fmla="val 12000"/>
            </a:avLst>
          </a:prstGeom>
          <a:solidFill>
            <a:srgbClr val="FFFFFF"/>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100" b="0" i="0">
                <a:solidFill>
                  <a:srgbClr val="22252A"/>
                </a:solidFill>
                <a:latin typeface="Calibri"/>
              </a:rPr>
              <a:t>Teflon filter</a:t>
            </a:r>
          </a:p>
          <a:p>
            <a:pPr algn="ctr"/>
            <a:r>
              <a:rPr sz="2100" b="0" i="0">
                <a:solidFill>
                  <a:srgbClr val="22252A"/>
                </a:solidFill>
                <a:latin typeface="Calibri"/>
              </a:rPr>
              <a:t>→ </a:t>
            </a:r>
            <a:r>
              <a:rPr sz="2100" b="1" i="0">
                <a:solidFill>
                  <a:srgbClr val="22252A"/>
                </a:solidFill>
                <a:latin typeface="Calibri"/>
              </a:rPr>
              <a:t>FTIR spectrum</a:t>
            </a:r>
          </a:p>
        </p:txBody>
      </p:sp>
      <p:sp>
        <p:nvSpPr>
          <p:cNvPr id="24" name="Rounded Rectangle 23"/>
          <p:cNvSpPr/>
          <p:nvPr/>
        </p:nvSpPr>
        <p:spPr>
          <a:xfrm>
            <a:off x="4983479" y="25978323"/>
            <a:ext cx="3154680" cy="1417320"/>
          </a:xfrm>
          <a:prstGeom prst="roundRect">
            <a:avLst>
              <a:gd name="adj" fmla="val 12000"/>
            </a:avLst>
          </a:prstGeom>
          <a:solidFill>
            <a:srgbClr val="FFFFFF"/>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100" b="0" i="0">
                <a:solidFill>
                  <a:srgbClr val="22252A"/>
                </a:solidFill>
                <a:latin typeface="Calibri"/>
              </a:rPr>
              <a:t>Quartz filter</a:t>
            </a:r>
          </a:p>
          <a:p>
            <a:pPr algn="ctr"/>
            <a:r>
              <a:rPr sz="2100" b="0" i="0">
                <a:solidFill>
                  <a:srgbClr val="22252A"/>
                </a:solidFill>
                <a:latin typeface="Calibri"/>
              </a:rPr>
              <a:t>→ </a:t>
            </a:r>
            <a:r>
              <a:rPr sz="2100" b="1" i="0">
                <a:solidFill>
                  <a:srgbClr val="22252A"/>
                </a:solidFill>
                <a:latin typeface="Calibri"/>
              </a:rPr>
              <a:t>TOR EC</a:t>
            </a:r>
          </a:p>
        </p:txBody>
      </p:sp>
      <p:sp>
        <p:nvSpPr>
          <p:cNvPr id="25" name="Right Arrow 24"/>
          <p:cNvSpPr/>
          <p:nvPr/>
        </p:nvSpPr>
        <p:spPr>
          <a:xfrm>
            <a:off x="8183879" y="25086783"/>
            <a:ext cx="502920" cy="411480"/>
          </a:xfrm>
          <a:prstGeom prst="rightArrow">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ight Arrow 25"/>
          <p:cNvSpPr/>
          <p:nvPr/>
        </p:nvSpPr>
        <p:spPr>
          <a:xfrm>
            <a:off x="8183879" y="26229783"/>
            <a:ext cx="502920" cy="411480"/>
          </a:xfrm>
          <a:prstGeom prst="rightArrow">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732519" y="24332403"/>
            <a:ext cx="4297680" cy="3063240"/>
          </a:xfrm>
          <a:prstGeom prst="roundRect">
            <a:avLst>
              <a:gd name="adj" fmla="val 12000"/>
            </a:avLst>
          </a:prstGeom>
          <a:solidFill>
            <a:srgbClr val="EEF2F7"/>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100" b="1" i="0">
                <a:solidFill>
                  <a:srgbClr val="22252A"/>
                </a:solidFill>
                <a:latin typeface="Calibri"/>
              </a:rPr>
              <a:t>PLS calibration</a:t>
            </a:r>
          </a:p>
          <a:p>
            <a:pPr algn="ctr"/>
            <a:r>
              <a:rPr sz="2100" b="0" i="0">
                <a:solidFill>
                  <a:srgbClr val="22252A"/>
                </a:solidFill>
                <a:latin typeface="Calibri"/>
              </a:rPr>
              <a:t>learns which</a:t>
            </a:r>
          </a:p>
          <a:p>
            <a:pPr algn="ctr"/>
            <a:r>
              <a:rPr sz="2100" b="0" i="0">
                <a:solidFill>
                  <a:srgbClr val="22252A"/>
                </a:solidFill>
                <a:latin typeface="Calibri"/>
              </a:rPr>
              <a:t>spectral features</a:t>
            </a:r>
          </a:p>
          <a:p>
            <a:pPr algn="ctr"/>
            <a:r>
              <a:rPr sz="2100" b="0" i="0">
                <a:solidFill>
                  <a:srgbClr val="22252A"/>
                </a:solidFill>
                <a:latin typeface="Calibri"/>
              </a:rPr>
              <a:t>predict TOR EC</a:t>
            </a:r>
          </a:p>
        </p:txBody>
      </p:sp>
      <p:sp>
        <p:nvSpPr>
          <p:cNvPr id="28" name="Down Arrow 27"/>
          <p:cNvSpPr/>
          <p:nvPr/>
        </p:nvSpPr>
        <p:spPr>
          <a:xfrm>
            <a:off x="6766559" y="27441363"/>
            <a:ext cx="548640" cy="457200"/>
          </a:xfrm>
          <a:prstGeom prst="downArrow">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051560" y="27944283"/>
            <a:ext cx="11978640" cy="1143000"/>
          </a:xfrm>
          <a:prstGeom prst="roundRect">
            <a:avLst>
              <a:gd name="adj" fmla="val 12000"/>
            </a:avLst>
          </a:prstGeom>
          <a:solidFill>
            <a:srgbClr val="FBF3E4"/>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100" b="0" i="0">
                <a:solidFill>
                  <a:srgbClr val="22252A"/>
                </a:solidFill>
                <a:latin typeface="Calibri"/>
              </a:rPr>
              <a:t>Applied to </a:t>
            </a:r>
            <a:r>
              <a:rPr sz="2100" b="1" i="0">
                <a:solidFill>
                  <a:srgbClr val="22252A"/>
                </a:solidFill>
                <a:latin typeface="Calibri"/>
              </a:rPr>
              <a:t>SPARTAN</a:t>
            </a:r>
            <a:r>
              <a:rPr sz="2100" b="0" i="0">
                <a:solidFill>
                  <a:srgbClr val="22252A"/>
                </a:solidFill>
                <a:latin typeface="Calibri"/>
              </a:rPr>
              <a:t> spectra (Addis Ababa): FTIR EC, checked against </a:t>
            </a:r>
            <a:r>
              <a:rPr sz="2100" b="1" i="0">
                <a:solidFill>
                  <a:srgbClr val="22252A"/>
                </a:solidFill>
                <a:latin typeface="Calibri"/>
              </a:rPr>
              <a:t>HIPS</a:t>
            </a:r>
            <a:r>
              <a:rPr sz="2100" b="0" i="0">
                <a:solidFill>
                  <a:srgbClr val="22252A"/>
                </a:solidFill>
                <a:latin typeface="Calibri"/>
              </a:rPr>
              <a:t> light absorption (no TOR at Addis)</a:t>
            </a:r>
          </a:p>
        </p:txBody>
      </p:sp>
      <p:sp>
        <p:nvSpPr>
          <p:cNvPr id="30" name="TextBox 29"/>
          <p:cNvSpPr txBox="1"/>
          <p:nvPr/>
        </p:nvSpPr>
        <p:spPr>
          <a:xfrm>
            <a:off x="1051560" y="29224443"/>
            <a:ext cx="11978640" cy="896620"/>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2.</a:t>
            </a:r>
            <a:r>
              <a:rPr sz="2300" b="0" i="0">
                <a:solidFill>
                  <a:srgbClr val="55585E"/>
                </a:solidFill>
                <a:latin typeface="Calibri"/>
              </a:rPr>
              <a:t> The calibration chain. Every FTIR EC value in SPARTAN comes from a calibration built on IMPROVE filters.</a:t>
            </a:r>
          </a:p>
        </p:txBody>
      </p:sp>
      <p:sp>
        <p:nvSpPr>
          <p:cNvPr id="31" name="Rectangle 30"/>
          <p:cNvSpPr/>
          <p:nvPr/>
        </p:nvSpPr>
        <p:spPr>
          <a:xfrm>
            <a:off x="777240" y="30303943"/>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ctr"/>
            <a:r>
              <a:rPr sz="3800" b="1" i="0">
                <a:solidFill>
                  <a:srgbClr val="FFFFFF"/>
                </a:solidFill>
                <a:latin typeface="Calibri"/>
              </a:rPr>
              <a:t>Key terms</a:t>
            </a:r>
          </a:p>
        </p:txBody>
      </p:sp>
      <p:sp>
        <p:nvSpPr>
          <p:cNvPr id="32" name="TextBox 31"/>
          <p:cNvSpPr txBox="1"/>
          <p:nvPr/>
        </p:nvSpPr>
        <p:spPr>
          <a:xfrm>
            <a:off x="1051560" y="31218343"/>
            <a:ext cx="11978640" cy="8090535"/>
          </a:xfrm>
          <a:prstGeom prst="rect">
            <a:avLst/>
          </a:prstGeom>
          <a:noFill/>
        </p:spPr>
        <p:txBody>
          <a:bodyPr wrap="square" tIns="27432" bIns="27432">
            <a:spAutoFit/>
          </a:bodyPr>
          <a:lstStyle/>
          <a:p>
            <a:pPr algn="l">
              <a:spcAft>
                <a:spcPts val="625"/>
              </a:spcAft>
            </a:pPr>
            <a:r>
              <a:rPr sz="2500" b="1" i="0">
                <a:solidFill>
                  <a:srgbClr val="22252A"/>
                </a:solidFill>
                <a:latin typeface="Calibri"/>
              </a:rPr>
              <a:t>IMPROVE</a:t>
            </a:r>
            <a:r>
              <a:rPr sz="2500" b="0" i="0">
                <a:solidFill>
                  <a:srgbClr val="22252A"/>
                </a:solidFill>
                <a:latin typeface="Calibri"/>
              </a:rPr>
              <a:t>: Interagency Monitoring of PROtected Visual Environments, the US network sampling in national parks and rural areas.</a:t>
            </a:r>
          </a:p>
          <a:p>
            <a:pPr algn="l">
              <a:spcAft>
                <a:spcPts val="625"/>
              </a:spcAft>
            </a:pPr>
            <a:r>
              <a:rPr sz="2500" b="1" i="0">
                <a:solidFill>
                  <a:srgbClr val="22252A"/>
                </a:solidFill>
                <a:latin typeface="Calibri"/>
              </a:rPr>
              <a:t>TOR</a:t>
            </a:r>
            <a:r>
              <a:rPr sz="2500" b="0" i="0">
                <a:solidFill>
                  <a:srgbClr val="22252A"/>
                </a:solidFill>
                <a:latin typeface="Calibri"/>
              </a:rPr>
              <a:t>: thermal-optical reflectance. Heats a punch of a quartz filter and measures the carbon released; the standard reference for EC.</a:t>
            </a:r>
          </a:p>
          <a:p>
            <a:pPr algn="l">
              <a:spcAft>
                <a:spcPts val="625"/>
              </a:spcAft>
            </a:pPr>
            <a:r>
              <a:rPr sz="2500" b="1" i="0">
                <a:solidFill>
                  <a:srgbClr val="22252A"/>
                </a:solidFill>
                <a:latin typeface="Calibri"/>
              </a:rPr>
              <a:t>HIPS</a:t>
            </a:r>
            <a:r>
              <a:rPr sz="2500" b="0" i="0">
                <a:solidFill>
                  <a:srgbClr val="22252A"/>
                </a:solidFill>
                <a:latin typeface="Calibri"/>
              </a:rPr>
              <a:t>: hybrid integrating plate/sphere. Measures how much red light (633 nm) a Teflon filter absorbs, called </a:t>
            </a:r>
            <a:r>
              <a:rPr sz="2500" b="1" i="0">
                <a:solidFill>
                  <a:srgbClr val="22252A"/>
                </a:solidFill>
                <a:latin typeface="Calibri"/>
              </a:rPr>
              <a:t>Fabs</a:t>
            </a:r>
            <a:r>
              <a:rPr sz="2500" b="0" i="0">
                <a:solidFill>
                  <a:srgbClr val="22252A"/>
                </a:solidFill>
                <a:latin typeface="Calibri"/>
              </a:rPr>
              <a:t>.</a:t>
            </a:r>
          </a:p>
          <a:p>
            <a:pPr algn="l">
              <a:spcAft>
                <a:spcPts val="625"/>
              </a:spcAft>
            </a:pPr>
            <a:r>
              <a:rPr sz="2500" b="1" i="0">
                <a:solidFill>
                  <a:srgbClr val="22252A"/>
                </a:solidFill>
                <a:latin typeface="Calibri"/>
              </a:rPr>
              <a:t>MAC</a:t>
            </a:r>
            <a:r>
              <a:rPr sz="2500" b="0" i="0">
                <a:solidFill>
                  <a:srgbClr val="22252A"/>
                </a:solidFill>
                <a:latin typeface="Calibri"/>
              </a:rPr>
              <a:t>: mass absorption cross-section, the light absorbed per gram of EC (m²/g). EC = Fabs / MAC. We use MAC = 10 m²/g, a common default; the true value varies with sources.</a:t>
            </a:r>
          </a:p>
          <a:p>
            <a:pPr algn="l">
              <a:spcAft>
                <a:spcPts val="625"/>
              </a:spcAft>
            </a:pPr>
            <a:r>
              <a:rPr sz="2500" b="1" i="0">
                <a:solidFill>
                  <a:srgbClr val="22252A"/>
                </a:solidFill>
                <a:latin typeface="Calibri"/>
              </a:rPr>
              <a:t>Calibration set</a:t>
            </a:r>
            <a:r>
              <a:rPr sz="2500" b="0" i="0">
                <a:solidFill>
                  <a:srgbClr val="22252A"/>
                </a:solidFill>
                <a:latin typeface="Calibri"/>
              </a:rPr>
              <a:t>: the IMPROVE filters (with TOR EC) that one calibration is built from.</a:t>
            </a:r>
          </a:p>
          <a:p>
            <a:pPr algn="l">
              <a:spcAft>
                <a:spcPts val="625"/>
              </a:spcAft>
            </a:pPr>
            <a:r>
              <a:rPr sz="2500" b="1" i="0">
                <a:solidFill>
                  <a:srgbClr val="22252A"/>
                </a:solidFill>
                <a:latin typeface="Calibri"/>
              </a:rPr>
              <a:t>PLS</a:t>
            </a:r>
            <a:r>
              <a:rPr sz="2500" b="0" i="0">
                <a:solidFill>
                  <a:srgbClr val="22252A"/>
                </a:solidFill>
                <a:latin typeface="Calibri"/>
              </a:rPr>
              <a:t>: partial least squares regression, which turns a whole spectrum into one number (EC).</a:t>
            </a:r>
          </a:p>
          <a:p>
            <a:pPr algn="l">
              <a:spcAft>
                <a:spcPts val="625"/>
              </a:spcAft>
            </a:pPr>
            <a:r>
              <a:rPr sz="2500" b="1" i="0">
                <a:solidFill>
                  <a:srgbClr val="22252A"/>
                </a:solidFill>
                <a:latin typeface="Calibri"/>
              </a:rPr>
              <a:t>Baseline correction of the spectra</a:t>
            </a:r>
            <a:r>
              <a:rPr sz="2500" b="0" i="0">
                <a:solidFill>
                  <a:srgbClr val="22252A"/>
                </a:solidFill>
                <a:latin typeface="Calibri"/>
              </a:rPr>
              <a:t>: removing the smooth background from the Teflon filter and light scattering, so only particle absorption remains.</a:t>
            </a:r>
          </a:p>
          <a:p>
            <a:pPr algn="l">
              <a:spcAft>
                <a:spcPts val="625"/>
              </a:spcAft>
            </a:pPr>
            <a:r>
              <a:rPr sz="2500" b="1" i="0">
                <a:solidFill>
                  <a:srgbClr val="22252A"/>
                </a:solidFill>
                <a:latin typeface="Calibri"/>
              </a:rPr>
              <a:t>Held-out filters</a:t>
            </a:r>
            <a:r>
              <a:rPr sz="2500" b="0" i="0">
                <a:solidFill>
                  <a:srgbClr val="22252A"/>
                </a:solidFill>
                <a:latin typeface="Calibri"/>
              </a:rPr>
              <a:t>: IMPROVE filters from sites not used to build the calibration (a fair test).</a:t>
            </a:r>
          </a:p>
          <a:p>
            <a:pPr algn="l">
              <a:spcAft>
                <a:spcPts val="625"/>
              </a:spcAft>
            </a:pPr>
            <a:r>
              <a:rPr sz="2500" b="1" i="0">
                <a:solidFill>
                  <a:srgbClr val="22252A"/>
                </a:solidFill>
                <a:latin typeface="Calibri"/>
              </a:rPr>
              <a:t>Deming regression</a:t>
            </a:r>
            <a:r>
              <a:rPr sz="2500" b="0" i="0">
                <a:solidFill>
                  <a:srgbClr val="22252A"/>
                </a:solidFill>
                <a:latin typeface="Calibri"/>
              </a:rPr>
              <a:t>: a straight-line fit that allows for error in both measurements. Agreement means slope 1, intercept 0.</a:t>
            </a:r>
          </a:p>
        </p:txBody>
      </p:sp>
      <p:sp>
        <p:nvSpPr>
          <p:cNvPr id="33" name="TextBox 32"/>
          <p:cNvSpPr txBox="1"/>
          <p:nvPr/>
        </p:nvSpPr>
        <p:spPr>
          <a:xfrm>
            <a:off x="1051560" y="39400318"/>
            <a:ext cx="11978640" cy="870585"/>
          </a:xfrm>
          <a:prstGeom prst="rect">
            <a:avLst/>
          </a:prstGeom>
          <a:noFill/>
        </p:spPr>
        <p:txBody>
          <a:bodyPr wrap="square" tIns="27432" bIns="27432">
            <a:spAutoFit/>
          </a:bodyPr>
          <a:lstStyle/>
          <a:p>
            <a:pPr algn="l">
              <a:spcAft>
                <a:spcPts val="735"/>
              </a:spcAft>
            </a:pPr>
            <a:r>
              <a:rPr sz="2100" b="1" i="0">
                <a:solidFill>
                  <a:srgbClr val="55585E"/>
                </a:solidFill>
                <a:latin typeface="Calibri"/>
              </a:rPr>
              <a:t>Acknowledgments:</a:t>
            </a:r>
            <a:r>
              <a:rPr sz="2100" b="0" i="0">
                <a:solidFill>
                  <a:srgbClr val="55585E"/>
                </a:solidFill>
                <a:latin typeface="Calibri"/>
              </a:rPr>
              <a:t> supported by the NASA MAIA mission. Thanks to the SPARTAN team and the UC Davis FTIR group.</a:t>
            </a:r>
          </a:p>
        </p:txBody>
      </p:sp>
      <p:sp>
        <p:nvSpPr>
          <p:cNvPr id="34" name="Rectangle 33"/>
          <p:cNvSpPr/>
          <p:nvPr/>
        </p:nvSpPr>
        <p:spPr>
          <a:xfrm>
            <a:off x="13853159" y="6446520"/>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ctr"/>
            <a:r>
              <a:rPr sz="3800" b="1" i="0" dirty="0">
                <a:solidFill>
                  <a:srgbClr val="FFFFFF"/>
                </a:solidFill>
                <a:latin typeface="Calibri"/>
              </a:rPr>
              <a:t>Addis Ababa EC is </a:t>
            </a:r>
            <a:r>
              <a:rPr lang="en-CA" sz="3800" b="1" dirty="0">
                <a:solidFill>
                  <a:srgbClr val="FFFFFF"/>
                </a:solidFill>
                <a:latin typeface="Calibri"/>
              </a:rPr>
              <a:t>higher than </a:t>
            </a:r>
            <a:r>
              <a:rPr sz="3800" b="1" i="0" dirty="0">
                <a:solidFill>
                  <a:srgbClr val="FFFFFF"/>
                </a:solidFill>
                <a:latin typeface="Calibri"/>
              </a:rPr>
              <a:t>IMPROVE levels</a:t>
            </a:r>
          </a:p>
        </p:txBody>
      </p:sp>
      <p:pic>
        <p:nvPicPr>
          <p:cNvPr id="35" name="Picture 34" descr="f2c_addis_air.png"/>
          <p:cNvPicPr>
            <a:picLocks noChangeAspect="1"/>
          </p:cNvPicPr>
          <p:nvPr/>
        </p:nvPicPr>
        <p:blipFill>
          <a:blip r:embed="rId7"/>
          <a:stretch>
            <a:fillRect/>
          </a:stretch>
        </p:blipFill>
        <p:spPr>
          <a:xfrm>
            <a:off x="14584680" y="7406640"/>
            <a:ext cx="11064240" cy="7267269"/>
          </a:xfrm>
          <a:prstGeom prst="rect">
            <a:avLst/>
          </a:prstGeom>
        </p:spPr>
      </p:pic>
      <p:sp>
        <p:nvSpPr>
          <p:cNvPr id="36" name="TextBox 35"/>
          <p:cNvSpPr txBox="1"/>
          <p:nvPr/>
        </p:nvSpPr>
        <p:spPr>
          <a:xfrm>
            <a:off x="14127480" y="14719629"/>
            <a:ext cx="11978640" cy="1597659"/>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3.</a:t>
            </a:r>
            <a:r>
              <a:rPr sz="2300" b="0" i="0">
                <a:solidFill>
                  <a:srgbClr val="55585E"/>
                </a:solidFill>
                <a:latin typeface="Calibri"/>
              </a:rPr>
              <a:t> Addis medians by season: grey bars PM2.5, coloured bars EC (line: interquartile range). Red line: the IMPROVE 95th percentile of EC (95% of IMPROVE filters are below it). Addis EC is 4.3 to 5.6 µg/m³ in every season, about 7× even that IMPROVE filter, and EC is 19 to 25% of PM2.5 (about 4% at a typical IMPROVE site).</a:t>
            </a:r>
          </a:p>
        </p:txBody>
      </p:sp>
      <p:sp>
        <p:nvSpPr>
          <p:cNvPr id="37" name="Rectangle 36"/>
          <p:cNvSpPr/>
          <p:nvPr/>
        </p:nvSpPr>
        <p:spPr>
          <a:xfrm>
            <a:off x="13853159" y="16545889"/>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ctr"/>
            <a:r>
              <a:rPr sz="3800" b="1" i="0" dirty="0">
                <a:solidFill>
                  <a:srgbClr val="FFFFFF"/>
                </a:solidFill>
                <a:latin typeface="Calibri"/>
              </a:rPr>
              <a:t>The problem: FTIR EC </a:t>
            </a:r>
            <a:r>
              <a:rPr lang="en-CA" sz="3800" b="1" i="0" dirty="0">
                <a:solidFill>
                  <a:srgbClr val="FFFFFF"/>
                </a:solidFill>
                <a:latin typeface="Calibri"/>
              </a:rPr>
              <a:t>is poorly predicted but well correlated</a:t>
            </a:r>
            <a:endParaRPr sz="3800" b="1" i="0" dirty="0">
              <a:solidFill>
                <a:srgbClr val="FFFFFF"/>
              </a:solidFill>
              <a:latin typeface="Calibri"/>
            </a:endParaRPr>
          </a:p>
        </p:txBody>
      </p:sp>
      <p:pic>
        <p:nvPicPr>
          <p:cNvPr id="38" name="Picture 37" descr="f1_addis_problem.png"/>
          <p:cNvPicPr>
            <a:picLocks noChangeAspect="1"/>
          </p:cNvPicPr>
          <p:nvPr/>
        </p:nvPicPr>
        <p:blipFill>
          <a:blip r:embed="rId8"/>
          <a:stretch>
            <a:fillRect/>
          </a:stretch>
        </p:blipFill>
        <p:spPr>
          <a:xfrm>
            <a:off x="14127480" y="17506009"/>
            <a:ext cx="5852159" cy="4941533"/>
          </a:xfrm>
          <a:prstGeom prst="rect">
            <a:avLst/>
          </a:prstGeom>
        </p:spPr>
      </p:pic>
      <p:pic>
        <p:nvPicPr>
          <p:cNvPr id="39" name="Picture 38" descr="f2_improve_heldout.png"/>
          <p:cNvPicPr>
            <a:picLocks noChangeAspect="1"/>
          </p:cNvPicPr>
          <p:nvPr/>
        </p:nvPicPr>
        <p:blipFill>
          <a:blip r:embed="rId9"/>
          <a:stretch>
            <a:fillRect/>
          </a:stretch>
        </p:blipFill>
        <p:spPr>
          <a:xfrm>
            <a:off x="20253960" y="17506009"/>
            <a:ext cx="5852159" cy="5031328"/>
          </a:xfrm>
          <a:prstGeom prst="rect">
            <a:avLst/>
          </a:prstGeom>
        </p:spPr>
      </p:pic>
      <p:sp>
        <p:nvSpPr>
          <p:cNvPr id="40" name="TextBox 39"/>
          <p:cNvSpPr txBox="1"/>
          <p:nvPr/>
        </p:nvSpPr>
        <p:spPr>
          <a:xfrm>
            <a:off x="14127480" y="22583058"/>
            <a:ext cx="11978640" cy="2298700"/>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4.</a:t>
            </a:r>
            <a:r>
              <a:rPr sz="2300" b="0" i="0">
                <a:solidFill>
                  <a:srgbClr val="55585E"/>
                </a:solidFill>
                <a:latin typeface="Calibri"/>
              </a:rPr>
              <a:t> How to read: each point is one filter; the dotted line is 1:1 (perfect agreement). </a:t>
            </a:r>
            <a:r>
              <a:rPr sz="2300" b="1" i="0">
                <a:solidFill>
                  <a:srgbClr val="55585E"/>
                </a:solidFill>
                <a:latin typeface="Calibri"/>
              </a:rPr>
              <a:t>Left, Addis Ababa:</a:t>
            </a:r>
            <a:r>
              <a:rPr sz="2300" b="0" i="0">
                <a:solidFill>
                  <a:srgbClr val="55585E"/>
                </a:solidFill>
                <a:latin typeface="Calibri"/>
              </a:rPr>
              <a:t> across, HIPS light absorption converted to EC (Fabs / MAC 10); up, FTIR EC from the current SPARTAN calibration. R² is high (0.78), so the two are related, but slope 2.30 and intercept -6.1 µg/m³ are not physically sensible. </a:t>
            </a:r>
            <a:r>
              <a:rPr sz="2300" b="1" i="0">
                <a:solidFill>
                  <a:srgbClr val="55585E"/>
                </a:solidFill>
                <a:latin typeface="Calibri"/>
              </a:rPr>
              <a:t>Right, IMPROVE:</a:t>
            </a:r>
            <a:r>
              <a:rPr sz="2300" b="0" i="0">
                <a:solidFill>
                  <a:srgbClr val="55585E"/>
                </a:solidFill>
                <a:latin typeface="Calibri"/>
              </a:rPr>
              <a:t> 2,078 held-out filters, FTIR EC against TOR EC: slope 0.93, intercept +0.02 µg/m³, R² 0.73. The method works on typical IMPROVE filters.</a:t>
            </a:r>
          </a:p>
        </p:txBody>
      </p:sp>
      <p:sp>
        <p:nvSpPr>
          <p:cNvPr id="41" name="TextBox 40"/>
          <p:cNvSpPr txBox="1"/>
          <p:nvPr/>
        </p:nvSpPr>
        <p:spPr>
          <a:xfrm>
            <a:off x="14127480" y="25018918"/>
            <a:ext cx="11978640" cy="1541779"/>
          </a:xfrm>
          <a:prstGeom prst="rect">
            <a:avLst/>
          </a:prstGeom>
          <a:noFill/>
        </p:spPr>
        <p:txBody>
          <a:bodyPr wrap="square" tIns="27432" bIns="27432">
            <a:spAutoFit/>
          </a:bodyPr>
          <a:lstStyle/>
          <a:p>
            <a:pPr algn="l">
              <a:spcAft>
                <a:spcPts val="979"/>
              </a:spcAft>
            </a:pPr>
            <a:r>
              <a:rPr sz="2800" b="1" i="0" dirty="0">
                <a:solidFill>
                  <a:srgbClr val="22252A"/>
                </a:solidFill>
                <a:latin typeface="Calibri"/>
              </a:rPr>
              <a:t>Is it MAC?</a:t>
            </a:r>
            <a:r>
              <a:rPr sz="2800" b="0" i="0" dirty="0">
                <a:solidFill>
                  <a:srgbClr val="22252A"/>
                </a:solidFill>
                <a:latin typeface="Calibri"/>
              </a:rPr>
              <a:t> Changing MAC only stretches the HIPS axis: it changes the slope but leaves the intercept at -6.1. So something in the FTIR prediction must change too.</a:t>
            </a:r>
          </a:p>
        </p:txBody>
      </p:sp>
      <p:sp>
        <p:nvSpPr>
          <p:cNvPr id="42" name="Rectangle 41"/>
          <p:cNvSpPr/>
          <p:nvPr/>
        </p:nvSpPr>
        <p:spPr>
          <a:xfrm>
            <a:off x="13853159" y="26743578"/>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ctr"/>
            <a:r>
              <a:rPr sz="3800" b="1" i="0">
                <a:solidFill>
                  <a:srgbClr val="FFFFFF"/>
                </a:solidFill>
                <a:latin typeface="Calibri"/>
              </a:rPr>
              <a:t>IMPROVE filters that look like Addis fail too</a:t>
            </a:r>
          </a:p>
        </p:txBody>
      </p:sp>
      <p:sp>
        <p:nvSpPr>
          <p:cNvPr id="43" name="TextBox 42"/>
          <p:cNvSpPr txBox="1"/>
          <p:nvPr/>
        </p:nvSpPr>
        <p:spPr>
          <a:xfrm>
            <a:off x="14127480" y="27703698"/>
            <a:ext cx="11978640" cy="917174"/>
          </a:xfrm>
          <a:prstGeom prst="rect">
            <a:avLst/>
          </a:prstGeom>
          <a:noFill/>
        </p:spPr>
        <p:txBody>
          <a:bodyPr wrap="square" tIns="27432" bIns="27432">
            <a:spAutoFit/>
          </a:bodyPr>
          <a:lstStyle/>
          <a:p>
            <a:pPr algn="l">
              <a:spcAft>
                <a:spcPts val="979"/>
              </a:spcAft>
            </a:pPr>
            <a:r>
              <a:rPr sz="2800" b="0" i="0" dirty="0">
                <a:solidFill>
                  <a:srgbClr val="22252A"/>
                </a:solidFill>
                <a:latin typeface="Calibri"/>
              </a:rPr>
              <a:t>From the IMPROVE filters we picked the 97 whose </a:t>
            </a:r>
            <a:r>
              <a:rPr sz="2800" b="1" i="0" dirty="0">
                <a:solidFill>
                  <a:srgbClr val="22252A"/>
                </a:solidFill>
                <a:latin typeface="Calibri"/>
              </a:rPr>
              <a:t>spectra most resemble the Addis spectra</a:t>
            </a:r>
            <a:r>
              <a:rPr sz="2800" b="0" i="0" dirty="0">
                <a:solidFill>
                  <a:srgbClr val="22252A"/>
                </a:solidFill>
                <a:latin typeface="Calibri"/>
              </a:rPr>
              <a:t>. Many are smoke-affected.</a:t>
            </a:r>
          </a:p>
        </p:txBody>
      </p:sp>
      <p:pic>
        <p:nvPicPr>
          <p:cNvPr id="44" name="Picture 43" descr="f3_addis_like_improve.png"/>
          <p:cNvPicPr>
            <a:picLocks noChangeAspect="1"/>
          </p:cNvPicPr>
          <p:nvPr/>
        </p:nvPicPr>
        <p:blipFill>
          <a:blip r:embed="rId10"/>
          <a:stretch>
            <a:fillRect/>
          </a:stretch>
        </p:blipFill>
        <p:spPr>
          <a:xfrm>
            <a:off x="14127480" y="29717918"/>
            <a:ext cx="11978640" cy="5382011"/>
          </a:xfrm>
          <a:prstGeom prst="rect">
            <a:avLst/>
          </a:prstGeom>
        </p:spPr>
      </p:pic>
      <p:sp>
        <p:nvSpPr>
          <p:cNvPr id="45" name="TextBox 44"/>
          <p:cNvSpPr txBox="1"/>
          <p:nvPr/>
        </p:nvSpPr>
        <p:spPr>
          <a:xfrm>
            <a:off x="14127480" y="35145649"/>
            <a:ext cx="11978640" cy="1948180"/>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5.</a:t>
            </a:r>
            <a:r>
              <a:rPr sz="2300" b="0" i="0">
                <a:solidFill>
                  <a:srgbClr val="55585E"/>
                </a:solidFill>
                <a:latin typeface="Calibri"/>
              </a:rPr>
              <a:t> Across: HIPS EC (Fabs / MAC 10). Grey: all held-out IMPROVE filters; red: the 97 most like Addis. </a:t>
            </a:r>
            <a:r>
              <a:rPr sz="2300" b="1" i="0">
                <a:solidFill>
                  <a:srgbClr val="55585E"/>
                </a:solidFill>
                <a:latin typeface="Calibri"/>
              </a:rPr>
              <a:t>Left:</a:t>
            </a:r>
            <a:r>
              <a:rPr sz="2300" b="0" i="0">
                <a:solidFill>
                  <a:srgbClr val="55585E"/>
                </a:solidFill>
                <a:latin typeface="Calibri"/>
              </a:rPr>
              <a:t> the two reference methods agree on them (TOR vs HIPS slope 0.91, R² 0.82). </a:t>
            </a:r>
            <a:r>
              <a:rPr sz="2300" b="1" i="0">
                <a:solidFill>
                  <a:srgbClr val="55585E"/>
                </a:solidFill>
                <a:latin typeface="Calibri"/>
              </a:rPr>
              <a:t>Right:</a:t>
            </a:r>
            <a:r>
              <a:rPr sz="2300" b="0" i="0">
                <a:solidFill>
                  <a:srgbClr val="55585E"/>
                </a:solidFill>
                <a:latin typeface="Calibri"/>
              </a:rPr>
              <a:t> the same FTIR calibration predicts them poorly (slope 0.46, R² 0.52): too high at low EC, too low at high EC. Same calibration, same method; only the samples changed.</a:t>
            </a:r>
          </a:p>
        </p:txBody>
      </p:sp>
      <p:sp>
        <p:nvSpPr>
          <p:cNvPr id="46" name="Rectangle 45"/>
          <p:cNvSpPr/>
          <p:nvPr/>
        </p:nvSpPr>
        <p:spPr>
          <a:xfrm>
            <a:off x="14127480" y="37368149"/>
            <a:ext cx="11978640" cy="2578100"/>
          </a:xfrm>
          <a:prstGeom prst="rect">
            <a:avLst/>
          </a:prstGeom>
          <a:solidFill>
            <a:srgbClr val="FBF3E4"/>
          </a:solidFill>
          <a:ln w="25400">
            <a:solidFill>
              <a:srgbClr val="C494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4264640" y="37459589"/>
            <a:ext cx="11704319" cy="2209836"/>
          </a:xfrm>
          <a:prstGeom prst="rect">
            <a:avLst/>
          </a:prstGeom>
          <a:noFill/>
        </p:spPr>
        <p:txBody>
          <a:bodyPr wrap="square" tIns="27432" bIns="27432">
            <a:spAutoFit/>
          </a:bodyPr>
          <a:lstStyle/>
          <a:p>
            <a:pPr algn="l">
              <a:spcAft>
                <a:spcPts val="979"/>
              </a:spcAft>
            </a:pPr>
            <a:r>
              <a:rPr sz="2800" b="1" i="0" dirty="0">
                <a:solidFill>
                  <a:srgbClr val="22252A"/>
                </a:solidFill>
                <a:latin typeface="Calibri"/>
              </a:rPr>
              <a:t>So why calibrate with IMPROVE filters at all?</a:t>
            </a:r>
            <a:r>
              <a:rPr sz="2800" b="0" i="0" dirty="0">
                <a:solidFill>
                  <a:srgbClr val="22252A"/>
                </a:solidFill>
                <a:latin typeface="Calibri"/>
              </a:rPr>
              <a:t> Because it is the only data set that exists. IMPROVE's library of matched Teflon (FTIR) and quartz (TOR) ambient filters is the only one anywhere in the world. There is no equivalent from Addis Ababa or any other city: CSN (the US urban network) filters are bigger and thicker and sample at a lower flow.</a:t>
            </a:r>
            <a:r>
              <a:rPr lang="en-CA" sz="2800" b="0" i="0" dirty="0">
                <a:solidFill>
                  <a:srgbClr val="22252A"/>
                </a:solidFill>
                <a:latin typeface="Calibri"/>
              </a:rPr>
              <a:t> Predication quality lower….</a:t>
            </a:r>
            <a:endParaRPr sz="2800" b="0" i="0" dirty="0">
              <a:solidFill>
                <a:srgbClr val="22252A"/>
              </a:solidFill>
              <a:latin typeface="Calibri"/>
            </a:endParaRPr>
          </a:p>
        </p:txBody>
      </p:sp>
      <p:sp>
        <p:nvSpPr>
          <p:cNvPr id="48" name="Rectangle 47"/>
          <p:cNvSpPr/>
          <p:nvPr/>
        </p:nvSpPr>
        <p:spPr>
          <a:xfrm>
            <a:off x="26929080" y="6446520"/>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ctr"/>
            <a:r>
              <a:rPr sz="3800" b="1" i="0">
                <a:solidFill>
                  <a:srgbClr val="FFFFFF"/>
                </a:solidFill>
                <a:latin typeface="Calibri"/>
              </a:rPr>
              <a:t>Why: Addis filters are outside the calibration</a:t>
            </a:r>
          </a:p>
        </p:txBody>
      </p:sp>
      <p:pic>
        <p:nvPicPr>
          <p:cNvPr id="49" name="Picture 48" descr="f2d_addis_filter.png"/>
          <p:cNvPicPr>
            <a:picLocks noChangeAspect="1"/>
          </p:cNvPicPr>
          <p:nvPr/>
        </p:nvPicPr>
        <p:blipFill>
          <a:blip r:embed="rId11"/>
          <a:stretch>
            <a:fillRect/>
          </a:stretch>
        </p:blipFill>
        <p:spPr>
          <a:xfrm>
            <a:off x="27660600" y="7406640"/>
            <a:ext cx="11064240" cy="7144976"/>
          </a:xfrm>
          <a:prstGeom prst="rect">
            <a:avLst/>
          </a:prstGeom>
        </p:spPr>
      </p:pic>
      <p:sp>
        <p:nvSpPr>
          <p:cNvPr id="50" name="TextBox 49"/>
          <p:cNvSpPr txBox="1"/>
          <p:nvPr/>
        </p:nvSpPr>
        <p:spPr>
          <a:xfrm>
            <a:off x="27203400" y="14597336"/>
            <a:ext cx="11978640" cy="1247139"/>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6.</a:t>
            </a:r>
            <a:r>
              <a:rPr sz="2300" b="0" i="0">
                <a:solidFill>
                  <a:srgbClr val="55585E"/>
                </a:solidFill>
                <a:latin typeface="Calibri"/>
              </a:rPr>
              <a:t> The same Addis filters as µg of EC on one filter, which is what FTIR sees. IMPROVE samples about 4× more air per filter (about 22 vs 5 L/min), so the gap is smaller than in the air, but typical Addis EC is still about 2× the IMPROVE 95th percentile.</a:t>
            </a:r>
          </a:p>
        </p:txBody>
      </p:sp>
      <p:pic>
        <p:nvPicPr>
          <p:cNvPr id="51" name="Picture 50" descr="f4b_loading_per_filter_hist.png"/>
          <p:cNvPicPr>
            <a:picLocks noChangeAspect="1"/>
          </p:cNvPicPr>
          <p:nvPr/>
        </p:nvPicPr>
        <p:blipFill>
          <a:blip r:embed="rId12"/>
          <a:stretch>
            <a:fillRect/>
          </a:stretch>
        </p:blipFill>
        <p:spPr>
          <a:xfrm>
            <a:off x="27752040" y="16073076"/>
            <a:ext cx="10881360" cy="5252240"/>
          </a:xfrm>
          <a:prstGeom prst="rect">
            <a:avLst/>
          </a:prstGeom>
        </p:spPr>
      </p:pic>
      <p:sp>
        <p:nvSpPr>
          <p:cNvPr id="52" name="TextBox 51"/>
          <p:cNvSpPr txBox="1"/>
          <p:nvPr/>
        </p:nvSpPr>
        <p:spPr>
          <a:xfrm>
            <a:off x="27203400" y="21371037"/>
            <a:ext cx="11978640" cy="1597659"/>
          </a:xfrm>
          <a:prstGeom prst="rect">
            <a:avLst/>
          </a:prstGeom>
          <a:noFill/>
        </p:spPr>
        <p:txBody>
          <a:bodyPr wrap="square" tIns="27432" bIns="27432">
            <a:spAutoFit/>
          </a:bodyPr>
          <a:lstStyle/>
          <a:p>
            <a:pPr algn="l">
              <a:spcAft>
                <a:spcPts val="460"/>
              </a:spcAft>
            </a:pPr>
            <a:r>
              <a:rPr sz="2300" b="1" i="0">
                <a:solidFill>
                  <a:srgbClr val="55585E"/>
                </a:solidFill>
                <a:latin typeface="Calibri"/>
              </a:rPr>
              <a:t>Figure 7.</a:t>
            </a:r>
            <a:r>
              <a:rPr sz="2300" b="0" i="0">
                <a:solidFill>
                  <a:srgbClr val="55585E"/>
                </a:solidFill>
                <a:latin typeface="Calibri"/>
              </a:rPr>
              <a:t> Across: µg of EC on one filter (log scale, each tick is 10×). Up: percent of filters. The typical Addis filter carries about 9× the EC of a typical IMPROVE calibration filter, and 79% of Addis filters are above IMPROVE's 99th percentile: the calibration has seen almost nothing like them.</a:t>
            </a:r>
          </a:p>
        </p:txBody>
      </p:sp>
      <p:pic>
        <p:nvPicPr>
          <p:cNvPr id="53" name="Picture 52" descr="f5_ec_site_continuum.png"/>
          <p:cNvPicPr>
            <a:picLocks noChangeAspect="1"/>
          </p:cNvPicPr>
          <p:nvPr/>
        </p:nvPicPr>
        <p:blipFill>
          <a:blip r:embed="rId13"/>
          <a:stretch>
            <a:fillRect/>
          </a:stretch>
        </p:blipFill>
        <p:spPr>
          <a:xfrm>
            <a:off x="27569160" y="23197297"/>
            <a:ext cx="11247119" cy="5585955"/>
          </a:xfrm>
          <a:prstGeom prst="rect">
            <a:avLst/>
          </a:prstGeom>
        </p:spPr>
      </p:pic>
      <p:sp>
        <p:nvSpPr>
          <p:cNvPr id="54" name="TextBox 53"/>
          <p:cNvSpPr txBox="1"/>
          <p:nvPr/>
        </p:nvSpPr>
        <p:spPr>
          <a:xfrm>
            <a:off x="27203400" y="28828972"/>
            <a:ext cx="11978640" cy="1247139"/>
          </a:xfrm>
          <a:prstGeom prst="rect">
            <a:avLst/>
          </a:prstGeom>
          <a:noFill/>
        </p:spPr>
        <p:txBody>
          <a:bodyPr wrap="square" tIns="27432" bIns="27432">
            <a:spAutoFit/>
          </a:bodyPr>
          <a:lstStyle/>
          <a:p>
            <a:pPr algn="l">
              <a:spcAft>
                <a:spcPts val="460"/>
              </a:spcAft>
            </a:pPr>
            <a:r>
              <a:rPr sz="2300" b="1" i="0" dirty="0">
                <a:solidFill>
                  <a:srgbClr val="55585E"/>
                </a:solidFill>
                <a:latin typeface="Calibri"/>
              </a:rPr>
              <a:t>Figure 8.</a:t>
            </a:r>
            <a:r>
              <a:rPr sz="2300" b="0" i="0" dirty="0">
                <a:solidFill>
                  <a:srgbClr val="55585E"/>
                </a:solidFill>
                <a:latin typeface="Calibri"/>
              </a:rPr>
              <a:t> Every IMPROVE (grey) and SPARTAN (stars) site ranked by median EC from HIPS. Addis is above all 213 IMPROVE sites, and 28 of 29 SPARTAN sites are above the typical IMPROVE site (17 above the highest). So this is not only an Addis problem.</a:t>
            </a:r>
          </a:p>
        </p:txBody>
      </p:sp>
      <p:sp>
        <p:nvSpPr>
          <p:cNvPr id="55" name="Rectangle 54"/>
          <p:cNvSpPr/>
          <p:nvPr/>
        </p:nvSpPr>
        <p:spPr>
          <a:xfrm>
            <a:off x="26929080" y="30396152"/>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ctr"/>
            <a:r>
              <a:rPr sz="3800" b="1" i="0">
                <a:solidFill>
                  <a:srgbClr val="FFFFFF"/>
                </a:solidFill>
                <a:latin typeface="Calibri"/>
              </a:rPr>
              <a:t>Conclusions and next steps</a:t>
            </a:r>
          </a:p>
        </p:txBody>
      </p:sp>
      <p:sp>
        <p:nvSpPr>
          <p:cNvPr id="56" name="TextBox 55"/>
          <p:cNvSpPr txBox="1"/>
          <p:nvPr/>
        </p:nvSpPr>
        <p:spPr>
          <a:xfrm>
            <a:off x="27203400" y="31356272"/>
            <a:ext cx="11978640" cy="3518535"/>
          </a:xfrm>
          <a:prstGeom prst="rect">
            <a:avLst/>
          </a:prstGeom>
          <a:noFill/>
        </p:spPr>
        <p:txBody>
          <a:bodyPr wrap="square" tIns="27432" bIns="27432">
            <a:spAutoFit/>
          </a:bodyPr>
          <a:lstStyle/>
          <a:p>
            <a:pPr marL="384048" indent="-384048" algn="l">
              <a:spcAft>
                <a:spcPts val="875"/>
              </a:spcAft>
              <a:buChar char="•"/>
            </a:pPr>
            <a:r>
              <a:rPr sz="2500" b="0" i="0" dirty="0">
                <a:solidFill>
                  <a:srgbClr val="22252A"/>
                </a:solidFill>
                <a:latin typeface="Calibri"/>
              </a:rPr>
              <a:t>FTIR EC calibrated on ambient IMPROVE filters works for typical IMPROVE filters, but not for heavily loaded filters like Addis, nor for the IMPROVE filters whose spectra resemble Addis.</a:t>
            </a:r>
          </a:p>
          <a:p>
            <a:pPr marL="384048" indent="-384048" algn="l">
              <a:spcAft>
                <a:spcPts val="875"/>
              </a:spcAft>
              <a:buChar char="•"/>
            </a:pPr>
            <a:r>
              <a:rPr sz="2500" b="0" i="0" dirty="0">
                <a:solidFill>
                  <a:srgbClr val="22252A"/>
                </a:solidFill>
                <a:latin typeface="Calibri"/>
              </a:rPr>
              <a:t>Calibrations built on clean, lightly loaded filters transfer poorly to polluted cities; testing on the whole network hides this.</a:t>
            </a:r>
          </a:p>
          <a:p>
            <a:pPr marL="384048" indent="-384048" algn="l">
              <a:spcAft>
                <a:spcPts val="875"/>
              </a:spcAft>
              <a:buChar char="•"/>
            </a:pPr>
            <a:r>
              <a:rPr sz="2500" b="0" i="0" dirty="0">
                <a:solidFill>
                  <a:srgbClr val="22252A"/>
                </a:solidFill>
                <a:latin typeface="Calibri"/>
              </a:rPr>
              <a:t>Next: pick calibration filters by EC-to-PM2.5 ratio; check TOR on the heaviest, smoke-affected IMPROVE filters; collocated Teflon and quartz filters from Addis Ababa are planned.</a:t>
            </a:r>
          </a:p>
        </p:txBody>
      </p:sp>
      <p:sp>
        <p:nvSpPr>
          <p:cNvPr id="57" name="Rectangle 56"/>
          <p:cNvSpPr/>
          <p:nvPr/>
        </p:nvSpPr>
        <p:spPr>
          <a:xfrm>
            <a:off x="26929080" y="35149127"/>
            <a:ext cx="12527280" cy="77724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ctr"/>
            <a:r>
              <a:rPr sz="3800" b="1" i="0">
                <a:solidFill>
                  <a:srgbClr val="FFFFFF"/>
                </a:solidFill>
                <a:latin typeface="Calibri"/>
              </a:rPr>
              <a:t>References</a:t>
            </a:r>
          </a:p>
        </p:txBody>
      </p:sp>
      <p:sp>
        <p:nvSpPr>
          <p:cNvPr id="58" name="TextBox 57"/>
          <p:cNvSpPr txBox="1"/>
          <p:nvPr/>
        </p:nvSpPr>
        <p:spPr>
          <a:xfrm>
            <a:off x="27203400" y="36063527"/>
            <a:ext cx="11978640" cy="4297679"/>
          </a:xfrm>
          <a:prstGeom prst="rect">
            <a:avLst/>
          </a:prstGeom>
          <a:noFill/>
        </p:spPr>
        <p:txBody>
          <a:bodyPr wrap="square" tIns="27432" bIns="27432">
            <a:spAutoFit/>
          </a:bodyPr>
          <a:lstStyle/>
          <a:p>
            <a:pPr algn="l">
              <a:spcAft>
                <a:spcPts val="360"/>
              </a:spcAft>
            </a:pPr>
            <a:r>
              <a:rPr sz="1800" b="0" i="0" dirty="0">
                <a:solidFill>
                  <a:srgbClr val="55585E"/>
                </a:solidFill>
                <a:latin typeface="Calibri"/>
              </a:rPr>
              <a:t>Chow, J. C., et al. (2007). The IMPROVE_A temperature protocol for thermal/optical carbon analysis. </a:t>
            </a:r>
            <a:r>
              <a:rPr sz="1800" b="0" i="1" dirty="0">
                <a:solidFill>
                  <a:srgbClr val="55585E"/>
                </a:solidFill>
                <a:latin typeface="Calibri"/>
              </a:rPr>
              <a:t>J. Air Waste Manag. Assoc.</a:t>
            </a:r>
            <a:r>
              <a:rPr sz="1800" b="0" i="0" dirty="0">
                <a:solidFill>
                  <a:srgbClr val="55585E"/>
                </a:solidFill>
                <a:latin typeface="Calibri"/>
              </a:rPr>
              <a:t>, 57, 1014-1023.</a:t>
            </a:r>
          </a:p>
          <a:p>
            <a:pPr algn="l">
              <a:spcAft>
                <a:spcPts val="360"/>
              </a:spcAft>
            </a:pPr>
            <a:r>
              <a:rPr sz="1800" b="0" i="0" dirty="0">
                <a:solidFill>
                  <a:srgbClr val="55585E"/>
                </a:solidFill>
                <a:latin typeface="Calibri"/>
              </a:rPr>
              <a:t>Dillner, A. M., &amp; Takahama, S. (2015). Predicting ambient aerosol thermal-optical reflectance measurements from infrared spectra: elemental carbon. </a:t>
            </a:r>
            <a:r>
              <a:rPr sz="1800" b="0" i="1" dirty="0">
                <a:solidFill>
                  <a:srgbClr val="55585E"/>
                </a:solidFill>
                <a:latin typeface="Calibri"/>
              </a:rPr>
              <a:t>Atmos. Meas. Tech.</a:t>
            </a:r>
            <a:r>
              <a:rPr sz="1800" b="0" i="0" dirty="0">
                <a:solidFill>
                  <a:srgbClr val="55585E"/>
                </a:solidFill>
                <a:latin typeface="Calibri"/>
              </a:rPr>
              <a:t>, 8, 4013-4023.</a:t>
            </a:r>
          </a:p>
          <a:p>
            <a:pPr algn="l">
              <a:spcAft>
                <a:spcPts val="360"/>
              </a:spcAft>
            </a:pPr>
            <a:r>
              <a:rPr sz="1800" b="0" i="0" dirty="0" err="1">
                <a:solidFill>
                  <a:srgbClr val="55585E"/>
                </a:solidFill>
                <a:latin typeface="Calibri"/>
              </a:rPr>
              <a:t>Kuzmiakova</a:t>
            </a:r>
            <a:r>
              <a:rPr sz="1800" b="0" i="0" dirty="0">
                <a:solidFill>
                  <a:srgbClr val="55585E"/>
                </a:solidFill>
                <a:latin typeface="Calibri"/>
              </a:rPr>
              <a:t>, A., Dillner, A. M., &amp; Takahama, S. (2016). An automated baseline correction protocol for infrared spectra of atmospheric aerosols collected on polytetrafluoroethylene (Teflon) filters. </a:t>
            </a:r>
            <a:r>
              <a:rPr sz="1800" b="0" i="1" dirty="0">
                <a:solidFill>
                  <a:srgbClr val="55585E"/>
                </a:solidFill>
                <a:latin typeface="Calibri"/>
              </a:rPr>
              <a:t>Atmos. Meas. Tech.</a:t>
            </a:r>
            <a:r>
              <a:rPr sz="1800" b="0" i="0" dirty="0">
                <a:solidFill>
                  <a:srgbClr val="55585E"/>
                </a:solidFill>
                <a:latin typeface="Calibri"/>
              </a:rPr>
              <a:t>, 9, 2615-2631.</a:t>
            </a:r>
          </a:p>
          <a:p>
            <a:pPr algn="l">
              <a:spcAft>
                <a:spcPts val="360"/>
              </a:spcAft>
            </a:pPr>
            <a:r>
              <a:rPr sz="1800" b="0" i="0" dirty="0">
                <a:solidFill>
                  <a:srgbClr val="55585E"/>
                </a:solidFill>
                <a:latin typeface="Calibri"/>
              </a:rPr>
              <a:t>Malm, W. C., et al. (1994). Spatial and seasonal trends in particle concentration and optical extinction in the United States. </a:t>
            </a:r>
            <a:r>
              <a:rPr sz="1800" b="0" i="1" dirty="0">
                <a:solidFill>
                  <a:srgbClr val="55585E"/>
                </a:solidFill>
                <a:latin typeface="Calibri"/>
              </a:rPr>
              <a:t>J. </a:t>
            </a:r>
            <a:r>
              <a:rPr sz="1800" b="0" i="1" dirty="0" err="1">
                <a:solidFill>
                  <a:srgbClr val="55585E"/>
                </a:solidFill>
                <a:latin typeface="Calibri"/>
              </a:rPr>
              <a:t>Geophys</a:t>
            </a:r>
            <a:r>
              <a:rPr sz="1800" b="0" i="1" dirty="0">
                <a:solidFill>
                  <a:srgbClr val="55585E"/>
                </a:solidFill>
                <a:latin typeface="Calibri"/>
              </a:rPr>
              <a:t>. Res.</a:t>
            </a:r>
            <a:r>
              <a:rPr sz="1800" b="0" i="0" dirty="0">
                <a:solidFill>
                  <a:srgbClr val="55585E"/>
                </a:solidFill>
                <a:latin typeface="Calibri"/>
              </a:rPr>
              <a:t>, 99, 1347-1370.</a:t>
            </a:r>
          </a:p>
          <a:p>
            <a:pPr algn="l">
              <a:spcAft>
                <a:spcPts val="360"/>
              </a:spcAft>
            </a:pPr>
            <a:r>
              <a:rPr sz="1800" b="0" i="0" dirty="0">
                <a:solidFill>
                  <a:srgbClr val="55585E"/>
                </a:solidFill>
                <a:latin typeface="Calibri"/>
              </a:rPr>
              <a:t>Snider, G., et al. (2015). SPARTAN: a global network to evaluate and enhance satellite-based estimates of ground-level particulate matter for global health applications. </a:t>
            </a:r>
            <a:r>
              <a:rPr sz="1800" b="0" i="1" dirty="0">
                <a:solidFill>
                  <a:srgbClr val="55585E"/>
                </a:solidFill>
                <a:latin typeface="Calibri"/>
              </a:rPr>
              <a:t>Atmos. Meas. Tech.</a:t>
            </a:r>
            <a:r>
              <a:rPr sz="1800" b="0" i="0" dirty="0">
                <a:solidFill>
                  <a:srgbClr val="55585E"/>
                </a:solidFill>
                <a:latin typeface="Calibri"/>
              </a:rPr>
              <a:t>, 8, 505-521.</a:t>
            </a:r>
          </a:p>
          <a:p>
            <a:pPr algn="l">
              <a:spcAft>
                <a:spcPts val="360"/>
              </a:spcAft>
            </a:pPr>
            <a:r>
              <a:rPr sz="1800" b="0" i="0" dirty="0">
                <a:solidFill>
                  <a:srgbClr val="55585E"/>
                </a:solidFill>
                <a:latin typeface="Calibri"/>
              </a:rPr>
              <a:t>White, W. H., et al. (2016). A critical review of filter transmittance measurements for aerosol light absorption, and de novo calibration for a decade of monitoring on PTFE membranes. </a:t>
            </a:r>
            <a:r>
              <a:rPr sz="1800" b="0" i="1" dirty="0">
                <a:solidFill>
                  <a:srgbClr val="55585E"/>
                </a:solidFill>
                <a:latin typeface="Calibri"/>
              </a:rPr>
              <a:t>Aerosol Sci. Technol.</a:t>
            </a:r>
            <a:r>
              <a:rPr sz="1800" b="0" i="0" dirty="0">
                <a:solidFill>
                  <a:srgbClr val="55585E"/>
                </a:solidFill>
                <a:latin typeface="Calibri"/>
              </a:rPr>
              <a:t>, 50, 984-1002.</a:t>
            </a:r>
          </a:p>
          <a:p>
            <a:pPr algn="l">
              <a:spcAft>
                <a:spcPts val="360"/>
              </a:spcAft>
            </a:pPr>
            <a:r>
              <a:rPr sz="1800" b="0" i="0" dirty="0">
                <a:solidFill>
                  <a:srgbClr val="55585E"/>
                </a:solidFill>
                <a:latin typeface="Calibri"/>
              </a:rPr>
              <a:t>Data: SPARTAN public release v3.1.4; IMPROVE data from the Federal Land Manager Environmental Database (FED).</a:t>
            </a:r>
          </a:p>
        </p:txBody>
      </p:sp>
      <p:sp>
        <p:nvSpPr>
          <p:cNvPr id="59" name="TextBox 58">
            <a:extLst>
              <a:ext uri="{FF2B5EF4-FFF2-40B4-BE49-F238E27FC236}">
                <a16:creationId xmlns:a16="http://schemas.microsoft.com/office/drawing/2014/main" id="{245ED5A9-9278-8C00-A466-304988131F27}"/>
              </a:ext>
            </a:extLst>
          </p:cNvPr>
          <p:cNvSpPr txBox="1"/>
          <p:nvPr/>
        </p:nvSpPr>
        <p:spPr>
          <a:xfrm>
            <a:off x="30681038" y="1097280"/>
            <a:ext cx="7626485" cy="369332"/>
          </a:xfrm>
          <a:prstGeom prst="rect">
            <a:avLst/>
          </a:prstGeom>
          <a:noFill/>
        </p:spPr>
        <p:txBody>
          <a:bodyPr wrap="square" rtlCol="0">
            <a:spAutoFit/>
          </a:bodyPr>
          <a:lstStyle/>
          <a:p>
            <a:r>
              <a:rPr lang="en-US" dirty="0"/>
              <a:t>MAIA logo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1701</Words>
  <Application>Microsoft Macintosh PowerPoint</Application>
  <PresentationFormat>Custom</PresentationFormat>
  <Paragraphs>64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Jalil, Ahmad [NH]</cp:lastModifiedBy>
  <cp:revision>2</cp:revision>
  <dcterms:created xsi:type="dcterms:W3CDTF">2013-01-27T09:14:16Z</dcterms:created>
  <dcterms:modified xsi:type="dcterms:W3CDTF">2026-10-19T22:42:24Z</dcterms:modified>
  <cp:category/>
</cp:coreProperties>
</file>