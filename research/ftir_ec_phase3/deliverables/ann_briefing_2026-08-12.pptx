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D21"/>
                </a:solidFill>
                <a:latin typeface="Calibri"/>
              </a:defRPr>
            </a:pPr>
            <a:r>
              <a:rPr sz="1200" b="0" i="0" u="none" strike="noStrike">
                <a:solidFill>
                  <a:srgbClr val="1A1D21"/>
                </a:solidFill>
                <a:latin typeface="Calibri"/>
              </a:rPr>
              <a:t>Each bar scored on its OWN site-disjoint split — ranks were never comparable</a:t>
            </a:r>
          </a:p>
        </c:rich>
      </c:tx>
      <c:layout/>
      <c:overlay val="0"/>
    </c:title>
    <c:autoTitleDeleted val="0"/>
    <c:plotArea>
      <c:layout/>
      <c:barChart>
        <c:barDir val="col"/>
        <c:grouping val="clustered"/>
        <c:varyColors val="0"/>
        <c:ser>
          <c:idx val="0"/>
          <c:order val="0"/>
          <c:tx>
            <c:strRef>
              <c:f>Sheet1!$B$1</c:f>
              <c:strCache>
                <c:ptCount val="1"/>
                <c:pt idx="0">
                  <c:v>held-out TOR RMSE</c:v>
                </c:pt>
              </c:strCache>
            </c:strRef>
          </c:tx>
          <c:spPr>
            <a:solidFill>
              <a:srgbClr val="7A4FA3"/>
            </a:solidFill>
            <a:effectLst/>
          </c:spPr>
          <c:invertIfNegative val="0"/>
          <c:dLbls>
            <c:numFmt formatCode="0.00" sourceLinked="0"/>
            <c:txPr>
              <a:bodyPr/>
              <a:lstStyle/>
              <a:p>
                <a:pPr>
                  <a:defRPr b="0" i="0" strike="noStrike" sz="1000" u="none">
                    <a:solidFill>
                      <a:srgbClr val="5E6369"/>
                    </a:solidFill>
                    <a:latin typeface="Arial"/>
                  </a:defRPr>
                </a:pPr>
              </a:p>
            </c:txPr>
            <c:showLegendKey val="0"/>
            <c:showVal val="1"/>
            <c:showCatName val="0"/>
            <c:showSerName val="0"/>
            <c:showPercent val="0"/>
            <c:showBubbleSize val="0"/>
            <c:showLeaderLines val="0"/>
          </c:dLbls>
          <c:dPt>
            <c:idx val="0"/>
            <c:invertIfNegative val="0"/>
            <c:bubble3D val="0"/>
            <c:spPr>
              <a:solidFill>
                <a:srgbClr val="7A4FA3"/>
              </a:solidFill>
              <a:effectLst/>
            </c:spPr>
          </c:dPt>
          <c:dPt>
            <c:idx val="1"/>
            <c:invertIfNegative val="0"/>
            <c:bubble3D val="0"/>
            <c:spPr>
              <a:solidFill>
                <a:srgbClr val="8F8C84"/>
              </a:solidFill>
              <a:effectLst/>
            </c:spPr>
          </c:dPt>
          <c:dPt>
            <c:idx val="2"/>
            <c:invertIfNegative val="0"/>
            <c:bubble3D val="0"/>
            <c:spPr>
              <a:solidFill>
                <a:srgbClr val="8F8C84"/>
              </a:solidFill>
              <a:effectLst/>
            </c:spPr>
          </c:dPt>
          <c:dPt>
            <c:idx val="3"/>
            <c:invertIfNegative val="0"/>
            <c:bubble3D val="0"/>
            <c:spPr>
              <a:solidFill>
                <a:srgbClr val="B23327"/>
              </a:solidFill>
              <a:effectLst/>
            </c:spPr>
          </c:dPt>
          <c:dPt>
            <c:idx val="4"/>
            <c:invertIfNegative val="0"/>
            <c:bubble3D val="0"/>
            <c:spPr>
              <a:solidFill>
                <a:srgbClr val="8F8C84"/>
              </a:solidFill>
              <a:effectLst/>
            </c:spPr>
          </c:dPt>
          <c:dPt>
            <c:idx val="5"/>
            <c:invertIfNegative val="0"/>
            <c:bubble3D val="0"/>
            <c:spPr>
              <a:solidFill>
                <a:srgbClr val="8F8C84"/>
              </a:solidFill>
              <a:effectLst/>
            </c:spPr>
          </c:dPt>
          <c:cat>
            <c:multiLvlStrRef>
              <c:f>Sheet1!$A$2:$A$7</c:f>
              <c:multiLvlStrCache>
                <c:ptCount val="6"/>
                <c:lvl>
                  <c:pt idx="0">
                    <c:v>OCEC-800</c:v>
                  </c:pt>
                  <c:pt idx="1">
                    <c:v>random #1</c:v>
                  </c:pt>
                  <c:pt idx="2">
                    <c:v>random #2</c:v>
                  </c:pt>
                  <c:pt idx="3">
                    <c:v>random #3</c:v>
                  </c:pt>
                  <c:pt idx="4">
                    <c:v>random #4</c:v>
                  </c:pt>
                  <c:pt idx="5">
                    <c:v>random #5</c:v>
                  </c:pt>
                </c:lvl>
              </c:multiLvlStrCache>
            </c:multiLvlStrRef>
          </c:cat>
          <c:val>
            <c:numRef>
              <c:f>Sheet1!$B$2:$B$7</c:f>
              <c:numCache>
                <c:formatCode>General</c:formatCode>
                <c:ptCount val="6"/>
                <c:pt idx="0">
                  <c:v>3.415</c:v>
                </c:pt>
                <c:pt idx="1">
                  <c:v>3.895</c:v>
                </c:pt>
                <c:pt idx="2">
                  <c:v>4.35</c:v>
                </c:pt>
                <c:pt idx="3">
                  <c:v>3.097</c:v>
                </c:pt>
                <c:pt idx="4">
                  <c:v>3.471</c:v>
                </c:pt>
                <c:pt idx="5">
                  <c:v>4.998</c:v>
                </c:pt>
              </c:numCache>
            </c:numRef>
          </c:val>
        </c:ser>
        <c:dLbls>
          <c:numFmt formatCode="0.00" sourceLinked="0"/>
          <c:txPr>
            <a:bodyPr/>
            <a:lstStyle/>
            <a:p>
              <a:pPr>
                <a:defRPr b="0" i="0" strike="noStrike" sz="1000" u="none">
                  <a:solidFill>
                    <a:srgbClr val="5E6369"/>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E6369"/>
                </a:solidFill>
                <a:latin typeface="Arial"/>
              </a:defRPr>
            </a:pPr>
            <a:endParaRPr lang="en-US"/>
          </a:p>
        </c:txPr>
        <c:crossAx val="2094734552"/>
        <c:crosses val="autoZero"/>
        <c:auto val="1"/>
        <c:lblAlgn val="ctr"/>
        <c:noMultiLvlLbl val="1"/>
      </c:catAx>
      <c:valAx>
        <c:axId val="2094734552"/>
        <c:scaling>
          <c:orientation val="minMax"/>
          <c:max val="5.5"/>
          <c:min val="0"/>
        </c:scaling>
        <c:delete val="0"/>
        <c:axPos val="l"/>
        <c:majorGridlines>
          <c:spPr>
            <a:ln w="6350" cap="flat">
              <a:solidFill>
                <a:srgbClr val="DDE0D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A909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landed since you last saw this, and I need six decisions before tomorrow morning. The deck for Satoshi is built and it has not gone anywhere. Nothing here has been said out loud outside this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her read the scorecard while you give the opening line. Do not walk it row by row. Everything green is committed and pushed; the gold column is the decision list for this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Before anything else — the audit found a wrong claim in the deck and it is fixed. We had been saying the low-OC/EC cohort beats ten random cohorts on the held-out TOR test. There were five, not ten. The range was 3.1 to 5.0, not 4.4 to 7.3. And one of the five actually beat ours — you can see it in red. Worse than any of that, the comparison was structurally meaningless: each cohort was scored on its own disjoint-site split, so those RMSEs were never comparable in the first place. The conclusion survives on the like-for-like evidence — same 190 Addis filters, RMSE 1.16 against 1.48 to 2.24; held-out TOR R-squared 0.911 against 0.594 to 0.775. That is what the deck, the summary and the email now say. Fixed and pushed this morning.
IF SHE PUSHES on how it got in: the number came in through the summary and propagated outward. No executed notebook ever produced it — that is the signature to watch for: a claim with no cell behind it. Frame the whole slide as the check working, not as damage.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 she knows this plot. It is here so the new results have their reference point 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 context for the setup matrix. The random-cohort correction does not change this ranking; the like-for-like tests do the work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she is approving for tomorrow, structurally. The two tone calls live here and on the component-selection slide of the Satoshi deck: the Calibration-app framing (“different question, not wrong tool”) and how hard to push MAC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She has seen these; keep to the mechanism sentence: a raw-spectra model is free to regress on background, Addis rides a higher background than anything it was trained on, and that error lands as an offset. Honest cost: corrected R² 0.66 vs 0.77 raw and RMSE 2.41 vs 1.16 — we prefer it for its residual structure, not its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uncertainty evidence the July meeting never saw — the statistical backbone under the intercept work, and the bridge into restating that remainder as a physical target on slide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Ironically the slide that most directly answered her July “I'm confused” moment. A constant offset that does not grow with extrapolation distance is not a domain failure — it behaves like something additive sitting in the x-axis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answer to your July question — why is the intercept negative when nothing at Addis is. Set predicted EC to zero and the intercept becomes a quantity you could go and look for: about 21 inverse megametres at the HIPS wavelength with no FTIR-EC behind it — 46 percent of a typical Addis filter.
IF SHE PUSHES on what it licenses: nothing about the cause on its own — brown carbon, dust, a HIPS artifact and curve geometry are all still live on this slide alone; the next two slides start eliminating them. IF SHE PUSHES on the −7.3%: it is systematic — c runs 1.885–2.608 across setups, best setup lowest; a shared c costs only 1.6% in RSS but is confounded by the same gain-invariance.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this the most air — it is both the strongest support and the sharpest caveat. SAY: Tier-1 item one came back. The question was whether HIPS generically reads a few inverse megametres at zero EC. It does not — the intercept is at most 1.3 pooled, 0.1 in the Addis-like subset, the median at zero EC is +0.12 with a quarter of filters negative: zero at zero with symmetric noise. And only 0.01 percent of IMPROVE filters carry as much total absorption as Addis's median — a generic 21-megametre offset cannot exist in that dataset. Then give the two survivors, slowly. IF SHE ASKS about testing curvature at Addis directly: it needs an EC reference derived from neither Fabs nor FTIR — after ftir_27 there is none in hand; it waits on quartz TOR. IF SHE ASKS about the 170/176 significant sites: n-power, not magnitude — no site reaches 5 Mm⁻¹.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 ahead of it: if she read ftir_25 yesterday, she saw the wrong version — say plainly that the correction standard caught your own error the same way it caught the audit items. ChemSpec_OC is circular too. Three proofs: the bit-for-bit rounding lattice, the shared per-filter volume-revision ratio across BC/EC/OC, and the network-wide slope of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she asks who confirmed it: Ahmad, this morning, from SPARTAN's public Instruments page and the 2025 methods paper — SPARTAN-side sources, exactly what the optics reference said was missing. If she cannot answer the semantics question today, assign the ask: who emails SPARTAN, before or after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fork is a slope contest — the intercept column is algebra-proof. Right: quote 10.05 only with its qualifier — the Addis-like OC/EC ≤ 2.27 subset, 6,503 filters; the pool median is 11.96. The inflated high-OC/EC tail independently shows Fabs carries organic-scaling non-EC absorption.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burning-signature panel was never walked through in July. Honesty note for the room: char peaks near 1590–1600, Addis at 1617–1619 — charcoal-consistent, not charcoal-matched. Carboxylate vs aromatic C=C still cannot be separated on Teflon below 1425 — that is the sub-1500 model ask to Satoshi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replaces the analog R-values you rightly called hand-wavy. A season-blind statistical structure that recovers the seasons on its own is a categorically stronger argument. With the residual panel (slide 07) and the band ratios, three independent views isolate the same Oct–Feb anomaly.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she wants it in tomorrow's deck: doable only with the go-ahead now — and say plainly that a result built this afternoon has had no audit pass; the last unaudited number that reached a deck is slide 01's correction. February moves 22 of 239 filters between conventions (dry_feb headline, belg_feb sensitivity) — name the calendar on every seasonal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“thirty-six filters total” — never per season; getting it wrong triples the ask. The one-pager is written and committed; the decision is whether it goes to Satoshi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six cards and get a yes/no or an owner on each. The two that cannot slip: the deck approval and Hossein. Then the evening pass folds today's results into the Satoshi deck — mechanical once this content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D21"/>
        </a:solidFill>
      </p:bgPr>
    </p:bg>
    <p:spTree>
      <p:nvGrpSpPr>
        <p:cNvPr id="1" name=""/>
        <p:cNvGrpSpPr/>
        <p:nvPr/>
      </p:nvGrpSpPr>
      <p:grpSpPr>
        <a:xfrm>
          <a:off x="0" y="0"/>
          <a:ext cx="0" cy="0"/>
          <a:chOff x="0" y="0"/>
          <a:chExt cx="0" cy="0"/>
        </a:xfrm>
      </p:grpSpPr>
      <p:sp>
        <p:nvSpPr>
          <p:cNvPr id="2" name="Text 0"/>
          <p:cNvSpPr/>
          <p:nvPr/>
        </p:nvSpPr>
        <p:spPr>
          <a:xfrm>
            <a:off x="502920" y="1371600"/>
            <a:ext cx="11183112" cy="320040"/>
          </a:xfrm>
          <a:prstGeom prst="rect">
            <a:avLst/>
          </a:prstGeom>
          <a:noFill/>
          <a:ln/>
        </p:spPr>
        <p:txBody>
          <a:bodyPr wrap="square" lIns="0" tIns="0" rIns="0" bIns="0" rtlCol="0" anchor="ctr"/>
          <a:lstStyle/>
          <a:p>
            <a:pPr indent="0" marL="0">
              <a:buNone/>
            </a:pPr>
            <a:r>
              <a:rPr lang="en-US" sz="1200" spc="200" kern="0" dirty="0">
                <a:solidFill>
                  <a:srgbClr val="E0705F"/>
                </a:solidFill>
                <a:latin typeface="Courier New" pitchFamily="34" charset="0"/>
                <a:ea typeface="Courier New" pitchFamily="34" charset="-122"/>
                <a:cs typeface="Courier New" pitchFamily="34" charset="-120"/>
              </a:rPr>
              <a:t>FTIR · EC CALIBRATION · ADDIS ABABA · ANN 1:1 · 12 AUG 2026</a:t>
            </a:r>
            <a:endParaRPr lang="en-US" sz="1200" dirty="0"/>
          </a:p>
        </p:txBody>
      </p:sp>
      <p:sp>
        <p:nvSpPr>
          <p:cNvPr id="3" name="Text 1"/>
          <p:cNvSpPr/>
          <p:nvPr/>
        </p:nvSpPr>
        <p:spPr>
          <a:xfrm>
            <a:off x="502920" y="1828800"/>
            <a:ext cx="10515600" cy="2103120"/>
          </a:xfrm>
          <a:prstGeom prst="rect">
            <a:avLst/>
          </a:prstGeom>
          <a:noFill/>
          <a:ln/>
        </p:spPr>
        <p:txBody>
          <a:bodyPr wrap="square" lIns="0" tIns="0" rIns="0" bIns="0" rtlCol="0" anchor="ctr"/>
          <a:lstStyle/>
          <a:p>
            <a:pPr indent="0" marL="0">
              <a:lnSpc>
                <a:spcPts val="5400"/>
              </a:lnSpc>
              <a:buNone/>
            </a:pPr>
            <a:r>
              <a:rPr lang="en-US" sz="4800" b="1" dirty="0">
                <a:solidFill>
                  <a:srgbClr val="FFFFFF"/>
                </a:solidFill>
                <a:latin typeface="Calibri" pitchFamily="34" charset="0"/>
                <a:ea typeface="Calibri" pitchFamily="34" charset="-122"/>
                <a:cs typeface="Calibri" pitchFamily="34" charset="-120"/>
              </a:rPr>
              <a:t>What changed —</a:t>
            </a:r>
            <a:endParaRPr lang="en-US" sz="4800" dirty="0"/>
          </a:p>
          <a:p>
            <a:pPr indent="0" marL="0">
              <a:lnSpc>
                <a:spcPts val="5400"/>
              </a:lnSpc>
              <a:buNone/>
            </a:pPr>
            <a:r>
              <a:rPr lang="en-US" sz="4800" b="1" dirty="0">
                <a:solidFill>
                  <a:srgbClr val="FFFFFF"/>
                </a:solidFill>
                <a:latin typeface="Calibri" pitchFamily="34" charset="0"/>
                <a:ea typeface="Calibri" pitchFamily="34" charset="-122"/>
                <a:cs typeface="Calibri" pitchFamily="34" charset="-120"/>
              </a:rPr>
              <a:t>and what needs your call.</a:t>
            </a:r>
            <a:endParaRPr lang="en-US" sz="4800" dirty="0"/>
          </a:p>
        </p:txBody>
      </p:sp>
      <p:sp>
        <p:nvSpPr>
          <p:cNvPr id="4" name="Text 2"/>
          <p:cNvSpPr/>
          <p:nvPr/>
        </p:nvSpPr>
        <p:spPr>
          <a:xfrm>
            <a:off x="502920" y="4114800"/>
            <a:ext cx="8778240" cy="822960"/>
          </a:xfrm>
          <a:prstGeom prst="rect">
            <a:avLst/>
          </a:prstGeom>
          <a:noFill/>
          <a:ln/>
        </p:spPr>
        <p:txBody>
          <a:bodyPr wrap="square" lIns="0" tIns="0" rIns="0" bIns="0" rtlCol="0" anchor="ctr"/>
          <a:lstStyle/>
          <a:p>
            <a:pPr indent="0" marL="0">
              <a:buNone/>
            </a:pPr>
            <a:r>
              <a:rPr lang="en-US" sz="1600" dirty="0">
                <a:solidFill>
                  <a:srgbClr val="A2A8AE"/>
                </a:solidFill>
                <a:latin typeface="Calibri" pitchFamily="34" charset="0"/>
                <a:ea typeface="Calibri" pitchFamily="34" charset="-122"/>
                <a:cs typeface="Calibri" pitchFamily="34" charset="-120"/>
              </a:rPr>
              <a:t>Three committed results on the intercept · one open question resolved this morning · six decisions before tomorrow's 10:00 with Satoshi.</a:t>
            </a:r>
            <a:endParaRPr lang="en-US" sz="1600" dirty="0"/>
          </a:p>
        </p:txBody>
      </p:sp>
      <p:sp>
        <p:nvSpPr>
          <p:cNvPr id="5" name="Text 3"/>
          <p:cNvSpPr/>
          <p:nvPr/>
        </p:nvSpPr>
        <p:spPr>
          <a:xfrm>
            <a:off x="502920" y="5989320"/>
            <a:ext cx="9601200" cy="548640"/>
          </a:xfrm>
          <a:prstGeom prst="rect">
            <a:avLst/>
          </a:prstGeom>
          <a:noFill/>
          <a:ln/>
        </p:spPr>
        <p:txBody>
          <a:bodyPr wrap="square" lIns="0" tIns="0" rIns="0" bIns="0" rtlCol="0" anchor="ctr"/>
          <a:lstStyle/>
          <a:p>
            <a:pPr indent="0" marL="0">
              <a:buNone/>
            </a:pPr>
            <a:r>
              <a:rPr lang="en-US" sz="1000" dirty="0">
                <a:solidFill>
                  <a:srgbClr val="767C83"/>
                </a:solidFill>
                <a:latin typeface="Courier New" pitchFamily="34" charset="0"/>
                <a:ea typeface="Courier New" pitchFamily="34" charset="-122"/>
                <a:cs typeface="Courier New" pitchFamily="34" charset="-120"/>
              </a:rPr>
              <a:t>Every number traces to a committed, executed notebook (ftir_11–27) except where a slide says otherwise. Focus: FTIR, HIPS, TOR and the IMPROVE network.</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lIns="0" tIns="0" rIns="0" bIns="0" rtlCol="0" anchor="ctr"/>
          <a:lstStyle/>
          <a:p>
            <a:pPr indent="0" marL="0">
              <a:buNone/>
            </a:pPr>
            <a:r>
              <a:rPr lang="en-US" sz="1100" spc="200" kern="0" dirty="0">
                <a:solidFill>
                  <a:srgbClr val="B23327"/>
                </a:solidFill>
                <a:latin typeface="Courier New" pitchFamily="34" charset="0"/>
                <a:ea typeface="Courier New" pitchFamily="34" charset="-122"/>
                <a:cs typeface="Courier New" pitchFamily="34" charset="-120"/>
              </a:rPr>
              <a:t>STATUS AT A GLANCE</a:t>
            </a:r>
            <a:endParaRPr lang="en-US" sz="1100" dirty="0"/>
          </a:p>
        </p:txBody>
      </p:sp>
      <p:sp>
        <p:nvSpPr>
          <p:cNvPr id="3" name="Text 1"/>
          <p:cNvSpPr/>
          <p:nvPr/>
        </p:nvSpPr>
        <p:spPr>
          <a:xfrm>
            <a:off x="502920" y="566928"/>
            <a:ext cx="11183112" cy="868680"/>
          </a:xfrm>
          <a:prstGeom prst="rect">
            <a:avLst/>
          </a:prstGeom>
          <a:noFill/>
          <a:ln/>
        </p:spPr>
        <p:txBody>
          <a:bodyPr wrap="square" lIns="0" tIns="0" rIns="0" bIns="0" rtlCol="0" anchor="t"/>
          <a:lstStyle/>
          <a:p>
            <a:pPr indent="0" marL="0">
              <a:buNone/>
            </a:pPr>
            <a:r>
              <a:rPr lang="en-US" sz="2600" b="1" dirty="0">
                <a:solidFill>
                  <a:srgbClr val="1A1D21"/>
                </a:solidFill>
                <a:latin typeface="Calibri" pitchFamily="34" charset="0"/>
                <a:ea typeface="Calibri" pitchFamily="34" charset="-122"/>
                <a:cs typeface="Calibri" pitchFamily="34" charset="-120"/>
              </a:rPr>
              <a:t>Since you saw it — and what needs you today.</a:t>
            </a:r>
            <a:endParaRPr lang="en-US" sz="2600" dirty="0"/>
          </a:p>
        </p:txBody>
      </p:sp>
      <p:sp>
        <p:nvSpPr>
          <p:cNvPr id="4" name="Text 2"/>
          <p:cNvSpPr/>
          <p:nvPr/>
        </p:nvSpPr>
        <p:spPr>
          <a:xfrm>
            <a:off x="502920" y="1417320"/>
            <a:ext cx="5394960" cy="320040"/>
          </a:xfrm>
          <a:prstGeom prst="rect">
            <a:avLst/>
          </a:prstGeom>
          <a:noFill/>
          <a:ln/>
        </p:spPr>
        <p:txBody>
          <a:bodyPr wrap="square" lIns="0" tIns="0" rIns="0" bIns="0" rtlCol="0" anchor="ctr"/>
          <a:lstStyle/>
          <a:p>
            <a:pPr indent="0" marL="0">
              <a:buNone/>
            </a:pPr>
            <a:r>
              <a:rPr lang="en-US" sz="1400" b="1" dirty="0">
                <a:solidFill>
                  <a:srgbClr val="1A1D21"/>
                </a:solidFill>
                <a:latin typeface="Calibri" pitchFamily="34" charset="0"/>
                <a:ea typeface="Calibri" pitchFamily="34" charset="-122"/>
                <a:cs typeface="Calibri" pitchFamily="34" charset="-120"/>
              </a:rPr>
              <a:t>Since you saw it</a:t>
            </a:r>
            <a:endParaRPr lang="en-US" sz="1400" dirty="0"/>
          </a:p>
        </p:txBody>
      </p:sp>
      <p:sp>
        <p:nvSpPr>
          <p:cNvPr id="5" name="Shape 3"/>
          <p:cNvSpPr/>
          <p:nvPr/>
        </p:nvSpPr>
        <p:spPr>
          <a:xfrm>
            <a:off x="502920" y="2395728"/>
            <a:ext cx="5440680" cy="0"/>
          </a:xfrm>
          <a:prstGeom prst="rect">
            <a:avLst/>
          </a:prstGeom>
          <a:noFill/>
          <a:ln w="9525">
            <a:solidFill>
              <a:srgbClr val="DDE0DC"/>
            </a:solidFill>
            <a:prstDash val="solid"/>
          </a:ln>
        </p:spPr>
      </p:sp>
      <p:sp>
        <p:nvSpPr>
          <p:cNvPr id="6" name="Text 4"/>
          <p:cNvSpPr/>
          <p:nvPr/>
        </p:nvSpPr>
        <p:spPr>
          <a:xfrm>
            <a:off x="502920" y="1828800"/>
            <a:ext cx="4206240" cy="56692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Audit: the random-cohort claim corrected in deck, summary and email</a:t>
            </a:r>
            <a:endParaRPr lang="en-US" sz="1100" dirty="0"/>
          </a:p>
        </p:txBody>
      </p:sp>
      <p:sp>
        <p:nvSpPr>
          <p:cNvPr id="7" name="Text 5"/>
          <p:cNvSpPr/>
          <p:nvPr/>
        </p:nvSpPr>
        <p:spPr>
          <a:xfrm>
            <a:off x="4754880" y="1901952"/>
            <a:ext cx="1188720" cy="402336"/>
          </a:xfrm>
          <a:prstGeom prst="rect">
            <a:avLst/>
          </a:prstGeom>
          <a:noFill/>
          <a:ln/>
        </p:spPr>
        <p:txBody>
          <a:bodyPr wrap="square" lIns="0" tIns="0" rIns="0" bIns="0" rtlCol="0" anchor="ctr"/>
          <a:lstStyle/>
          <a:p>
            <a:pPr algn="r" indent="0" marL="0">
              <a:buNone/>
            </a:pPr>
            <a:r>
              <a:rPr lang="en-US" sz="850" dirty="0">
                <a:solidFill>
                  <a:srgbClr val="3F7A56"/>
                </a:solidFill>
                <a:latin typeface="Courier New" pitchFamily="34" charset="0"/>
                <a:ea typeface="Courier New" pitchFamily="34" charset="-122"/>
                <a:cs typeface="Courier New" pitchFamily="34" charset="-120"/>
              </a:rPr>
              <a:t>pushed</a:t>
            </a:r>
            <a:endParaRPr lang="en-US" sz="850" dirty="0"/>
          </a:p>
        </p:txBody>
      </p:sp>
      <p:sp>
        <p:nvSpPr>
          <p:cNvPr id="8" name="Shape 6"/>
          <p:cNvSpPr/>
          <p:nvPr/>
        </p:nvSpPr>
        <p:spPr>
          <a:xfrm>
            <a:off x="502920" y="3054096"/>
            <a:ext cx="5440680" cy="0"/>
          </a:xfrm>
          <a:prstGeom prst="rect">
            <a:avLst/>
          </a:prstGeom>
          <a:noFill/>
          <a:ln w="9525">
            <a:solidFill>
              <a:srgbClr val="DDE0DC"/>
            </a:solidFill>
            <a:prstDash val="solid"/>
          </a:ln>
        </p:spPr>
      </p:sp>
      <p:sp>
        <p:nvSpPr>
          <p:cNvPr id="9" name="Text 7"/>
          <p:cNvSpPr/>
          <p:nvPr/>
        </p:nvSpPr>
        <p:spPr>
          <a:xfrm>
            <a:off x="502920" y="2487168"/>
            <a:ext cx="4206240" cy="56692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Intercept restated as a MAC-invariant ~21 Mm⁻¹ absorption target (ftir_25)</a:t>
            </a:r>
            <a:endParaRPr lang="en-US" sz="1100" dirty="0"/>
          </a:p>
        </p:txBody>
      </p:sp>
      <p:sp>
        <p:nvSpPr>
          <p:cNvPr id="10" name="Text 8"/>
          <p:cNvSpPr/>
          <p:nvPr/>
        </p:nvSpPr>
        <p:spPr>
          <a:xfrm>
            <a:off x="4754880" y="2560320"/>
            <a:ext cx="1188720" cy="402336"/>
          </a:xfrm>
          <a:prstGeom prst="rect">
            <a:avLst/>
          </a:prstGeom>
          <a:noFill/>
          <a:ln/>
        </p:spPr>
        <p:txBody>
          <a:bodyPr wrap="square" lIns="0" tIns="0" rIns="0" bIns="0" rtlCol="0" anchor="ctr"/>
          <a:lstStyle/>
          <a:p>
            <a:pPr algn="r" indent="0" marL="0">
              <a:buNone/>
            </a:pPr>
            <a:r>
              <a:rPr lang="en-US" sz="850" dirty="0">
                <a:solidFill>
                  <a:srgbClr val="3F7A56"/>
                </a:solidFill>
                <a:latin typeface="Courier New" pitchFamily="34" charset="0"/>
                <a:ea typeface="Courier New" pitchFamily="34" charset="-122"/>
                <a:cs typeface="Courier New" pitchFamily="34" charset="-120"/>
              </a:rPr>
              <a:t>committed</a:t>
            </a:r>
            <a:endParaRPr lang="en-US" sz="850" dirty="0"/>
          </a:p>
        </p:txBody>
      </p:sp>
      <p:sp>
        <p:nvSpPr>
          <p:cNvPr id="11" name="Shape 9"/>
          <p:cNvSpPr/>
          <p:nvPr/>
        </p:nvSpPr>
        <p:spPr>
          <a:xfrm>
            <a:off x="502920" y="3712464"/>
            <a:ext cx="5440680" cy="0"/>
          </a:xfrm>
          <a:prstGeom prst="rect">
            <a:avLst/>
          </a:prstGeom>
          <a:noFill/>
          <a:ln w="9525">
            <a:solidFill>
              <a:srgbClr val="DDE0DC"/>
            </a:solidFill>
            <a:prstDash val="solid"/>
          </a:ln>
        </p:spPr>
      </p:sp>
      <p:sp>
        <p:nvSpPr>
          <p:cNvPr id="12" name="Text 10"/>
          <p:cNvSpPr/>
          <p:nvPr/>
        </p:nvSpPr>
        <p:spPr>
          <a:xfrm>
            <a:off x="502920" y="3145536"/>
            <a:ext cx="4206240" cy="56692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“The offset lives in x” survives its sharpest cheap test (AIRSpec gain)</a:t>
            </a:r>
            <a:endParaRPr lang="en-US" sz="1100" dirty="0"/>
          </a:p>
        </p:txBody>
      </p:sp>
      <p:sp>
        <p:nvSpPr>
          <p:cNvPr id="13" name="Text 11"/>
          <p:cNvSpPr/>
          <p:nvPr/>
        </p:nvSpPr>
        <p:spPr>
          <a:xfrm>
            <a:off x="4754880" y="3218688"/>
            <a:ext cx="1188720" cy="402336"/>
          </a:xfrm>
          <a:prstGeom prst="rect">
            <a:avLst/>
          </a:prstGeom>
          <a:noFill/>
          <a:ln/>
        </p:spPr>
        <p:txBody>
          <a:bodyPr wrap="square" lIns="0" tIns="0" rIns="0" bIns="0" rtlCol="0" anchor="ctr"/>
          <a:lstStyle/>
          <a:p>
            <a:pPr algn="r" indent="0" marL="0">
              <a:buNone/>
            </a:pPr>
            <a:r>
              <a:rPr lang="en-US" sz="850" dirty="0">
                <a:solidFill>
                  <a:srgbClr val="3F7A56"/>
                </a:solidFill>
                <a:latin typeface="Courier New" pitchFamily="34" charset="0"/>
                <a:ea typeface="Courier New" pitchFamily="34" charset="-122"/>
                <a:cs typeface="Courier New" pitchFamily="34" charset="-120"/>
              </a:rPr>
              <a:t>committed</a:t>
            </a:r>
            <a:endParaRPr lang="en-US" sz="850" dirty="0"/>
          </a:p>
        </p:txBody>
      </p:sp>
      <p:sp>
        <p:nvSpPr>
          <p:cNvPr id="14" name="Shape 12"/>
          <p:cNvSpPr/>
          <p:nvPr/>
        </p:nvSpPr>
        <p:spPr>
          <a:xfrm>
            <a:off x="502920" y="4370832"/>
            <a:ext cx="5440680" cy="0"/>
          </a:xfrm>
          <a:prstGeom prst="rect">
            <a:avLst/>
          </a:prstGeom>
          <a:noFill/>
          <a:ln w="9525">
            <a:solidFill>
              <a:srgbClr val="DDE0DC"/>
            </a:solidFill>
            <a:prstDash val="solid"/>
          </a:ln>
        </p:spPr>
      </p:sp>
      <p:sp>
        <p:nvSpPr>
          <p:cNvPr id="15" name="Text 13"/>
          <p:cNvSpPr/>
          <p:nvPr/>
        </p:nvSpPr>
        <p:spPr>
          <a:xfrm>
            <a:off x="502920" y="3803904"/>
            <a:ext cx="4206240" cy="56692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IMPROVE HIPS reads ≈ 0 at EC = 0 — not a generic HIPS zero (ftir_26)</a:t>
            </a:r>
            <a:endParaRPr lang="en-US" sz="1100" dirty="0"/>
          </a:p>
        </p:txBody>
      </p:sp>
      <p:sp>
        <p:nvSpPr>
          <p:cNvPr id="16" name="Text 14"/>
          <p:cNvSpPr/>
          <p:nvPr/>
        </p:nvSpPr>
        <p:spPr>
          <a:xfrm>
            <a:off x="4754880" y="3877056"/>
            <a:ext cx="1188720" cy="402336"/>
          </a:xfrm>
          <a:prstGeom prst="rect">
            <a:avLst/>
          </a:prstGeom>
          <a:noFill/>
          <a:ln/>
        </p:spPr>
        <p:txBody>
          <a:bodyPr wrap="square" lIns="0" tIns="0" rIns="0" bIns="0" rtlCol="0" anchor="ctr"/>
          <a:lstStyle/>
          <a:p>
            <a:pPr algn="r" indent="0" marL="0">
              <a:buNone/>
            </a:pPr>
            <a:r>
              <a:rPr lang="en-US" sz="850" dirty="0">
                <a:solidFill>
                  <a:srgbClr val="3F7A56"/>
                </a:solidFill>
                <a:latin typeface="Courier New" pitchFamily="34" charset="0"/>
                <a:ea typeface="Courier New" pitchFamily="34" charset="-122"/>
                <a:cs typeface="Courier New" pitchFamily="34" charset="-120"/>
              </a:rPr>
              <a:t>committed</a:t>
            </a:r>
            <a:endParaRPr lang="en-US" sz="850" dirty="0"/>
          </a:p>
        </p:txBody>
      </p:sp>
      <p:sp>
        <p:nvSpPr>
          <p:cNvPr id="17" name="Shape 15"/>
          <p:cNvSpPr/>
          <p:nvPr/>
        </p:nvSpPr>
        <p:spPr>
          <a:xfrm>
            <a:off x="502920" y="5029200"/>
            <a:ext cx="5440680" cy="0"/>
          </a:xfrm>
          <a:prstGeom prst="rect">
            <a:avLst/>
          </a:prstGeom>
          <a:noFill/>
          <a:ln w="9525">
            <a:solidFill>
              <a:srgbClr val="DDE0DC"/>
            </a:solidFill>
            <a:prstDash val="solid"/>
          </a:ln>
        </p:spPr>
      </p:sp>
      <p:sp>
        <p:nvSpPr>
          <p:cNvPr id="18" name="Text 16"/>
          <p:cNvSpPr/>
          <p:nvPr/>
        </p:nvSpPr>
        <p:spPr>
          <a:xfrm>
            <a:off x="502920" y="4462272"/>
            <a:ext cx="4206240" cy="56692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Both ChemSpec carbon columns circular — no independent EC reference in hand (ftir_27)</a:t>
            </a:r>
            <a:endParaRPr lang="en-US" sz="1100" dirty="0"/>
          </a:p>
        </p:txBody>
      </p:sp>
      <p:sp>
        <p:nvSpPr>
          <p:cNvPr id="19" name="Text 17"/>
          <p:cNvSpPr/>
          <p:nvPr/>
        </p:nvSpPr>
        <p:spPr>
          <a:xfrm>
            <a:off x="4754880" y="4535424"/>
            <a:ext cx="1188720" cy="402336"/>
          </a:xfrm>
          <a:prstGeom prst="rect">
            <a:avLst/>
          </a:prstGeom>
          <a:noFill/>
          <a:ln/>
        </p:spPr>
        <p:txBody>
          <a:bodyPr wrap="square" lIns="0" tIns="0" rIns="0" bIns="0" rtlCol="0" anchor="ctr"/>
          <a:lstStyle/>
          <a:p>
            <a:pPr algn="r" indent="0" marL="0">
              <a:buNone/>
            </a:pPr>
            <a:r>
              <a:rPr lang="en-US" sz="850" dirty="0">
                <a:solidFill>
                  <a:srgbClr val="3F7A56"/>
                </a:solidFill>
                <a:latin typeface="Courier New" pitchFamily="34" charset="0"/>
                <a:ea typeface="Courier New" pitchFamily="34" charset="-122"/>
                <a:cs typeface="Courier New" pitchFamily="34" charset="-120"/>
              </a:rPr>
              <a:t>committed</a:t>
            </a:r>
            <a:endParaRPr lang="en-US" sz="850" dirty="0"/>
          </a:p>
        </p:txBody>
      </p:sp>
      <p:sp>
        <p:nvSpPr>
          <p:cNvPr id="20" name="Shape 18"/>
          <p:cNvSpPr/>
          <p:nvPr/>
        </p:nvSpPr>
        <p:spPr>
          <a:xfrm>
            <a:off x="502920" y="5687568"/>
            <a:ext cx="5440680" cy="0"/>
          </a:xfrm>
          <a:prstGeom prst="rect">
            <a:avLst/>
          </a:prstGeom>
          <a:noFill/>
          <a:ln w="9525">
            <a:solidFill>
              <a:srgbClr val="DDE0DC"/>
            </a:solidFill>
            <a:prstDash val="solid"/>
          </a:ln>
        </p:spPr>
      </p:sp>
      <p:sp>
        <p:nvSpPr>
          <p:cNvPr id="21" name="Text 19"/>
          <p:cNvSpPr/>
          <p:nvPr/>
        </p:nvSpPr>
        <p:spPr>
          <a:xfrm>
            <a:off x="502920" y="5120640"/>
            <a:ext cx="4206240" cy="56692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HIPS wavelength resolved: He–Ne 632.8 ≈ 633 nm, MAC 10 at 633</a:t>
            </a:r>
            <a:endParaRPr lang="en-US" sz="1100" dirty="0"/>
          </a:p>
        </p:txBody>
      </p:sp>
      <p:sp>
        <p:nvSpPr>
          <p:cNvPr id="22" name="Text 20"/>
          <p:cNvSpPr/>
          <p:nvPr/>
        </p:nvSpPr>
        <p:spPr>
          <a:xfrm>
            <a:off x="4754880" y="5193792"/>
            <a:ext cx="1188720" cy="402336"/>
          </a:xfrm>
          <a:prstGeom prst="rect">
            <a:avLst/>
          </a:prstGeom>
          <a:noFill/>
          <a:ln/>
        </p:spPr>
        <p:txBody>
          <a:bodyPr wrap="square" lIns="0" tIns="0" rIns="0" bIns="0" rtlCol="0" anchor="ctr"/>
          <a:lstStyle/>
          <a:p>
            <a:pPr algn="r" indent="0" marL="0">
              <a:buNone/>
            </a:pPr>
            <a:r>
              <a:rPr lang="en-US" sz="850" dirty="0">
                <a:solidFill>
                  <a:srgbClr val="3F7A56"/>
                </a:solidFill>
                <a:latin typeface="Courier New" pitchFamily="34" charset="0"/>
                <a:ea typeface="Courier New" pitchFamily="34" charset="-122"/>
                <a:cs typeface="Courier New" pitchFamily="34" charset="-120"/>
              </a:rPr>
              <a:t>resolved today</a:t>
            </a:r>
            <a:endParaRPr lang="en-US" sz="850" dirty="0"/>
          </a:p>
        </p:txBody>
      </p:sp>
      <p:sp>
        <p:nvSpPr>
          <p:cNvPr id="23" name="Shape 21"/>
          <p:cNvSpPr/>
          <p:nvPr/>
        </p:nvSpPr>
        <p:spPr>
          <a:xfrm>
            <a:off x="502920" y="6345936"/>
            <a:ext cx="5440680" cy="0"/>
          </a:xfrm>
          <a:prstGeom prst="rect">
            <a:avLst/>
          </a:prstGeom>
          <a:noFill/>
          <a:ln w="9525">
            <a:solidFill>
              <a:srgbClr val="DDE0DC"/>
            </a:solidFill>
            <a:prstDash val="solid"/>
          </a:ln>
        </p:spPr>
      </p:sp>
      <p:sp>
        <p:nvSpPr>
          <p:cNvPr id="24" name="Text 22"/>
          <p:cNvSpPr/>
          <p:nvPr/>
        </p:nvSpPr>
        <p:spPr>
          <a:xfrm>
            <a:off x="502920" y="5779008"/>
            <a:ext cx="4206240" cy="56692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ftir_24 (dry vs non-dry) is buildable today — the 43-undated worry is retired</a:t>
            </a:r>
            <a:endParaRPr lang="en-US" sz="1100" dirty="0"/>
          </a:p>
        </p:txBody>
      </p:sp>
      <p:sp>
        <p:nvSpPr>
          <p:cNvPr id="25" name="Text 23"/>
          <p:cNvSpPr/>
          <p:nvPr/>
        </p:nvSpPr>
        <p:spPr>
          <a:xfrm>
            <a:off x="4754880" y="5852160"/>
            <a:ext cx="1188720" cy="402336"/>
          </a:xfrm>
          <a:prstGeom prst="rect">
            <a:avLst/>
          </a:prstGeom>
          <a:noFill/>
          <a:ln/>
        </p:spPr>
        <p:txBody>
          <a:bodyPr wrap="square" lIns="0" tIns="0" rIns="0" bIns="0" rtlCol="0" anchor="ctr"/>
          <a:lstStyle/>
          <a:p>
            <a:pPr algn="r" indent="0" marL="0">
              <a:buNone/>
            </a:pPr>
            <a:r>
              <a:rPr lang="en-US" sz="850" dirty="0">
                <a:solidFill>
                  <a:srgbClr val="2C6E9E"/>
                </a:solidFill>
                <a:latin typeface="Courier New" pitchFamily="34" charset="0"/>
                <a:ea typeface="Courier New" pitchFamily="34" charset="-122"/>
                <a:cs typeface="Courier New" pitchFamily="34" charset="-120"/>
              </a:rPr>
              <a:t>ready</a:t>
            </a:r>
            <a:endParaRPr lang="en-US" sz="850" dirty="0"/>
          </a:p>
        </p:txBody>
      </p:sp>
      <p:sp>
        <p:nvSpPr>
          <p:cNvPr id="26" name="Text 24"/>
          <p:cNvSpPr/>
          <p:nvPr/>
        </p:nvSpPr>
        <p:spPr>
          <a:xfrm>
            <a:off x="6263640" y="1417320"/>
            <a:ext cx="5394960" cy="320040"/>
          </a:xfrm>
          <a:prstGeom prst="rect">
            <a:avLst/>
          </a:prstGeom>
          <a:noFill/>
          <a:ln/>
        </p:spPr>
        <p:txBody>
          <a:bodyPr wrap="square" lIns="0" tIns="0" rIns="0" bIns="0" rtlCol="0" anchor="ctr"/>
          <a:lstStyle/>
          <a:p>
            <a:pPr indent="0" marL="0">
              <a:buNone/>
            </a:pPr>
            <a:r>
              <a:rPr lang="en-US" sz="1400" b="1" dirty="0">
                <a:solidFill>
                  <a:srgbClr val="1A1D21"/>
                </a:solidFill>
                <a:latin typeface="Calibri" pitchFamily="34" charset="0"/>
                <a:ea typeface="Calibri" pitchFamily="34" charset="-122"/>
                <a:cs typeface="Calibri" pitchFamily="34" charset="-120"/>
              </a:rPr>
              <a:t>Needs you today</a:t>
            </a:r>
            <a:endParaRPr lang="en-US" sz="1400" dirty="0"/>
          </a:p>
        </p:txBody>
      </p:sp>
      <p:sp>
        <p:nvSpPr>
          <p:cNvPr id="27" name="Shape 25"/>
          <p:cNvSpPr/>
          <p:nvPr/>
        </p:nvSpPr>
        <p:spPr>
          <a:xfrm>
            <a:off x="6263640" y="2395728"/>
            <a:ext cx="5440680" cy="0"/>
          </a:xfrm>
          <a:prstGeom prst="rect">
            <a:avLst/>
          </a:prstGeom>
          <a:noFill/>
          <a:ln w="9525">
            <a:solidFill>
              <a:srgbClr val="DDE0DC"/>
            </a:solidFill>
            <a:prstDash val="solid"/>
          </a:ln>
        </p:spPr>
      </p:sp>
      <p:sp>
        <p:nvSpPr>
          <p:cNvPr id="28" name="Text 26"/>
          <p:cNvSpPr/>
          <p:nvPr/>
        </p:nvSpPr>
        <p:spPr>
          <a:xfrm>
            <a:off x="6263640" y="1828800"/>
            <a:ext cx="4206240" cy="56692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Approve the Satoshi deck — five parts, six asks, two tone calls</a:t>
            </a:r>
            <a:endParaRPr lang="en-US" sz="1100" dirty="0"/>
          </a:p>
        </p:txBody>
      </p:sp>
      <p:sp>
        <p:nvSpPr>
          <p:cNvPr id="29" name="Text 27"/>
          <p:cNvSpPr/>
          <p:nvPr/>
        </p:nvSpPr>
        <p:spPr>
          <a:xfrm>
            <a:off x="10515600" y="1901952"/>
            <a:ext cx="1188720" cy="402336"/>
          </a:xfrm>
          <a:prstGeom prst="rect">
            <a:avLst/>
          </a:prstGeom>
          <a:noFill/>
          <a:ln/>
        </p:spPr>
        <p:txBody>
          <a:bodyPr wrap="square" lIns="0" tIns="0" rIns="0" bIns="0" rtlCol="0" anchor="ctr"/>
          <a:lstStyle/>
          <a:p>
            <a:pPr algn="r" indent="0" marL="0">
              <a:buNone/>
            </a:pPr>
            <a:r>
              <a:rPr lang="en-US" sz="850" dirty="0">
                <a:solidFill>
                  <a:srgbClr val="B0792B"/>
                </a:solidFill>
                <a:latin typeface="Courier New" pitchFamily="34" charset="0"/>
                <a:ea typeface="Courier New" pitchFamily="34" charset="-122"/>
                <a:cs typeface="Courier New" pitchFamily="34" charset="-120"/>
              </a:rPr>
              <a:t>sign off</a:t>
            </a:r>
            <a:endParaRPr lang="en-US" sz="850" dirty="0"/>
          </a:p>
        </p:txBody>
      </p:sp>
      <p:sp>
        <p:nvSpPr>
          <p:cNvPr id="30" name="Shape 28"/>
          <p:cNvSpPr/>
          <p:nvPr/>
        </p:nvSpPr>
        <p:spPr>
          <a:xfrm>
            <a:off x="6263640" y="3054096"/>
            <a:ext cx="5440680" cy="0"/>
          </a:xfrm>
          <a:prstGeom prst="rect">
            <a:avLst/>
          </a:prstGeom>
          <a:noFill/>
          <a:ln w="9525">
            <a:solidFill>
              <a:srgbClr val="DDE0DC"/>
            </a:solidFill>
            <a:prstDash val="solid"/>
          </a:ln>
        </p:spPr>
      </p:sp>
      <p:sp>
        <p:nvSpPr>
          <p:cNvPr id="31" name="Text 29"/>
          <p:cNvSpPr/>
          <p:nvPr/>
        </p:nvSpPr>
        <p:spPr>
          <a:xfrm>
            <a:off x="6263640" y="2487168"/>
            <a:ext cx="4206240" cy="56692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What does SPARTAN mean by HIPS_Uncertainty / HIPS_MDL?</a:t>
            </a:r>
            <a:endParaRPr lang="en-US" sz="1100" dirty="0"/>
          </a:p>
        </p:txBody>
      </p:sp>
      <p:sp>
        <p:nvSpPr>
          <p:cNvPr id="32" name="Text 30"/>
          <p:cNvSpPr/>
          <p:nvPr/>
        </p:nvSpPr>
        <p:spPr>
          <a:xfrm>
            <a:off x="10515600" y="2560320"/>
            <a:ext cx="1188720" cy="402336"/>
          </a:xfrm>
          <a:prstGeom prst="rect">
            <a:avLst/>
          </a:prstGeom>
          <a:noFill/>
          <a:ln/>
        </p:spPr>
        <p:txBody>
          <a:bodyPr wrap="square" lIns="0" tIns="0" rIns="0" bIns="0" rtlCol="0" anchor="ctr"/>
          <a:lstStyle/>
          <a:p>
            <a:pPr algn="r" indent="0" marL="0">
              <a:buNone/>
            </a:pPr>
            <a:r>
              <a:rPr lang="en-US" sz="850" dirty="0">
                <a:solidFill>
                  <a:srgbClr val="B0792B"/>
                </a:solidFill>
                <a:latin typeface="Courier New" pitchFamily="34" charset="0"/>
                <a:ea typeface="Courier New" pitchFamily="34" charset="-122"/>
                <a:cs typeface="Courier New" pitchFamily="34" charset="-120"/>
              </a:rPr>
              <a:t>semantics</a:t>
            </a:r>
            <a:endParaRPr lang="en-US" sz="850" dirty="0"/>
          </a:p>
        </p:txBody>
      </p:sp>
      <p:sp>
        <p:nvSpPr>
          <p:cNvPr id="33" name="Shape 31"/>
          <p:cNvSpPr/>
          <p:nvPr/>
        </p:nvSpPr>
        <p:spPr>
          <a:xfrm>
            <a:off x="6263640" y="3712464"/>
            <a:ext cx="5440680" cy="0"/>
          </a:xfrm>
          <a:prstGeom prst="rect">
            <a:avLst/>
          </a:prstGeom>
          <a:noFill/>
          <a:ln w="9525">
            <a:solidFill>
              <a:srgbClr val="DDE0DC"/>
            </a:solidFill>
            <a:prstDash val="solid"/>
          </a:ln>
        </p:spPr>
      </p:sp>
      <p:sp>
        <p:nvSpPr>
          <p:cNvPr id="34" name="Text 32"/>
          <p:cNvSpPr/>
          <p:nvPr/>
        </p:nvSpPr>
        <p:spPr>
          <a:xfrm>
            <a:off x="6263640" y="3145536"/>
            <a:ext cx="4206240" cy="56692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ftir_24 — build today, or after tomorrow?</a:t>
            </a:r>
            <a:endParaRPr lang="en-US" sz="1100" dirty="0"/>
          </a:p>
        </p:txBody>
      </p:sp>
      <p:sp>
        <p:nvSpPr>
          <p:cNvPr id="35" name="Text 33"/>
          <p:cNvSpPr/>
          <p:nvPr/>
        </p:nvSpPr>
        <p:spPr>
          <a:xfrm>
            <a:off x="10515600" y="3218688"/>
            <a:ext cx="1188720" cy="402336"/>
          </a:xfrm>
          <a:prstGeom prst="rect">
            <a:avLst/>
          </a:prstGeom>
          <a:noFill/>
          <a:ln/>
        </p:spPr>
        <p:txBody>
          <a:bodyPr wrap="square" lIns="0" tIns="0" rIns="0" bIns="0" rtlCol="0" anchor="ctr"/>
          <a:lstStyle/>
          <a:p>
            <a:pPr algn="r" indent="0" marL="0">
              <a:buNone/>
            </a:pPr>
            <a:r>
              <a:rPr lang="en-US" sz="850" dirty="0">
                <a:solidFill>
                  <a:srgbClr val="B0792B"/>
                </a:solidFill>
                <a:latin typeface="Courier New" pitchFamily="34" charset="0"/>
                <a:ea typeface="Courier New" pitchFamily="34" charset="-122"/>
                <a:cs typeface="Courier New" pitchFamily="34" charset="-120"/>
              </a:rPr>
              <a:t>go / no-go</a:t>
            </a:r>
            <a:endParaRPr lang="en-US" sz="850" dirty="0"/>
          </a:p>
        </p:txBody>
      </p:sp>
      <p:sp>
        <p:nvSpPr>
          <p:cNvPr id="36" name="Shape 34"/>
          <p:cNvSpPr/>
          <p:nvPr/>
        </p:nvSpPr>
        <p:spPr>
          <a:xfrm>
            <a:off x="6263640" y="4370832"/>
            <a:ext cx="5440680" cy="0"/>
          </a:xfrm>
          <a:prstGeom prst="rect">
            <a:avLst/>
          </a:prstGeom>
          <a:noFill/>
          <a:ln w="9525">
            <a:solidFill>
              <a:srgbClr val="DDE0DC"/>
            </a:solidFill>
            <a:prstDash val="solid"/>
          </a:ln>
        </p:spPr>
      </p:sp>
      <p:sp>
        <p:nvSpPr>
          <p:cNvPr id="37" name="Text 35"/>
          <p:cNvSpPr/>
          <p:nvPr/>
        </p:nvSpPr>
        <p:spPr>
          <a:xfrm>
            <a:off x="6263640" y="3803904"/>
            <a:ext cx="4206240" cy="56692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Who owns each of tomorrow's asks in the room?</a:t>
            </a:r>
            <a:endParaRPr lang="en-US" sz="1100" dirty="0"/>
          </a:p>
        </p:txBody>
      </p:sp>
      <p:sp>
        <p:nvSpPr>
          <p:cNvPr id="38" name="Text 36"/>
          <p:cNvSpPr/>
          <p:nvPr/>
        </p:nvSpPr>
        <p:spPr>
          <a:xfrm>
            <a:off x="10515600" y="3877056"/>
            <a:ext cx="1188720" cy="402336"/>
          </a:xfrm>
          <a:prstGeom prst="rect">
            <a:avLst/>
          </a:prstGeom>
          <a:noFill/>
          <a:ln/>
        </p:spPr>
        <p:txBody>
          <a:bodyPr wrap="square" lIns="0" tIns="0" rIns="0" bIns="0" rtlCol="0" anchor="ctr"/>
          <a:lstStyle/>
          <a:p>
            <a:pPr algn="r" indent="0" marL="0">
              <a:buNone/>
            </a:pPr>
            <a:r>
              <a:rPr lang="en-US" sz="850" dirty="0">
                <a:solidFill>
                  <a:srgbClr val="B0792B"/>
                </a:solidFill>
                <a:latin typeface="Courier New" pitchFamily="34" charset="0"/>
                <a:ea typeface="Courier New" pitchFamily="34" charset="-122"/>
                <a:cs typeface="Courier New" pitchFamily="34" charset="-120"/>
              </a:rPr>
              <a:t>assign</a:t>
            </a:r>
            <a:endParaRPr lang="en-US" sz="850" dirty="0"/>
          </a:p>
        </p:txBody>
      </p:sp>
      <p:sp>
        <p:nvSpPr>
          <p:cNvPr id="39" name="Shape 37"/>
          <p:cNvSpPr/>
          <p:nvPr/>
        </p:nvSpPr>
        <p:spPr>
          <a:xfrm>
            <a:off x="6263640" y="5029200"/>
            <a:ext cx="5440680" cy="0"/>
          </a:xfrm>
          <a:prstGeom prst="rect">
            <a:avLst/>
          </a:prstGeom>
          <a:noFill/>
          <a:ln w="9525">
            <a:solidFill>
              <a:srgbClr val="DDE0DC"/>
            </a:solidFill>
            <a:prstDash val="solid"/>
          </a:ln>
        </p:spPr>
      </p:sp>
      <p:sp>
        <p:nvSpPr>
          <p:cNvPr id="40" name="Text 38"/>
          <p:cNvSpPr/>
          <p:nvPr/>
        </p:nvSpPr>
        <p:spPr>
          <a:xfrm>
            <a:off x="6263640" y="4462272"/>
            <a:ext cx="4206240" cy="56692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Quartz-TOR one-pager — hand to Satoshi tomorrow?</a:t>
            </a:r>
            <a:endParaRPr lang="en-US" sz="1100" dirty="0"/>
          </a:p>
        </p:txBody>
      </p:sp>
      <p:sp>
        <p:nvSpPr>
          <p:cNvPr id="41" name="Text 39"/>
          <p:cNvSpPr/>
          <p:nvPr/>
        </p:nvSpPr>
        <p:spPr>
          <a:xfrm>
            <a:off x="10515600" y="4535424"/>
            <a:ext cx="1188720" cy="402336"/>
          </a:xfrm>
          <a:prstGeom prst="rect">
            <a:avLst/>
          </a:prstGeom>
          <a:noFill/>
          <a:ln/>
        </p:spPr>
        <p:txBody>
          <a:bodyPr wrap="square" lIns="0" tIns="0" rIns="0" bIns="0" rtlCol="0" anchor="ctr"/>
          <a:lstStyle/>
          <a:p>
            <a:pPr algn="r" indent="0" marL="0">
              <a:buNone/>
            </a:pPr>
            <a:r>
              <a:rPr lang="en-US" sz="850" dirty="0">
                <a:solidFill>
                  <a:srgbClr val="B0792B"/>
                </a:solidFill>
                <a:latin typeface="Courier New" pitchFamily="34" charset="0"/>
                <a:ea typeface="Courier New" pitchFamily="34" charset="-122"/>
                <a:cs typeface="Courier New" pitchFamily="34" charset="-120"/>
              </a:rPr>
              <a:t>go / no-go</a:t>
            </a:r>
            <a:endParaRPr lang="en-US" sz="850" dirty="0"/>
          </a:p>
        </p:txBody>
      </p:sp>
      <p:sp>
        <p:nvSpPr>
          <p:cNvPr id="42" name="Shape 40"/>
          <p:cNvSpPr/>
          <p:nvPr/>
        </p:nvSpPr>
        <p:spPr>
          <a:xfrm>
            <a:off x="6263640" y="5687568"/>
            <a:ext cx="5440680" cy="0"/>
          </a:xfrm>
          <a:prstGeom prst="rect">
            <a:avLst/>
          </a:prstGeom>
          <a:noFill/>
          <a:ln w="9525">
            <a:solidFill>
              <a:srgbClr val="DDE0DC"/>
            </a:solidFill>
            <a:prstDash val="solid"/>
          </a:ln>
        </p:spPr>
      </p:sp>
      <p:sp>
        <p:nvSpPr>
          <p:cNvPr id="43" name="Text 41"/>
          <p:cNvSpPr/>
          <p:nvPr/>
        </p:nvSpPr>
        <p:spPr>
          <a:xfrm>
            <a:off x="6263640" y="5120640"/>
            <a:ext cx="4206240" cy="56692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Hossein outcome — it gates the co-author email</a:t>
            </a:r>
            <a:endParaRPr lang="en-US" sz="1100" dirty="0"/>
          </a:p>
        </p:txBody>
      </p:sp>
      <p:sp>
        <p:nvSpPr>
          <p:cNvPr id="44" name="Text 42"/>
          <p:cNvSpPr/>
          <p:nvPr/>
        </p:nvSpPr>
        <p:spPr>
          <a:xfrm>
            <a:off x="10515600" y="5193792"/>
            <a:ext cx="1188720" cy="402336"/>
          </a:xfrm>
          <a:prstGeom prst="rect">
            <a:avLst/>
          </a:prstGeom>
          <a:noFill/>
          <a:ln/>
        </p:spPr>
        <p:txBody>
          <a:bodyPr wrap="square" lIns="0" tIns="0" rIns="0" bIns="0" rtlCol="0" anchor="ctr"/>
          <a:lstStyle/>
          <a:p>
            <a:pPr algn="r" indent="0" marL="0">
              <a:buNone/>
            </a:pPr>
            <a:r>
              <a:rPr lang="en-US" sz="850" dirty="0">
                <a:solidFill>
                  <a:srgbClr val="B23327"/>
                </a:solidFill>
                <a:latin typeface="Courier New" pitchFamily="34" charset="0"/>
                <a:ea typeface="Courier New" pitchFamily="34" charset="-122"/>
                <a:cs typeface="Courier New" pitchFamily="34" charset="-120"/>
              </a:rPr>
              <a:t>blocked on you</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lIns="0" tIns="0" rIns="0" bIns="0" rtlCol="0" anchor="ctr"/>
          <a:lstStyle/>
          <a:p>
            <a:pPr indent="0" marL="0">
              <a:buNone/>
            </a:pPr>
            <a:r>
              <a:rPr lang="en-US" sz="1100" spc="200" kern="0" dirty="0">
                <a:solidFill>
                  <a:srgbClr val="B23327"/>
                </a:solidFill>
                <a:latin typeface="Courier New" pitchFamily="34" charset="0"/>
                <a:ea typeface="Courier New" pitchFamily="34" charset="-122"/>
                <a:cs typeface="Courier New" pitchFamily="34" charset="-120"/>
              </a:rPr>
              <a:t>01 · THE AUDIT — CAUGHT BEFORE SATOSHI, NOT AFTER</a:t>
            </a:r>
            <a:endParaRPr lang="en-US" sz="1100" dirty="0"/>
          </a:p>
        </p:txBody>
      </p:sp>
      <p:sp>
        <p:nvSpPr>
          <p:cNvPr id="3" name="Text 1"/>
          <p:cNvSpPr/>
          <p:nvPr/>
        </p:nvSpPr>
        <p:spPr>
          <a:xfrm>
            <a:off x="502920" y="566928"/>
            <a:ext cx="11183112" cy="868680"/>
          </a:xfrm>
          <a:prstGeom prst="rect">
            <a:avLst/>
          </a:prstGeom>
          <a:noFill/>
          <a:ln/>
        </p:spPr>
        <p:txBody>
          <a:bodyPr wrap="square" lIns="0" tIns="0" rIns="0" bIns="0" rtlCol="0" anchor="t"/>
          <a:lstStyle/>
          <a:p>
            <a:pPr indent="0" marL="0">
              <a:buNone/>
            </a:pPr>
            <a:r>
              <a:rPr lang="en-US" sz="2600" b="1" dirty="0">
                <a:solidFill>
                  <a:srgbClr val="1A1D21"/>
                </a:solidFill>
                <a:latin typeface="Calibri" pitchFamily="34" charset="0"/>
                <a:ea typeface="Calibri" pitchFamily="34" charset="-122"/>
                <a:cs typeface="Calibri" pitchFamily="34" charset="-120"/>
              </a:rPr>
              <a:t>The random-cohort claim was wrong on all three counts — and never comparable anyway.</a:t>
            </a:r>
            <a:endParaRPr lang="en-US" sz="2600" dirty="0"/>
          </a:p>
        </p:txBody>
      </p:sp>
      <p:graphicFrame>
        <p:nvGraphicFramePr>
          <p:cNvPr id="4" name="Chart 0" descr=""/>
          <p:cNvGraphicFramePr/>
          <p:nvPr/>
        </p:nvGraphicFramePr>
        <p:xfrm>
          <a:off x="5120640" y="1600200"/>
          <a:ext cx="6583680" cy="41605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120640" y="5779008"/>
            <a:ext cx="6583680" cy="274320"/>
          </a:xfrm>
          <a:prstGeom prst="rect">
            <a:avLst/>
          </a:prstGeom>
          <a:noFill/>
          <a:ln/>
        </p:spPr>
        <p:txBody>
          <a:bodyPr wrap="square" lIns="0" tIns="0" rIns="0" bIns="0" rtlCol="0" anchor="ctr"/>
          <a:lstStyle/>
          <a:p>
            <a:pPr algn="ctr" indent="0" marL="0">
              <a:buNone/>
            </a:pPr>
            <a:r>
              <a:rPr lang="en-US" sz="850" dirty="0">
                <a:solidFill>
                  <a:srgbClr val="8A9098"/>
                </a:solidFill>
                <a:latin typeface="Courier New" pitchFamily="34" charset="0"/>
                <a:ea typeface="Courier New" pitchFamily="34" charset="-122"/>
                <a:cs typeface="Courier New" pitchFamily="34" charset="-120"/>
              </a:rPr>
              <a:t>held-out TOR RMSE (µg/filter) — run_ftir_11, committed</a:t>
            </a:r>
            <a:endParaRPr lang="en-US" sz="850" dirty="0"/>
          </a:p>
        </p:txBody>
      </p:sp>
      <p:sp>
        <p:nvSpPr>
          <p:cNvPr id="6" name="Text 3"/>
          <p:cNvSpPr/>
          <p:nvPr/>
        </p:nvSpPr>
        <p:spPr>
          <a:xfrm>
            <a:off x="502920" y="1691640"/>
            <a:ext cx="4297680" cy="2651760"/>
          </a:xfrm>
          <a:prstGeom prst="rect">
            <a:avLst/>
          </a:prstGeom>
          <a:noFill/>
          <a:ln/>
        </p:spPr>
        <p:txBody>
          <a:bodyPr wrap="square" lIns="0" tIns="0" rIns="0" bIns="0" rtlCol="0" anchor="t"/>
          <a:lstStyle/>
          <a:p>
            <a:pPr algn="l" indent="0" marL="0">
              <a:spcAft>
                <a:spcPts val="800"/>
              </a:spcAft>
              <a:buNone/>
            </a:pPr>
            <a:r>
              <a:rPr lang="en-US" sz="1200" b="1" dirty="0">
                <a:solidFill>
                  <a:srgbClr val="1A1D21"/>
                </a:solidFill>
                <a:latin typeface="Calibri" pitchFamily="34" charset="0"/>
                <a:ea typeface="Calibri" pitchFamily="34" charset="-122"/>
                <a:cs typeface="Calibri" pitchFamily="34" charset="-120"/>
              </a:rPr>
              <a:t>The claim said “beats ten size-matched random cohorts, 3.4 vs 4.4–7.3”. The committed numbers: five cohorts, range 3.10–5.00 — and random #3 beats OCEC-800.</a:t>
            </a:r>
            <a:endParaRPr lang="en-US" sz="1200" dirty="0"/>
          </a:p>
          <a:p>
            <a:pPr algn="l" indent="0" marL="0">
              <a:spcAft>
                <a:spcPts val="800"/>
              </a:spcAft>
              <a:buNone/>
            </a:pPr>
            <a:r>
              <a:rPr lang="en-US" sz="1200" dirty="0">
                <a:solidFill>
                  <a:srgbClr val="1A1D21"/>
                </a:solidFill>
                <a:latin typeface="Calibri" pitchFamily="34" charset="0"/>
                <a:ea typeface="Calibri" pitchFamily="34" charset="-122"/>
                <a:cs typeface="Calibri" pitchFamily="34" charset="-120"/>
              </a:rPr>
              <a:t>Worse: each cohort was scored on its own disjoint-site split (n_test 114–194), so the comparison was never valid — the chart exists to show why it left the deck.</a:t>
            </a:r>
            <a:endParaRPr lang="en-US" sz="1200" dirty="0"/>
          </a:p>
          <a:p>
            <a:pPr algn="l" indent="0" marL="0">
              <a:spcAft>
                <a:spcPts val="800"/>
              </a:spcAft>
              <a:buNone/>
            </a:pPr>
            <a:r>
              <a:rPr lang="en-US" sz="1200" dirty="0">
                <a:solidFill>
                  <a:srgbClr val="1A1D21"/>
                </a:solidFill>
                <a:latin typeface="Calibri" pitchFamily="34" charset="0"/>
                <a:ea typeface="Calibri" pitchFamily="34" charset="-122"/>
                <a:cs typeface="Calibri" pitchFamily="34" charset="-120"/>
              </a:rPr>
              <a:t>What replaces it is like-for-like and stronger:</a:t>
            </a:r>
            <a:endParaRPr lang="en-US" sz="1200" dirty="0"/>
          </a:p>
        </p:txBody>
      </p:sp>
      <p:sp>
        <p:nvSpPr>
          <p:cNvPr id="7" name="Shape 4"/>
          <p:cNvSpPr/>
          <p:nvPr/>
        </p:nvSpPr>
        <p:spPr>
          <a:xfrm>
            <a:off x="502920" y="4206240"/>
            <a:ext cx="3840480" cy="402336"/>
          </a:xfrm>
          <a:prstGeom prst="roundRect">
            <a:avLst>
              <a:gd name="adj" fmla="val 13636"/>
            </a:avLst>
          </a:prstGeom>
          <a:solidFill>
            <a:srgbClr val="F4F5F3"/>
          </a:solidFill>
          <a:ln w="9525">
            <a:solidFill>
              <a:srgbClr val="DDE0DC"/>
            </a:solidFill>
            <a:prstDash val="solid"/>
          </a:ln>
        </p:spPr>
      </p:sp>
      <p:sp>
        <p:nvSpPr>
          <p:cNvPr id="8" name="Text 5"/>
          <p:cNvSpPr/>
          <p:nvPr/>
        </p:nvSpPr>
        <p:spPr>
          <a:xfrm>
            <a:off x="612648" y="4206240"/>
            <a:ext cx="365760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same 190 filters, RMSE  </a:t>
            </a:r>
            <a:pPr indent="0" marL="0">
              <a:buNone/>
            </a:pPr>
            <a:r>
              <a:rPr lang="en-US" sz="1100" b="1" dirty="0">
                <a:solidFill>
                  <a:srgbClr val="3F7A56"/>
                </a:solidFill>
                <a:latin typeface="Calibri" pitchFamily="34" charset="0"/>
                <a:ea typeface="Calibri" pitchFamily="34" charset="-122"/>
                <a:cs typeface="Calibri" pitchFamily="34" charset="-120"/>
              </a:rPr>
              <a:t>1.16 vs 1.48–2.24</a:t>
            </a:r>
            <a:endParaRPr lang="en-US" sz="1100" dirty="0"/>
          </a:p>
        </p:txBody>
      </p:sp>
      <p:sp>
        <p:nvSpPr>
          <p:cNvPr id="9" name="Shape 6"/>
          <p:cNvSpPr/>
          <p:nvPr/>
        </p:nvSpPr>
        <p:spPr>
          <a:xfrm>
            <a:off x="502920" y="4718304"/>
            <a:ext cx="3840480" cy="402336"/>
          </a:xfrm>
          <a:prstGeom prst="roundRect">
            <a:avLst>
              <a:gd name="adj" fmla="val 13636"/>
            </a:avLst>
          </a:prstGeom>
          <a:solidFill>
            <a:srgbClr val="F4F5F3"/>
          </a:solidFill>
          <a:ln w="9525">
            <a:solidFill>
              <a:srgbClr val="DDE0DC"/>
            </a:solidFill>
            <a:prstDash val="solid"/>
          </a:ln>
        </p:spPr>
      </p:sp>
      <p:sp>
        <p:nvSpPr>
          <p:cNvPr id="10" name="Text 7"/>
          <p:cNvSpPr/>
          <p:nvPr/>
        </p:nvSpPr>
        <p:spPr>
          <a:xfrm>
            <a:off x="612648" y="4718304"/>
            <a:ext cx="365760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held-out TOR R²  </a:t>
            </a:r>
            <a:pPr indent="0" marL="0">
              <a:buNone/>
            </a:pPr>
            <a:r>
              <a:rPr lang="en-US" sz="1100" b="1" dirty="0">
                <a:solidFill>
                  <a:srgbClr val="3F7A56"/>
                </a:solidFill>
                <a:latin typeface="Calibri" pitchFamily="34" charset="0"/>
                <a:ea typeface="Calibri" pitchFamily="34" charset="-122"/>
                <a:cs typeface="Calibri" pitchFamily="34" charset="-120"/>
              </a:rPr>
              <a:t>0.911 vs 0.594–0.775</a:t>
            </a:r>
            <a:endParaRPr lang="en-US" sz="1100" dirty="0"/>
          </a:p>
        </p:txBody>
      </p:sp>
      <p:sp>
        <p:nvSpPr>
          <p:cNvPr id="11" name="Shape 8"/>
          <p:cNvSpPr/>
          <p:nvPr/>
        </p:nvSpPr>
        <p:spPr>
          <a:xfrm>
            <a:off x="502920" y="5230368"/>
            <a:ext cx="3840480" cy="402336"/>
          </a:xfrm>
          <a:prstGeom prst="roundRect">
            <a:avLst>
              <a:gd name="adj" fmla="val 13636"/>
            </a:avLst>
          </a:prstGeom>
          <a:solidFill>
            <a:srgbClr val="F4F5F3"/>
          </a:solidFill>
          <a:ln w="9525">
            <a:solidFill>
              <a:srgbClr val="DDE0DC"/>
            </a:solidFill>
            <a:prstDash val="solid"/>
          </a:ln>
        </p:spPr>
      </p:sp>
      <p:sp>
        <p:nvSpPr>
          <p:cNvPr id="12" name="Text 9"/>
          <p:cNvSpPr/>
          <p:nvPr/>
        </p:nvSpPr>
        <p:spPr>
          <a:xfrm>
            <a:off x="612648" y="5230368"/>
            <a:ext cx="365760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fix pushed  </a:t>
            </a:r>
            <a:pPr indent="0" marL="0">
              <a:buNone/>
            </a:pPr>
            <a:r>
              <a:rPr lang="en-US" sz="1100" b="1" dirty="0">
                <a:solidFill>
                  <a:srgbClr val="5E6369"/>
                </a:solidFill>
                <a:latin typeface="Calibri" pitchFamily="34" charset="0"/>
                <a:ea typeface="Calibri" pitchFamily="34" charset="-122"/>
                <a:cs typeface="Calibri" pitchFamily="34" charset="-120"/>
              </a:rPr>
              <a:t>53c332e</a:t>
            </a:r>
            <a:endParaRPr lang="en-US" sz="1100" dirty="0"/>
          </a:p>
        </p:txBody>
      </p:sp>
      <p:sp>
        <p:nvSpPr>
          <p:cNvPr id="13" name="Text 10"/>
          <p:cNvSpPr/>
          <p:nvPr/>
        </p:nvSpPr>
        <p:spPr>
          <a:xfrm>
            <a:off x="502920" y="5943600"/>
            <a:ext cx="4480560" cy="685800"/>
          </a:xfrm>
          <a:prstGeom prst="rect">
            <a:avLst/>
          </a:prstGeom>
          <a:noFill/>
          <a:ln/>
        </p:spPr>
        <p:txBody>
          <a:bodyPr wrap="square" lIns="0" tIns="0" rIns="0" bIns="0" rtlCol="0" anchor="ctr"/>
          <a:lstStyle/>
          <a:p>
            <a:pPr indent="0" marL="0">
              <a:buNone/>
            </a:pPr>
            <a:r>
              <a:rPr lang="en-US" sz="1050" dirty="0">
                <a:solidFill>
                  <a:srgbClr val="5E6369"/>
                </a:solidFill>
                <a:latin typeface="Calibri" pitchFamily="34" charset="0"/>
                <a:ea typeface="Calibri" pitchFamily="34" charset="-122"/>
                <a:cs typeface="Calibri" pitchFamily="34" charset="-120"/>
              </a:rPr>
              <a:t>Also corrected: VIP ρ = 0.74/0.12 uncorroborated · −1.61 → −1.62 · ETBI vs Dry median 43.2 · “91% baseline” = one filter.</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lIns="0" tIns="0" rIns="0" bIns="0" rtlCol="0" anchor="ctr"/>
          <a:lstStyle/>
          <a:p>
            <a:pPr indent="0" marL="0">
              <a:buNone/>
            </a:pPr>
            <a:r>
              <a:rPr lang="en-US" sz="1100" spc="200" kern="0" dirty="0">
                <a:solidFill>
                  <a:srgbClr val="B23327"/>
                </a:solidFill>
                <a:latin typeface="Courier New" pitchFamily="34" charset="0"/>
                <a:ea typeface="Courier New" pitchFamily="34" charset="-122"/>
                <a:cs typeface="Courier New" pitchFamily="34" charset="-120"/>
              </a:rPr>
              <a:t>02 · WHERE THIS STARTED</a:t>
            </a:r>
            <a:endParaRPr lang="en-US" sz="1100" dirty="0"/>
          </a:p>
        </p:txBody>
      </p:sp>
      <p:sp>
        <p:nvSpPr>
          <p:cNvPr id="3" name="Text 1"/>
          <p:cNvSpPr/>
          <p:nvPr/>
        </p:nvSpPr>
        <p:spPr>
          <a:xfrm>
            <a:off x="502920" y="566928"/>
            <a:ext cx="11183112" cy="868680"/>
          </a:xfrm>
          <a:prstGeom prst="rect">
            <a:avLst/>
          </a:prstGeom>
          <a:noFill/>
          <a:ln/>
        </p:spPr>
        <p:txBody>
          <a:bodyPr wrap="square" lIns="0" tIns="0" rIns="0" bIns="0" rtlCol="0" anchor="t"/>
          <a:lstStyle/>
          <a:p>
            <a:pPr indent="0" marL="0">
              <a:buNone/>
            </a:pPr>
            <a:r>
              <a:rPr lang="en-US" sz="2600" b="1" dirty="0">
                <a:solidFill>
                  <a:srgbClr val="1A1D21"/>
                </a:solidFill>
                <a:latin typeface="Calibri" pitchFamily="34" charset="0"/>
                <a:ea typeface="Calibri" pitchFamily="34" charset="-122"/>
                <a:cs typeface="Calibri" pitchFamily="34" charset="-120"/>
              </a:rPr>
              <a:t>The deployed calibration reads y = 1.90x − 4.17 at Addis.</a:t>
            </a:r>
            <a:endParaRPr lang="en-US" sz="2600" dirty="0"/>
          </a:p>
        </p:txBody>
      </p:sp>
      <p:sp>
        <p:nvSpPr>
          <p:cNvPr id="4" name="Shape 2"/>
          <p:cNvSpPr/>
          <p:nvPr/>
        </p:nvSpPr>
        <p:spPr>
          <a:xfrm>
            <a:off x="4297680" y="1554480"/>
            <a:ext cx="7406640" cy="4773168"/>
          </a:xfrm>
          <a:prstGeom prst="rect">
            <a:avLst/>
          </a:prstGeom>
          <a:solidFill>
            <a:srgbClr val="FFFFFF"/>
          </a:solidFill>
          <a:ln w="12700">
            <a:solidFill>
              <a:srgbClr val="DDE0DC"/>
            </a:solidFill>
            <a:prstDash val="solid"/>
          </a:ln>
          <a:effectLst>
            <a:outerShdw sx="100000" sy="100000" kx="0" ky="0" algn="bl" rotWithShape="0" blurRad="76200" dist="25400" dir="5400000">
              <a:srgbClr val="000000">
                <a:alpha val="18000"/>
              </a:srgbClr>
            </a:outerShdw>
          </a:effectLst>
        </p:spPr>
      </p:sp>
      <p:pic>
        <p:nvPicPr>
          <p:cNvPr id="5" name="Image 0" descr="/Users/ahmadjalil/github/aethmodular/research/ftir_ec_phase3/output/plots/deck/deployed_alldata_crossplot.png">    </p:cNvPr>
          <p:cNvPicPr>
            <a:picLocks noChangeAspect="1"/>
          </p:cNvPicPr>
          <p:nvPr/>
        </p:nvPicPr>
        <p:blipFill>
          <a:blip r:embed="rId1"/>
          <a:srcRect l="0" r="0" t="0" b="0"/>
          <a:stretch/>
        </p:blipFill>
        <p:spPr>
          <a:xfrm>
            <a:off x="4352544" y="1609344"/>
            <a:ext cx="7296912" cy="4370832"/>
          </a:xfrm>
          <a:prstGeom prst="rect">
            <a:avLst/>
          </a:prstGeom>
        </p:spPr>
      </p:pic>
      <p:sp>
        <p:nvSpPr>
          <p:cNvPr id="6" name="Text 3"/>
          <p:cNvSpPr/>
          <p:nvPr/>
        </p:nvSpPr>
        <p:spPr>
          <a:xfrm>
            <a:off x="4389120" y="6016752"/>
            <a:ext cx="7223760" cy="292608"/>
          </a:xfrm>
          <a:prstGeom prst="rect">
            <a:avLst/>
          </a:prstGeom>
          <a:noFill/>
          <a:ln/>
        </p:spPr>
        <p:txBody>
          <a:bodyPr wrap="square" lIns="0" tIns="0" rIns="0" bIns="0" rtlCol="0" anchor="ctr"/>
          <a:lstStyle/>
          <a:p>
            <a:pPr indent="0" marL="0">
              <a:buNone/>
            </a:pPr>
            <a:r>
              <a:rPr lang="en-US" sz="850" dirty="0">
                <a:solidFill>
                  <a:srgbClr val="8A9098"/>
                </a:solidFill>
                <a:latin typeface="Courier New" pitchFamily="34" charset="0"/>
                <a:ea typeface="Courier New" pitchFamily="34" charset="-122"/>
                <a:cs typeface="Courier New" pitchFamily="34" charset="-120"/>
              </a:rPr>
              <a:t>ftir_17 · deployed_alldata_crossplot   </a:t>
            </a:r>
            <a:pPr indent="0" marL="0">
              <a:buNone/>
            </a:pPr>
            <a:r>
              <a:rPr lang="en-US" sz="950" i="1" dirty="0">
                <a:solidFill>
                  <a:srgbClr val="5E6369"/>
                </a:solidFill>
                <a:latin typeface="Calibri" pitchFamily="34" charset="0"/>
                <a:ea typeface="Calibri" pitchFamily="34" charset="-122"/>
                <a:cs typeface="Calibri" pitchFamily="34" charset="-120"/>
              </a:rPr>
              <a:t>Fixed 190-filter cohort; deployed predictions exist only for these</a:t>
            </a:r>
            <a:endParaRPr lang="en-US" sz="850" dirty="0"/>
          </a:p>
        </p:txBody>
      </p:sp>
      <p:sp>
        <p:nvSpPr>
          <p:cNvPr id="7" name="Text 4"/>
          <p:cNvSpPr/>
          <p:nvPr/>
        </p:nvSpPr>
        <p:spPr>
          <a:xfrm>
            <a:off x="502920" y="1737360"/>
            <a:ext cx="3566160" cy="2377440"/>
          </a:xfrm>
          <a:prstGeom prst="rect">
            <a:avLst/>
          </a:prstGeom>
          <a:noFill/>
          <a:ln/>
        </p:spPr>
        <p:txBody>
          <a:bodyPr wrap="square" lIns="0" tIns="0" rIns="0" bIns="0" rtlCol="0" anchor="t"/>
          <a:lstStyle/>
          <a:p>
            <a:pPr algn="l" indent="0" marL="0">
              <a:spcAft>
                <a:spcPts val="800"/>
              </a:spcAft>
              <a:buNone/>
            </a:pPr>
            <a:r>
              <a:rPr lang="en-US" sz="1250" dirty="0">
                <a:solidFill>
                  <a:srgbClr val="1A1D21"/>
                </a:solidFill>
                <a:latin typeface="Calibri" pitchFamily="34" charset="0"/>
                <a:ea typeface="Calibri" pitchFamily="34" charset="-122"/>
                <a:cs typeface="Calibri" pitchFamily="34" charset="-120"/>
              </a:rPr>
              <a:t>Nothing at Addis has negative EC — the offset is the model, not the air.</a:t>
            </a:r>
            <a:endParaRPr lang="en-US" sz="1250" dirty="0"/>
          </a:p>
          <a:p>
            <a:pPr algn="l" indent="0" marL="0">
              <a:spcAft>
                <a:spcPts val="800"/>
              </a:spcAft>
              <a:buNone/>
            </a:pPr>
            <a:r>
              <a:rPr lang="en-US" sz="1250" dirty="0">
                <a:solidFill>
                  <a:srgbClr val="1A1D21"/>
                </a:solidFill>
                <a:latin typeface="Calibri" pitchFamily="34" charset="0"/>
                <a:ea typeface="Calibri" pitchFamily="34" charset="-122"/>
                <a:cs typeface="Calibri" pitchFamily="34" charset="-120"/>
              </a:rPr>
              <a:t>At MAC 6 the slope pivots to 1.14 but the intercept stays at −4.17: the intercept column is MAC-proof (proved on slide 12).</a:t>
            </a:r>
            <a:endParaRPr lang="en-US" sz="1250" dirty="0"/>
          </a:p>
        </p:txBody>
      </p:sp>
      <p:sp>
        <p:nvSpPr>
          <p:cNvPr id="8" name="Shape 5"/>
          <p:cNvSpPr/>
          <p:nvPr/>
        </p:nvSpPr>
        <p:spPr>
          <a:xfrm>
            <a:off x="502920" y="4206240"/>
            <a:ext cx="3246120" cy="402336"/>
          </a:xfrm>
          <a:prstGeom prst="roundRect">
            <a:avLst>
              <a:gd name="adj" fmla="val 13636"/>
            </a:avLst>
          </a:prstGeom>
          <a:solidFill>
            <a:srgbClr val="F4F5F3"/>
          </a:solidFill>
          <a:ln w="9525">
            <a:solidFill>
              <a:srgbClr val="DDE0DC"/>
            </a:solidFill>
            <a:prstDash val="solid"/>
          </a:ln>
        </p:spPr>
      </p:sp>
      <p:sp>
        <p:nvSpPr>
          <p:cNvPr id="9" name="Text 6"/>
          <p:cNvSpPr/>
          <p:nvPr/>
        </p:nvSpPr>
        <p:spPr>
          <a:xfrm>
            <a:off x="612648" y="4206240"/>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MAC 10  </a:t>
            </a:r>
            <a:pPr indent="0" marL="0">
              <a:buNone/>
            </a:pPr>
            <a:r>
              <a:rPr lang="en-US" sz="1100" b="1" dirty="0">
                <a:solidFill>
                  <a:srgbClr val="B23327"/>
                </a:solidFill>
                <a:latin typeface="Calibri" pitchFamily="34" charset="0"/>
                <a:ea typeface="Calibri" pitchFamily="34" charset="-122"/>
                <a:cs typeface="Calibri" pitchFamily="34" charset="-120"/>
              </a:rPr>
              <a:t>1.90x − 4.17</a:t>
            </a:r>
            <a:endParaRPr lang="en-US" sz="1100" dirty="0"/>
          </a:p>
        </p:txBody>
      </p:sp>
      <p:sp>
        <p:nvSpPr>
          <p:cNvPr id="10" name="Shape 7"/>
          <p:cNvSpPr/>
          <p:nvPr/>
        </p:nvSpPr>
        <p:spPr>
          <a:xfrm>
            <a:off x="502920" y="4718304"/>
            <a:ext cx="3246120" cy="402336"/>
          </a:xfrm>
          <a:prstGeom prst="roundRect">
            <a:avLst>
              <a:gd name="adj" fmla="val 13636"/>
            </a:avLst>
          </a:prstGeom>
          <a:solidFill>
            <a:srgbClr val="F4F5F3"/>
          </a:solidFill>
          <a:ln w="9525">
            <a:solidFill>
              <a:srgbClr val="DDE0DC"/>
            </a:solidFill>
            <a:prstDash val="solid"/>
          </a:ln>
        </p:spPr>
      </p:sp>
      <p:sp>
        <p:nvSpPr>
          <p:cNvPr id="11" name="Text 8"/>
          <p:cNvSpPr/>
          <p:nvPr/>
        </p:nvSpPr>
        <p:spPr>
          <a:xfrm>
            <a:off x="612648" y="4718304"/>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MAC 6  </a:t>
            </a:r>
            <a:pPr indent="0" marL="0">
              <a:buNone/>
            </a:pPr>
            <a:r>
              <a:rPr lang="en-US" sz="1100" b="1" dirty="0">
                <a:solidFill>
                  <a:srgbClr val="2C6E9E"/>
                </a:solidFill>
                <a:latin typeface="Calibri" pitchFamily="34" charset="0"/>
                <a:ea typeface="Calibri" pitchFamily="34" charset="-122"/>
                <a:cs typeface="Calibri" pitchFamily="34" charset="-120"/>
              </a:rPr>
              <a:t>1.14x − 4.17</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lIns="0" tIns="0" rIns="0" bIns="0" rtlCol="0" anchor="ctr"/>
          <a:lstStyle/>
          <a:p>
            <a:pPr indent="0" marL="0">
              <a:buNone/>
            </a:pPr>
            <a:r>
              <a:rPr lang="en-US" sz="1100" spc="200" kern="0" dirty="0">
                <a:solidFill>
                  <a:srgbClr val="B23327"/>
                </a:solidFill>
                <a:latin typeface="Courier New" pitchFamily="34" charset="0"/>
                <a:ea typeface="Courier New" pitchFamily="34" charset="-122"/>
                <a:cs typeface="Courier New" pitchFamily="34" charset="-120"/>
              </a:rPr>
              <a:t>03 · ANN'S COHORT</a:t>
            </a:r>
            <a:endParaRPr lang="en-US" sz="1100" dirty="0"/>
          </a:p>
        </p:txBody>
      </p:sp>
      <p:sp>
        <p:nvSpPr>
          <p:cNvPr id="3" name="Text 1"/>
          <p:cNvSpPr/>
          <p:nvPr/>
        </p:nvSpPr>
        <p:spPr>
          <a:xfrm>
            <a:off x="502920" y="566928"/>
            <a:ext cx="11183112" cy="868680"/>
          </a:xfrm>
          <a:prstGeom prst="rect">
            <a:avLst/>
          </a:prstGeom>
          <a:noFill/>
          <a:ln/>
        </p:spPr>
        <p:txBody>
          <a:bodyPr wrap="square" lIns="0" tIns="0" rIns="0" bIns="0" rtlCol="0" anchor="t"/>
          <a:lstStyle/>
          <a:p>
            <a:pPr indent="0" marL="0">
              <a:buNone/>
            </a:pPr>
            <a:r>
              <a:rPr lang="en-US" sz="2600" b="1" dirty="0">
                <a:solidFill>
                  <a:srgbClr val="1A1D21"/>
                </a:solidFill>
                <a:latin typeface="Calibri" pitchFamily="34" charset="0"/>
                <a:ea typeface="Calibri" pitchFamily="34" charset="-122"/>
                <a:cs typeface="Calibri" pitchFamily="34" charset="-120"/>
              </a:rPr>
              <a:t>Addis-like composition is the extreme tail of IMPROVE — 800 of 13,010 filters.</a:t>
            </a:r>
            <a:endParaRPr lang="en-US" sz="2600" dirty="0"/>
          </a:p>
        </p:txBody>
      </p:sp>
      <p:sp>
        <p:nvSpPr>
          <p:cNvPr id="4" name="Shape 2"/>
          <p:cNvSpPr/>
          <p:nvPr/>
        </p:nvSpPr>
        <p:spPr>
          <a:xfrm>
            <a:off x="4297680" y="1554480"/>
            <a:ext cx="7406640" cy="4773168"/>
          </a:xfrm>
          <a:prstGeom prst="rect">
            <a:avLst/>
          </a:prstGeom>
          <a:solidFill>
            <a:srgbClr val="FFFFFF"/>
          </a:solidFill>
          <a:ln w="12700">
            <a:solidFill>
              <a:srgbClr val="DDE0DC"/>
            </a:solidFill>
            <a:prstDash val="solid"/>
          </a:ln>
          <a:effectLst>
            <a:outerShdw sx="100000" sy="100000" kx="0" ky="0" algn="bl" rotWithShape="0" blurRad="76200" dist="25400" dir="5400000">
              <a:srgbClr val="000000">
                <a:alpha val="18000"/>
              </a:srgbClr>
            </a:outerShdw>
          </a:effectLst>
        </p:spPr>
      </p:sp>
      <p:pic>
        <p:nvPicPr>
          <p:cNvPr id="5" name="Image 0" descr="/Users/ahmadjalil/github/aethmodular/research/ftir_ec_phase3/output/plots/deck/filtering_by_ocec.png">    </p:cNvPr>
          <p:cNvPicPr>
            <a:picLocks noChangeAspect="1"/>
          </p:cNvPicPr>
          <p:nvPr/>
        </p:nvPicPr>
        <p:blipFill>
          <a:blip r:embed="rId1"/>
          <a:srcRect l="0" r="0" t="0" b="0"/>
          <a:stretch/>
        </p:blipFill>
        <p:spPr>
          <a:xfrm>
            <a:off x="4352544" y="1609344"/>
            <a:ext cx="7296912" cy="4370832"/>
          </a:xfrm>
          <a:prstGeom prst="rect">
            <a:avLst/>
          </a:prstGeom>
        </p:spPr>
      </p:pic>
      <p:sp>
        <p:nvSpPr>
          <p:cNvPr id="6" name="Text 3"/>
          <p:cNvSpPr/>
          <p:nvPr/>
        </p:nvSpPr>
        <p:spPr>
          <a:xfrm>
            <a:off x="4389120" y="6016752"/>
            <a:ext cx="7223760" cy="292608"/>
          </a:xfrm>
          <a:prstGeom prst="rect">
            <a:avLst/>
          </a:prstGeom>
          <a:noFill/>
          <a:ln/>
        </p:spPr>
        <p:txBody>
          <a:bodyPr wrap="square" lIns="0" tIns="0" rIns="0" bIns="0" rtlCol="0" anchor="ctr"/>
          <a:lstStyle/>
          <a:p>
            <a:pPr indent="0" marL="0">
              <a:buNone/>
            </a:pPr>
            <a:r>
              <a:rPr lang="en-US" sz="850" dirty="0">
                <a:solidFill>
                  <a:srgbClr val="8A9098"/>
                </a:solidFill>
                <a:latin typeface="Courier New" pitchFamily="34" charset="0"/>
                <a:ea typeface="Courier New" pitchFamily="34" charset="-122"/>
                <a:cs typeface="Courier New" pitchFamily="34" charset="-120"/>
              </a:rPr>
              <a:t>deck · filtering_by_ocec   </a:t>
            </a:r>
            <a:pPr indent="0" marL="0">
              <a:buNone/>
            </a:pPr>
            <a:r>
              <a:rPr lang="en-US" sz="950" i="1" dirty="0">
                <a:solidFill>
                  <a:srgbClr val="5E6369"/>
                </a:solidFill>
                <a:latin typeface="Calibri" pitchFamily="34" charset="0"/>
                <a:ea typeface="Calibri" pitchFamily="34" charset="-122"/>
                <a:cs typeface="Calibri" pitchFamily="34" charset="-120"/>
              </a:rPr>
              <a:t>Cutoff OC/EC ≤ 2.27; pool median 5.54; Addis ≈ 1, below the whole range</a:t>
            </a:r>
            <a:endParaRPr lang="en-US" sz="850" dirty="0"/>
          </a:p>
        </p:txBody>
      </p:sp>
      <p:sp>
        <p:nvSpPr>
          <p:cNvPr id="7" name="Text 4"/>
          <p:cNvSpPr/>
          <p:nvPr/>
        </p:nvSpPr>
        <p:spPr>
          <a:xfrm>
            <a:off x="502920" y="1737360"/>
            <a:ext cx="3566160" cy="2103120"/>
          </a:xfrm>
          <a:prstGeom prst="rect">
            <a:avLst/>
          </a:prstGeom>
          <a:noFill/>
          <a:ln/>
        </p:spPr>
        <p:txBody>
          <a:bodyPr wrap="square" lIns="0" tIns="0" rIns="0" bIns="0" rtlCol="0" anchor="t"/>
          <a:lstStyle/>
          <a:p>
            <a:pPr algn="l" indent="0" marL="0">
              <a:spcAft>
                <a:spcPts val="800"/>
              </a:spcAft>
              <a:buNone/>
            </a:pPr>
            <a:r>
              <a:rPr lang="en-US" sz="1250" dirty="0">
                <a:solidFill>
                  <a:srgbClr val="1A1D21"/>
                </a:solidFill>
                <a:latin typeface="Calibri" pitchFamily="34" charset="0"/>
                <a:ea typeface="Calibri" pitchFamily="34" charset="-122"/>
                <a:cs typeface="Calibri" pitchFamily="34" charset="-120"/>
              </a:rPr>
              <a:t>Your low-OC/EC idea remains the best locked calibration — and cohort engineering beyond it breaks the held-out TOR test, so OCEC-800 (+ AIRSpec) is the terminal IMPROVE-only candidate.</a:t>
            </a:r>
            <a:endParaRPr lang="en-US" sz="1250" dirty="0"/>
          </a:p>
        </p:txBody>
      </p:sp>
      <p:sp>
        <p:nvSpPr>
          <p:cNvPr id="8" name="Shape 5"/>
          <p:cNvSpPr/>
          <p:nvPr/>
        </p:nvSpPr>
        <p:spPr>
          <a:xfrm>
            <a:off x="502920" y="4206240"/>
            <a:ext cx="3246120" cy="402336"/>
          </a:xfrm>
          <a:prstGeom prst="roundRect">
            <a:avLst>
              <a:gd name="adj" fmla="val 13636"/>
            </a:avLst>
          </a:prstGeom>
          <a:solidFill>
            <a:srgbClr val="F4F5F3"/>
          </a:solidFill>
          <a:ln w="9525">
            <a:solidFill>
              <a:srgbClr val="DDE0DC"/>
            </a:solidFill>
            <a:prstDash val="solid"/>
          </a:ln>
        </p:spPr>
      </p:sp>
      <p:sp>
        <p:nvSpPr>
          <p:cNvPr id="9" name="Text 6"/>
          <p:cNvSpPr/>
          <p:nvPr/>
        </p:nvSpPr>
        <p:spPr>
          <a:xfrm>
            <a:off x="612648" y="4206240"/>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cutoff  </a:t>
            </a:r>
            <a:pPr indent="0" marL="0">
              <a:buNone/>
            </a:pPr>
            <a:r>
              <a:rPr lang="en-US" sz="1100" b="1" dirty="0">
                <a:solidFill>
                  <a:srgbClr val="7A4FA3"/>
                </a:solidFill>
                <a:latin typeface="Calibri" pitchFamily="34" charset="0"/>
                <a:ea typeface="Calibri" pitchFamily="34" charset="-122"/>
                <a:cs typeface="Calibri" pitchFamily="34" charset="-120"/>
              </a:rPr>
              <a:t>OC/EC ≤ 2.27</a:t>
            </a:r>
            <a:endParaRPr lang="en-US" sz="1100" dirty="0"/>
          </a:p>
        </p:txBody>
      </p:sp>
      <p:sp>
        <p:nvSpPr>
          <p:cNvPr id="10" name="Shape 7"/>
          <p:cNvSpPr/>
          <p:nvPr/>
        </p:nvSpPr>
        <p:spPr>
          <a:xfrm>
            <a:off x="502920" y="4718304"/>
            <a:ext cx="3246120" cy="402336"/>
          </a:xfrm>
          <a:prstGeom prst="roundRect">
            <a:avLst>
              <a:gd name="adj" fmla="val 13636"/>
            </a:avLst>
          </a:prstGeom>
          <a:solidFill>
            <a:srgbClr val="F4F5F3"/>
          </a:solidFill>
          <a:ln w="9525">
            <a:solidFill>
              <a:srgbClr val="DDE0DC"/>
            </a:solidFill>
            <a:prstDash val="solid"/>
          </a:ln>
        </p:spPr>
      </p:sp>
      <p:sp>
        <p:nvSpPr>
          <p:cNvPr id="11" name="Text 8"/>
          <p:cNvSpPr/>
          <p:nvPr/>
        </p:nvSpPr>
        <p:spPr>
          <a:xfrm>
            <a:off x="612648" y="4718304"/>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held-out TOR RMSE  </a:t>
            </a:r>
            <a:pPr indent="0" marL="0">
              <a:buNone/>
            </a:pPr>
            <a:r>
              <a:rPr lang="en-US" sz="1100" b="1" dirty="0">
                <a:solidFill>
                  <a:srgbClr val="3F7A56"/>
                </a:solidFill>
                <a:latin typeface="Calibri" pitchFamily="34" charset="0"/>
                <a:ea typeface="Calibri" pitchFamily="34" charset="-122"/>
                <a:cs typeface="Calibri" pitchFamily="34" charset="-120"/>
              </a:rPr>
              <a:t>3.4 µg/filter</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lIns="0" tIns="0" rIns="0" bIns="0" rtlCol="0" anchor="ctr"/>
          <a:lstStyle/>
          <a:p>
            <a:pPr indent="0" marL="0">
              <a:buNone/>
            </a:pPr>
            <a:r>
              <a:rPr lang="en-US" sz="1100" spc="200" kern="0" dirty="0">
                <a:solidFill>
                  <a:srgbClr val="B23327"/>
                </a:solidFill>
                <a:latin typeface="Courier New" pitchFamily="34" charset="0"/>
                <a:ea typeface="Courier New" pitchFamily="34" charset="-122"/>
                <a:cs typeface="Courier New" pitchFamily="34" charset="-120"/>
              </a:rPr>
              <a:t>04 · EVERY TRAINING CHOICE, ONE TABLE</a:t>
            </a:r>
            <a:endParaRPr lang="en-US" sz="1100" dirty="0"/>
          </a:p>
        </p:txBody>
      </p:sp>
      <p:sp>
        <p:nvSpPr>
          <p:cNvPr id="3" name="Text 1"/>
          <p:cNvSpPr/>
          <p:nvPr/>
        </p:nvSpPr>
        <p:spPr>
          <a:xfrm>
            <a:off x="502920" y="566928"/>
            <a:ext cx="11183112" cy="868680"/>
          </a:xfrm>
          <a:prstGeom prst="rect">
            <a:avLst/>
          </a:prstGeom>
          <a:noFill/>
          <a:ln/>
        </p:spPr>
        <p:txBody>
          <a:bodyPr wrap="square" lIns="0" tIns="0" rIns="0" bIns="0" rtlCol="0" anchor="t"/>
          <a:lstStyle/>
          <a:p>
            <a:pPr indent="0" marL="0">
              <a:buNone/>
            </a:pPr>
            <a:r>
              <a:rPr lang="en-US" sz="2600" b="1" dirty="0">
                <a:solidFill>
                  <a:srgbClr val="1A1D21"/>
                </a:solidFill>
                <a:latin typeface="Calibri" pitchFamily="34" charset="0"/>
                <a:ea typeface="Calibri" pitchFamily="34" charset="-122"/>
                <a:cs typeface="Calibri" pitchFamily="34" charset="-120"/>
              </a:rPr>
              <a:t>Lowest-OC/EC + AIRSpec ends at −1.62 — and is protocol-robust.</a:t>
            </a:r>
            <a:endParaRPr lang="en-US" sz="2600" dirty="0"/>
          </a:p>
        </p:txBody>
      </p:sp>
      <p:sp>
        <p:nvSpPr>
          <p:cNvPr id="4" name="Shape 2"/>
          <p:cNvSpPr/>
          <p:nvPr/>
        </p:nvSpPr>
        <p:spPr>
          <a:xfrm>
            <a:off x="3977640" y="1554480"/>
            <a:ext cx="7726680" cy="4773168"/>
          </a:xfrm>
          <a:prstGeom prst="rect">
            <a:avLst/>
          </a:prstGeom>
          <a:solidFill>
            <a:srgbClr val="FFFFFF"/>
          </a:solidFill>
          <a:ln w="12700">
            <a:solidFill>
              <a:srgbClr val="DDE0DC"/>
            </a:solidFill>
            <a:prstDash val="solid"/>
          </a:ln>
          <a:effectLst>
            <a:outerShdw sx="100000" sy="100000" kx="0" ky="0" algn="bl" rotWithShape="0" blurRad="76200" dist="25400" dir="5400000">
              <a:srgbClr val="000000">
                <a:alpha val="18000"/>
              </a:srgbClr>
            </a:outerShdw>
          </a:effectLst>
        </p:spPr>
      </p:sp>
      <p:pic>
        <p:nvPicPr>
          <p:cNvPr id="5" name="Image 0" descr="/Users/ahmadjalil/github/aethmodular/research/ftir_ec_phase3/output/plots/deck/by_protocol/site_held_out/calibration_setup_matrix.png">    </p:cNvPr>
          <p:cNvPicPr>
            <a:picLocks noChangeAspect="1"/>
          </p:cNvPicPr>
          <p:nvPr/>
        </p:nvPicPr>
        <p:blipFill>
          <a:blip r:embed="rId1"/>
          <a:srcRect l="0" r="0" t="0" b="0"/>
          <a:stretch/>
        </p:blipFill>
        <p:spPr>
          <a:xfrm>
            <a:off x="4032504" y="1609344"/>
            <a:ext cx="7616952" cy="4370832"/>
          </a:xfrm>
          <a:prstGeom prst="rect">
            <a:avLst/>
          </a:prstGeom>
        </p:spPr>
      </p:pic>
      <p:sp>
        <p:nvSpPr>
          <p:cNvPr id="6" name="Text 3"/>
          <p:cNvSpPr/>
          <p:nvPr/>
        </p:nvSpPr>
        <p:spPr>
          <a:xfrm>
            <a:off x="4069080" y="6016752"/>
            <a:ext cx="7543800" cy="292608"/>
          </a:xfrm>
          <a:prstGeom prst="rect">
            <a:avLst/>
          </a:prstGeom>
          <a:noFill/>
          <a:ln/>
        </p:spPr>
        <p:txBody>
          <a:bodyPr wrap="square" lIns="0" tIns="0" rIns="0" bIns="0" rtlCol="0" anchor="ctr"/>
          <a:lstStyle/>
          <a:p>
            <a:pPr indent="0" marL="0">
              <a:buNone/>
            </a:pPr>
            <a:r>
              <a:rPr lang="en-US" sz="850" dirty="0">
                <a:solidFill>
                  <a:srgbClr val="8A9098"/>
                </a:solidFill>
                <a:latin typeface="Courier New" pitchFamily="34" charset="0"/>
                <a:ea typeface="Courier New" pitchFamily="34" charset="-122"/>
                <a:cs typeface="Courier New" pitchFamily="34" charset="-120"/>
              </a:rPr>
              <a:t>by_protocol/site_held_out · calibration_setup_matrix   </a:t>
            </a:r>
            <a:pPr indent="0" marL="0">
              <a:buNone/>
            </a:pPr>
            <a:r>
              <a:rPr lang="en-US" sz="950" i="1" dirty="0">
                <a:solidFill>
                  <a:srgbClr val="5E6369"/>
                </a:solidFill>
                <a:latin typeface="Calibri" pitchFamily="34" charset="0"/>
                <a:ea typeface="Calibri" pitchFamily="34" charset="-122"/>
                <a:cs typeface="Calibri" pitchFamily="34" charset="-120"/>
              </a:rPr>
              <a:t>Row 1 is the whole IMPROVE network — ETAD spectra are evaluation-only</a:t>
            </a:r>
            <a:endParaRPr lang="en-US" sz="850" dirty="0"/>
          </a:p>
        </p:txBody>
      </p:sp>
      <p:sp>
        <p:nvSpPr>
          <p:cNvPr id="7" name="Text 4"/>
          <p:cNvSpPr/>
          <p:nvPr/>
        </p:nvSpPr>
        <p:spPr>
          <a:xfrm>
            <a:off x="502920" y="1737360"/>
            <a:ext cx="3246120" cy="3200400"/>
          </a:xfrm>
          <a:prstGeom prst="rect">
            <a:avLst/>
          </a:prstGeom>
          <a:noFill/>
          <a:ln/>
        </p:spPr>
        <p:txBody>
          <a:bodyPr wrap="square" lIns="0" tIns="0" rIns="0" bIns="0" rtlCol="0" anchor="t"/>
          <a:lstStyle/>
          <a:p>
            <a:pPr algn="l" indent="0" marL="0">
              <a:spcAft>
                <a:spcPts val="800"/>
              </a:spcAft>
              <a:buNone/>
            </a:pPr>
            <a:r>
              <a:rPr lang="en-US" sz="1250" dirty="0">
                <a:solidFill>
                  <a:srgbClr val="1A1D21"/>
                </a:solidFill>
                <a:latin typeface="Calibri" pitchFamily="34" charset="0"/>
                <a:ea typeface="Calibri" pitchFamily="34" charset="-122"/>
                <a:cs typeface="Calibri" pitchFamily="34" charset="-120"/>
              </a:rPr>
              <a:t>The intercept ladder: −4.17 → −3.22 → −1.62.</a:t>
            </a:r>
            <a:endParaRPr lang="en-US" sz="1250" dirty="0"/>
          </a:p>
          <a:p>
            <a:pPr algn="l" indent="0" marL="0">
              <a:spcAft>
                <a:spcPts val="800"/>
              </a:spcAft>
              <a:buNone/>
            </a:pPr>
            <a:r>
              <a:rPr lang="en-US" sz="1250" dirty="0">
                <a:solidFill>
                  <a:srgbClr val="1A1D21"/>
                </a:solidFill>
                <a:latin typeface="Calibri" pitchFamily="34" charset="0"/>
                <a:ea typeface="Calibri" pitchFamily="34" charset="-122"/>
                <a:cs typeface="Calibri" pitchFamily="34" charset="-120"/>
              </a:rPr>
              <a:t>The corrected setup barely moves between protocols (−1.65 / −1.62) and passes the disjoint-site TOR test (slope 1.01, R² 0.90).</a:t>
            </a:r>
            <a:endParaRPr lang="en-US" sz="1250" dirty="0"/>
          </a:p>
          <a:p>
            <a:pPr algn="l" indent="0" marL="0">
              <a:spcAft>
                <a:spcPts val="800"/>
              </a:spcAft>
              <a:buNone/>
            </a:pPr>
            <a:r>
              <a:rPr lang="en-US" sz="1150" dirty="0">
                <a:solidFill>
                  <a:srgbClr val="5E6369"/>
                </a:solidFill>
                <a:latin typeface="Calibri" pitchFamily="34" charset="0"/>
                <a:ea typeface="Calibri" pitchFamily="34" charset="-122"/>
                <a:cs typeface="Calibri" pitchFamily="34" charset="-120"/>
              </a:rPr>
              <a:t>Tone call for tomorrow: the deck says MAC 10 is where it “lands closest” — deliberately not “self-consistent”, since 0.86 fails ftir_19's |slope−1| ≤ 0.1 bar.</a:t>
            </a:r>
            <a:endParaRPr lang="en-US" sz="1250" dirty="0"/>
          </a:p>
        </p:txBody>
      </p:sp>
      <p:sp>
        <p:nvSpPr>
          <p:cNvPr id="8" name="Shape 5"/>
          <p:cNvSpPr/>
          <p:nvPr/>
        </p:nvSpPr>
        <p:spPr>
          <a:xfrm>
            <a:off x="502920" y="4846320"/>
            <a:ext cx="3246120" cy="402336"/>
          </a:xfrm>
          <a:prstGeom prst="roundRect">
            <a:avLst>
              <a:gd name="adj" fmla="val 13636"/>
            </a:avLst>
          </a:prstGeom>
          <a:solidFill>
            <a:srgbClr val="F4F5F3"/>
          </a:solidFill>
          <a:ln w="9525">
            <a:solidFill>
              <a:srgbClr val="DDE0DC"/>
            </a:solidFill>
            <a:prstDash val="solid"/>
          </a:ln>
        </p:spPr>
      </p:sp>
      <p:sp>
        <p:nvSpPr>
          <p:cNvPr id="9" name="Text 6"/>
          <p:cNvSpPr/>
          <p:nvPr/>
        </p:nvSpPr>
        <p:spPr>
          <a:xfrm>
            <a:off x="612648" y="4846320"/>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intercept  </a:t>
            </a:r>
            <a:pPr indent="0" marL="0">
              <a:buNone/>
            </a:pPr>
            <a:r>
              <a:rPr lang="en-US" sz="1100" b="1" dirty="0">
                <a:solidFill>
                  <a:srgbClr val="B23327"/>
                </a:solidFill>
                <a:latin typeface="Calibri" pitchFamily="34" charset="0"/>
                <a:ea typeface="Calibri" pitchFamily="34" charset="-122"/>
                <a:cs typeface="Calibri" pitchFamily="34" charset="-120"/>
              </a:rPr>
              <a:t>−1.62</a:t>
            </a:r>
            <a:endParaRPr lang="en-US" sz="1100" dirty="0"/>
          </a:p>
        </p:txBody>
      </p:sp>
      <p:sp>
        <p:nvSpPr>
          <p:cNvPr id="10" name="Shape 7"/>
          <p:cNvSpPr/>
          <p:nvPr/>
        </p:nvSpPr>
        <p:spPr>
          <a:xfrm>
            <a:off x="502920" y="5358384"/>
            <a:ext cx="3246120" cy="402336"/>
          </a:xfrm>
          <a:prstGeom prst="roundRect">
            <a:avLst>
              <a:gd name="adj" fmla="val 13636"/>
            </a:avLst>
          </a:prstGeom>
          <a:solidFill>
            <a:srgbClr val="F4F5F3"/>
          </a:solidFill>
          <a:ln w="9525">
            <a:solidFill>
              <a:srgbClr val="DDE0DC"/>
            </a:solidFill>
            <a:prstDash val="solid"/>
          </a:ln>
        </p:spPr>
      </p:sp>
      <p:sp>
        <p:nvSpPr>
          <p:cNvPr id="11" name="Text 8"/>
          <p:cNvSpPr/>
          <p:nvPr/>
        </p:nvSpPr>
        <p:spPr>
          <a:xfrm>
            <a:off x="612648" y="5358384"/>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protocol-robust  </a:t>
            </a:r>
            <a:pPr indent="0" marL="0">
              <a:buNone/>
            </a:pPr>
            <a:r>
              <a:rPr lang="en-US" sz="1100" b="1" dirty="0">
                <a:solidFill>
                  <a:srgbClr val="3F7A56"/>
                </a:solidFill>
                <a:latin typeface="Calibri" pitchFamily="34" charset="0"/>
                <a:ea typeface="Calibri" pitchFamily="34" charset="-122"/>
                <a:cs typeface="Calibri" pitchFamily="34" charset="-120"/>
              </a:rPr>
              <a:t>−1.65 / −1.62</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lIns="0" tIns="0" rIns="0" bIns="0" rtlCol="0" anchor="ctr"/>
          <a:lstStyle/>
          <a:p>
            <a:pPr indent="0" marL="0">
              <a:buNone/>
            </a:pPr>
            <a:r>
              <a:rPr lang="en-US" sz="1100" spc="200" kern="0" dirty="0">
                <a:solidFill>
                  <a:srgbClr val="B23327"/>
                </a:solidFill>
                <a:latin typeface="Courier New" pitchFamily="34" charset="0"/>
                <a:ea typeface="Courier New" pitchFamily="34" charset="-122"/>
                <a:cs typeface="Courier New" pitchFamily="34" charset="-120"/>
              </a:rPr>
              <a:t>05 · WHY BASELINING MOVES THE ANSWER</a:t>
            </a:r>
            <a:endParaRPr lang="en-US" sz="1100" dirty="0"/>
          </a:p>
        </p:txBody>
      </p:sp>
      <p:sp>
        <p:nvSpPr>
          <p:cNvPr id="3" name="Text 1"/>
          <p:cNvSpPr/>
          <p:nvPr/>
        </p:nvSpPr>
        <p:spPr>
          <a:xfrm>
            <a:off x="502920" y="566928"/>
            <a:ext cx="11183112" cy="868680"/>
          </a:xfrm>
          <a:prstGeom prst="rect">
            <a:avLst/>
          </a:prstGeom>
          <a:noFill/>
          <a:ln/>
        </p:spPr>
        <p:txBody>
          <a:bodyPr wrap="square" lIns="0" tIns="0" rIns="0" bIns="0" rtlCol="0" anchor="t"/>
          <a:lstStyle/>
          <a:p>
            <a:pPr indent="0" marL="0">
              <a:buNone/>
            </a:pPr>
            <a:r>
              <a:rPr lang="en-US" sz="2600" b="1" dirty="0">
                <a:solidFill>
                  <a:srgbClr val="1A1D21"/>
                </a:solidFill>
                <a:latin typeface="Calibri" pitchFamily="34" charset="0"/>
                <a:ea typeface="Calibri" pitchFamily="34" charset="-122"/>
                <a:cs typeface="Calibri" pitchFamily="34" charset="-120"/>
              </a:rPr>
              <a:t>~91% of a raw Addis spectrum at the CH band is background — and Addis rides a higher background than its cohort.</a:t>
            </a:r>
            <a:endParaRPr lang="en-US" sz="2600" dirty="0"/>
          </a:p>
        </p:txBody>
      </p:sp>
      <p:sp>
        <p:nvSpPr>
          <p:cNvPr id="4" name="Shape 2"/>
          <p:cNvSpPr/>
          <p:nvPr/>
        </p:nvSpPr>
        <p:spPr>
          <a:xfrm>
            <a:off x="502920" y="1600200"/>
            <a:ext cx="5577840" cy="4270248"/>
          </a:xfrm>
          <a:prstGeom prst="rect">
            <a:avLst/>
          </a:prstGeom>
          <a:solidFill>
            <a:srgbClr val="FFFFFF"/>
          </a:solidFill>
          <a:ln w="12700">
            <a:solidFill>
              <a:srgbClr val="DDE0DC"/>
            </a:solidFill>
            <a:prstDash val="solid"/>
          </a:ln>
          <a:effectLst>
            <a:outerShdw sx="100000" sy="100000" kx="0" ky="0" algn="bl" rotWithShape="0" blurRad="76200" dist="25400" dir="5400000">
              <a:srgbClr val="000000">
                <a:alpha val="18000"/>
              </a:srgbClr>
            </a:outerShdw>
          </a:effectLst>
        </p:spPr>
      </p:sp>
      <p:pic>
        <p:nvPicPr>
          <p:cNvPr id="5" name="Image 0" descr="/Users/ahmadjalil/github/aethmodular/research/ftir_ec_phase3/output/plots/deck/airspec_1_baseline.png">    </p:cNvPr>
          <p:cNvPicPr>
            <a:picLocks noChangeAspect="1"/>
          </p:cNvPicPr>
          <p:nvPr/>
        </p:nvPicPr>
        <p:blipFill>
          <a:blip r:embed="rId1"/>
          <a:srcRect l="0" r="0" t="0" b="0"/>
          <a:stretch/>
        </p:blipFill>
        <p:spPr>
          <a:xfrm>
            <a:off x="557784" y="1655064"/>
            <a:ext cx="5468112" cy="3867912"/>
          </a:xfrm>
          <a:prstGeom prst="rect">
            <a:avLst/>
          </a:prstGeom>
        </p:spPr>
      </p:pic>
      <p:sp>
        <p:nvSpPr>
          <p:cNvPr id="6" name="Text 3"/>
          <p:cNvSpPr/>
          <p:nvPr/>
        </p:nvSpPr>
        <p:spPr>
          <a:xfrm>
            <a:off x="594360" y="5559552"/>
            <a:ext cx="5394960" cy="292608"/>
          </a:xfrm>
          <a:prstGeom prst="rect">
            <a:avLst/>
          </a:prstGeom>
          <a:noFill/>
          <a:ln/>
        </p:spPr>
        <p:txBody>
          <a:bodyPr wrap="square" lIns="0" tIns="0" rIns="0" bIns="0" rtlCol="0" anchor="ctr"/>
          <a:lstStyle/>
          <a:p>
            <a:pPr indent="0" marL="0">
              <a:buNone/>
            </a:pPr>
            <a:r>
              <a:rPr lang="en-US" sz="850" dirty="0">
                <a:solidFill>
                  <a:srgbClr val="8A9098"/>
                </a:solidFill>
                <a:latin typeface="Courier New" pitchFamily="34" charset="0"/>
                <a:ea typeface="Courier New" pitchFamily="34" charset="-122"/>
                <a:cs typeface="Courier New" pitchFamily="34" charset="-120"/>
              </a:rPr>
              <a:t>deck · airspec_1_baseline   </a:t>
            </a:r>
            <a:pPr indent="0" marL="0">
              <a:buNone/>
            </a:pPr>
            <a:r>
              <a:rPr lang="en-US" sz="950" i="1" dirty="0">
                <a:solidFill>
                  <a:srgbClr val="5E6369"/>
                </a:solidFill>
                <a:latin typeface="Calibri" pitchFamily="34" charset="0"/>
                <a:ea typeface="Calibri" pitchFamily="34" charset="-122"/>
                <a:cs typeface="Calibri" pitchFamily="34" charset="-120"/>
              </a:rPr>
              <a:t>One real filter (median-like); grey = all 239 Addis spectra</a:t>
            </a:r>
            <a:endParaRPr lang="en-US" sz="850" dirty="0"/>
          </a:p>
        </p:txBody>
      </p:sp>
      <p:sp>
        <p:nvSpPr>
          <p:cNvPr id="7" name="Shape 4"/>
          <p:cNvSpPr/>
          <p:nvPr/>
        </p:nvSpPr>
        <p:spPr>
          <a:xfrm>
            <a:off x="6263640" y="1600200"/>
            <a:ext cx="5577840" cy="4270248"/>
          </a:xfrm>
          <a:prstGeom prst="rect">
            <a:avLst/>
          </a:prstGeom>
          <a:solidFill>
            <a:srgbClr val="FFFFFF"/>
          </a:solidFill>
          <a:ln w="12700">
            <a:solidFill>
              <a:srgbClr val="DDE0DC"/>
            </a:solidFill>
            <a:prstDash val="solid"/>
          </a:ln>
          <a:effectLst>
            <a:outerShdw sx="100000" sy="100000" kx="0" ky="0" algn="bl" rotWithShape="0" blurRad="76200" dist="25400" dir="5400000">
              <a:srgbClr val="000000">
                <a:alpha val="18000"/>
              </a:srgbClr>
            </a:outerShdw>
          </a:effectLst>
        </p:spPr>
      </p:sp>
      <p:pic>
        <p:nvPicPr>
          <p:cNvPr id="8" name="Image 1" descr="/Users/ahmadjalil/github/aethmodular/research/ftir_ec_phase3/output/plots/deck/airspec_3_background_gap.png">    </p:cNvPr>
          <p:cNvPicPr>
            <a:picLocks noChangeAspect="1"/>
          </p:cNvPicPr>
          <p:nvPr/>
        </p:nvPicPr>
        <p:blipFill>
          <a:blip r:embed="rId2"/>
          <a:srcRect l="0" r="0" t="0" b="0"/>
          <a:stretch/>
        </p:blipFill>
        <p:spPr>
          <a:xfrm>
            <a:off x="6318504" y="1655064"/>
            <a:ext cx="5468112" cy="3867912"/>
          </a:xfrm>
          <a:prstGeom prst="rect">
            <a:avLst/>
          </a:prstGeom>
        </p:spPr>
      </p:pic>
      <p:sp>
        <p:nvSpPr>
          <p:cNvPr id="9" name="Text 5"/>
          <p:cNvSpPr/>
          <p:nvPr/>
        </p:nvSpPr>
        <p:spPr>
          <a:xfrm>
            <a:off x="6355080" y="5559552"/>
            <a:ext cx="5394960" cy="292608"/>
          </a:xfrm>
          <a:prstGeom prst="rect">
            <a:avLst/>
          </a:prstGeom>
          <a:noFill/>
          <a:ln/>
        </p:spPr>
        <p:txBody>
          <a:bodyPr wrap="square" lIns="0" tIns="0" rIns="0" bIns="0" rtlCol="0" anchor="ctr"/>
          <a:lstStyle/>
          <a:p>
            <a:pPr indent="0" marL="0">
              <a:buNone/>
            </a:pPr>
            <a:r>
              <a:rPr lang="en-US" sz="850" dirty="0">
                <a:solidFill>
                  <a:srgbClr val="8A9098"/>
                </a:solidFill>
                <a:latin typeface="Courier New" pitchFamily="34" charset="0"/>
                <a:ea typeface="Courier New" pitchFamily="34" charset="-122"/>
                <a:cs typeface="Courier New" pitchFamily="34" charset="-120"/>
              </a:rPr>
              <a:t>deck · airspec_3_background_gap   </a:t>
            </a:r>
            <a:pPr indent="0" marL="0">
              <a:buNone/>
            </a:pPr>
            <a:r>
              <a:rPr lang="en-US" sz="950" i="1" dirty="0">
                <a:solidFill>
                  <a:srgbClr val="5E6369"/>
                </a:solidFill>
                <a:latin typeface="Calibri" pitchFamily="34" charset="0"/>
                <a:ea typeface="Calibri" pitchFamily="34" charset="-122"/>
                <a:cs typeface="Calibri" pitchFamily="34" charset="-120"/>
              </a:rPr>
              <a:t>Baseline at 2920 cm⁻¹ per filter: cohort 0.101 vs Addis 0.170</a:t>
            </a:r>
            <a:endParaRPr lang="en-US" sz="850" dirty="0"/>
          </a:p>
        </p:txBody>
      </p:sp>
      <p:sp>
        <p:nvSpPr>
          <p:cNvPr id="10" name="Shape 6"/>
          <p:cNvSpPr/>
          <p:nvPr/>
        </p:nvSpPr>
        <p:spPr>
          <a:xfrm>
            <a:off x="502920" y="5989320"/>
            <a:ext cx="3863340" cy="384048"/>
          </a:xfrm>
          <a:prstGeom prst="roundRect">
            <a:avLst>
              <a:gd name="adj" fmla="val 14286"/>
            </a:avLst>
          </a:prstGeom>
          <a:solidFill>
            <a:srgbClr val="F4F5F3"/>
          </a:solidFill>
          <a:ln w="9525">
            <a:solidFill>
              <a:srgbClr val="DDE0DC"/>
            </a:solidFill>
            <a:prstDash val="solid"/>
          </a:ln>
        </p:spPr>
      </p:sp>
      <p:sp>
        <p:nvSpPr>
          <p:cNvPr id="11" name="Text 7"/>
          <p:cNvSpPr/>
          <p:nvPr/>
        </p:nvSpPr>
        <p:spPr>
          <a:xfrm>
            <a:off x="576072" y="5989320"/>
            <a:ext cx="3771900" cy="38404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baseline share @ CH  </a:t>
            </a:r>
            <a:pPr indent="0" marL="0">
              <a:buNone/>
            </a:pPr>
            <a:r>
              <a:rPr lang="en-US" sz="1100" b="1" dirty="0">
                <a:solidFill>
                  <a:srgbClr val="B23327"/>
                </a:solidFill>
                <a:latin typeface="Calibri" pitchFamily="34" charset="0"/>
                <a:ea typeface="Calibri" pitchFamily="34" charset="-122"/>
                <a:cs typeface="Calibri" pitchFamily="34" charset="-120"/>
              </a:rPr>
              <a:t>~91% (one filter)</a:t>
            </a:r>
            <a:endParaRPr lang="en-US" sz="1100" dirty="0"/>
          </a:p>
        </p:txBody>
      </p:sp>
      <p:sp>
        <p:nvSpPr>
          <p:cNvPr id="12" name="Shape 8"/>
          <p:cNvSpPr/>
          <p:nvPr/>
        </p:nvSpPr>
        <p:spPr>
          <a:xfrm>
            <a:off x="4530852" y="5989320"/>
            <a:ext cx="3995928" cy="384048"/>
          </a:xfrm>
          <a:prstGeom prst="roundRect">
            <a:avLst>
              <a:gd name="adj" fmla="val 14286"/>
            </a:avLst>
          </a:prstGeom>
          <a:solidFill>
            <a:srgbClr val="F4F5F3"/>
          </a:solidFill>
          <a:ln w="9525">
            <a:solidFill>
              <a:srgbClr val="DDE0DC"/>
            </a:solidFill>
            <a:prstDash val="solid"/>
          </a:ln>
        </p:spPr>
      </p:sp>
      <p:sp>
        <p:nvSpPr>
          <p:cNvPr id="13" name="Text 9"/>
          <p:cNvSpPr/>
          <p:nvPr/>
        </p:nvSpPr>
        <p:spPr>
          <a:xfrm>
            <a:off x="4604004" y="5989320"/>
            <a:ext cx="3904488" cy="38404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Addis vs cohort baseline  </a:t>
            </a:r>
            <a:pPr indent="0" marL="0">
              <a:buNone/>
            </a:pPr>
            <a:r>
              <a:rPr lang="en-US" sz="1100" b="1" dirty="0">
                <a:solidFill>
                  <a:srgbClr val="2C6E9E"/>
                </a:solidFill>
                <a:latin typeface="Calibri" pitchFamily="34" charset="0"/>
                <a:ea typeface="Calibri" pitchFamily="34" charset="-122"/>
                <a:cs typeface="Calibri" pitchFamily="34" charset="-120"/>
              </a:rPr>
              <a:t>0.170 vs 0.101</a:t>
            </a:r>
            <a:endParaRPr lang="en-US" sz="1100" dirty="0"/>
          </a:p>
        </p:txBody>
      </p:sp>
      <p:sp>
        <p:nvSpPr>
          <p:cNvPr id="14" name="Shape 10"/>
          <p:cNvSpPr/>
          <p:nvPr/>
        </p:nvSpPr>
        <p:spPr>
          <a:xfrm>
            <a:off x="8691372" y="5989320"/>
            <a:ext cx="2592324" cy="384048"/>
          </a:xfrm>
          <a:prstGeom prst="roundRect">
            <a:avLst>
              <a:gd name="adj" fmla="val 14286"/>
            </a:avLst>
          </a:prstGeom>
          <a:solidFill>
            <a:srgbClr val="F4F5F3"/>
          </a:solidFill>
          <a:ln w="9525">
            <a:solidFill>
              <a:srgbClr val="DDE0DC"/>
            </a:solidFill>
            <a:prstDash val="solid"/>
          </a:ln>
        </p:spPr>
      </p:sp>
      <p:sp>
        <p:nvSpPr>
          <p:cNvPr id="15" name="Text 11"/>
          <p:cNvSpPr/>
          <p:nvPr/>
        </p:nvSpPr>
        <p:spPr>
          <a:xfrm>
            <a:off x="8764524" y="5989320"/>
            <a:ext cx="2500884" cy="38404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intercept  </a:t>
            </a:r>
            <a:pPr indent="0" marL="0">
              <a:buNone/>
            </a:pPr>
            <a:r>
              <a:rPr lang="en-US" sz="1100" b="1" dirty="0">
                <a:solidFill>
                  <a:srgbClr val="3F7A56"/>
                </a:solidFill>
                <a:latin typeface="Calibri" pitchFamily="34" charset="0"/>
                <a:ea typeface="Calibri" pitchFamily="34" charset="-122"/>
                <a:cs typeface="Calibri" pitchFamily="34" charset="-120"/>
              </a:rPr>
              <a:t>−3.22 → −1.62</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lIns="0" tIns="0" rIns="0" bIns="0" rtlCol="0" anchor="ctr"/>
          <a:lstStyle/>
          <a:p>
            <a:pPr indent="0" marL="0">
              <a:buNone/>
            </a:pPr>
            <a:r>
              <a:rPr lang="en-US" sz="1100" spc="200" kern="0" dirty="0">
                <a:solidFill>
                  <a:srgbClr val="B23327"/>
                </a:solidFill>
                <a:latin typeface="Courier New" pitchFamily="34" charset="0"/>
                <a:ea typeface="Courier New" pitchFamily="34" charset="-122"/>
                <a:cs typeface="Courier New" pitchFamily="34" charset="-120"/>
              </a:rPr>
              <a:t>06 · RESURFACED — JULY SLIDE 15, NEVER PRESENTED</a:t>
            </a:r>
            <a:endParaRPr lang="en-US" sz="1100" dirty="0"/>
          </a:p>
        </p:txBody>
      </p:sp>
      <p:sp>
        <p:nvSpPr>
          <p:cNvPr id="3" name="Text 1"/>
          <p:cNvSpPr/>
          <p:nvPr/>
        </p:nvSpPr>
        <p:spPr>
          <a:xfrm>
            <a:off x="502920" y="566928"/>
            <a:ext cx="11183112" cy="868680"/>
          </a:xfrm>
          <a:prstGeom prst="rect">
            <a:avLst/>
          </a:prstGeom>
          <a:noFill/>
          <a:ln/>
        </p:spPr>
        <p:txBody>
          <a:bodyPr wrap="square" lIns="0" tIns="0" rIns="0" bIns="0" rtlCol="0" anchor="t"/>
          <a:lstStyle/>
          <a:p>
            <a:pPr indent="0" marL="0">
              <a:buNone/>
            </a:pPr>
            <a:r>
              <a:rPr lang="en-US" sz="2600" b="1" dirty="0">
                <a:solidFill>
                  <a:srgbClr val="1A1D21"/>
                </a:solidFill>
                <a:latin typeface="Calibri" pitchFamily="34" charset="0"/>
                <a:ea typeface="Calibri" pitchFamily="34" charset="-122"/>
                <a:cs typeface="Calibri" pitchFamily="34" charset="-120"/>
              </a:rPr>
              <a:t>The AIRSpec improvement is real — and so is what remains.</a:t>
            </a:r>
            <a:endParaRPr lang="en-US" sz="2600" dirty="0"/>
          </a:p>
        </p:txBody>
      </p:sp>
      <p:sp>
        <p:nvSpPr>
          <p:cNvPr id="4" name="Shape 2"/>
          <p:cNvSpPr/>
          <p:nvPr/>
        </p:nvSpPr>
        <p:spPr>
          <a:xfrm>
            <a:off x="4023360" y="1554480"/>
            <a:ext cx="7680960" cy="4773168"/>
          </a:xfrm>
          <a:prstGeom prst="rect">
            <a:avLst/>
          </a:prstGeom>
          <a:solidFill>
            <a:srgbClr val="FFFFFF"/>
          </a:solidFill>
          <a:ln w="12700">
            <a:solidFill>
              <a:srgbClr val="DDE0DC"/>
            </a:solidFill>
            <a:prstDash val="solid"/>
          </a:ln>
          <a:effectLst>
            <a:outerShdw sx="100000" sy="100000" kx="0" ky="0" algn="bl" rotWithShape="0" blurRad="76200" dist="25400" dir="5400000">
              <a:srgbClr val="000000">
                <a:alpha val="18000"/>
              </a:srgbClr>
            </a:outerShdw>
          </a:effectLst>
        </p:spPr>
      </p:sp>
      <p:pic>
        <p:nvPicPr>
          <p:cNvPr id="5" name="Image 0" descr="/Users/ahmadjalil/github/aethmodular/research/ftir_ec_phase3/output/plots/ftir15/bootstrap_intercepts.png">    </p:cNvPr>
          <p:cNvPicPr>
            <a:picLocks noChangeAspect="1"/>
          </p:cNvPicPr>
          <p:nvPr/>
        </p:nvPicPr>
        <p:blipFill>
          <a:blip r:embed="rId1"/>
          <a:srcRect l="0" r="0" t="0" b="0"/>
          <a:stretch/>
        </p:blipFill>
        <p:spPr>
          <a:xfrm>
            <a:off x="4078224" y="1609344"/>
            <a:ext cx="7571232" cy="4370832"/>
          </a:xfrm>
          <a:prstGeom prst="rect">
            <a:avLst/>
          </a:prstGeom>
        </p:spPr>
      </p:pic>
      <p:sp>
        <p:nvSpPr>
          <p:cNvPr id="6" name="Text 3"/>
          <p:cNvSpPr/>
          <p:nvPr/>
        </p:nvSpPr>
        <p:spPr>
          <a:xfrm>
            <a:off x="4114800" y="6016752"/>
            <a:ext cx="7498080" cy="292608"/>
          </a:xfrm>
          <a:prstGeom prst="rect">
            <a:avLst/>
          </a:prstGeom>
          <a:noFill/>
          <a:ln/>
        </p:spPr>
        <p:txBody>
          <a:bodyPr wrap="square" lIns="0" tIns="0" rIns="0" bIns="0" rtlCol="0" anchor="ctr"/>
          <a:lstStyle/>
          <a:p>
            <a:pPr indent="0" marL="0">
              <a:buNone/>
            </a:pPr>
            <a:r>
              <a:rPr lang="en-US" sz="850" dirty="0">
                <a:solidFill>
                  <a:srgbClr val="8A9098"/>
                </a:solidFill>
                <a:latin typeface="Courier New" pitchFamily="34" charset="0"/>
                <a:ea typeface="Courier New" pitchFamily="34" charset="-122"/>
                <a:cs typeface="Courier New" pitchFamily="34" charset="-120"/>
              </a:rPr>
              <a:t>ftir_15 · bootstrap_intercepts   </a:t>
            </a:r>
            <a:pPr indent="0" marL="0">
              <a:buNone/>
            </a:pPr>
            <a:r>
              <a:rPr lang="en-US" sz="950" i="1" dirty="0">
                <a:solidFill>
                  <a:srgbClr val="5E6369"/>
                </a:solidFill>
                <a:latin typeface="Calibri" pitchFamily="34" charset="0"/>
                <a:ea typeface="Calibri" pitchFamily="34" charset="-122"/>
                <a:cs typeface="Calibri" pitchFamily="34" charset="-120"/>
              </a:rPr>
              <a:t>Site-cluster bootstrap, B = 200; deployed −4.17 dotted</a:t>
            </a:r>
            <a:endParaRPr lang="en-US" sz="850" dirty="0"/>
          </a:p>
        </p:txBody>
      </p:sp>
      <p:sp>
        <p:nvSpPr>
          <p:cNvPr id="7" name="Text 4"/>
          <p:cNvSpPr/>
          <p:nvPr/>
        </p:nvSpPr>
        <p:spPr>
          <a:xfrm>
            <a:off x="502920" y="1737360"/>
            <a:ext cx="3291840" cy="2834640"/>
          </a:xfrm>
          <a:prstGeom prst="rect">
            <a:avLst/>
          </a:prstGeom>
          <a:noFill/>
          <a:ln/>
        </p:spPr>
        <p:txBody>
          <a:bodyPr wrap="square" lIns="0" tIns="0" rIns="0" bIns="0" rtlCol="0" anchor="t"/>
          <a:lstStyle/>
          <a:p>
            <a:pPr algn="l" indent="0" marL="0">
              <a:spcAft>
                <a:spcPts val="800"/>
              </a:spcAft>
              <a:buNone/>
            </a:pPr>
            <a:r>
              <a:rPr lang="en-US" sz="1250" dirty="0">
                <a:solidFill>
                  <a:srgbClr val="1A1D21"/>
                </a:solidFill>
                <a:latin typeface="Calibri" pitchFamily="34" charset="0"/>
                <a:ea typeface="Calibri" pitchFamily="34" charset="-122"/>
                <a:cs typeface="Calibri" pitchFamily="34" charset="-120"/>
              </a:rPr>
              <a:t>Skipped in July's jump from the cohort sweep to seasonality.</a:t>
            </a:r>
            <a:endParaRPr lang="en-US" sz="1250" dirty="0"/>
          </a:p>
          <a:p>
            <a:pPr algn="l" indent="0" marL="0">
              <a:spcAft>
                <a:spcPts val="800"/>
              </a:spcAft>
              <a:buNone/>
            </a:pPr>
            <a:r>
              <a:rPr lang="en-US" sz="1250" b="1" dirty="0">
                <a:solidFill>
                  <a:srgbClr val="1A1D21"/>
                </a:solidFill>
                <a:latin typeface="Calibri" pitchFamily="34" charset="0"/>
                <a:ea typeface="Calibri" pitchFamily="34" charset="-122"/>
                <a:cs typeface="Calibri" pitchFamily="34" charset="-120"/>
              </a:rPr>
              <a:t>The raw and corrected distributions are fully disjoint — the improvement is not a lucky draw — and the corrected interval still excludes zero: the remaining offset is not noise.</a:t>
            </a:r>
            <a:endParaRPr lang="en-US" sz="1250" dirty="0"/>
          </a:p>
        </p:txBody>
      </p:sp>
      <p:sp>
        <p:nvSpPr>
          <p:cNvPr id="8" name="Shape 5"/>
          <p:cNvSpPr/>
          <p:nvPr/>
        </p:nvSpPr>
        <p:spPr>
          <a:xfrm>
            <a:off x="502920" y="4251960"/>
            <a:ext cx="3246120" cy="402336"/>
          </a:xfrm>
          <a:prstGeom prst="roundRect">
            <a:avLst>
              <a:gd name="adj" fmla="val 13636"/>
            </a:avLst>
          </a:prstGeom>
          <a:solidFill>
            <a:srgbClr val="F4F5F3"/>
          </a:solidFill>
          <a:ln w="9525">
            <a:solidFill>
              <a:srgbClr val="DDE0DC"/>
            </a:solidFill>
            <a:prstDash val="solid"/>
          </a:ln>
        </p:spPr>
      </p:sp>
      <p:sp>
        <p:nvSpPr>
          <p:cNvPr id="9" name="Text 6"/>
          <p:cNvSpPr/>
          <p:nvPr/>
        </p:nvSpPr>
        <p:spPr>
          <a:xfrm>
            <a:off x="612648" y="4251960"/>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corrected 95% CI  </a:t>
            </a:r>
            <a:pPr indent="0" marL="0">
              <a:buNone/>
            </a:pPr>
            <a:r>
              <a:rPr lang="en-US" sz="1100" b="1" dirty="0">
                <a:solidFill>
                  <a:srgbClr val="3F7A56"/>
                </a:solidFill>
                <a:latin typeface="Calibri" pitchFamily="34" charset="0"/>
                <a:ea typeface="Calibri" pitchFamily="34" charset="-122"/>
                <a:cs typeface="Calibri" pitchFamily="34" charset="-120"/>
              </a:rPr>
              <a:t>[−1.78, −1.06]</a:t>
            </a:r>
            <a:endParaRPr lang="en-US" sz="1100" dirty="0"/>
          </a:p>
        </p:txBody>
      </p:sp>
      <p:sp>
        <p:nvSpPr>
          <p:cNvPr id="10" name="Shape 7"/>
          <p:cNvSpPr/>
          <p:nvPr/>
        </p:nvSpPr>
        <p:spPr>
          <a:xfrm>
            <a:off x="502920" y="4764024"/>
            <a:ext cx="3246120" cy="402336"/>
          </a:xfrm>
          <a:prstGeom prst="roundRect">
            <a:avLst>
              <a:gd name="adj" fmla="val 13636"/>
            </a:avLst>
          </a:prstGeom>
          <a:solidFill>
            <a:srgbClr val="F4F5F3"/>
          </a:solidFill>
          <a:ln w="9525">
            <a:solidFill>
              <a:srgbClr val="DDE0DC"/>
            </a:solidFill>
            <a:prstDash val="solid"/>
          </a:ln>
        </p:spPr>
      </p:sp>
      <p:sp>
        <p:nvSpPr>
          <p:cNvPr id="11" name="Text 8"/>
          <p:cNvSpPr/>
          <p:nvPr/>
        </p:nvSpPr>
        <p:spPr>
          <a:xfrm>
            <a:off x="612648" y="4764024"/>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raw 95% CI  </a:t>
            </a:r>
            <a:pPr indent="0" marL="0">
              <a:buNone/>
            </a:pPr>
            <a:r>
              <a:rPr lang="en-US" sz="1100" b="1" dirty="0">
                <a:solidFill>
                  <a:srgbClr val="B23327"/>
                </a:solidFill>
                <a:latin typeface="Calibri" pitchFamily="34" charset="0"/>
                <a:ea typeface="Calibri" pitchFamily="34" charset="-122"/>
                <a:cs typeface="Calibri" pitchFamily="34" charset="-120"/>
              </a:rPr>
              <a:t>[−4.88, −2.81]</a:t>
            </a:r>
            <a:endParaRPr lang="en-US" sz="1100" dirty="0"/>
          </a:p>
        </p:txBody>
      </p:sp>
      <p:sp>
        <p:nvSpPr>
          <p:cNvPr id="12" name="Shape 9"/>
          <p:cNvSpPr/>
          <p:nvPr/>
        </p:nvSpPr>
        <p:spPr>
          <a:xfrm>
            <a:off x="502920" y="5276088"/>
            <a:ext cx="3246120" cy="402336"/>
          </a:xfrm>
          <a:prstGeom prst="roundRect">
            <a:avLst>
              <a:gd name="adj" fmla="val 13636"/>
            </a:avLst>
          </a:prstGeom>
          <a:solidFill>
            <a:srgbClr val="F4F5F3"/>
          </a:solidFill>
          <a:ln w="9525">
            <a:solidFill>
              <a:srgbClr val="DDE0DC"/>
            </a:solidFill>
            <a:prstDash val="solid"/>
          </a:ln>
        </p:spPr>
      </p:sp>
      <p:sp>
        <p:nvSpPr>
          <p:cNvPr id="13" name="Text 10"/>
          <p:cNvSpPr/>
          <p:nvPr/>
        </p:nvSpPr>
        <p:spPr>
          <a:xfrm>
            <a:off x="612648" y="5276088"/>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overlap  </a:t>
            </a:r>
            <a:pPr indent="0" marL="0">
              <a:buNone/>
            </a:pPr>
            <a:r>
              <a:rPr lang="en-US" sz="1100" b="1" dirty="0">
                <a:solidFill>
                  <a:srgbClr val="2C6E9E"/>
                </a:solidFill>
                <a:latin typeface="Calibri" pitchFamily="34" charset="0"/>
                <a:ea typeface="Calibri" pitchFamily="34" charset="-122"/>
                <a:cs typeface="Calibri" pitchFamily="34" charset="-120"/>
              </a:rPr>
              <a:t>none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lIns="0" tIns="0" rIns="0" bIns="0" rtlCol="0" anchor="ctr"/>
          <a:lstStyle/>
          <a:p>
            <a:pPr indent="0" marL="0">
              <a:buNone/>
            </a:pPr>
            <a:r>
              <a:rPr lang="en-US" sz="1100" spc="200" kern="0" dirty="0">
                <a:solidFill>
                  <a:srgbClr val="B23327"/>
                </a:solidFill>
                <a:latin typeface="Courier New" pitchFamily="34" charset="0"/>
                <a:ea typeface="Courier New" pitchFamily="34" charset="-122"/>
                <a:cs typeface="Courier New" pitchFamily="34" charset="-120"/>
              </a:rPr>
              <a:t>07 · RESURFACED — JULY SLIDE 16, NEVER PRESENTED</a:t>
            </a:r>
            <a:endParaRPr lang="en-US" sz="1100" dirty="0"/>
          </a:p>
        </p:txBody>
      </p:sp>
      <p:sp>
        <p:nvSpPr>
          <p:cNvPr id="3" name="Text 1"/>
          <p:cNvSpPr/>
          <p:nvPr/>
        </p:nvSpPr>
        <p:spPr>
          <a:xfrm>
            <a:off x="502920" y="566928"/>
            <a:ext cx="11183112" cy="868680"/>
          </a:xfrm>
          <a:prstGeom prst="rect">
            <a:avLst/>
          </a:prstGeom>
          <a:noFill/>
          <a:ln/>
        </p:spPr>
        <p:txBody>
          <a:bodyPr wrap="square" lIns="0" tIns="0" rIns="0" bIns="0" rtlCol="0" anchor="t"/>
          <a:lstStyle/>
          <a:p>
            <a:pPr indent="0" marL="0">
              <a:buNone/>
            </a:pPr>
            <a:r>
              <a:rPr lang="en-US" sz="2600" b="1" dirty="0">
                <a:solidFill>
                  <a:srgbClr val="1A1D21"/>
                </a:solidFill>
                <a:latin typeface="Calibri" pitchFamily="34" charset="0"/>
                <a:ea typeface="Calibri" pitchFamily="34" charset="-122"/>
                <a:cs typeface="Calibri" pitchFamily="34" charset="-120"/>
              </a:rPr>
              <a:t>The corrected model misses by a flat constant — and Dry was already separating.</a:t>
            </a:r>
            <a:endParaRPr lang="en-US" sz="2600" dirty="0"/>
          </a:p>
        </p:txBody>
      </p:sp>
      <p:sp>
        <p:nvSpPr>
          <p:cNvPr id="4" name="Shape 2"/>
          <p:cNvSpPr/>
          <p:nvPr/>
        </p:nvSpPr>
        <p:spPr>
          <a:xfrm>
            <a:off x="4023360" y="1554480"/>
            <a:ext cx="7680960" cy="4773168"/>
          </a:xfrm>
          <a:prstGeom prst="rect">
            <a:avLst/>
          </a:prstGeom>
          <a:solidFill>
            <a:srgbClr val="FFFFFF"/>
          </a:solidFill>
          <a:ln w="12700">
            <a:solidFill>
              <a:srgbClr val="DDE0DC"/>
            </a:solidFill>
            <a:prstDash val="solid"/>
          </a:ln>
          <a:effectLst>
            <a:outerShdw sx="100000" sy="100000" kx="0" ky="0" algn="bl" rotWithShape="0" blurRad="76200" dist="25400" dir="5400000">
              <a:srgbClr val="000000">
                <a:alpha val="18000"/>
              </a:srgbClr>
            </a:outerShdw>
          </a:effectLst>
        </p:spPr>
      </p:sp>
      <p:pic>
        <p:nvPicPr>
          <p:cNvPr id="5" name="Image 0" descr="/Users/ahmadjalil/github/aethmodular/research/ftir_ec_phase3/output/plots/ftir15/residual_vs_D2_by_season.png">    </p:cNvPr>
          <p:cNvPicPr>
            <a:picLocks noChangeAspect="1"/>
          </p:cNvPicPr>
          <p:nvPr/>
        </p:nvPicPr>
        <p:blipFill>
          <a:blip r:embed="rId1"/>
          <a:srcRect l="0" r="0" t="0" b="0"/>
          <a:stretch/>
        </p:blipFill>
        <p:spPr>
          <a:xfrm>
            <a:off x="4078224" y="1609344"/>
            <a:ext cx="7571232" cy="4370832"/>
          </a:xfrm>
          <a:prstGeom prst="rect">
            <a:avLst/>
          </a:prstGeom>
        </p:spPr>
      </p:pic>
      <p:sp>
        <p:nvSpPr>
          <p:cNvPr id="6" name="Text 3"/>
          <p:cNvSpPr/>
          <p:nvPr/>
        </p:nvSpPr>
        <p:spPr>
          <a:xfrm>
            <a:off x="4114800" y="6016752"/>
            <a:ext cx="7498080" cy="292608"/>
          </a:xfrm>
          <a:prstGeom prst="rect">
            <a:avLst/>
          </a:prstGeom>
          <a:noFill/>
          <a:ln/>
        </p:spPr>
        <p:txBody>
          <a:bodyPr wrap="square" lIns="0" tIns="0" rIns="0" bIns="0" rtlCol="0" anchor="ctr"/>
          <a:lstStyle/>
          <a:p>
            <a:pPr indent="0" marL="0">
              <a:buNone/>
            </a:pPr>
            <a:r>
              <a:rPr lang="en-US" sz="850" dirty="0">
                <a:solidFill>
                  <a:srgbClr val="8A9098"/>
                </a:solidFill>
                <a:latin typeface="Courier New" pitchFamily="34" charset="0"/>
                <a:ea typeface="Courier New" pitchFamily="34" charset="-122"/>
                <a:cs typeface="Courier New" pitchFamily="34" charset="-120"/>
              </a:rPr>
              <a:t>ftir_15 · residual_vs_D2_by_season   </a:t>
            </a:r>
            <a:pPr indent="0" marL="0">
              <a:buNone/>
            </a:pPr>
            <a:r>
              <a:rPr lang="en-US" sz="950" i="1" dirty="0">
                <a:solidFill>
                  <a:srgbClr val="5E6369"/>
                </a:solidFill>
                <a:latin typeface="Calibri" pitchFamily="34" charset="0"/>
                <a:ea typeface="Calibri" pitchFamily="34" charset="-122"/>
                <a:cs typeface="Calibri" pitchFamily="34" charset="-120"/>
              </a:rPr>
              <a:t>Residual vs Mahalanobis D² in score space, colored by Naveed's seasons</a:t>
            </a:r>
            <a:endParaRPr lang="en-US" sz="850" dirty="0"/>
          </a:p>
        </p:txBody>
      </p:sp>
      <p:sp>
        <p:nvSpPr>
          <p:cNvPr id="7" name="Text 4"/>
          <p:cNvSpPr/>
          <p:nvPr/>
        </p:nvSpPr>
        <p:spPr>
          <a:xfrm>
            <a:off x="502920" y="1737360"/>
            <a:ext cx="3291840" cy="3017520"/>
          </a:xfrm>
          <a:prstGeom prst="rect">
            <a:avLst/>
          </a:prstGeom>
          <a:noFill/>
          <a:ln/>
        </p:spPr>
        <p:txBody>
          <a:bodyPr wrap="square" lIns="0" tIns="0" rIns="0" bIns="0" rtlCol="0" anchor="t"/>
          <a:lstStyle/>
          <a:p>
            <a:pPr algn="l" indent="0" marL="0">
              <a:spcAft>
                <a:spcPts val="800"/>
              </a:spcAft>
              <a:buNone/>
            </a:pPr>
            <a:r>
              <a:rPr lang="en-US" sz="1250" dirty="0">
                <a:solidFill>
                  <a:srgbClr val="1A1D21"/>
                </a:solidFill>
                <a:latin typeface="Calibri" pitchFamily="34" charset="0"/>
                <a:ea typeface="Calibri" pitchFamily="34" charset="-122"/>
                <a:cs typeface="Calibri" pitchFamily="34" charset="-120"/>
              </a:rPr>
              <a:t>Raw model: error tracks extrapolation distance and flips sign by season.</a:t>
            </a:r>
            <a:endParaRPr lang="en-US" sz="1250" dirty="0"/>
          </a:p>
          <a:p>
            <a:pPr algn="l" indent="0" marL="0">
              <a:spcAft>
                <a:spcPts val="800"/>
              </a:spcAft>
              <a:buNone/>
            </a:pPr>
            <a:r>
              <a:rPr lang="en-US" sz="1250" b="1" dirty="0">
                <a:solidFill>
                  <a:srgbClr val="1A1D21"/>
                </a:solidFill>
                <a:latin typeface="Calibri" pitchFamily="34" charset="0"/>
                <a:ea typeface="Calibri" pitchFamily="34" charset="-122"/>
                <a:cs typeface="Calibri" pitchFamily="34" charset="-120"/>
              </a:rPr>
              <a:t>Corrected model: D²-independent, a season-stable −2.0 to −2.6 µg/m³ — and in both panels the Dry points sit lowest.</a:t>
            </a:r>
            <a:endParaRPr lang="en-US" sz="1250" dirty="0"/>
          </a:p>
          <a:p>
            <a:pPr algn="l" indent="0" marL="0">
              <a:spcAft>
                <a:spcPts val="800"/>
              </a:spcAft>
              <a:buNone/>
            </a:pPr>
            <a:r>
              <a:rPr lang="en-US" sz="1150" dirty="0">
                <a:solidFill>
                  <a:srgbClr val="5E6369"/>
                </a:solidFill>
                <a:latin typeface="Calibri" pitchFamily="34" charset="0"/>
                <a:ea typeface="Calibri" pitchFamily="34" charset="-122"/>
                <a:cs typeface="Calibri" pitchFamily="34" charset="-120"/>
              </a:rPr>
              <a:t>The season structure slide 15 quantifies was visible here first.</a:t>
            </a:r>
            <a:endParaRPr lang="en-US" sz="1250" dirty="0"/>
          </a:p>
        </p:txBody>
      </p:sp>
      <p:sp>
        <p:nvSpPr>
          <p:cNvPr id="8" name="Shape 5"/>
          <p:cNvSpPr/>
          <p:nvPr/>
        </p:nvSpPr>
        <p:spPr>
          <a:xfrm>
            <a:off x="502920" y="4572000"/>
            <a:ext cx="3246120" cy="402336"/>
          </a:xfrm>
          <a:prstGeom prst="roundRect">
            <a:avLst>
              <a:gd name="adj" fmla="val 13636"/>
            </a:avLst>
          </a:prstGeom>
          <a:solidFill>
            <a:srgbClr val="F4F5F3"/>
          </a:solidFill>
          <a:ln w="9525">
            <a:solidFill>
              <a:srgbClr val="DDE0DC"/>
            </a:solidFill>
            <a:prstDash val="solid"/>
          </a:ln>
        </p:spPr>
      </p:sp>
      <p:sp>
        <p:nvSpPr>
          <p:cNvPr id="9" name="Text 6"/>
          <p:cNvSpPr/>
          <p:nvPr/>
        </p:nvSpPr>
        <p:spPr>
          <a:xfrm>
            <a:off x="612648" y="4572000"/>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raw: resid ~ D²  </a:t>
            </a:r>
            <a:pPr indent="0" marL="0">
              <a:buNone/>
            </a:pPr>
            <a:r>
              <a:rPr lang="en-US" sz="1100" b="1" dirty="0">
                <a:solidFill>
                  <a:srgbClr val="B23327"/>
                </a:solidFill>
                <a:latin typeface="Calibri" pitchFamily="34" charset="0"/>
                <a:ea typeface="Calibri" pitchFamily="34" charset="-122"/>
                <a:cs typeface="Calibri" pitchFamily="34" charset="-120"/>
              </a:rPr>
              <a:t>r = 0.71</a:t>
            </a:r>
            <a:endParaRPr lang="en-US" sz="1100" dirty="0"/>
          </a:p>
        </p:txBody>
      </p:sp>
      <p:sp>
        <p:nvSpPr>
          <p:cNvPr id="10" name="Shape 7"/>
          <p:cNvSpPr/>
          <p:nvPr/>
        </p:nvSpPr>
        <p:spPr>
          <a:xfrm>
            <a:off x="502920" y="5084064"/>
            <a:ext cx="3246120" cy="402336"/>
          </a:xfrm>
          <a:prstGeom prst="roundRect">
            <a:avLst>
              <a:gd name="adj" fmla="val 13636"/>
            </a:avLst>
          </a:prstGeom>
          <a:solidFill>
            <a:srgbClr val="F4F5F3"/>
          </a:solidFill>
          <a:ln w="9525">
            <a:solidFill>
              <a:srgbClr val="DDE0DC"/>
            </a:solidFill>
            <a:prstDash val="solid"/>
          </a:ln>
        </p:spPr>
      </p:sp>
      <p:sp>
        <p:nvSpPr>
          <p:cNvPr id="11" name="Text 8"/>
          <p:cNvSpPr/>
          <p:nvPr/>
        </p:nvSpPr>
        <p:spPr>
          <a:xfrm>
            <a:off x="612648" y="5084064"/>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corrected offset  </a:t>
            </a:r>
            <a:pPr indent="0" marL="0">
              <a:buNone/>
            </a:pPr>
            <a:r>
              <a:rPr lang="en-US" sz="1100" b="1" dirty="0">
                <a:solidFill>
                  <a:srgbClr val="2C6E9E"/>
                </a:solidFill>
                <a:latin typeface="Calibri" pitchFamily="34" charset="0"/>
                <a:ea typeface="Calibri" pitchFamily="34" charset="-122"/>
                <a:cs typeface="Calibri" pitchFamily="34" charset="-120"/>
              </a:rPr>
              <a:t>−2.0 … −2.6</a:t>
            </a:r>
            <a:endParaRPr lang="en-US" sz="1100" dirty="0"/>
          </a:p>
        </p:txBody>
      </p:sp>
      <p:sp>
        <p:nvSpPr>
          <p:cNvPr id="12" name="Shape 9"/>
          <p:cNvSpPr/>
          <p:nvPr/>
        </p:nvSpPr>
        <p:spPr>
          <a:xfrm>
            <a:off x="502920" y="5596128"/>
            <a:ext cx="3246120" cy="402336"/>
          </a:xfrm>
          <a:prstGeom prst="roundRect">
            <a:avLst>
              <a:gd name="adj" fmla="val 13636"/>
            </a:avLst>
          </a:prstGeom>
          <a:solidFill>
            <a:srgbClr val="F4F5F3"/>
          </a:solidFill>
          <a:ln w="9525">
            <a:solidFill>
              <a:srgbClr val="DDE0DC"/>
            </a:solidFill>
            <a:prstDash val="solid"/>
          </a:ln>
        </p:spPr>
      </p:sp>
      <p:sp>
        <p:nvSpPr>
          <p:cNvPr id="13" name="Text 10"/>
          <p:cNvSpPr/>
          <p:nvPr/>
        </p:nvSpPr>
        <p:spPr>
          <a:xfrm>
            <a:off x="612648" y="5596128"/>
            <a:ext cx="306324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Dry  </a:t>
            </a:r>
            <a:pPr indent="0" marL="0">
              <a:buNone/>
            </a:pPr>
            <a:r>
              <a:rPr lang="en-US" sz="1100" b="1" dirty="0">
                <a:solidFill>
                  <a:srgbClr val="B0792B"/>
                </a:solidFill>
                <a:latin typeface="Calibri" pitchFamily="34" charset="0"/>
                <a:ea typeface="Calibri" pitchFamily="34" charset="-122"/>
                <a:cs typeface="Calibri" pitchFamily="34" charset="-120"/>
              </a:rPr>
              <a:t>lowest in both</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lIns="0" tIns="0" rIns="0" bIns="0" rtlCol="0" anchor="ctr"/>
          <a:lstStyle/>
          <a:p>
            <a:pPr indent="0" marL="0">
              <a:buNone/>
            </a:pPr>
            <a:r>
              <a:rPr lang="en-US" sz="1100" spc="200" kern="0" dirty="0">
                <a:solidFill>
                  <a:srgbClr val="B23327"/>
                </a:solidFill>
                <a:latin typeface="Courier New" pitchFamily="34" charset="0"/>
                <a:ea typeface="Courier New" pitchFamily="34" charset="-122"/>
                <a:cs typeface="Courier New" pitchFamily="34" charset="-120"/>
              </a:rPr>
              <a:t>08 · RESULT — THE INTERCEPT, RESTATED (FTIR_25, COMMITTED)</a:t>
            </a:r>
            <a:endParaRPr lang="en-US" sz="1100" dirty="0"/>
          </a:p>
        </p:txBody>
      </p:sp>
      <p:sp>
        <p:nvSpPr>
          <p:cNvPr id="3" name="Text 1"/>
          <p:cNvSpPr/>
          <p:nvPr/>
        </p:nvSpPr>
        <p:spPr>
          <a:xfrm>
            <a:off x="502920" y="566928"/>
            <a:ext cx="11183112" cy="868680"/>
          </a:xfrm>
          <a:prstGeom prst="rect">
            <a:avLst/>
          </a:prstGeom>
          <a:noFill/>
          <a:ln/>
        </p:spPr>
        <p:txBody>
          <a:bodyPr wrap="square" lIns="0" tIns="0" rIns="0" bIns="0" rtlCol="0" anchor="t"/>
          <a:lstStyle/>
          <a:p>
            <a:pPr indent="0" marL="0">
              <a:buNone/>
            </a:pPr>
            <a:r>
              <a:rPr lang="en-US" sz="2600" b="1" dirty="0">
                <a:solidFill>
                  <a:srgbClr val="1A1D21"/>
                </a:solidFill>
                <a:latin typeface="Calibri" pitchFamily="34" charset="0"/>
                <a:ea typeface="Calibri" pitchFamily="34" charset="-122"/>
                <a:cs typeface="Calibri" pitchFamily="34" charset="-120"/>
              </a:rPr>
              <a:t>~21 Mm⁻¹ of absorption with no FTIR-EC behind it — and no modelling choice moves it.</a:t>
            </a:r>
            <a:endParaRPr lang="en-US" sz="2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6675120" cy="914400"/>
        </p:xfrm>
        <a:graphic>
          <a:graphicData uri="http://schemas.openxmlformats.org/drawingml/2006/table">
            <a:tbl>
              <a:tblPr/>
              <a:tblGrid>
                <a:gridCol w="3291840"/>
                <a:gridCol w="1097280"/>
                <a:gridCol w="1097280"/>
                <a:gridCol w="1188720"/>
              </a:tblGrid>
              <a:tr h="384048">
                <a:tc>
                  <a:txBody>
                    <a:bodyPr/>
                    <a:lstStyle/>
                    <a:p>
                      <a:pPr algn="l" indent="0" marL="0">
                        <a:buNone/>
                      </a:pPr>
                      <a:r>
                        <a:rPr lang="en-US" sz="1150" b="1" dirty="0">
                          <a:solidFill>
                            <a:srgbClr val="1A1D21"/>
                          </a:solidFill>
                          <a:latin typeface="Calibri" pitchFamily="34" charset="0"/>
                          <a:ea typeface="Calibri" pitchFamily="34" charset="-122"/>
                          <a:cs typeface="Calibri" pitchFamily="34" charset="-120"/>
                        </a:rPr>
                        <a:t>Calibration setup</a:t>
                      </a:r>
                      <a:endParaRPr lang="en-US" sz="1150" dirty="0">
                        <a:latin typeface="Calibri" charset="0"/>
                        <a:ea typeface="Calibri" charset="0"/>
                        <a:cs typeface="Calibri" charset="0"/>
                      </a:endParaRPr>
                    </a:p>
                  </a:txBody>
                  <a:tcPr marL="91440" marR="91440" marT="45720" marB="45720" anchor="ctr">
                    <a:lnL w="9525" cap="flat" cmpd="sng" algn="ctr">
                      <a:solidFill>
                        <a:srgbClr val="DDE0DC"/>
                      </a:solidFill>
                      <a:prstDash val="solid"/>
                      <a:round/>
                      <a:headEnd type="none" w="med" len="med"/>
                      <a:tailEnd type="none" w="med" len="med"/>
                    </a:lnL>
                    <a:lnR w="9525" cap="flat" cmpd="sng" algn="ctr">
                      <a:solidFill>
                        <a:srgbClr val="DDE0DC"/>
                      </a:solidFill>
                      <a:prstDash val="solid"/>
                      <a:round/>
                      <a:headEnd type="none" w="med" len="med"/>
                      <a:tailEnd type="none" w="med" len="med"/>
                    </a:lnR>
                    <a:lnT w="9525" cap="flat" cmpd="sng" algn="ctr">
                      <a:solidFill>
                        <a:srgbClr val="DDE0DC"/>
                      </a:solidFill>
                      <a:prstDash val="solid"/>
                      <a:round/>
                      <a:headEnd type="none" w="med" len="med"/>
                      <a:tailEnd type="none" w="med" len="med"/>
                    </a:lnT>
                    <a:lnB w="9525" cap="flat" cmpd="sng" algn="ctr">
                      <a:solidFill>
                        <a:srgbClr val="DDE0DC"/>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A1D21"/>
                          </a:solidFill>
                          <a:latin typeface="Calibri" pitchFamily="34" charset="0"/>
                          <a:ea typeface="Calibri" pitchFamily="34" charset="-122"/>
                          <a:cs typeface="Calibri" pitchFamily="34" charset="-120"/>
                        </a:rPr>
                        <a:t>intercept</a:t>
                      </a:r>
                      <a:endParaRPr lang="en-US" sz="1150" dirty="0">
                        <a:latin typeface="Calibri" charset="0"/>
                        <a:ea typeface="Calibri" charset="0"/>
                        <a:cs typeface="Calibri" charset="0"/>
                      </a:endParaRPr>
                    </a:p>
                  </a:txBody>
                  <a:tcPr marL="91440" marR="91440" marT="45720" marB="45720" anchor="ctr">
                    <a:lnL w="9525" cap="flat" cmpd="sng" algn="ctr">
                      <a:solidFill>
                        <a:srgbClr val="DDE0DC"/>
                      </a:solidFill>
                      <a:prstDash val="solid"/>
                      <a:round/>
                      <a:headEnd type="none" w="med" len="med"/>
                      <a:tailEnd type="none" w="med" len="med"/>
                    </a:lnL>
                    <a:lnR w="9525" cap="flat" cmpd="sng" algn="ctr">
                      <a:solidFill>
                        <a:srgbClr val="DDE0DC"/>
                      </a:solidFill>
                      <a:prstDash val="solid"/>
                      <a:round/>
                      <a:headEnd type="none" w="med" len="med"/>
                      <a:tailEnd type="none" w="med" len="med"/>
                    </a:lnR>
                    <a:lnT w="9525" cap="flat" cmpd="sng" algn="ctr">
                      <a:solidFill>
                        <a:srgbClr val="DDE0DC"/>
                      </a:solidFill>
                      <a:prstDash val="solid"/>
                      <a:round/>
                      <a:headEnd type="none" w="med" len="med"/>
                      <a:tailEnd type="none" w="med" len="med"/>
                    </a:lnT>
                    <a:lnB w="9525" cap="flat" cmpd="sng" algn="ctr">
                      <a:solidFill>
                        <a:srgbClr val="DDE0DC"/>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A1D21"/>
                          </a:solidFill>
                          <a:latin typeface="Calibri" pitchFamily="34" charset="0"/>
                          <a:ea typeface="Calibri" pitchFamily="34" charset="-122"/>
                          <a:cs typeface="Calibri" pitchFamily="34" charset="-120"/>
                        </a:rPr>
                        <a:t>slope @10</a:t>
                      </a:r>
                      <a:endParaRPr lang="en-US" sz="1150" dirty="0">
                        <a:latin typeface="Calibri" charset="0"/>
                        <a:ea typeface="Calibri" charset="0"/>
                        <a:cs typeface="Calibri" charset="0"/>
                      </a:endParaRPr>
                    </a:p>
                  </a:txBody>
                  <a:tcPr marL="91440" marR="91440" marT="45720" marB="45720" anchor="ctr">
                    <a:lnL w="9525" cap="flat" cmpd="sng" algn="ctr">
                      <a:solidFill>
                        <a:srgbClr val="DDE0DC"/>
                      </a:solidFill>
                      <a:prstDash val="solid"/>
                      <a:round/>
                      <a:headEnd type="none" w="med" len="med"/>
                      <a:tailEnd type="none" w="med" len="med"/>
                    </a:lnL>
                    <a:lnR w="9525" cap="flat" cmpd="sng" algn="ctr">
                      <a:solidFill>
                        <a:srgbClr val="DDE0DC"/>
                      </a:solidFill>
                      <a:prstDash val="solid"/>
                      <a:round/>
                      <a:headEnd type="none" w="med" len="med"/>
                      <a:tailEnd type="none" w="med" len="med"/>
                    </a:lnR>
                    <a:lnT w="9525" cap="flat" cmpd="sng" algn="ctr">
                      <a:solidFill>
                        <a:srgbClr val="DDE0DC"/>
                      </a:solidFill>
                      <a:prstDash val="solid"/>
                      <a:round/>
                      <a:headEnd type="none" w="med" len="med"/>
                      <a:tailEnd type="none" w="med" len="med"/>
                    </a:lnT>
                    <a:lnB w="9525" cap="flat" cmpd="sng" algn="ctr">
                      <a:solidFill>
                        <a:srgbClr val="DDE0DC"/>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A1D21"/>
                          </a:solidFill>
                          <a:latin typeface="Calibri" pitchFamily="34" charset="0"/>
                          <a:ea typeface="Calibri" pitchFamily="34" charset="-122"/>
                          <a:cs typeface="Calibri" pitchFamily="34" charset="-120"/>
                        </a:rPr>
                        <a:t>C (Mm⁻¹)</a:t>
                      </a:r>
                      <a:endParaRPr lang="en-US" sz="1150" dirty="0">
                        <a:latin typeface="Calibri" charset="0"/>
                        <a:ea typeface="Calibri" charset="0"/>
                        <a:cs typeface="Calibri" charset="0"/>
                      </a:endParaRPr>
                    </a:p>
                  </a:txBody>
                  <a:tcPr marL="91440" marR="91440" marT="45720" marB="45720" anchor="ctr">
                    <a:lnL w="9525" cap="flat" cmpd="sng" algn="ctr">
                      <a:solidFill>
                        <a:srgbClr val="DDE0DC"/>
                      </a:solidFill>
                      <a:prstDash val="solid"/>
                      <a:round/>
                      <a:headEnd type="none" w="med" len="med"/>
                      <a:tailEnd type="none" w="med" len="med"/>
                    </a:lnL>
                    <a:lnR w="9525" cap="flat" cmpd="sng" algn="ctr">
                      <a:solidFill>
                        <a:srgbClr val="DDE0DC"/>
                      </a:solidFill>
                      <a:prstDash val="solid"/>
                      <a:round/>
                      <a:headEnd type="none" w="med" len="med"/>
                      <a:tailEnd type="none" w="med" len="med"/>
                    </a:lnR>
                    <a:lnT w="9525" cap="flat" cmpd="sng" algn="ctr">
                      <a:solidFill>
                        <a:srgbClr val="DDE0DC"/>
                      </a:solidFill>
                      <a:prstDash val="solid"/>
                      <a:round/>
                      <a:headEnd type="none" w="med" len="med"/>
                      <a:tailEnd type="none" w="med" len="med"/>
                    </a:lnT>
                    <a:lnB w="9525" cap="flat" cmpd="sng" algn="ctr">
                      <a:solidFill>
                        <a:srgbClr val="DDE0DC"/>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1A1D21"/>
                          </a:solidFill>
                          <a:latin typeface="Calibri" pitchFamily="34" charset="0"/>
                          <a:ea typeface="Calibri" pitchFamily="34" charset="-122"/>
                          <a:cs typeface="Calibri" pitchFamily="34" charset="-120"/>
                        </a:rPr>
                        <a:t>Whole IMPROVE network (deployed)</a:t>
                      </a:r>
                      <a:endParaRPr lang="en-US" sz="1150" dirty="0">
                        <a:latin typeface="Calibri" charset="0"/>
                        <a:ea typeface="Calibri" charset="0"/>
                        <a:cs typeface="Calibri" charset="0"/>
                      </a:endParaRPr>
                    </a:p>
                  </a:txBody>
                  <a:tcPr marL="91440" marR="91440" marT="45720" marB="45720" anchor="ctr">
                    <a:lnL w="9525" cap="flat" cmpd="sng" algn="ctr">
                      <a:solidFill>
                        <a:srgbClr val="DDE0DC"/>
                      </a:solidFill>
                      <a:prstDash val="solid"/>
                      <a:round/>
                      <a:headEnd type="none" w="med" len="med"/>
                      <a:tailEnd type="none" w="med" len="med"/>
                    </a:lnL>
                    <a:lnR w="9525" cap="flat" cmpd="sng" algn="ctr">
                      <a:solidFill>
                        <a:srgbClr val="DDE0DC"/>
                      </a:solidFill>
                      <a:prstDash val="solid"/>
                      <a:round/>
                      <a:headEnd type="none" w="med" len="med"/>
                      <a:tailEnd type="none" w="med" len="med"/>
                    </a:lnR>
                    <a:lnT w="9525" cap="flat" cmpd="sng" algn="ctr">
                      <a:solidFill>
                        <a:srgbClr val="DDE0DC"/>
                      </a:solidFill>
                      <a:prstDash val="solid"/>
                      <a:round/>
                      <a:headEnd type="none" w="med" len="med"/>
                      <a:tailEnd type="none" w="med" len="med"/>
                    </a:lnT>
                    <a:lnB w="9525" cap="flat" cmpd="sng" algn="ctr">
                      <a:solidFill>
                        <a:srgbClr val="DDE0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D21"/>
                          </a:solidFill>
                          <a:latin typeface="Calibri" pitchFamily="34" charset="0"/>
                          <a:ea typeface="Calibri" pitchFamily="34" charset="-122"/>
                          <a:cs typeface="Calibri" pitchFamily="34" charset="-120"/>
                        </a:rPr>
                        <a:t>−4.17</a:t>
                      </a:r>
                      <a:endParaRPr lang="en-US" sz="1150" dirty="0">
                        <a:latin typeface="Calibri" charset="0"/>
                        <a:ea typeface="Calibri" charset="0"/>
                        <a:cs typeface="Calibri" charset="0"/>
                      </a:endParaRPr>
                    </a:p>
                  </a:txBody>
                  <a:tcPr marL="91440" marR="91440" marT="45720" marB="45720" anchor="ctr">
                    <a:lnL w="9525" cap="flat" cmpd="sng" algn="ctr">
                      <a:solidFill>
                        <a:srgbClr val="DDE0DC"/>
                      </a:solidFill>
                      <a:prstDash val="solid"/>
                      <a:round/>
                      <a:headEnd type="none" w="med" len="med"/>
                      <a:tailEnd type="none" w="med" len="med"/>
                    </a:lnL>
                    <a:lnR w="9525" cap="flat" cmpd="sng" algn="ctr">
                      <a:solidFill>
                        <a:srgbClr val="DDE0DC"/>
                      </a:solidFill>
                      <a:prstDash val="solid"/>
                      <a:round/>
                      <a:headEnd type="none" w="med" len="med"/>
                      <a:tailEnd type="none" w="med" len="med"/>
                    </a:lnR>
                    <a:lnT w="9525" cap="flat" cmpd="sng" algn="ctr">
                      <a:solidFill>
                        <a:srgbClr val="DDE0DC"/>
                      </a:solidFill>
                      <a:prstDash val="solid"/>
                      <a:round/>
                      <a:headEnd type="none" w="med" len="med"/>
                      <a:tailEnd type="none" w="med" len="med"/>
                    </a:lnT>
                    <a:lnB w="9525" cap="flat" cmpd="sng" algn="ctr">
                      <a:solidFill>
                        <a:srgbClr val="DDE0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D21"/>
                          </a:solidFill>
                          <a:latin typeface="Calibri" pitchFamily="34" charset="0"/>
                          <a:ea typeface="Calibri" pitchFamily="34" charset="-122"/>
                          <a:cs typeface="Calibri" pitchFamily="34" charset="-120"/>
                        </a:rPr>
                        <a:t>1.90</a:t>
                      </a:r>
                      <a:endParaRPr lang="en-US" sz="1150" dirty="0">
                        <a:latin typeface="Calibri" charset="0"/>
                        <a:ea typeface="Calibri" charset="0"/>
                        <a:cs typeface="Calibri" charset="0"/>
                      </a:endParaRPr>
                    </a:p>
                  </a:txBody>
                  <a:tcPr marL="91440" marR="91440" marT="45720" marB="45720" anchor="ctr">
                    <a:lnL w="9525" cap="flat" cmpd="sng" algn="ctr">
                      <a:solidFill>
                        <a:srgbClr val="DDE0DC"/>
                      </a:solidFill>
                      <a:prstDash val="solid"/>
                      <a:round/>
                      <a:headEnd type="none" w="med" len="med"/>
                      <a:tailEnd type="none" w="med" len="med"/>
                    </a:lnL>
                    <a:lnR w="9525" cap="flat" cmpd="sng" algn="ctr">
                      <a:solidFill>
                        <a:srgbClr val="DDE0DC"/>
                      </a:solidFill>
                      <a:prstDash val="solid"/>
                      <a:round/>
                      <a:headEnd type="none" w="med" len="med"/>
                      <a:tailEnd type="none" w="med" len="med"/>
                    </a:lnR>
                    <a:lnT w="9525" cap="flat" cmpd="sng" algn="ctr">
                      <a:solidFill>
                        <a:srgbClr val="DDE0DC"/>
                      </a:solidFill>
                      <a:prstDash val="solid"/>
                      <a:round/>
                      <a:headEnd type="none" w="med" len="med"/>
                      <a:tailEnd type="none" w="med" len="med"/>
                    </a:lnT>
                    <a:lnB w="9525" cap="flat" cmpd="sng" algn="ctr">
                      <a:solidFill>
                        <a:srgbClr val="DDE0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D21"/>
                          </a:solidFill>
                          <a:latin typeface="Calibri" pitchFamily="34" charset="0"/>
                          <a:ea typeface="Calibri" pitchFamily="34" charset="-122"/>
                          <a:cs typeface="Calibri" pitchFamily="34" charset="-120"/>
                        </a:rPr>
                        <a:t>21.9</a:t>
                      </a:r>
                      <a:endParaRPr lang="en-US" sz="1150" dirty="0">
                        <a:latin typeface="Calibri" charset="0"/>
                        <a:ea typeface="Calibri" charset="0"/>
                        <a:cs typeface="Calibri" charset="0"/>
                      </a:endParaRPr>
                    </a:p>
                  </a:txBody>
                  <a:tcPr marL="91440" marR="91440" marT="45720" marB="45720" anchor="ctr">
                    <a:lnL w="9525" cap="flat" cmpd="sng" algn="ctr">
                      <a:solidFill>
                        <a:srgbClr val="DDE0DC"/>
                      </a:solidFill>
                      <a:prstDash val="solid"/>
                      <a:round/>
                      <a:headEnd type="none" w="med" len="med"/>
                      <a:tailEnd type="none" w="med" len="med"/>
                    </a:lnL>
                    <a:lnR w="9525" cap="flat" cmpd="sng" algn="ctr">
                      <a:solidFill>
                        <a:srgbClr val="DDE0DC"/>
                      </a:solidFill>
                      <a:prstDash val="solid"/>
                      <a:round/>
                      <a:headEnd type="none" w="med" len="med"/>
                      <a:tailEnd type="none" w="med" len="med"/>
                    </a:lnR>
                    <a:lnT w="9525" cap="flat" cmpd="sng" algn="ctr">
                      <a:solidFill>
                        <a:srgbClr val="DDE0DC"/>
                      </a:solidFill>
                      <a:prstDash val="solid"/>
                      <a:round/>
                      <a:headEnd type="none" w="med" len="med"/>
                      <a:tailEnd type="none" w="med" len="med"/>
                    </a:lnT>
                    <a:lnB w="9525" cap="flat" cmpd="sng" algn="ctr">
                      <a:solidFill>
                        <a:srgbClr val="DDE0DC"/>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1A1D21"/>
                          </a:solidFill>
                          <a:latin typeface="Calibri" pitchFamily="34" charset="0"/>
                          <a:ea typeface="Calibri" pitchFamily="34" charset="-122"/>
                          <a:cs typeface="Calibri" pitchFamily="34" charset="-120"/>
                        </a:rPr>
                        <a:t>Biomass-smoke (906)</a:t>
                      </a:r>
                      <a:endParaRPr lang="en-US" sz="1150" dirty="0">
                        <a:latin typeface="Calibri" charset="0"/>
                        <a:ea typeface="Calibri" charset="0"/>
                        <a:cs typeface="Calibri" charset="0"/>
                      </a:endParaRPr>
                    </a:p>
                  </a:txBody>
                  <a:tcPr marL="91440" marR="91440" marT="45720" marB="45720" anchor="ctr">
                    <a:lnL w="9525" cap="flat" cmpd="sng" algn="ctr">
                      <a:solidFill>
                        <a:srgbClr val="DDE0DC"/>
                      </a:solidFill>
                      <a:prstDash val="solid"/>
                      <a:round/>
                      <a:headEnd type="none" w="med" len="med"/>
                      <a:tailEnd type="none" w="med" len="med"/>
                    </a:lnL>
                    <a:lnR w="9525" cap="flat" cmpd="sng" algn="ctr">
                      <a:solidFill>
                        <a:srgbClr val="DDE0DC"/>
                      </a:solidFill>
                      <a:prstDash val="solid"/>
                      <a:round/>
                      <a:headEnd type="none" w="med" len="med"/>
                      <a:tailEnd type="none" w="med" len="med"/>
                    </a:lnR>
                    <a:lnT w="9525" cap="flat" cmpd="sng" algn="ctr">
                      <a:solidFill>
                        <a:srgbClr val="DDE0DC"/>
                      </a:solidFill>
                      <a:prstDash val="solid"/>
                      <a:round/>
                      <a:headEnd type="none" w="med" len="med"/>
                      <a:tailEnd type="none" w="med" len="med"/>
                    </a:lnT>
                    <a:lnB w="9525" cap="flat" cmpd="sng" algn="ctr">
                      <a:solidFill>
                        <a:srgbClr val="DDE0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D21"/>
                          </a:solidFill>
                          <a:latin typeface="Calibri" pitchFamily="34" charset="0"/>
                          <a:ea typeface="Calibri" pitchFamily="34" charset="-122"/>
                          <a:cs typeface="Calibri" pitchFamily="34" charset="-120"/>
                        </a:rPr>
                        <a:t>−6.91</a:t>
                      </a:r>
                      <a:endParaRPr lang="en-US" sz="1150" dirty="0">
                        <a:latin typeface="Calibri" charset="0"/>
                        <a:ea typeface="Calibri" charset="0"/>
                        <a:cs typeface="Calibri" charset="0"/>
                      </a:endParaRPr>
                    </a:p>
                  </a:txBody>
                  <a:tcPr marL="91440" marR="91440" marT="45720" marB="45720" anchor="ctr">
                    <a:lnL w="9525" cap="flat" cmpd="sng" algn="ctr">
                      <a:solidFill>
                        <a:srgbClr val="DDE0DC"/>
                      </a:solidFill>
                      <a:prstDash val="solid"/>
                      <a:round/>
                      <a:headEnd type="none" w="med" len="med"/>
                      <a:tailEnd type="none" w="med" len="med"/>
                    </a:lnL>
                    <a:lnR w="9525" cap="flat" cmpd="sng" algn="ctr">
                      <a:solidFill>
                        <a:srgbClr val="DDE0DC"/>
                      </a:solidFill>
                      <a:prstDash val="solid"/>
                      <a:round/>
                      <a:headEnd type="none" w="med" len="med"/>
                      <a:tailEnd type="none" w="med" len="med"/>
                    </a:lnR>
                    <a:lnT w="9525" cap="flat" cmpd="sng" algn="ctr">
                      <a:solidFill>
                        <a:srgbClr val="DDE0DC"/>
                      </a:solidFill>
                      <a:prstDash val="solid"/>
                      <a:round/>
                      <a:headEnd type="none" w="med" len="med"/>
                      <a:tailEnd type="none" w="med" len="med"/>
                    </a:lnT>
                    <a:lnB w="9525" cap="flat" cmpd="sng" algn="ctr">
                      <a:solidFill>
                        <a:srgbClr val="DDE0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D21"/>
                          </a:solidFill>
                          <a:latin typeface="Calibri" pitchFamily="34" charset="0"/>
                          <a:ea typeface="Calibri" pitchFamily="34" charset="-122"/>
                          <a:cs typeface="Calibri" pitchFamily="34" charset="-120"/>
                        </a:rPr>
                        <a:t>2.65</a:t>
                      </a:r>
                      <a:endParaRPr lang="en-US" sz="1150" dirty="0">
                        <a:latin typeface="Calibri" charset="0"/>
                        <a:ea typeface="Calibri" charset="0"/>
                        <a:cs typeface="Calibri" charset="0"/>
                      </a:endParaRPr>
                    </a:p>
                  </a:txBody>
                  <a:tcPr marL="91440" marR="91440" marT="45720" marB="45720" anchor="ctr">
                    <a:lnL w="9525" cap="flat" cmpd="sng" algn="ctr">
                      <a:solidFill>
                        <a:srgbClr val="DDE0DC"/>
                      </a:solidFill>
                      <a:prstDash val="solid"/>
                      <a:round/>
                      <a:headEnd type="none" w="med" len="med"/>
                      <a:tailEnd type="none" w="med" len="med"/>
                    </a:lnL>
                    <a:lnR w="9525" cap="flat" cmpd="sng" algn="ctr">
                      <a:solidFill>
                        <a:srgbClr val="DDE0DC"/>
                      </a:solidFill>
                      <a:prstDash val="solid"/>
                      <a:round/>
                      <a:headEnd type="none" w="med" len="med"/>
                      <a:tailEnd type="none" w="med" len="med"/>
                    </a:lnR>
                    <a:lnT w="9525" cap="flat" cmpd="sng" algn="ctr">
                      <a:solidFill>
                        <a:srgbClr val="DDE0DC"/>
                      </a:solidFill>
                      <a:prstDash val="solid"/>
                      <a:round/>
                      <a:headEnd type="none" w="med" len="med"/>
                      <a:tailEnd type="none" w="med" len="med"/>
                    </a:lnT>
                    <a:lnB w="9525" cap="flat" cmpd="sng" algn="ctr">
                      <a:solidFill>
                        <a:srgbClr val="DDE0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D21"/>
                          </a:solidFill>
                          <a:latin typeface="Calibri" pitchFamily="34" charset="0"/>
                          <a:ea typeface="Calibri" pitchFamily="34" charset="-122"/>
                          <a:cs typeface="Calibri" pitchFamily="34" charset="-120"/>
                        </a:rPr>
                        <a:t>26.1</a:t>
                      </a:r>
                      <a:endParaRPr lang="en-US" sz="1150" dirty="0">
                        <a:latin typeface="Calibri" charset="0"/>
                        <a:ea typeface="Calibri" charset="0"/>
                        <a:cs typeface="Calibri" charset="0"/>
                      </a:endParaRPr>
                    </a:p>
                  </a:txBody>
                  <a:tcPr marL="91440" marR="91440" marT="45720" marB="45720" anchor="ctr">
                    <a:lnL w="9525" cap="flat" cmpd="sng" algn="ctr">
                      <a:solidFill>
                        <a:srgbClr val="DDE0DC"/>
                      </a:solidFill>
                      <a:prstDash val="solid"/>
                      <a:round/>
                      <a:headEnd type="none" w="med" len="med"/>
                      <a:tailEnd type="none" w="med" len="med"/>
                    </a:lnL>
                    <a:lnR w="9525" cap="flat" cmpd="sng" algn="ctr">
                      <a:solidFill>
                        <a:srgbClr val="DDE0DC"/>
                      </a:solidFill>
                      <a:prstDash val="solid"/>
                      <a:round/>
                      <a:headEnd type="none" w="med" len="med"/>
                      <a:tailEnd type="none" w="med" len="med"/>
                    </a:lnR>
                    <a:lnT w="9525" cap="flat" cmpd="sng" algn="ctr">
                      <a:solidFill>
                        <a:srgbClr val="DDE0DC"/>
                      </a:solidFill>
                      <a:prstDash val="solid"/>
                      <a:round/>
                      <a:headEnd type="none" w="med" len="med"/>
                      <a:tailEnd type="none" w="med" len="med"/>
                    </a:lnT>
                    <a:lnB w="9525" cap="flat" cmpd="sng" algn="ctr">
                      <a:solidFill>
                        <a:srgbClr val="DDE0DC"/>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1A1D21"/>
                          </a:solidFill>
                          <a:latin typeface="Calibri" pitchFamily="34" charset="0"/>
                          <a:ea typeface="Calibri" pitchFamily="34" charset="-122"/>
                          <a:cs typeface="Calibri" pitchFamily="34" charset="-120"/>
                        </a:rPr>
                        <a:t>Ethiopia-shaped smoke (300)</a:t>
                      </a:r>
                      <a:endParaRPr lang="en-US" sz="1150" dirty="0">
                        <a:latin typeface="Calibri" charset="0"/>
                        <a:ea typeface="Calibri" charset="0"/>
                        <a:cs typeface="Calibri" charset="0"/>
                      </a:endParaRPr>
                    </a:p>
                  </a:txBody>
                  <a:tcPr marL="91440" marR="91440" marT="45720" marB="45720" anchor="ctr">
                    <a:lnL w="9525" cap="flat" cmpd="sng" algn="ctr">
                      <a:solidFill>
                        <a:srgbClr val="DDE0DC"/>
                      </a:solidFill>
                      <a:prstDash val="solid"/>
                      <a:round/>
                      <a:headEnd type="none" w="med" len="med"/>
                      <a:tailEnd type="none" w="med" len="med"/>
                    </a:lnL>
                    <a:lnR w="9525" cap="flat" cmpd="sng" algn="ctr">
                      <a:solidFill>
                        <a:srgbClr val="DDE0DC"/>
                      </a:solidFill>
                      <a:prstDash val="solid"/>
                      <a:round/>
                      <a:headEnd type="none" w="med" len="med"/>
                      <a:tailEnd type="none" w="med" len="med"/>
                    </a:lnR>
                    <a:lnT w="9525" cap="flat" cmpd="sng" algn="ctr">
                      <a:solidFill>
                        <a:srgbClr val="DDE0DC"/>
                      </a:solidFill>
                      <a:prstDash val="solid"/>
                      <a:round/>
                      <a:headEnd type="none" w="med" len="med"/>
                      <a:tailEnd type="none" w="med" len="med"/>
                    </a:lnT>
                    <a:lnB w="9525" cap="flat" cmpd="sng" algn="ctr">
                      <a:solidFill>
                        <a:srgbClr val="DDE0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D21"/>
                          </a:solidFill>
                          <a:latin typeface="Calibri" pitchFamily="34" charset="0"/>
                          <a:ea typeface="Calibri" pitchFamily="34" charset="-122"/>
                          <a:cs typeface="Calibri" pitchFamily="34" charset="-120"/>
                        </a:rPr>
                        <a:t>−3.69</a:t>
                      </a:r>
                      <a:endParaRPr lang="en-US" sz="1150" dirty="0">
                        <a:latin typeface="Calibri" charset="0"/>
                        <a:ea typeface="Calibri" charset="0"/>
                        <a:cs typeface="Calibri" charset="0"/>
                      </a:endParaRPr>
                    </a:p>
                  </a:txBody>
                  <a:tcPr marL="91440" marR="91440" marT="45720" marB="45720" anchor="ctr">
                    <a:lnL w="9525" cap="flat" cmpd="sng" algn="ctr">
                      <a:solidFill>
                        <a:srgbClr val="DDE0DC"/>
                      </a:solidFill>
                      <a:prstDash val="solid"/>
                      <a:round/>
                      <a:headEnd type="none" w="med" len="med"/>
                      <a:tailEnd type="none" w="med" len="med"/>
                    </a:lnL>
                    <a:lnR w="9525" cap="flat" cmpd="sng" algn="ctr">
                      <a:solidFill>
                        <a:srgbClr val="DDE0DC"/>
                      </a:solidFill>
                      <a:prstDash val="solid"/>
                      <a:round/>
                      <a:headEnd type="none" w="med" len="med"/>
                      <a:tailEnd type="none" w="med" len="med"/>
                    </a:lnR>
                    <a:lnT w="9525" cap="flat" cmpd="sng" algn="ctr">
                      <a:solidFill>
                        <a:srgbClr val="DDE0DC"/>
                      </a:solidFill>
                      <a:prstDash val="solid"/>
                      <a:round/>
                      <a:headEnd type="none" w="med" len="med"/>
                      <a:tailEnd type="none" w="med" len="med"/>
                    </a:lnT>
                    <a:lnB w="9525" cap="flat" cmpd="sng" algn="ctr">
                      <a:solidFill>
                        <a:srgbClr val="DDE0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D21"/>
                          </a:solidFill>
                          <a:latin typeface="Calibri" pitchFamily="34" charset="0"/>
                          <a:ea typeface="Calibri" pitchFamily="34" charset="-122"/>
                          <a:cs typeface="Calibri" pitchFamily="34" charset="-120"/>
                        </a:rPr>
                        <a:t>1.75</a:t>
                      </a:r>
                      <a:endParaRPr lang="en-US" sz="1150" dirty="0">
                        <a:latin typeface="Calibri" charset="0"/>
                        <a:ea typeface="Calibri" charset="0"/>
                        <a:cs typeface="Calibri" charset="0"/>
                      </a:endParaRPr>
                    </a:p>
                  </a:txBody>
                  <a:tcPr marL="91440" marR="91440" marT="45720" marB="45720" anchor="ctr">
                    <a:lnL w="9525" cap="flat" cmpd="sng" algn="ctr">
                      <a:solidFill>
                        <a:srgbClr val="DDE0DC"/>
                      </a:solidFill>
                      <a:prstDash val="solid"/>
                      <a:round/>
                      <a:headEnd type="none" w="med" len="med"/>
                      <a:tailEnd type="none" w="med" len="med"/>
                    </a:lnL>
                    <a:lnR w="9525" cap="flat" cmpd="sng" algn="ctr">
                      <a:solidFill>
                        <a:srgbClr val="DDE0DC"/>
                      </a:solidFill>
                      <a:prstDash val="solid"/>
                      <a:round/>
                      <a:headEnd type="none" w="med" len="med"/>
                      <a:tailEnd type="none" w="med" len="med"/>
                    </a:lnR>
                    <a:lnT w="9525" cap="flat" cmpd="sng" algn="ctr">
                      <a:solidFill>
                        <a:srgbClr val="DDE0DC"/>
                      </a:solidFill>
                      <a:prstDash val="solid"/>
                      <a:round/>
                      <a:headEnd type="none" w="med" len="med"/>
                      <a:tailEnd type="none" w="med" len="med"/>
                    </a:lnT>
                    <a:lnB w="9525" cap="flat" cmpd="sng" algn="ctr">
                      <a:solidFill>
                        <a:srgbClr val="DDE0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D21"/>
                          </a:solidFill>
                          <a:latin typeface="Calibri" pitchFamily="34" charset="0"/>
                          <a:ea typeface="Calibri" pitchFamily="34" charset="-122"/>
                          <a:cs typeface="Calibri" pitchFamily="34" charset="-120"/>
                        </a:rPr>
                        <a:t>21.1</a:t>
                      </a:r>
                      <a:endParaRPr lang="en-US" sz="1150" dirty="0">
                        <a:latin typeface="Calibri" charset="0"/>
                        <a:ea typeface="Calibri" charset="0"/>
                        <a:cs typeface="Calibri" charset="0"/>
                      </a:endParaRPr>
                    </a:p>
                  </a:txBody>
                  <a:tcPr marL="91440" marR="91440" marT="45720" marB="45720" anchor="ctr">
                    <a:lnL w="9525" cap="flat" cmpd="sng" algn="ctr">
                      <a:solidFill>
                        <a:srgbClr val="DDE0DC"/>
                      </a:solidFill>
                      <a:prstDash val="solid"/>
                      <a:round/>
                      <a:headEnd type="none" w="med" len="med"/>
                      <a:tailEnd type="none" w="med" len="med"/>
                    </a:lnL>
                    <a:lnR w="9525" cap="flat" cmpd="sng" algn="ctr">
                      <a:solidFill>
                        <a:srgbClr val="DDE0DC"/>
                      </a:solidFill>
                      <a:prstDash val="solid"/>
                      <a:round/>
                      <a:headEnd type="none" w="med" len="med"/>
                      <a:tailEnd type="none" w="med" len="med"/>
                    </a:lnR>
                    <a:lnT w="9525" cap="flat" cmpd="sng" algn="ctr">
                      <a:solidFill>
                        <a:srgbClr val="DDE0DC"/>
                      </a:solidFill>
                      <a:prstDash val="solid"/>
                      <a:round/>
                      <a:headEnd type="none" w="med" len="med"/>
                      <a:tailEnd type="none" w="med" len="med"/>
                    </a:lnT>
                    <a:lnB w="9525" cap="flat" cmpd="sng" algn="ctr">
                      <a:solidFill>
                        <a:srgbClr val="DDE0DC"/>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1A1D21"/>
                          </a:solidFill>
                          <a:latin typeface="Calibri" pitchFamily="34" charset="0"/>
                          <a:ea typeface="Calibri" pitchFamily="34" charset="-122"/>
                          <a:cs typeface="Calibri" pitchFamily="34" charset="-120"/>
                        </a:rPr>
                        <a:t>Spectral analogs (500)</a:t>
                      </a:r>
                      <a:endParaRPr lang="en-US" sz="1150" dirty="0">
                        <a:latin typeface="Calibri" charset="0"/>
                        <a:ea typeface="Calibri" charset="0"/>
                        <a:cs typeface="Calibri" charset="0"/>
                      </a:endParaRPr>
                    </a:p>
                  </a:txBody>
                  <a:tcPr marL="91440" marR="91440" marT="45720" marB="45720" anchor="ctr">
                    <a:lnL w="9525" cap="flat" cmpd="sng" algn="ctr">
                      <a:solidFill>
                        <a:srgbClr val="DDE0DC"/>
                      </a:solidFill>
                      <a:prstDash val="solid"/>
                      <a:round/>
                      <a:headEnd type="none" w="med" len="med"/>
                      <a:tailEnd type="none" w="med" len="med"/>
                    </a:lnL>
                    <a:lnR w="9525" cap="flat" cmpd="sng" algn="ctr">
                      <a:solidFill>
                        <a:srgbClr val="DDE0DC"/>
                      </a:solidFill>
                      <a:prstDash val="solid"/>
                      <a:round/>
                      <a:headEnd type="none" w="med" len="med"/>
                      <a:tailEnd type="none" w="med" len="med"/>
                    </a:lnR>
                    <a:lnT w="9525" cap="flat" cmpd="sng" algn="ctr">
                      <a:solidFill>
                        <a:srgbClr val="DDE0DC"/>
                      </a:solidFill>
                      <a:prstDash val="solid"/>
                      <a:round/>
                      <a:headEnd type="none" w="med" len="med"/>
                      <a:tailEnd type="none" w="med" len="med"/>
                    </a:lnT>
                    <a:lnB w="9525" cap="flat" cmpd="sng" algn="ctr">
                      <a:solidFill>
                        <a:srgbClr val="DDE0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D21"/>
                          </a:solidFill>
                          <a:latin typeface="Calibri" pitchFamily="34" charset="0"/>
                          <a:ea typeface="Calibri" pitchFamily="34" charset="-122"/>
                          <a:cs typeface="Calibri" pitchFamily="34" charset="-120"/>
                        </a:rPr>
                        <a:t>−6.43</a:t>
                      </a:r>
                      <a:endParaRPr lang="en-US" sz="1150" dirty="0">
                        <a:latin typeface="Calibri" charset="0"/>
                        <a:ea typeface="Calibri" charset="0"/>
                        <a:cs typeface="Calibri" charset="0"/>
                      </a:endParaRPr>
                    </a:p>
                  </a:txBody>
                  <a:tcPr marL="91440" marR="91440" marT="45720" marB="45720" anchor="ctr">
                    <a:lnL w="9525" cap="flat" cmpd="sng" algn="ctr">
                      <a:solidFill>
                        <a:srgbClr val="DDE0DC"/>
                      </a:solidFill>
                      <a:prstDash val="solid"/>
                      <a:round/>
                      <a:headEnd type="none" w="med" len="med"/>
                      <a:tailEnd type="none" w="med" len="med"/>
                    </a:lnL>
                    <a:lnR w="9525" cap="flat" cmpd="sng" algn="ctr">
                      <a:solidFill>
                        <a:srgbClr val="DDE0DC"/>
                      </a:solidFill>
                      <a:prstDash val="solid"/>
                      <a:round/>
                      <a:headEnd type="none" w="med" len="med"/>
                      <a:tailEnd type="none" w="med" len="med"/>
                    </a:lnR>
                    <a:lnT w="9525" cap="flat" cmpd="sng" algn="ctr">
                      <a:solidFill>
                        <a:srgbClr val="DDE0DC"/>
                      </a:solidFill>
                      <a:prstDash val="solid"/>
                      <a:round/>
                      <a:headEnd type="none" w="med" len="med"/>
                      <a:tailEnd type="none" w="med" len="med"/>
                    </a:lnT>
                    <a:lnB w="9525" cap="flat" cmpd="sng" algn="ctr">
                      <a:solidFill>
                        <a:srgbClr val="DDE0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D21"/>
                          </a:solidFill>
                          <a:latin typeface="Calibri" pitchFamily="34" charset="0"/>
                          <a:ea typeface="Calibri" pitchFamily="34" charset="-122"/>
                          <a:cs typeface="Calibri" pitchFamily="34" charset="-120"/>
                        </a:rPr>
                        <a:t>2.91</a:t>
                      </a:r>
                      <a:endParaRPr lang="en-US" sz="1150" dirty="0">
                        <a:latin typeface="Calibri" charset="0"/>
                        <a:ea typeface="Calibri" charset="0"/>
                        <a:cs typeface="Calibri" charset="0"/>
                      </a:endParaRPr>
                    </a:p>
                  </a:txBody>
                  <a:tcPr marL="91440" marR="91440" marT="45720" marB="45720" anchor="ctr">
                    <a:lnL w="9525" cap="flat" cmpd="sng" algn="ctr">
                      <a:solidFill>
                        <a:srgbClr val="DDE0DC"/>
                      </a:solidFill>
                      <a:prstDash val="solid"/>
                      <a:round/>
                      <a:headEnd type="none" w="med" len="med"/>
                      <a:tailEnd type="none" w="med" len="med"/>
                    </a:lnL>
                    <a:lnR w="9525" cap="flat" cmpd="sng" algn="ctr">
                      <a:solidFill>
                        <a:srgbClr val="DDE0DC"/>
                      </a:solidFill>
                      <a:prstDash val="solid"/>
                      <a:round/>
                      <a:headEnd type="none" w="med" len="med"/>
                      <a:tailEnd type="none" w="med" len="med"/>
                    </a:lnR>
                    <a:lnT w="9525" cap="flat" cmpd="sng" algn="ctr">
                      <a:solidFill>
                        <a:srgbClr val="DDE0DC"/>
                      </a:solidFill>
                      <a:prstDash val="solid"/>
                      <a:round/>
                      <a:headEnd type="none" w="med" len="med"/>
                      <a:tailEnd type="none" w="med" len="med"/>
                    </a:lnT>
                    <a:lnB w="9525" cap="flat" cmpd="sng" algn="ctr">
                      <a:solidFill>
                        <a:srgbClr val="DDE0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D21"/>
                          </a:solidFill>
                          <a:latin typeface="Calibri" pitchFamily="34" charset="0"/>
                          <a:ea typeface="Calibri" pitchFamily="34" charset="-122"/>
                          <a:cs typeface="Calibri" pitchFamily="34" charset="-120"/>
                        </a:rPr>
                        <a:t>22.1</a:t>
                      </a:r>
                      <a:endParaRPr lang="en-US" sz="1150" dirty="0">
                        <a:latin typeface="Calibri" charset="0"/>
                        <a:ea typeface="Calibri" charset="0"/>
                        <a:cs typeface="Calibri" charset="0"/>
                      </a:endParaRPr>
                    </a:p>
                  </a:txBody>
                  <a:tcPr marL="91440" marR="91440" marT="45720" marB="45720" anchor="ctr">
                    <a:lnL w="9525" cap="flat" cmpd="sng" algn="ctr">
                      <a:solidFill>
                        <a:srgbClr val="DDE0DC"/>
                      </a:solidFill>
                      <a:prstDash val="solid"/>
                      <a:round/>
                      <a:headEnd type="none" w="med" len="med"/>
                      <a:tailEnd type="none" w="med" len="med"/>
                    </a:lnL>
                    <a:lnR w="9525" cap="flat" cmpd="sng" algn="ctr">
                      <a:solidFill>
                        <a:srgbClr val="DDE0DC"/>
                      </a:solidFill>
                      <a:prstDash val="solid"/>
                      <a:round/>
                      <a:headEnd type="none" w="med" len="med"/>
                      <a:tailEnd type="none" w="med" len="med"/>
                    </a:lnR>
                    <a:lnT w="9525" cap="flat" cmpd="sng" algn="ctr">
                      <a:solidFill>
                        <a:srgbClr val="DDE0DC"/>
                      </a:solidFill>
                      <a:prstDash val="solid"/>
                      <a:round/>
                      <a:headEnd type="none" w="med" len="med"/>
                      <a:tailEnd type="none" w="med" len="med"/>
                    </a:lnT>
                    <a:lnB w="9525" cap="flat" cmpd="sng" algn="ctr">
                      <a:solidFill>
                        <a:srgbClr val="DDE0DC"/>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1A1D21"/>
                          </a:solidFill>
                          <a:latin typeface="Calibri" pitchFamily="34" charset="0"/>
                          <a:ea typeface="Calibri" pitchFamily="34" charset="-122"/>
                          <a:cs typeface="Calibri" pitchFamily="34" charset="-120"/>
                        </a:rPr>
                        <a:t>Lowest-OC/EC (800)</a:t>
                      </a:r>
                      <a:endParaRPr lang="en-US" sz="1150" dirty="0">
                        <a:latin typeface="Calibri" charset="0"/>
                        <a:ea typeface="Calibri" charset="0"/>
                        <a:cs typeface="Calibri" charset="0"/>
                      </a:endParaRPr>
                    </a:p>
                  </a:txBody>
                  <a:tcPr marL="91440" marR="91440" marT="45720" marB="45720" anchor="ctr">
                    <a:lnL w="9525" cap="flat" cmpd="sng" algn="ctr">
                      <a:solidFill>
                        <a:srgbClr val="DDE0DC"/>
                      </a:solidFill>
                      <a:prstDash val="solid"/>
                      <a:round/>
                      <a:headEnd type="none" w="med" len="med"/>
                      <a:tailEnd type="none" w="med" len="med"/>
                    </a:lnL>
                    <a:lnR w="9525" cap="flat" cmpd="sng" algn="ctr">
                      <a:solidFill>
                        <a:srgbClr val="DDE0DC"/>
                      </a:solidFill>
                      <a:prstDash val="solid"/>
                      <a:round/>
                      <a:headEnd type="none" w="med" len="med"/>
                      <a:tailEnd type="none" w="med" len="med"/>
                    </a:lnR>
                    <a:lnT w="9525" cap="flat" cmpd="sng" algn="ctr">
                      <a:solidFill>
                        <a:srgbClr val="DDE0DC"/>
                      </a:solidFill>
                      <a:prstDash val="solid"/>
                      <a:round/>
                      <a:headEnd type="none" w="med" len="med"/>
                      <a:tailEnd type="none" w="med" len="med"/>
                    </a:lnT>
                    <a:lnB w="9525" cap="flat" cmpd="sng" algn="ctr">
                      <a:solidFill>
                        <a:srgbClr val="DDE0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D21"/>
                          </a:solidFill>
                          <a:latin typeface="Calibri" pitchFamily="34" charset="0"/>
                          <a:ea typeface="Calibri" pitchFamily="34" charset="-122"/>
                          <a:cs typeface="Calibri" pitchFamily="34" charset="-120"/>
                        </a:rPr>
                        <a:t>−3.22</a:t>
                      </a:r>
                      <a:endParaRPr lang="en-US" sz="1150" dirty="0">
                        <a:latin typeface="Calibri" charset="0"/>
                        <a:ea typeface="Calibri" charset="0"/>
                        <a:cs typeface="Calibri" charset="0"/>
                      </a:endParaRPr>
                    </a:p>
                  </a:txBody>
                  <a:tcPr marL="91440" marR="91440" marT="45720" marB="45720" anchor="ctr">
                    <a:lnL w="9525" cap="flat" cmpd="sng" algn="ctr">
                      <a:solidFill>
                        <a:srgbClr val="DDE0DC"/>
                      </a:solidFill>
                      <a:prstDash val="solid"/>
                      <a:round/>
                      <a:headEnd type="none" w="med" len="med"/>
                      <a:tailEnd type="none" w="med" len="med"/>
                    </a:lnL>
                    <a:lnR w="9525" cap="flat" cmpd="sng" algn="ctr">
                      <a:solidFill>
                        <a:srgbClr val="DDE0DC"/>
                      </a:solidFill>
                      <a:prstDash val="solid"/>
                      <a:round/>
                      <a:headEnd type="none" w="med" len="med"/>
                      <a:tailEnd type="none" w="med" len="med"/>
                    </a:lnR>
                    <a:lnT w="9525" cap="flat" cmpd="sng" algn="ctr">
                      <a:solidFill>
                        <a:srgbClr val="DDE0DC"/>
                      </a:solidFill>
                      <a:prstDash val="solid"/>
                      <a:round/>
                      <a:headEnd type="none" w="med" len="med"/>
                      <a:tailEnd type="none" w="med" len="med"/>
                    </a:lnT>
                    <a:lnB w="9525" cap="flat" cmpd="sng" algn="ctr">
                      <a:solidFill>
                        <a:srgbClr val="DDE0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D21"/>
                          </a:solidFill>
                          <a:latin typeface="Calibri" pitchFamily="34" charset="0"/>
                          <a:ea typeface="Calibri" pitchFamily="34" charset="-122"/>
                          <a:cs typeface="Calibri" pitchFamily="34" charset="-120"/>
                        </a:rPr>
                        <a:t>1.59</a:t>
                      </a:r>
                      <a:endParaRPr lang="en-US" sz="1150" dirty="0">
                        <a:latin typeface="Calibri" charset="0"/>
                        <a:ea typeface="Calibri" charset="0"/>
                        <a:cs typeface="Calibri" charset="0"/>
                      </a:endParaRPr>
                    </a:p>
                  </a:txBody>
                  <a:tcPr marL="91440" marR="91440" marT="45720" marB="45720" anchor="ctr">
                    <a:lnL w="9525" cap="flat" cmpd="sng" algn="ctr">
                      <a:solidFill>
                        <a:srgbClr val="DDE0DC"/>
                      </a:solidFill>
                      <a:prstDash val="solid"/>
                      <a:round/>
                      <a:headEnd type="none" w="med" len="med"/>
                      <a:tailEnd type="none" w="med" len="med"/>
                    </a:lnL>
                    <a:lnR w="9525" cap="flat" cmpd="sng" algn="ctr">
                      <a:solidFill>
                        <a:srgbClr val="DDE0DC"/>
                      </a:solidFill>
                      <a:prstDash val="solid"/>
                      <a:round/>
                      <a:headEnd type="none" w="med" len="med"/>
                      <a:tailEnd type="none" w="med" len="med"/>
                    </a:lnR>
                    <a:lnT w="9525" cap="flat" cmpd="sng" algn="ctr">
                      <a:solidFill>
                        <a:srgbClr val="DDE0DC"/>
                      </a:solidFill>
                      <a:prstDash val="solid"/>
                      <a:round/>
                      <a:headEnd type="none" w="med" len="med"/>
                      <a:tailEnd type="none" w="med" len="med"/>
                    </a:lnT>
                    <a:lnB w="9525" cap="flat" cmpd="sng" algn="ctr">
                      <a:solidFill>
                        <a:srgbClr val="DDE0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D21"/>
                          </a:solidFill>
                          <a:latin typeface="Calibri" pitchFamily="34" charset="0"/>
                          <a:ea typeface="Calibri" pitchFamily="34" charset="-122"/>
                          <a:cs typeface="Calibri" pitchFamily="34" charset="-120"/>
                        </a:rPr>
                        <a:t>20.3</a:t>
                      </a:r>
                      <a:endParaRPr lang="en-US" sz="1150" dirty="0">
                        <a:latin typeface="Calibri" charset="0"/>
                        <a:ea typeface="Calibri" charset="0"/>
                        <a:cs typeface="Calibri" charset="0"/>
                      </a:endParaRPr>
                    </a:p>
                  </a:txBody>
                  <a:tcPr marL="91440" marR="91440" marT="45720" marB="45720" anchor="ctr">
                    <a:lnL w="9525" cap="flat" cmpd="sng" algn="ctr">
                      <a:solidFill>
                        <a:srgbClr val="DDE0DC"/>
                      </a:solidFill>
                      <a:prstDash val="solid"/>
                      <a:round/>
                      <a:headEnd type="none" w="med" len="med"/>
                      <a:tailEnd type="none" w="med" len="med"/>
                    </a:lnL>
                    <a:lnR w="9525" cap="flat" cmpd="sng" algn="ctr">
                      <a:solidFill>
                        <a:srgbClr val="DDE0DC"/>
                      </a:solidFill>
                      <a:prstDash val="solid"/>
                      <a:round/>
                      <a:headEnd type="none" w="med" len="med"/>
                      <a:tailEnd type="none" w="med" len="med"/>
                    </a:lnR>
                    <a:lnT w="9525" cap="flat" cmpd="sng" algn="ctr">
                      <a:solidFill>
                        <a:srgbClr val="DDE0DC"/>
                      </a:solidFill>
                      <a:prstDash val="solid"/>
                      <a:round/>
                      <a:headEnd type="none" w="med" len="med"/>
                      <a:tailEnd type="none" w="med" len="med"/>
                    </a:lnT>
                    <a:lnB w="9525" cap="flat" cmpd="sng" algn="ctr">
                      <a:solidFill>
                        <a:srgbClr val="DDE0DC"/>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1A1D21"/>
                          </a:solidFill>
                          <a:latin typeface="Calibri" pitchFamily="34" charset="0"/>
                          <a:ea typeface="Calibri" pitchFamily="34" charset="-122"/>
                          <a:cs typeface="Calibri" pitchFamily="34" charset="-120"/>
                        </a:rPr>
                        <a:t>Lowest-OC/EC + AIRSpec</a:t>
                      </a:r>
                      <a:endParaRPr lang="en-US" sz="1150" dirty="0">
                        <a:latin typeface="Calibri" charset="0"/>
                        <a:ea typeface="Calibri" charset="0"/>
                        <a:cs typeface="Calibri" charset="0"/>
                      </a:endParaRPr>
                    </a:p>
                  </a:txBody>
                  <a:tcPr marL="91440" marR="91440" marT="45720" marB="45720" anchor="ctr">
                    <a:lnL w="9525" cap="flat" cmpd="sng" algn="ctr">
                      <a:solidFill>
                        <a:srgbClr val="DDE0DC"/>
                      </a:solidFill>
                      <a:prstDash val="solid"/>
                      <a:round/>
                      <a:headEnd type="none" w="med" len="med"/>
                      <a:tailEnd type="none" w="med" len="med"/>
                    </a:lnL>
                    <a:lnR w="9525" cap="flat" cmpd="sng" algn="ctr">
                      <a:solidFill>
                        <a:srgbClr val="DDE0DC"/>
                      </a:solidFill>
                      <a:prstDash val="solid"/>
                      <a:round/>
                      <a:headEnd type="none" w="med" len="med"/>
                      <a:tailEnd type="none" w="med" len="med"/>
                    </a:lnR>
                    <a:lnT w="9525" cap="flat" cmpd="sng" algn="ctr">
                      <a:solidFill>
                        <a:srgbClr val="DDE0DC"/>
                      </a:solidFill>
                      <a:prstDash val="solid"/>
                      <a:round/>
                      <a:headEnd type="none" w="med" len="med"/>
                      <a:tailEnd type="none" w="med" len="med"/>
                    </a:lnT>
                    <a:lnB w="9525" cap="flat" cmpd="sng" algn="ctr">
                      <a:solidFill>
                        <a:srgbClr val="DDE0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D21"/>
                          </a:solidFill>
                          <a:latin typeface="Calibri" pitchFamily="34" charset="0"/>
                          <a:ea typeface="Calibri" pitchFamily="34" charset="-122"/>
                          <a:cs typeface="Calibri" pitchFamily="34" charset="-120"/>
                        </a:rPr>
                        <a:t>−1.62</a:t>
                      </a:r>
                      <a:endParaRPr lang="en-US" sz="1150" dirty="0">
                        <a:latin typeface="Calibri" charset="0"/>
                        <a:ea typeface="Calibri" charset="0"/>
                        <a:cs typeface="Calibri" charset="0"/>
                      </a:endParaRPr>
                    </a:p>
                  </a:txBody>
                  <a:tcPr marL="91440" marR="91440" marT="45720" marB="45720" anchor="ctr">
                    <a:lnL w="9525" cap="flat" cmpd="sng" algn="ctr">
                      <a:solidFill>
                        <a:srgbClr val="DDE0DC"/>
                      </a:solidFill>
                      <a:prstDash val="solid"/>
                      <a:round/>
                      <a:headEnd type="none" w="med" len="med"/>
                      <a:tailEnd type="none" w="med" len="med"/>
                    </a:lnL>
                    <a:lnR w="9525" cap="flat" cmpd="sng" algn="ctr">
                      <a:solidFill>
                        <a:srgbClr val="DDE0DC"/>
                      </a:solidFill>
                      <a:prstDash val="solid"/>
                      <a:round/>
                      <a:headEnd type="none" w="med" len="med"/>
                      <a:tailEnd type="none" w="med" len="med"/>
                    </a:lnR>
                    <a:lnT w="9525" cap="flat" cmpd="sng" algn="ctr">
                      <a:solidFill>
                        <a:srgbClr val="DDE0DC"/>
                      </a:solidFill>
                      <a:prstDash val="solid"/>
                      <a:round/>
                      <a:headEnd type="none" w="med" len="med"/>
                      <a:tailEnd type="none" w="med" len="med"/>
                    </a:lnT>
                    <a:lnB w="9525" cap="flat" cmpd="sng" algn="ctr">
                      <a:solidFill>
                        <a:srgbClr val="DDE0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D21"/>
                          </a:solidFill>
                          <a:latin typeface="Calibri" pitchFamily="34" charset="0"/>
                          <a:ea typeface="Calibri" pitchFamily="34" charset="-122"/>
                          <a:cs typeface="Calibri" pitchFamily="34" charset="-120"/>
                        </a:rPr>
                        <a:t>0.86</a:t>
                      </a:r>
                      <a:endParaRPr lang="en-US" sz="1150" dirty="0">
                        <a:latin typeface="Calibri" charset="0"/>
                        <a:ea typeface="Calibri" charset="0"/>
                        <a:cs typeface="Calibri" charset="0"/>
                      </a:endParaRPr>
                    </a:p>
                  </a:txBody>
                  <a:tcPr marL="91440" marR="91440" marT="45720" marB="45720" anchor="ctr">
                    <a:lnL w="9525" cap="flat" cmpd="sng" algn="ctr">
                      <a:solidFill>
                        <a:srgbClr val="DDE0DC"/>
                      </a:solidFill>
                      <a:prstDash val="solid"/>
                      <a:round/>
                      <a:headEnd type="none" w="med" len="med"/>
                      <a:tailEnd type="none" w="med" len="med"/>
                    </a:lnL>
                    <a:lnR w="9525" cap="flat" cmpd="sng" algn="ctr">
                      <a:solidFill>
                        <a:srgbClr val="DDE0DC"/>
                      </a:solidFill>
                      <a:prstDash val="solid"/>
                      <a:round/>
                      <a:headEnd type="none" w="med" len="med"/>
                      <a:tailEnd type="none" w="med" len="med"/>
                    </a:lnR>
                    <a:lnT w="9525" cap="flat" cmpd="sng" algn="ctr">
                      <a:solidFill>
                        <a:srgbClr val="DDE0DC"/>
                      </a:solidFill>
                      <a:prstDash val="solid"/>
                      <a:round/>
                      <a:headEnd type="none" w="med" len="med"/>
                      <a:tailEnd type="none" w="med" len="med"/>
                    </a:lnT>
                    <a:lnB w="9525" cap="flat" cmpd="sng" algn="ctr">
                      <a:solidFill>
                        <a:srgbClr val="DDE0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D21"/>
                          </a:solidFill>
                          <a:latin typeface="Calibri" pitchFamily="34" charset="0"/>
                          <a:ea typeface="Calibri" pitchFamily="34" charset="-122"/>
                          <a:cs typeface="Calibri" pitchFamily="34" charset="-120"/>
                        </a:rPr>
                        <a:t>18.8</a:t>
                      </a:r>
                      <a:endParaRPr lang="en-US" sz="1150" dirty="0">
                        <a:latin typeface="Calibri" charset="0"/>
                        <a:ea typeface="Calibri" charset="0"/>
                        <a:cs typeface="Calibri" charset="0"/>
                      </a:endParaRPr>
                    </a:p>
                  </a:txBody>
                  <a:tcPr marL="91440" marR="91440" marT="45720" marB="45720" anchor="ctr">
                    <a:lnL w="9525" cap="flat" cmpd="sng" algn="ctr">
                      <a:solidFill>
                        <a:srgbClr val="DDE0DC"/>
                      </a:solidFill>
                      <a:prstDash val="solid"/>
                      <a:round/>
                      <a:headEnd type="none" w="med" len="med"/>
                      <a:tailEnd type="none" w="med" len="med"/>
                    </a:lnL>
                    <a:lnR w="9525" cap="flat" cmpd="sng" algn="ctr">
                      <a:solidFill>
                        <a:srgbClr val="DDE0DC"/>
                      </a:solidFill>
                      <a:prstDash val="solid"/>
                      <a:round/>
                      <a:headEnd type="none" w="med" len="med"/>
                      <a:tailEnd type="none" w="med" len="med"/>
                    </a:lnR>
                    <a:lnT w="9525" cap="flat" cmpd="sng" algn="ctr">
                      <a:solidFill>
                        <a:srgbClr val="DDE0DC"/>
                      </a:solidFill>
                      <a:prstDash val="solid"/>
                      <a:round/>
                      <a:headEnd type="none" w="med" len="med"/>
                      <a:tailEnd type="none" w="med" len="med"/>
                    </a:lnT>
                    <a:lnB w="9525" cap="flat" cmpd="sng" algn="ctr">
                      <a:solidFill>
                        <a:srgbClr val="DDE0DC"/>
                      </a:solidFill>
                      <a:prstDash val="solid"/>
                      <a:round/>
                      <a:headEnd type="none" w="med" len="med"/>
                      <a:tailEnd type="none" w="med" len="med"/>
                    </a:lnB>
                    <a:solidFill>
                      <a:srgbClr val="FFFFFF"/>
                    </a:solidFill>
                  </a:tcPr>
                </a:tc>
              </a:tr>
            </a:tbl>
          </a:graphicData>
        </a:graphic>
      </p:graphicFrame>
      <p:sp>
        <p:nvSpPr>
          <p:cNvPr id="5" name="Shape 2"/>
          <p:cNvSpPr/>
          <p:nvPr/>
        </p:nvSpPr>
        <p:spPr>
          <a:xfrm>
            <a:off x="7589520" y="1737360"/>
            <a:ext cx="4069080" cy="2743200"/>
          </a:xfrm>
          <a:prstGeom prst="roundRect">
            <a:avLst>
              <a:gd name="adj" fmla="val 2667"/>
            </a:avLst>
          </a:prstGeom>
          <a:solidFill>
            <a:srgbClr val="F4F5F3"/>
          </a:solidFill>
          <a:ln w="12700">
            <a:solidFill>
              <a:srgbClr val="DDE0DC"/>
            </a:solidFill>
            <a:prstDash val="solid"/>
          </a:ln>
        </p:spPr>
      </p:sp>
      <p:sp>
        <p:nvSpPr>
          <p:cNvPr id="6" name="Text 3"/>
          <p:cNvSpPr/>
          <p:nvPr/>
        </p:nvSpPr>
        <p:spPr>
          <a:xfrm>
            <a:off x="7818120" y="1874520"/>
            <a:ext cx="3566160" cy="914400"/>
          </a:xfrm>
          <a:prstGeom prst="rect">
            <a:avLst/>
          </a:prstGeom>
          <a:noFill/>
          <a:ln/>
        </p:spPr>
        <p:txBody>
          <a:bodyPr wrap="square" lIns="0" tIns="0" rIns="0" bIns="0" rtlCol="0" anchor="ctr"/>
          <a:lstStyle/>
          <a:p>
            <a:pPr indent="0" marL="0">
              <a:buNone/>
            </a:pPr>
            <a:r>
              <a:rPr lang="en-US" sz="5400" b="1" dirty="0">
                <a:solidFill>
                  <a:srgbClr val="B23327"/>
                </a:solidFill>
                <a:latin typeface="Calibri" pitchFamily="34" charset="0"/>
                <a:ea typeface="Calibri" pitchFamily="34" charset="-122"/>
                <a:cs typeface="Calibri" pitchFamily="34" charset="-120"/>
              </a:rPr>
              <a:t>21.5</a:t>
            </a:r>
            <a:endParaRPr lang="en-US" sz="5400" dirty="0"/>
          </a:p>
        </p:txBody>
      </p:sp>
      <p:sp>
        <p:nvSpPr>
          <p:cNvPr id="7" name="Text 4"/>
          <p:cNvSpPr/>
          <p:nvPr/>
        </p:nvSpPr>
        <p:spPr>
          <a:xfrm>
            <a:off x="7818120" y="2788920"/>
            <a:ext cx="3657600" cy="1554480"/>
          </a:xfrm>
          <a:prstGeom prst="rect">
            <a:avLst/>
          </a:prstGeom>
          <a:noFill/>
          <a:ln/>
        </p:spPr>
        <p:txBody>
          <a:bodyPr wrap="square" lIns="0" tIns="0" rIns="0" bIns="0" rtlCol="0" anchor="ctr"/>
          <a:lstStyle/>
          <a:p>
            <a:pPr indent="0" marL="0">
              <a:buNone/>
            </a:pPr>
            <a:r>
              <a:rPr lang="en-US" sz="1200" dirty="0">
                <a:solidFill>
                  <a:srgbClr val="1A1D21"/>
                </a:solidFill>
                <a:latin typeface="Calibri" pitchFamily="34" charset="0"/>
                <a:ea typeface="Calibri" pitchFamily="34" charset="-122"/>
                <a:cs typeface="Calibri" pitchFamily="34" charset="-120"/>
              </a:rPr>
              <a:t>Mm⁻¹ median — 46% of a typical Addis filter's Fabs. Slopes span 3.4× across these six setups; C spans 1.4×. Exactly MAC-invariant, so the target survives the MAC fork.</a:t>
            </a:r>
            <a:endParaRPr lang="en-US" sz="1200" dirty="0"/>
          </a:p>
        </p:txBody>
      </p:sp>
      <p:sp>
        <p:nvSpPr>
          <p:cNvPr id="8" name="Text 5"/>
          <p:cNvSpPr/>
          <p:nvPr/>
        </p:nvSpPr>
        <p:spPr>
          <a:xfrm>
            <a:off x="502920" y="4892040"/>
            <a:ext cx="11155680" cy="1554480"/>
          </a:xfrm>
          <a:prstGeom prst="rect">
            <a:avLst/>
          </a:prstGeom>
          <a:noFill/>
          <a:ln/>
        </p:spPr>
        <p:txBody>
          <a:bodyPr wrap="square" lIns="0" tIns="0" rIns="0" bIns="0" rtlCol="0" anchor="t"/>
          <a:lstStyle/>
          <a:p>
            <a:pPr algn="l" indent="0" marL="0">
              <a:spcAft>
                <a:spcPts val="800"/>
              </a:spcAft>
              <a:buNone/>
            </a:pPr>
            <a:r>
              <a:rPr lang="en-US" sz="1250" b="1" dirty="0">
                <a:solidFill>
                  <a:srgbClr val="1A1D21"/>
                </a:solidFill>
                <a:latin typeface="Calibri" pitchFamily="34" charset="0"/>
                <a:ea typeface="Calibri" pitchFamily="34" charset="-122"/>
                <a:cs typeface="Calibri" pitchFamily="34" charset="-120"/>
              </a:rPr>
              <a:t>Sharpest cheap test, passed: AIRSpec touches only the spectra (y-side) yet halves slope and intercept in proportion — under y = a(x − c), c stays put: 2.03 → 1.88 (−7.3% where a and b each move ~50%). The offset behaves as if it lives in the Fabs axis.</a:t>
            </a:r>
            <a:endParaRPr lang="en-US" sz="1250" dirty="0"/>
          </a:p>
          <a:p>
            <a:pPr algn="l" indent="0" marL="0">
              <a:spcAft>
                <a:spcPts val="800"/>
              </a:spcAft>
              <a:buNone/>
            </a:pPr>
            <a:r>
              <a:rPr lang="en-US" sz="1150" dirty="0">
                <a:solidFill>
                  <a:srgbClr val="5E6369"/>
                </a:solidFill>
                <a:latin typeface="Calibri" pitchFamily="34" charset="0"/>
                <a:ea typeface="Calibri" pitchFamily="34" charset="-122"/>
                <a:cs typeface="Calibri" pitchFamily="34" charset="-120"/>
              </a:rPr>
              <a:t>Stated caveat: C is invariant to any rescaling of the EC axis, so cross-setup stability is partly structural. The claim is “robust to every scaling choice” — not “six independent routes agree”.</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lIns="0" tIns="0" rIns="0" bIns="0" rtlCol="0" anchor="ctr"/>
          <a:lstStyle/>
          <a:p>
            <a:pPr indent="0" marL="0">
              <a:buNone/>
            </a:pPr>
            <a:r>
              <a:rPr lang="en-US" sz="1100" spc="200" kern="0" dirty="0">
                <a:solidFill>
                  <a:srgbClr val="B23327"/>
                </a:solidFill>
                <a:latin typeface="Courier New" pitchFamily="34" charset="0"/>
                <a:ea typeface="Courier New" pitchFamily="34" charset="-122"/>
                <a:cs typeface="Courier New" pitchFamily="34" charset="-120"/>
              </a:rPr>
              <a:t>09 · RESULT — IS IT A GENERIC HIPS ZERO? (FTIR_26, COMMITTED)</a:t>
            </a:r>
            <a:endParaRPr lang="en-US" sz="1100" dirty="0"/>
          </a:p>
        </p:txBody>
      </p:sp>
      <p:sp>
        <p:nvSpPr>
          <p:cNvPr id="3" name="Text 1"/>
          <p:cNvSpPr/>
          <p:nvPr/>
        </p:nvSpPr>
        <p:spPr>
          <a:xfrm>
            <a:off x="502920" y="566928"/>
            <a:ext cx="11183112" cy="868680"/>
          </a:xfrm>
          <a:prstGeom prst="rect">
            <a:avLst/>
          </a:prstGeom>
          <a:noFill/>
          <a:ln/>
        </p:spPr>
        <p:txBody>
          <a:bodyPr wrap="square" lIns="0" tIns="0" rIns="0" bIns="0" rtlCol="0" anchor="t"/>
          <a:lstStyle/>
          <a:p>
            <a:pPr indent="0" marL="0">
              <a:buNone/>
            </a:pPr>
            <a:r>
              <a:rPr lang="en-US" sz="2600" b="1" dirty="0">
                <a:solidFill>
                  <a:srgbClr val="1A1D21"/>
                </a:solidFill>
                <a:latin typeface="Calibri" pitchFamily="34" charset="0"/>
                <a:ea typeface="Calibri" pitchFamily="34" charset="-122"/>
                <a:cs typeface="Calibri" pitchFamily="34" charset="-120"/>
              </a:rPr>
              <a:t>No. IMPROVE HIPS runs through the origin — which leaves two explanations that are not an absorber.</a:t>
            </a:r>
            <a:endParaRPr lang="en-US" sz="2600" dirty="0"/>
          </a:p>
        </p:txBody>
      </p:sp>
      <p:sp>
        <p:nvSpPr>
          <p:cNvPr id="4" name="Shape 2"/>
          <p:cNvSpPr/>
          <p:nvPr/>
        </p:nvSpPr>
        <p:spPr>
          <a:xfrm>
            <a:off x="502920" y="1645920"/>
            <a:ext cx="3611880" cy="1188720"/>
          </a:xfrm>
          <a:prstGeom prst="roundRect">
            <a:avLst>
              <a:gd name="adj" fmla="val 6154"/>
            </a:avLst>
          </a:prstGeom>
          <a:solidFill>
            <a:srgbClr val="F4F5F3"/>
          </a:solidFill>
          <a:ln w="12700">
            <a:solidFill>
              <a:srgbClr val="DDE0DC"/>
            </a:solidFill>
            <a:prstDash val="solid"/>
          </a:ln>
        </p:spPr>
      </p:sp>
      <p:sp>
        <p:nvSpPr>
          <p:cNvPr id="5" name="Text 3"/>
          <p:cNvSpPr/>
          <p:nvPr/>
        </p:nvSpPr>
        <p:spPr>
          <a:xfrm>
            <a:off x="685800" y="1737360"/>
            <a:ext cx="3291840" cy="566928"/>
          </a:xfrm>
          <a:prstGeom prst="rect">
            <a:avLst/>
          </a:prstGeom>
          <a:noFill/>
          <a:ln/>
        </p:spPr>
        <p:txBody>
          <a:bodyPr wrap="square" lIns="0" tIns="0" rIns="0" bIns="0" rtlCol="0" anchor="ctr"/>
          <a:lstStyle/>
          <a:p>
            <a:pPr indent="0" marL="0">
              <a:buNone/>
            </a:pPr>
            <a:r>
              <a:rPr lang="en-US" sz="2400" b="1" dirty="0">
                <a:solidFill>
                  <a:srgbClr val="3F7A56"/>
                </a:solidFill>
                <a:latin typeface="Calibri" pitchFamily="34" charset="0"/>
                <a:ea typeface="Calibri" pitchFamily="34" charset="-122"/>
                <a:cs typeface="Calibri" pitchFamily="34" charset="-120"/>
              </a:rPr>
              <a:t>≤ 1.3 Mm⁻¹</a:t>
            </a:r>
            <a:endParaRPr lang="en-US" sz="2400" dirty="0"/>
          </a:p>
        </p:txBody>
      </p:sp>
      <p:sp>
        <p:nvSpPr>
          <p:cNvPr id="6" name="Text 4"/>
          <p:cNvSpPr/>
          <p:nvPr/>
        </p:nvSpPr>
        <p:spPr>
          <a:xfrm>
            <a:off x="685800" y="2304288"/>
            <a:ext cx="3291840" cy="457200"/>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pooled intercept, hard upper bound</a:t>
            </a:r>
            <a:endParaRPr lang="en-US" sz="1100" dirty="0"/>
          </a:p>
        </p:txBody>
      </p:sp>
      <p:sp>
        <p:nvSpPr>
          <p:cNvPr id="7" name="Shape 5"/>
          <p:cNvSpPr/>
          <p:nvPr/>
        </p:nvSpPr>
        <p:spPr>
          <a:xfrm>
            <a:off x="4325112" y="1645920"/>
            <a:ext cx="3611880" cy="1188720"/>
          </a:xfrm>
          <a:prstGeom prst="roundRect">
            <a:avLst>
              <a:gd name="adj" fmla="val 6154"/>
            </a:avLst>
          </a:prstGeom>
          <a:solidFill>
            <a:srgbClr val="F4F5F3"/>
          </a:solidFill>
          <a:ln w="12700">
            <a:solidFill>
              <a:srgbClr val="DDE0DC"/>
            </a:solidFill>
            <a:prstDash val="solid"/>
          </a:ln>
        </p:spPr>
      </p:sp>
      <p:sp>
        <p:nvSpPr>
          <p:cNvPr id="8" name="Text 6"/>
          <p:cNvSpPr/>
          <p:nvPr/>
        </p:nvSpPr>
        <p:spPr>
          <a:xfrm>
            <a:off x="4507992" y="1737360"/>
            <a:ext cx="3291840" cy="566928"/>
          </a:xfrm>
          <a:prstGeom prst="rect">
            <a:avLst/>
          </a:prstGeom>
          <a:noFill/>
          <a:ln/>
        </p:spPr>
        <p:txBody>
          <a:bodyPr wrap="square" lIns="0" tIns="0" rIns="0" bIns="0" rtlCol="0" anchor="ctr"/>
          <a:lstStyle/>
          <a:p>
            <a:pPr indent="0" marL="0">
              <a:buNone/>
            </a:pPr>
            <a:r>
              <a:rPr lang="en-US" sz="2400" b="1" dirty="0">
                <a:solidFill>
                  <a:srgbClr val="3F7A56"/>
                </a:solidFill>
                <a:latin typeface="Calibri" pitchFamily="34" charset="0"/>
                <a:ea typeface="Calibri" pitchFamily="34" charset="-122"/>
                <a:cs typeface="Calibri" pitchFamily="34" charset="-120"/>
              </a:rPr>
              <a:t>+0.12 Mm⁻¹</a:t>
            </a:r>
            <a:endParaRPr lang="en-US" sz="2400" dirty="0"/>
          </a:p>
        </p:txBody>
      </p:sp>
      <p:sp>
        <p:nvSpPr>
          <p:cNvPr id="9" name="Text 7"/>
          <p:cNvSpPr/>
          <p:nvPr/>
        </p:nvSpPr>
        <p:spPr>
          <a:xfrm>
            <a:off x="4507992" y="2304288"/>
            <a:ext cx="3291840" cy="457200"/>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median Fabs at EC ≤ 0 (n = 4,247)</a:t>
            </a:r>
            <a:endParaRPr lang="en-US" sz="1100" dirty="0"/>
          </a:p>
        </p:txBody>
      </p:sp>
      <p:sp>
        <p:nvSpPr>
          <p:cNvPr id="10" name="Shape 8"/>
          <p:cNvSpPr/>
          <p:nvPr/>
        </p:nvSpPr>
        <p:spPr>
          <a:xfrm>
            <a:off x="8147304" y="1645920"/>
            <a:ext cx="3611880" cy="1188720"/>
          </a:xfrm>
          <a:prstGeom prst="roundRect">
            <a:avLst>
              <a:gd name="adj" fmla="val 6154"/>
            </a:avLst>
          </a:prstGeom>
          <a:solidFill>
            <a:srgbClr val="F4F5F3"/>
          </a:solidFill>
          <a:ln w="12700">
            <a:solidFill>
              <a:srgbClr val="DDE0DC"/>
            </a:solidFill>
            <a:prstDash val="solid"/>
          </a:ln>
        </p:spPr>
      </p:sp>
      <p:sp>
        <p:nvSpPr>
          <p:cNvPr id="11" name="Text 9"/>
          <p:cNvSpPr/>
          <p:nvPr/>
        </p:nvSpPr>
        <p:spPr>
          <a:xfrm>
            <a:off x="8330184" y="1737360"/>
            <a:ext cx="3291840" cy="566928"/>
          </a:xfrm>
          <a:prstGeom prst="rect">
            <a:avLst/>
          </a:prstGeom>
          <a:noFill/>
          <a:ln/>
        </p:spPr>
        <p:txBody>
          <a:bodyPr wrap="square" lIns="0" tIns="0" rIns="0" bIns="0" rtlCol="0" anchor="ctr"/>
          <a:lstStyle/>
          <a:p>
            <a:pPr indent="0" marL="0">
              <a:buNone/>
            </a:pPr>
            <a:r>
              <a:rPr lang="en-US" sz="2400" b="1" dirty="0">
                <a:solidFill>
                  <a:srgbClr val="2C6E9E"/>
                </a:solidFill>
                <a:latin typeface="Calibri" pitchFamily="34" charset="0"/>
                <a:ea typeface="Calibri" pitchFamily="34" charset="-122"/>
                <a:cs typeface="Calibri" pitchFamily="34" charset="-120"/>
              </a:rPr>
              <a:t>0.010%</a:t>
            </a:r>
            <a:endParaRPr lang="en-US" sz="2400" dirty="0"/>
          </a:p>
        </p:txBody>
      </p:sp>
      <p:sp>
        <p:nvSpPr>
          <p:cNvPr id="12" name="Text 10"/>
          <p:cNvSpPr/>
          <p:nvPr/>
        </p:nvSpPr>
        <p:spPr>
          <a:xfrm>
            <a:off x="8330184" y="2304288"/>
            <a:ext cx="3291840" cy="457200"/>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IMPROVE filters reaching Addis's 47.1</a:t>
            </a:r>
            <a:endParaRPr lang="en-US" sz="1100" dirty="0"/>
          </a:p>
        </p:txBody>
      </p:sp>
      <p:sp>
        <p:nvSpPr>
          <p:cNvPr id="13" name="Text 11"/>
          <p:cNvSpPr/>
          <p:nvPr/>
        </p:nvSpPr>
        <p:spPr>
          <a:xfrm>
            <a:off x="502920" y="3063240"/>
            <a:ext cx="11155680" cy="685800"/>
          </a:xfrm>
          <a:prstGeom prst="rect">
            <a:avLst/>
          </a:prstGeom>
          <a:noFill/>
          <a:ln/>
        </p:spPr>
        <p:txBody>
          <a:bodyPr wrap="square" lIns="0" tIns="0" rIns="0" bIns="0" rtlCol="0" anchor="ctr"/>
          <a:lstStyle/>
          <a:p>
            <a:pPr indent="0" marL="0">
              <a:buNone/>
            </a:pPr>
            <a:r>
              <a:rPr lang="en-US" sz="1250" dirty="0">
                <a:solidFill>
                  <a:srgbClr val="1A1D21"/>
                </a:solidFill>
                <a:latin typeface="Calibri" pitchFamily="34" charset="0"/>
                <a:ea typeface="Calibri" pitchFamily="34" charset="-122"/>
                <a:cs typeface="Calibri" pitchFamily="34" charset="-120"/>
              </a:rPr>
              <a:t>So the offset is Addis-specific: ≤ 6% of C is instrument-generic — and OLS is the maximum over all errors-in-variables fits, so the bound is hard. Two non-absorber explanations survive — hear them today, not tomorrow:</a:t>
            </a:r>
            <a:endParaRPr lang="en-US" sz="1250" dirty="0"/>
          </a:p>
        </p:txBody>
      </p:sp>
      <p:sp>
        <p:nvSpPr>
          <p:cNvPr id="14" name="Shape 12"/>
          <p:cNvSpPr/>
          <p:nvPr/>
        </p:nvSpPr>
        <p:spPr>
          <a:xfrm>
            <a:off x="502920" y="3840480"/>
            <a:ext cx="5532120" cy="2514600"/>
          </a:xfrm>
          <a:prstGeom prst="roundRect">
            <a:avLst>
              <a:gd name="adj" fmla="val 2909"/>
            </a:avLst>
          </a:prstGeom>
          <a:solidFill>
            <a:srgbClr val="F4F5F3"/>
          </a:solidFill>
          <a:ln w="12700">
            <a:solidFill>
              <a:srgbClr val="DDE0DC"/>
            </a:solidFill>
            <a:prstDash val="solid"/>
          </a:ln>
        </p:spPr>
      </p:sp>
      <p:sp>
        <p:nvSpPr>
          <p:cNvPr id="15" name="Text 13"/>
          <p:cNvSpPr/>
          <p:nvPr/>
        </p:nvSpPr>
        <p:spPr>
          <a:xfrm>
            <a:off x="704088" y="3959352"/>
            <a:ext cx="5120640" cy="365760"/>
          </a:xfrm>
          <a:prstGeom prst="rect">
            <a:avLst/>
          </a:prstGeom>
          <a:noFill/>
          <a:ln/>
        </p:spPr>
        <p:txBody>
          <a:bodyPr wrap="square" lIns="0" tIns="0" rIns="0" bIns="0" rtlCol="0" anchor="ctr"/>
          <a:lstStyle/>
          <a:p>
            <a:pPr indent="0" marL="0">
              <a:buNone/>
            </a:pPr>
            <a:r>
              <a:rPr lang="en-US" sz="1400" b="1" dirty="0">
                <a:solidFill>
                  <a:srgbClr val="1A1D21"/>
                </a:solidFill>
                <a:latin typeface="Calibri" pitchFamily="34" charset="0"/>
                <a:ea typeface="Calibri" pitchFamily="34" charset="-122"/>
                <a:cs typeface="Calibri" pitchFamily="34" charset="-120"/>
              </a:rPr>
              <a:t>① Curve geometry</a:t>
            </a:r>
            <a:endParaRPr lang="en-US" sz="1400" dirty="0"/>
          </a:p>
        </p:txBody>
      </p:sp>
      <p:sp>
        <p:nvSpPr>
          <p:cNvPr id="16" name="Text 14"/>
          <p:cNvSpPr/>
          <p:nvPr/>
        </p:nvSpPr>
        <p:spPr>
          <a:xfrm>
            <a:off x="704088" y="4343400"/>
            <a:ext cx="5166360" cy="1920240"/>
          </a:xfrm>
          <a:prstGeom prst="rect">
            <a:avLst/>
          </a:prstGeom>
          <a:noFill/>
          <a:ln/>
        </p:spPr>
        <p:txBody>
          <a:bodyPr wrap="square" lIns="0" tIns="0" rIns="0" bIns="0" rtlCol="0" anchor="ctr"/>
          <a:lstStyle/>
          <a:p>
            <a:pPr indent="0" marL="0">
              <a:buNone/>
            </a:pPr>
            <a:r>
              <a:rPr lang="en-US" sz="1080" dirty="0">
                <a:solidFill>
                  <a:srgbClr val="5E6369"/>
                </a:solidFill>
                <a:latin typeface="Calibri" pitchFamily="34" charset="0"/>
                <a:ea typeface="Calibri" pitchFamily="34" charset="-122"/>
                <a:cs typeface="Calibri" pitchFamily="34" charset="-120"/>
              </a:rPr>
              <a:t>Fabs is concave in EC across IMPROVE (≈ EC^0.796, through zero) — a straight line through a concave cloud manufactures a negative intercept with no offset present. Per-site intercepts: median 35% of site mean Fabs; Addis is 46%, and ~a third of sites sit at or above that in data whose true offset is ~0. Caveat: the exponent is an upper bound on concavity (Fabs-binned it comes out faintly convex), so this may be smaller than it looks.</a:t>
            </a:r>
            <a:endParaRPr lang="en-US" sz="1080" dirty="0"/>
          </a:p>
        </p:txBody>
      </p:sp>
      <p:sp>
        <p:nvSpPr>
          <p:cNvPr id="17" name="Shape 15"/>
          <p:cNvSpPr/>
          <p:nvPr/>
        </p:nvSpPr>
        <p:spPr>
          <a:xfrm>
            <a:off x="6263640" y="3840480"/>
            <a:ext cx="5532120" cy="2514600"/>
          </a:xfrm>
          <a:prstGeom prst="roundRect">
            <a:avLst>
              <a:gd name="adj" fmla="val 2909"/>
            </a:avLst>
          </a:prstGeom>
          <a:solidFill>
            <a:srgbClr val="F4F5F3"/>
          </a:solidFill>
          <a:ln w="12700">
            <a:solidFill>
              <a:srgbClr val="DDE0DC"/>
            </a:solidFill>
            <a:prstDash val="solid"/>
          </a:ln>
        </p:spPr>
      </p:sp>
      <p:sp>
        <p:nvSpPr>
          <p:cNvPr id="18" name="Text 16"/>
          <p:cNvSpPr/>
          <p:nvPr/>
        </p:nvSpPr>
        <p:spPr>
          <a:xfrm>
            <a:off x="6464808" y="3959352"/>
            <a:ext cx="5120640" cy="365760"/>
          </a:xfrm>
          <a:prstGeom prst="rect">
            <a:avLst/>
          </a:prstGeom>
          <a:noFill/>
          <a:ln/>
        </p:spPr>
        <p:txBody>
          <a:bodyPr wrap="square" lIns="0" tIns="0" rIns="0" bIns="0" rtlCol="0" anchor="ctr"/>
          <a:lstStyle/>
          <a:p>
            <a:pPr indent="0" marL="0">
              <a:buNone/>
            </a:pPr>
            <a:r>
              <a:rPr lang="en-US" sz="1400" b="1" dirty="0">
                <a:solidFill>
                  <a:srgbClr val="1A1D21"/>
                </a:solidFill>
                <a:latin typeface="Calibri" pitchFamily="34" charset="0"/>
                <a:ea typeface="Calibri" pitchFamily="34" charset="-122"/>
                <a:cs typeface="Calibri" pitchFamily="34" charset="-120"/>
              </a:rPr>
              <a:t>② Loading-dependent HIPS artifact</a:t>
            </a:r>
            <a:endParaRPr lang="en-US" sz="1400" dirty="0"/>
          </a:p>
        </p:txBody>
      </p:sp>
      <p:sp>
        <p:nvSpPr>
          <p:cNvPr id="19" name="Text 17"/>
          <p:cNvSpPr/>
          <p:nvPr/>
        </p:nvSpPr>
        <p:spPr>
          <a:xfrm>
            <a:off x="6464808" y="4343400"/>
            <a:ext cx="5166360" cy="1920240"/>
          </a:xfrm>
          <a:prstGeom prst="rect">
            <a:avLst/>
          </a:prstGeom>
          <a:noFill/>
          <a:ln/>
        </p:spPr>
        <p:txBody>
          <a:bodyPr wrap="square" lIns="0" tIns="0" rIns="0" bIns="0" rtlCol="0" anchor="ctr"/>
          <a:lstStyle/>
          <a:p>
            <a:pPr indent="0" marL="0">
              <a:buNone/>
            </a:pPr>
            <a:r>
              <a:rPr lang="en-US" sz="1080" dirty="0">
                <a:solidFill>
                  <a:srgbClr val="5E6369"/>
                </a:solidFill>
                <a:latin typeface="Calibri" pitchFamily="34" charset="0"/>
                <a:ea typeface="Calibri" pitchFamily="34" charset="-122"/>
                <a:cs typeface="Calibri" pitchFamily="34" charset="-120"/>
              </a:rPr>
              <a:t>IMPROVE median Fabs 1.3 vs Addis 47 — a 37× gap that rules out an additive loading-independent offset, but not one growing with loading: per-site intercept grows with loading (r = 0.69), extrapolating to 16.2 Mm⁻¹ ≈ 75% of C. That extrapolation is 6× beyond IMPROVE's largest site — it cannot be closed from IMPROVE data.</a:t>
            </a:r>
            <a:endParaRPr lang="en-US" sz="10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lIns="0" tIns="0" rIns="0" bIns="0" rtlCol="0" anchor="ctr"/>
          <a:lstStyle/>
          <a:p>
            <a:pPr indent="0" marL="0">
              <a:buNone/>
            </a:pPr>
            <a:r>
              <a:rPr lang="en-US" sz="1100" spc="200" kern="0" dirty="0">
                <a:solidFill>
                  <a:srgbClr val="B23327"/>
                </a:solidFill>
                <a:latin typeface="Courier New" pitchFamily="34" charset="0"/>
                <a:ea typeface="Courier New" pitchFamily="34" charset="-122"/>
                <a:cs typeface="Courier New" pitchFamily="34" charset="-120"/>
              </a:rPr>
              <a:t>10 · RESULT — NO INDEPENDENT EC REFERENCE EXISTS IN HAND (FTIR_27, COMMITTED)</a:t>
            </a:r>
            <a:endParaRPr lang="en-US" sz="1100" dirty="0"/>
          </a:p>
        </p:txBody>
      </p:sp>
      <p:sp>
        <p:nvSpPr>
          <p:cNvPr id="3" name="Text 1"/>
          <p:cNvSpPr/>
          <p:nvPr/>
        </p:nvSpPr>
        <p:spPr>
          <a:xfrm>
            <a:off x="502920" y="566928"/>
            <a:ext cx="11183112" cy="868680"/>
          </a:xfrm>
          <a:prstGeom prst="rect">
            <a:avLst/>
          </a:prstGeom>
          <a:noFill/>
          <a:ln/>
        </p:spPr>
        <p:txBody>
          <a:bodyPr wrap="square" lIns="0" tIns="0" rIns="0" bIns="0" rtlCol="0" anchor="t"/>
          <a:lstStyle/>
          <a:p>
            <a:pPr indent="0" marL="0">
              <a:buNone/>
            </a:pPr>
            <a:r>
              <a:rPr lang="en-US" sz="2600" b="1" dirty="0">
                <a:solidFill>
                  <a:srgbClr val="1A1D21"/>
                </a:solidFill>
                <a:latin typeface="Calibri" pitchFamily="34" charset="0"/>
                <a:ea typeface="Calibri" pitchFamily="34" charset="-122"/>
                <a:cs typeface="Calibri" pitchFamily="34" charset="-120"/>
              </a:rPr>
              <a:t>Both ChemSpec carbon columns are circular — BC with Fabs, EC with our own FTIR-EC.</a:t>
            </a:r>
            <a:endParaRPr lang="en-US" sz="2600" dirty="0"/>
          </a:p>
        </p:txBody>
      </p:sp>
      <p:sp>
        <p:nvSpPr>
          <p:cNvPr id="4" name="Shape 2"/>
          <p:cNvSpPr/>
          <p:nvPr/>
        </p:nvSpPr>
        <p:spPr>
          <a:xfrm>
            <a:off x="502920" y="1737360"/>
            <a:ext cx="5532120" cy="1828800"/>
          </a:xfrm>
          <a:prstGeom prst="roundRect">
            <a:avLst>
              <a:gd name="adj" fmla="val 4000"/>
            </a:avLst>
          </a:prstGeom>
          <a:solidFill>
            <a:srgbClr val="F4F5F3"/>
          </a:solidFill>
          <a:ln w="12700">
            <a:solidFill>
              <a:srgbClr val="DDE0DC"/>
            </a:solidFill>
            <a:prstDash val="solid"/>
          </a:ln>
        </p:spPr>
      </p:sp>
      <p:sp>
        <p:nvSpPr>
          <p:cNvPr id="5" name="Text 3"/>
          <p:cNvSpPr/>
          <p:nvPr/>
        </p:nvSpPr>
        <p:spPr>
          <a:xfrm>
            <a:off x="731520" y="1856232"/>
            <a:ext cx="5120640" cy="384048"/>
          </a:xfrm>
          <a:prstGeom prst="rect">
            <a:avLst/>
          </a:prstGeom>
          <a:noFill/>
          <a:ln/>
        </p:spPr>
        <p:txBody>
          <a:bodyPr wrap="square" lIns="0" tIns="0" rIns="0" bIns="0" rtlCol="0" anchor="ctr"/>
          <a:lstStyle/>
          <a:p>
            <a:pPr indent="0" marL="0">
              <a:buNone/>
            </a:pPr>
            <a:r>
              <a:rPr lang="en-US" sz="1600" b="1" dirty="0">
                <a:solidFill>
                  <a:srgbClr val="B23327"/>
                </a:solidFill>
                <a:latin typeface="Calibri" pitchFamily="34" charset="0"/>
                <a:ea typeface="Calibri" pitchFamily="34" charset="-122"/>
                <a:cs typeface="Calibri" pitchFamily="34" charset="-120"/>
              </a:rPr>
              <a:t>ChemSpec_BC  </a:t>
            </a:r>
            <a:pPr indent="0" marL="0">
              <a:buNone/>
            </a:pPr>
            <a:r>
              <a:rPr lang="en-US" sz="1400" dirty="0">
                <a:solidFill>
                  <a:srgbClr val="1A1D21"/>
                </a:solidFill>
                <a:latin typeface="Calibri" pitchFamily="34" charset="0"/>
                <a:ea typeface="Calibri" pitchFamily="34" charset="-122"/>
                <a:cs typeface="Calibri" pitchFamily="34" charset="-120"/>
              </a:rPr>
              <a:t>= round(Fabs/10, 2)</a:t>
            </a:r>
            <a:endParaRPr lang="en-US" sz="1600" dirty="0"/>
          </a:p>
        </p:txBody>
      </p:sp>
      <p:sp>
        <p:nvSpPr>
          <p:cNvPr id="6" name="Text 4"/>
          <p:cNvSpPr/>
          <p:nvPr/>
        </p:nvSpPr>
        <p:spPr>
          <a:xfrm>
            <a:off x="731520" y="2267712"/>
            <a:ext cx="5120640" cy="1234440"/>
          </a:xfrm>
          <a:prstGeom prst="rect">
            <a:avLst/>
          </a:prstGeom>
          <a:noFill/>
          <a:ln/>
        </p:spPr>
        <p:txBody>
          <a:bodyPr wrap="square" lIns="0" tIns="0" rIns="0" bIns="0" rtlCol="0" anchor="ctr"/>
          <a:lstStyle/>
          <a:p>
            <a:pPr indent="0" marL="0">
              <a:buNone/>
            </a:pPr>
            <a:r>
              <a:rPr lang="en-US" sz="1150" dirty="0">
                <a:solidFill>
                  <a:srgbClr val="5E6369"/>
                </a:solidFill>
                <a:latin typeface="Calibri" pitchFamily="34" charset="0"/>
                <a:ea typeface="Calibri" pitchFamily="34" charset="-122"/>
                <a:cs typeface="Calibri" pitchFamily="34" charset="-120"/>
              </a:rPr>
              <a:t>bit-for-bit on 163/188 ETAD filters; 23 of 25 SPARTAN sites give a BC slope within 1% of 10. Circular with the x-axis.</a:t>
            </a:r>
            <a:endParaRPr lang="en-US" sz="1150" dirty="0"/>
          </a:p>
        </p:txBody>
      </p:sp>
      <p:sp>
        <p:nvSpPr>
          <p:cNvPr id="7" name="Shape 5"/>
          <p:cNvSpPr/>
          <p:nvPr/>
        </p:nvSpPr>
        <p:spPr>
          <a:xfrm>
            <a:off x="6263640" y="1737360"/>
            <a:ext cx="5532120" cy="1828800"/>
          </a:xfrm>
          <a:prstGeom prst="roundRect">
            <a:avLst>
              <a:gd name="adj" fmla="val 4000"/>
            </a:avLst>
          </a:prstGeom>
          <a:solidFill>
            <a:srgbClr val="F4F5F3"/>
          </a:solidFill>
          <a:ln w="12700">
            <a:solidFill>
              <a:srgbClr val="DDE0DC"/>
            </a:solidFill>
            <a:prstDash val="solid"/>
          </a:ln>
        </p:spPr>
      </p:sp>
      <p:sp>
        <p:nvSpPr>
          <p:cNvPr id="8" name="Text 6"/>
          <p:cNvSpPr/>
          <p:nvPr/>
        </p:nvSpPr>
        <p:spPr>
          <a:xfrm>
            <a:off x="6492240" y="1856232"/>
            <a:ext cx="5120640" cy="384048"/>
          </a:xfrm>
          <a:prstGeom prst="rect">
            <a:avLst/>
          </a:prstGeom>
          <a:noFill/>
          <a:ln/>
        </p:spPr>
        <p:txBody>
          <a:bodyPr wrap="square" lIns="0" tIns="0" rIns="0" bIns="0" rtlCol="0" anchor="ctr"/>
          <a:lstStyle/>
          <a:p>
            <a:pPr indent="0" marL="0">
              <a:buNone/>
            </a:pPr>
            <a:r>
              <a:rPr lang="en-US" sz="1600" b="1" dirty="0">
                <a:solidFill>
                  <a:srgbClr val="7A4FA3"/>
                </a:solidFill>
                <a:latin typeface="Calibri" pitchFamily="34" charset="0"/>
                <a:ea typeface="Calibri" pitchFamily="34" charset="-122"/>
                <a:cs typeface="Calibri" pitchFamily="34" charset="-120"/>
              </a:rPr>
              <a:t>ChemSpec_EC  </a:t>
            </a:r>
            <a:pPr indent="0" marL="0">
              <a:buNone/>
            </a:pPr>
            <a:r>
              <a:rPr lang="en-US" sz="1400" dirty="0">
                <a:solidFill>
                  <a:srgbClr val="1A1D21"/>
                </a:solidFill>
                <a:latin typeface="Calibri" pitchFamily="34" charset="0"/>
                <a:ea typeface="Calibri" pitchFamily="34" charset="-122"/>
                <a:cs typeface="Calibri" pitchFamily="34" charset="-120"/>
              </a:rPr>
              <a:t>= EC_ftir, rounded</a:t>
            </a:r>
            <a:endParaRPr lang="en-US" sz="1600" dirty="0"/>
          </a:p>
        </p:txBody>
      </p:sp>
      <p:sp>
        <p:nvSpPr>
          <p:cNvPr id="9" name="Text 7"/>
          <p:cNvSpPr/>
          <p:nvPr/>
        </p:nvSpPr>
        <p:spPr>
          <a:xfrm>
            <a:off x="6492240" y="2267712"/>
            <a:ext cx="5120640" cy="1234440"/>
          </a:xfrm>
          <a:prstGeom prst="rect">
            <a:avLst/>
          </a:prstGeom>
          <a:noFill/>
          <a:ln/>
        </p:spPr>
        <p:txBody>
          <a:bodyPr wrap="square" lIns="0" tIns="0" rIns="0" bIns="0" rtlCol="0" anchor="ctr"/>
          <a:lstStyle/>
          <a:p>
            <a:pPr indent="0" marL="0">
              <a:buNone/>
            </a:pPr>
            <a:r>
              <a:rPr lang="en-US" sz="1150" dirty="0">
                <a:solidFill>
                  <a:srgbClr val="5E6369"/>
                </a:solidFill>
                <a:latin typeface="Calibri" pitchFamily="34" charset="0"/>
                <a:ea typeface="Calibri" pitchFamily="34" charset="-122"/>
                <a:cs typeface="Calibri" pitchFamily="34" charset="-120"/>
              </a:rPr>
              <a:t>r² = 0.9997, ratio median 1.0000, median |Δ| = 0.0030 µg/m³ — exactly the 2-dp rounding half-width; exact on 164/175. Circular with the y-axis.</a:t>
            </a:r>
            <a:endParaRPr lang="en-US" sz="1150" dirty="0"/>
          </a:p>
        </p:txBody>
      </p:sp>
      <p:sp>
        <p:nvSpPr>
          <p:cNvPr id="10" name="Text 8"/>
          <p:cNvSpPr/>
          <p:nvPr/>
        </p:nvSpPr>
        <p:spPr>
          <a:xfrm>
            <a:off x="502920" y="3931920"/>
            <a:ext cx="11155680" cy="1554480"/>
          </a:xfrm>
          <a:prstGeom prst="rect">
            <a:avLst/>
          </a:prstGeom>
          <a:noFill/>
          <a:ln/>
        </p:spPr>
        <p:txBody>
          <a:bodyPr wrap="square" lIns="0" tIns="0" rIns="0" bIns="0" rtlCol="0" anchor="t"/>
          <a:lstStyle/>
          <a:p>
            <a:pPr algn="l" indent="0" marL="0">
              <a:spcAft>
                <a:spcPts val="800"/>
              </a:spcAft>
              <a:buNone/>
            </a:pPr>
            <a:r>
              <a:rPr lang="en-US" sz="1200" dirty="0">
                <a:solidFill>
                  <a:srgbClr val="1A1D21"/>
                </a:solidFill>
                <a:latin typeface="Calibri" pitchFamily="34" charset="0"/>
                <a:ea typeface="Calibri" pitchFamily="34" charset="-122"/>
                <a:cs typeface="Calibri" pitchFamily="34" charset="-120"/>
              </a:rPr>
              <a:t>I briefly wrote ChemSpec_EC up as the independent reference; the audit standard caught it within hours — the tell was that its R² against Fabs matches FTIR-EC's own, because it is FTIR-EC. Corrected and pushed.</a:t>
            </a:r>
            <a:endParaRPr lang="en-US" sz="1200" dirty="0"/>
          </a:p>
          <a:p>
            <a:pPr algn="l" indent="0" marL="0">
              <a:spcAft>
                <a:spcPts val="800"/>
              </a:spcAft>
              <a:buNone/>
            </a:pPr>
            <a:r>
              <a:rPr lang="en-US" sz="1250" b="1" dirty="0">
                <a:solidFill>
                  <a:srgbClr val="1A1D21"/>
                </a:solidFill>
                <a:latin typeface="Calibri" pitchFamily="34" charset="0"/>
                <a:ea typeface="Calibri" pitchFamily="34" charset="-122"/>
                <a:cs typeface="Calibri" pitchFamily="34" charset="-120"/>
              </a:rPr>
              <a:t>Consequence: nothing in the committed data can arbitrate between the surviving explanations — or the MAC fork. Every EC reference we hold is circular with one axis or the other. That is what promotes quartz TOR from one ask to the ask.</a:t>
            </a:r>
            <a:endParaRPr lang="en-US" sz="1200" dirty="0"/>
          </a:p>
        </p:txBody>
      </p:sp>
      <p:sp>
        <p:nvSpPr>
          <p:cNvPr id="11" name="Shape 9"/>
          <p:cNvSpPr/>
          <p:nvPr/>
        </p:nvSpPr>
        <p:spPr>
          <a:xfrm>
            <a:off x="502920" y="5760720"/>
            <a:ext cx="3470148" cy="384048"/>
          </a:xfrm>
          <a:prstGeom prst="roundRect">
            <a:avLst>
              <a:gd name="adj" fmla="val 14286"/>
            </a:avLst>
          </a:prstGeom>
          <a:solidFill>
            <a:srgbClr val="F4F5F3"/>
          </a:solidFill>
          <a:ln w="9525">
            <a:solidFill>
              <a:srgbClr val="DDE0DC"/>
            </a:solidFill>
            <a:prstDash val="solid"/>
          </a:ln>
        </p:spPr>
      </p:sp>
      <p:sp>
        <p:nvSpPr>
          <p:cNvPr id="12" name="Text 10"/>
          <p:cNvSpPr/>
          <p:nvPr/>
        </p:nvSpPr>
        <p:spPr>
          <a:xfrm>
            <a:off x="576072" y="5760720"/>
            <a:ext cx="3378708" cy="38404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independent EC references in hand  </a:t>
            </a:r>
            <a:pPr indent="0" marL="0">
              <a:buNone/>
            </a:pPr>
            <a:r>
              <a:rPr lang="en-US" sz="1100" b="1" dirty="0">
                <a:solidFill>
                  <a:srgbClr val="B23327"/>
                </a:solidFill>
                <a:latin typeface="Calibri" pitchFamily="34" charset="0"/>
                <a:ea typeface="Calibri" pitchFamily="34" charset="-122"/>
                <a:cs typeface="Calibri" pitchFamily="34" charset="-120"/>
              </a:rPr>
              <a:t>0</a:t>
            </a:r>
            <a:endParaRPr lang="en-US" sz="1100" dirty="0"/>
          </a:p>
        </p:txBody>
      </p:sp>
      <p:sp>
        <p:nvSpPr>
          <p:cNvPr id="13" name="Shape 11"/>
          <p:cNvSpPr/>
          <p:nvPr/>
        </p:nvSpPr>
        <p:spPr>
          <a:xfrm>
            <a:off x="4137660" y="5760720"/>
            <a:ext cx="3941064" cy="384048"/>
          </a:xfrm>
          <a:prstGeom prst="roundRect">
            <a:avLst>
              <a:gd name="adj" fmla="val 14286"/>
            </a:avLst>
          </a:prstGeom>
          <a:solidFill>
            <a:srgbClr val="F4F5F3"/>
          </a:solidFill>
          <a:ln w="9525">
            <a:solidFill>
              <a:srgbClr val="DDE0DC"/>
            </a:solidFill>
            <a:prstDash val="solid"/>
          </a:ln>
        </p:spPr>
      </p:sp>
      <p:sp>
        <p:nvSpPr>
          <p:cNvPr id="14" name="Text 12"/>
          <p:cNvSpPr/>
          <p:nvPr/>
        </p:nvSpPr>
        <p:spPr>
          <a:xfrm>
            <a:off x="4210812" y="5760720"/>
            <a:ext cx="3849624" cy="38404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what separates the survivors  </a:t>
            </a:r>
            <a:pPr indent="0" marL="0">
              <a:buNone/>
            </a:pPr>
            <a:r>
              <a:rPr lang="en-US" sz="1100" b="1" dirty="0">
                <a:solidFill>
                  <a:srgbClr val="3F7A56"/>
                </a:solidFill>
                <a:latin typeface="Calibri" pitchFamily="34" charset="0"/>
                <a:ea typeface="Calibri" pitchFamily="34" charset="-122"/>
                <a:cs typeface="Calibri" pitchFamily="34" charset="-120"/>
              </a:rPr>
              <a:t>quartz TOR</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lIns="0" tIns="0" rIns="0" bIns="0" rtlCol="0" anchor="ctr"/>
          <a:lstStyle/>
          <a:p>
            <a:pPr indent="0" marL="0">
              <a:buNone/>
            </a:pPr>
            <a:r>
              <a:rPr lang="en-US" sz="1100" spc="200" kern="0" dirty="0">
                <a:solidFill>
                  <a:srgbClr val="B23327"/>
                </a:solidFill>
                <a:latin typeface="Courier New" pitchFamily="34" charset="0"/>
                <a:ea typeface="Courier New" pitchFamily="34" charset="-122"/>
                <a:cs typeface="Courier New" pitchFamily="34" charset="-120"/>
              </a:rPr>
              <a:t>11 · RESOLVED THIS MORNING</a:t>
            </a:r>
            <a:endParaRPr lang="en-US" sz="1100" dirty="0"/>
          </a:p>
        </p:txBody>
      </p:sp>
      <p:sp>
        <p:nvSpPr>
          <p:cNvPr id="3" name="Text 1"/>
          <p:cNvSpPr/>
          <p:nvPr/>
        </p:nvSpPr>
        <p:spPr>
          <a:xfrm>
            <a:off x="502920" y="566928"/>
            <a:ext cx="11183112" cy="868680"/>
          </a:xfrm>
          <a:prstGeom prst="rect">
            <a:avLst/>
          </a:prstGeom>
          <a:noFill/>
          <a:ln/>
        </p:spPr>
        <p:txBody>
          <a:bodyPr wrap="square" lIns="0" tIns="0" rIns="0" bIns="0" rtlCol="0" anchor="t"/>
          <a:lstStyle/>
          <a:p>
            <a:pPr indent="0" marL="0">
              <a:buNone/>
            </a:pPr>
            <a:r>
              <a:rPr lang="en-US" sz="2600" b="1" dirty="0">
                <a:solidFill>
                  <a:srgbClr val="1A1D21"/>
                </a:solidFill>
                <a:latin typeface="Calibri" pitchFamily="34" charset="0"/>
                <a:ea typeface="Calibri" pitchFamily="34" charset="-122"/>
                <a:cs typeface="Calibri" pitchFamily="34" charset="-120"/>
              </a:rPr>
              <a:t>HIPS is the He–Ne line: 632.8 ≈ 633 nm — and MAC 10 belongs to 633.</a:t>
            </a:r>
            <a:endParaRPr lang="en-US" sz="2600" dirty="0"/>
          </a:p>
        </p:txBody>
      </p:sp>
      <p:sp>
        <p:nvSpPr>
          <p:cNvPr id="4" name="Shape 2"/>
          <p:cNvSpPr/>
          <p:nvPr/>
        </p:nvSpPr>
        <p:spPr>
          <a:xfrm>
            <a:off x="502920" y="1691640"/>
            <a:ext cx="3383280" cy="4023360"/>
          </a:xfrm>
          <a:prstGeom prst="roundRect">
            <a:avLst>
              <a:gd name="adj" fmla="val 2162"/>
            </a:avLst>
          </a:prstGeom>
          <a:solidFill>
            <a:srgbClr val="1A1D21"/>
          </a:solidFill>
          <a:ln/>
        </p:spPr>
      </p:sp>
      <p:sp>
        <p:nvSpPr>
          <p:cNvPr id="5" name="Text 3"/>
          <p:cNvSpPr/>
          <p:nvPr/>
        </p:nvSpPr>
        <p:spPr>
          <a:xfrm>
            <a:off x="731520" y="1920240"/>
            <a:ext cx="2926080" cy="1188720"/>
          </a:xfrm>
          <a:prstGeom prst="rect">
            <a:avLst/>
          </a:prstGeom>
          <a:noFill/>
          <a:ln/>
        </p:spPr>
        <p:txBody>
          <a:bodyPr wrap="square" lIns="0" tIns="0" rIns="0" bIns="0" rtlCol="0" anchor="ctr"/>
          <a:lstStyle/>
          <a:p>
            <a:pPr indent="0" marL="0">
              <a:buNone/>
            </a:pPr>
            <a:r>
              <a:rPr lang="en-US" sz="7200" b="1" dirty="0">
                <a:solidFill>
                  <a:srgbClr val="FFFFFF"/>
                </a:solidFill>
                <a:latin typeface="Calibri" pitchFamily="34" charset="0"/>
                <a:ea typeface="Calibri" pitchFamily="34" charset="-122"/>
                <a:cs typeface="Calibri" pitchFamily="34" charset="-120"/>
              </a:rPr>
              <a:t>633</a:t>
            </a:r>
            <a:endParaRPr lang="en-US" sz="7200" dirty="0"/>
          </a:p>
        </p:txBody>
      </p:sp>
      <p:sp>
        <p:nvSpPr>
          <p:cNvPr id="6" name="Text 4"/>
          <p:cNvSpPr/>
          <p:nvPr/>
        </p:nvSpPr>
        <p:spPr>
          <a:xfrm>
            <a:off x="731520" y="3200400"/>
            <a:ext cx="2926080" cy="82296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nm — He–Ne 632.8, rounded.</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MAC = 10 m²/g at 633.</a:t>
            </a:r>
            <a:endParaRPr lang="en-US" sz="1300" dirty="0"/>
          </a:p>
        </p:txBody>
      </p:sp>
      <p:sp>
        <p:nvSpPr>
          <p:cNvPr id="7" name="Text 5"/>
          <p:cNvSpPr/>
          <p:nvPr/>
        </p:nvSpPr>
        <p:spPr>
          <a:xfrm>
            <a:off x="731520" y="4343400"/>
            <a:ext cx="2926080" cy="1188720"/>
          </a:xfrm>
          <a:prstGeom prst="rect">
            <a:avLst/>
          </a:prstGeom>
          <a:noFill/>
          <a:ln/>
        </p:spPr>
        <p:txBody>
          <a:bodyPr wrap="square" lIns="0" tIns="0" rIns="0" bIns="0" rtlCol="0" anchor="ctr"/>
          <a:lstStyle/>
          <a:p>
            <a:pPr indent="0" marL="0">
              <a:buNone/>
            </a:pPr>
            <a:r>
              <a:rPr lang="en-US" sz="1100" dirty="0">
                <a:solidFill>
                  <a:srgbClr val="767C83"/>
                </a:solidFill>
                <a:latin typeface="Calibri" pitchFamily="34" charset="0"/>
                <a:ea typeface="Calibri" pitchFamily="34" charset="-122"/>
                <a:cs typeface="Calibri" pitchFamily="34" charset="-120"/>
              </a:rPr>
              <a:t>Corrected in this commit: the 405 nm premise in RESEARCH_PROGRESS · both OPEN cells in the optics reference · the one-pager's hedges.</a:t>
            </a:r>
            <a:endParaRPr lang="en-US" sz="1100" dirty="0"/>
          </a:p>
        </p:txBody>
      </p:sp>
      <p:sp>
        <p:nvSpPr>
          <p:cNvPr id="8" name="Text 6"/>
          <p:cNvSpPr/>
          <p:nvPr/>
        </p:nvSpPr>
        <p:spPr>
          <a:xfrm>
            <a:off x="4206240" y="1691640"/>
            <a:ext cx="7498080" cy="3657600"/>
          </a:xfrm>
          <a:prstGeom prst="rect">
            <a:avLst/>
          </a:prstGeom>
          <a:noFill/>
          <a:ln/>
        </p:spPr>
        <p:txBody>
          <a:bodyPr wrap="square" lIns="0" tIns="0" rIns="0" bIns="0" rtlCol="0" anchor="t"/>
          <a:lstStyle/>
          <a:p>
            <a:pPr algn="l" indent="0" marL="0">
              <a:spcAft>
                <a:spcPts val="800"/>
              </a:spcAft>
              <a:buNone/>
            </a:pPr>
            <a:r>
              <a:rPr lang="en-US" sz="1250" dirty="0">
                <a:solidFill>
                  <a:srgbClr val="1A1D21"/>
                </a:solidFill>
                <a:latin typeface="Calibri" pitchFamily="34" charset="0"/>
                <a:ea typeface="Calibri" pitchFamily="34" charset="-122"/>
                <a:cs typeface="Calibri" pitchFamily="34" charset="-120"/>
              </a:rPr>
              <a:t>Sources, both SPARTAN-side: the Instruments page (HeNe laser, 632 nm — and it names your group as running the HIPS analysis) and the 2025 SPARTAN methods paper (He–Ne at 633 nm; MAC 10 at 633). IMPROVE literature reports 633. The 632/633 spread is rounding of the same laser line.</a:t>
            </a:r>
            <a:endParaRPr lang="en-US" sz="1250" dirty="0"/>
          </a:p>
          <a:p>
            <a:pPr algn="l" indent="0" marL="0">
              <a:spcAft>
                <a:spcPts val="800"/>
              </a:spcAft>
              <a:buNone/>
            </a:pPr>
            <a:r>
              <a:rPr lang="en-US" sz="1250" dirty="0">
                <a:solidFill>
                  <a:srgbClr val="1A1D21"/>
                </a:solidFill>
                <a:latin typeface="Calibri" pitchFamily="34" charset="0"/>
                <a:ea typeface="Calibri" pitchFamily="34" charset="-122"/>
                <a:cs typeface="Calibri" pitchFamily="34" charset="-120"/>
              </a:rPr>
              <a:t>Consequences: the AERONET dust null was aimed at the right wavelength after all — and dust absorbs less at 633 than 405, so it strengthens and narrows “real non-EC absorption” toward brown carbon. Classic BrC absorbs weakly at 633, so the non-absorber explanations gain weight correspondingly. The headline ask is untouched: quartz TOR separates the survivors at any wavelength.</a:t>
            </a:r>
            <a:endParaRPr lang="en-US" sz="1250" dirty="0"/>
          </a:p>
          <a:p>
            <a:pPr algn="l" indent="0" marL="0">
              <a:spcAft>
                <a:spcPts val="800"/>
              </a:spcAft>
              <a:buNone/>
            </a:pPr>
            <a:r>
              <a:rPr lang="en-US" sz="1250" b="1" dirty="0">
                <a:solidFill>
                  <a:srgbClr val="1A1D21"/>
                </a:solidFill>
                <a:latin typeface="Calibri" pitchFamily="34" charset="0"/>
                <a:ea typeface="Calibri" pitchFamily="34" charset="-122"/>
                <a:cs typeface="Calibri" pitchFamily="34" charset="-120"/>
              </a:rPr>
              <a:t>Remaining question — semantics, not existence: HIPS_Uncertainty exists as its own parameter row (190/190, median 2.91 Mm⁻¹ = 6.2% of Fabs → Deming λ* ≈ 3; λ = 1 overstates the EIV intercept correction by ~55%). Is that field counting statistics, repeatability, or propagated calibration uncertainty?</a:t>
            </a:r>
            <a:endParaRPr lang="en-US" sz="1250" dirty="0"/>
          </a:p>
        </p:txBody>
      </p:sp>
      <p:sp>
        <p:nvSpPr>
          <p:cNvPr id="9" name="Shape 7"/>
          <p:cNvSpPr/>
          <p:nvPr/>
        </p:nvSpPr>
        <p:spPr>
          <a:xfrm>
            <a:off x="4206240" y="5623560"/>
            <a:ext cx="1997964" cy="384048"/>
          </a:xfrm>
          <a:prstGeom prst="roundRect">
            <a:avLst>
              <a:gd name="adj" fmla="val 14286"/>
            </a:avLst>
          </a:prstGeom>
          <a:solidFill>
            <a:srgbClr val="F4F5F3"/>
          </a:solidFill>
          <a:ln w="9525">
            <a:solidFill>
              <a:srgbClr val="DDE0DC"/>
            </a:solidFill>
            <a:prstDash val="solid"/>
          </a:ln>
        </p:spPr>
      </p:sp>
      <p:sp>
        <p:nvSpPr>
          <p:cNvPr id="10" name="Text 8"/>
          <p:cNvSpPr/>
          <p:nvPr/>
        </p:nvSpPr>
        <p:spPr>
          <a:xfrm>
            <a:off x="4279392" y="5623560"/>
            <a:ext cx="1906524" cy="38404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λ  </a:t>
            </a:r>
            <a:pPr indent="0" marL="0">
              <a:buNone/>
            </a:pPr>
            <a:r>
              <a:rPr lang="en-US" sz="1100" b="1" dirty="0">
                <a:solidFill>
                  <a:srgbClr val="3F7A56"/>
                </a:solidFill>
                <a:latin typeface="Calibri" pitchFamily="34" charset="0"/>
                <a:ea typeface="Calibri" pitchFamily="34" charset="-122"/>
                <a:cs typeface="Calibri" pitchFamily="34" charset="-120"/>
              </a:rPr>
              <a:t>632.8 ≈ 633 nm</a:t>
            </a:r>
            <a:endParaRPr lang="en-US" sz="1100" dirty="0"/>
          </a:p>
        </p:txBody>
      </p:sp>
      <p:sp>
        <p:nvSpPr>
          <p:cNvPr id="11" name="Shape 9"/>
          <p:cNvSpPr/>
          <p:nvPr/>
        </p:nvSpPr>
        <p:spPr>
          <a:xfrm>
            <a:off x="6368796" y="5623560"/>
            <a:ext cx="1568196" cy="384048"/>
          </a:xfrm>
          <a:prstGeom prst="roundRect">
            <a:avLst>
              <a:gd name="adj" fmla="val 14286"/>
            </a:avLst>
          </a:prstGeom>
          <a:solidFill>
            <a:srgbClr val="F4F5F3"/>
          </a:solidFill>
          <a:ln w="9525">
            <a:solidFill>
              <a:srgbClr val="DDE0DC"/>
            </a:solidFill>
            <a:prstDash val="solid"/>
          </a:ln>
        </p:spPr>
      </p:sp>
      <p:sp>
        <p:nvSpPr>
          <p:cNvPr id="12" name="Text 10"/>
          <p:cNvSpPr/>
          <p:nvPr/>
        </p:nvSpPr>
        <p:spPr>
          <a:xfrm>
            <a:off x="6441948" y="5623560"/>
            <a:ext cx="1476756" cy="38404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MAC  </a:t>
            </a:r>
            <a:pPr indent="0" marL="0">
              <a:buNone/>
            </a:pPr>
            <a:r>
              <a:rPr lang="en-US" sz="1100" b="1" dirty="0">
                <a:solidFill>
                  <a:srgbClr val="3F7A56"/>
                </a:solidFill>
                <a:latin typeface="Calibri" pitchFamily="34" charset="0"/>
                <a:ea typeface="Calibri" pitchFamily="34" charset="-122"/>
                <a:cs typeface="Calibri" pitchFamily="34" charset="-120"/>
              </a:rPr>
              <a:t>10 @ 633</a:t>
            </a:r>
            <a:endParaRPr lang="en-US" sz="1100" dirty="0"/>
          </a:p>
        </p:txBody>
      </p:sp>
      <p:sp>
        <p:nvSpPr>
          <p:cNvPr id="13" name="Shape 11"/>
          <p:cNvSpPr/>
          <p:nvPr/>
        </p:nvSpPr>
        <p:spPr>
          <a:xfrm>
            <a:off x="8101584" y="5623560"/>
            <a:ext cx="2596896" cy="384048"/>
          </a:xfrm>
          <a:prstGeom prst="roundRect">
            <a:avLst>
              <a:gd name="adj" fmla="val 14286"/>
            </a:avLst>
          </a:prstGeom>
          <a:solidFill>
            <a:srgbClr val="F4F5F3"/>
          </a:solidFill>
          <a:ln w="9525">
            <a:solidFill>
              <a:srgbClr val="DDE0DC"/>
            </a:solidFill>
            <a:prstDash val="solid"/>
          </a:ln>
        </p:spPr>
      </p:sp>
      <p:sp>
        <p:nvSpPr>
          <p:cNvPr id="14" name="Text 12"/>
          <p:cNvSpPr/>
          <p:nvPr/>
        </p:nvSpPr>
        <p:spPr>
          <a:xfrm>
            <a:off x="8174736" y="5623560"/>
            <a:ext cx="2505456" cy="38404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HIPS_Uncertainty  </a:t>
            </a:r>
            <a:pPr indent="0" marL="0">
              <a:buNone/>
            </a:pPr>
            <a:r>
              <a:rPr lang="en-US" sz="1100" b="1" dirty="0">
                <a:solidFill>
                  <a:srgbClr val="2C6E9E"/>
                </a:solidFill>
                <a:latin typeface="Calibri" pitchFamily="34" charset="0"/>
                <a:ea typeface="Calibri" pitchFamily="34" charset="-122"/>
                <a:cs typeface="Calibri" pitchFamily="34" charset="-120"/>
              </a:rPr>
              <a:t>190/190</a:t>
            </a:r>
            <a:endParaRPr lang="en-US" sz="1100" dirty="0"/>
          </a:p>
        </p:txBody>
      </p:sp>
      <p:sp>
        <p:nvSpPr>
          <p:cNvPr id="15" name="Shape 13"/>
          <p:cNvSpPr/>
          <p:nvPr/>
        </p:nvSpPr>
        <p:spPr>
          <a:xfrm>
            <a:off x="10863072" y="5623560"/>
            <a:ext cx="1280160" cy="384048"/>
          </a:xfrm>
          <a:prstGeom prst="roundRect">
            <a:avLst>
              <a:gd name="adj" fmla="val 14286"/>
            </a:avLst>
          </a:prstGeom>
          <a:solidFill>
            <a:srgbClr val="F4F5F3"/>
          </a:solidFill>
          <a:ln w="9525">
            <a:solidFill>
              <a:srgbClr val="DDE0DC"/>
            </a:solidFill>
            <a:prstDash val="solid"/>
          </a:ln>
        </p:spPr>
      </p:sp>
      <p:sp>
        <p:nvSpPr>
          <p:cNvPr id="16" name="Text 14"/>
          <p:cNvSpPr/>
          <p:nvPr/>
        </p:nvSpPr>
        <p:spPr>
          <a:xfrm>
            <a:off x="10936224" y="5623560"/>
            <a:ext cx="1188720" cy="38404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λ*  </a:t>
            </a:r>
            <a:pPr indent="0" marL="0">
              <a:buNone/>
            </a:pPr>
            <a:r>
              <a:rPr lang="en-US" sz="1100" b="1" dirty="0">
                <a:solidFill>
                  <a:srgbClr val="2C6E9E"/>
                </a:solidFill>
                <a:latin typeface="Calibri" pitchFamily="34" charset="0"/>
                <a:ea typeface="Calibri" pitchFamily="34" charset="-122"/>
                <a:cs typeface="Calibri" pitchFamily="34" charset="-120"/>
              </a:rPr>
              <a:t>≈ 2.96</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lIns="0" tIns="0" rIns="0" bIns="0" rtlCol="0" anchor="ctr"/>
          <a:lstStyle/>
          <a:p>
            <a:pPr indent="0" marL="0">
              <a:buNone/>
            </a:pPr>
            <a:r>
              <a:rPr lang="en-US" sz="1100" spc="200" kern="0" dirty="0">
                <a:solidFill>
                  <a:srgbClr val="B23327"/>
                </a:solidFill>
                <a:latin typeface="Courier New" pitchFamily="34" charset="0"/>
                <a:ea typeface="Courier New" pitchFamily="34" charset="-122"/>
                <a:cs typeface="Courier New" pitchFamily="34" charset="-120"/>
              </a:rPr>
              <a:t>12 · THE MAC FORK, IN TWO FIGURES</a:t>
            </a:r>
            <a:endParaRPr lang="en-US" sz="1100" dirty="0"/>
          </a:p>
        </p:txBody>
      </p:sp>
      <p:sp>
        <p:nvSpPr>
          <p:cNvPr id="3" name="Text 1"/>
          <p:cNvSpPr/>
          <p:nvPr/>
        </p:nvSpPr>
        <p:spPr>
          <a:xfrm>
            <a:off x="502920" y="566928"/>
            <a:ext cx="11183112" cy="868680"/>
          </a:xfrm>
          <a:prstGeom prst="rect">
            <a:avLst/>
          </a:prstGeom>
          <a:noFill/>
          <a:ln/>
        </p:spPr>
        <p:txBody>
          <a:bodyPr wrap="square" lIns="0" tIns="0" rIns="0" bIns="0" rtlCol="0" anchor="t"/>
          <a:lstStyle/>
          <a:p>
            <a:pPr indent="0" marL="0">
              <a:buNone/>
            </a:pPr>
            <a:r>
              <a:rPr lang="en-US" sz="2600" b="1" dirty="0">
                <a:solidFill>
                  <a:srgbClr val="1A1D21"/>
                </a:solidFill>
                <a:latin typeface="Calibri" pitchFamily="34" charset="0"/>
                <a:ea typeface="Calibri" pitchFamily="34" charset="-122"/>
                <a:cs typeface="Calibri" pitchFamily="34" charset="-120"/>
              </a:rPr>
              <a:t>MAC cannot move any intercept — and the IMPROVE bridge puts MAC ≈ 10 at Addis-like composition.</a:t>
            </a:r>
            <a:endParaRPr lang="en-US" sz="2600" dirty="0"/>
          </a:p>
        </p:txBody>
      </p:sp>
      <p:sp>
        <p:nvSpPr>
          <p:cNvPr id="4" name="Shape 2"/>
          <p:cNvSpPr/>
          <p:nvPr/>
        </p:nvSpPr>
        <p:spPr>
          <a:xfrm>
            <a:off x="502920" y="1600200"/>
            <a:ext cx="5577840" cy="4270248"/>
          </a:xfrm>
          <a:prstGeom prst="rect">
            <a:avLst/>
          </a:prstGeom>
          <a:solidFill>
            <a:srgbClr val="FFFFFF"/>
          </a:solidFill>
          <a:ln w="12700">
            <a:solidFill>
              <a:srgbClr val="DDE0DC"/>
            </a:solidFill>
            <a:prstDash val="solid"/>
          </a:ln>
          <a:effectLst>
            <a:outerShdw sx="100000" sy="100000" kx="0" ky="0" algn="bl" rotWithShape="0" blurRad="76200" dist="25400" dir="5400000">
              <a:srgbClr val="000000">
                <a:alpha val="18000"/>
              </a:srgbClr>
            </a:outerShdw>
          </a:effectLst>
        </p:spPr>
      </p:sp>
      <p:pic>
        <p:nvPicPr>
          <p:cNvPr id="5" name="Image 0" descr="/Users/ahmadjalil/github/aethmodular/research/ftir_ec_phase3/output/plots/deck/by_protocol/site_held_out/mac_slope_pivot.png">    </p:cNvPr>
          <p:cNvPicPr>
            <a:picLocks noChangeAspect="1"/>
          </p:cNvPicPr>
          <p:nvPr/>
        </p:nvPicPr>
        <p:blipFill>
          <a:blip r:embed="rId1"/>
          <a:srcRect l="0" r="0" t="0" b="0"/>
          <a:stretch/>
        </p:blipFill>
        <p:spPr>
          <a:xfrm>
            <a:off x="557784" y="1655064"/>
            <a:ext cx="5468112" cy="3867912"/>
          </a:xfrm>
          <a:prstGeom prst="rect">
            <a:avLst/>
          </a:prstGeom>
        </p:spPr>
      </p:pic>
      <p:sp>
        <p:nvSpPr>
          <p:cNvPr id="6" name="Text 3"/>
          <p:cNvSpPr/>
          <p:nvPr/>
        </p:nvSpPr>
        <p:spPr>
          <a:xfrm>
            <a:off x="594360" y="5559552"/>
            <a:ext cx="5394960" cy="292608"/>
          </a:xfrm>
          <a:prstGeom prst="rect">
            <a:avLst/>
          </a:prstGeom>
          <a:noFill/>
          <a:ln/>
        </p:spPr>
        <p:txBody>
          <a:bodyPr wrap="square" lIns="0" tIns="0" rIns="0" bIns="0" rtlCol="0" anchor="ctr"/>
          <a:lstStyle/>
          <a:p>
            <a:pPr indent="0" marL="0">
              <a:buNone/>
            </a:pPr>
            <a:r>
              <a:rPr lang="en-US" sz="850" dirty="0">
                <a:solidFill>
                  <a:srgbClr val="8A9098"/>
                </a:solidFill>
                <a:latin typeface="Courier New" pitchFamily="34" charset="0"/>
                <a:ea typeface="Courier New" pitchFamily="34" charset="-122"/>
                <a:cs typeface="Courier New" pitchFamily="34" charset="-120"/>
              </a:rPr>
              <a:t>by_protocol/site_held_out · mac_slope_pivot   </a:t>
            </a:r>
            <a:pPr indent="0" marL="0">
              <a:buNone/>
            </a:pPr>
            <a:r>
              <a:rPr lang="en-US" sz="950" i="1" dirty="0">
                <a:solidFill>
                  <a:srgbClr val="5E6369"/>
                </a:solidFill>
                <a:latin typeface="Calibri" pitchFamily="34" charset="0"/>
                <a:ea typeface="Calibri" pitchFamily="34" charset="-122"/>
                <a:cs typeface="Calibri" pitchFamily="34" charset="-120"/>
              </a:rPr>
              <a:t>x = Fabs/MAC: intercept and R² exact, slope ×0.6 going 10 → 6</a:t>
            </a:r>
            <a:endParaRPr lang="en-US" sz="850" dirty="0"/>
          </a:p>
        </p:txBody>
      </p:sp>
      <p:sp>
        <p:nvSpPr>
          <p:cNvPr id="7" name="Shape 4"/>
          <p:cNvSpPr/>
          <p:nvPr/>
        </p:nvSpPr>
        <p:spPr>
          <a:xfrm>
            <a:off x="6263640" y="1600200"/>
            <a:ext cx="5577840" cy="4270248"/>
          </a:xfrm>
          <a:prstGeom prst="rect">
            <a:avLst/>
          </a:prstGeom>
          <a:solidFill>
            <a:srgbClr val="FFFFFF"/>
          </a:solidFill>
          <a:ln w="12700">
            <a:solidFill>
              <a:srgbClr val="DDE0DC"/>
            </a:solidFill>
            <a:prstDash val="solid"/>
          </a:ln>
          <a:effectLst>
            <a:outerShdw sx="100000" sy="100000" kx="0" ky="0" algn="bl" rotWithShape="0" blurRad="76200" dist="25400" dir="5400000">
              <a:srgbClr val="000000">
                <a:alpha val="18000"/>
              </a:srgbClr>
            </a:outerShdw>
          </a:effectLst>
        </p:spPr>
      </p:sp>
      <p:pic>
        <p:nvPicPr>
          <p:cNvPr id="8" name="Image 1" descr="/Users/ahmadjalil/github/aethmodular/research/ftir_ec_phase3/output/plots/ftir16/improve_implied_mac_curve.png">    </p:cNvPr>
          <p:cNvPicPr>
            <a:picLocks noChangeAspect="1"/>
          </p:cNvPicPr>
          <p:nvPr/>
        </p:nvPicPr>
        <p:blipFill>
          <a:blip r:embed="rId2"/>
          <a:srcRect l="0" r="0" t="0" b="0"/>
          <a:stretch/>
        </p:blipFill>
        <p:spPr>
          <a:xfrm>
            <a:off x="6318504" y="1655064"/>
            <a:ext cx="5468112" cy="3867912"/>
          </a:xfrm>
          <a:prstGeom prst="rect">
            <a:avLst/>
          </a:prstGeom>
        </p:spPr>
      </p:pic>
      <p:sp>
        <p:nvSpPr>
          <p:cNvPr id="9" name="Text 5"/>
          <p:cNvSpPr/>
          <p:nvPr/>
        </p:nvSpPr>
        <p:spPr>
          <a:xfrm>
            <a:off x="6355080" y="5559552"/>
            <a:ext cx="5394960" cy="292608"/>
          </a:xfrm>
          <a:prstGeom prst="rect">
            <a:avLst/>
          </a:prstGeom>
          <a:noFill/>
          <a:ln/>
        </p:spPr>
        <p:txBody>
          <a:bodyPr wrap="square" lIns="0" tIns="0" rIns="0" bIns="0" rtlCol="0" anchor="ctr"/>
          <a:lstStyle/>
          <a:p>
            <a:pPr indent="0" marL="0">
              <a:buNone/>
            </a:pPr>
            <a:r>
              <a:rPr lang="en-US" sz="850" dirty="0">
                <a:solidFill>
                  <a:srgbClr val="8A9098"/>
                </a:solidFill>
                <a:latin typeface="Courier New" pitchFamily="34" charset="0"/>
                <a:ea typeface="Courier New" pitchFamily="34" charset="-122"/>
                <a:cs typeface="Courier New" pitchFamily="34" charset="-120"/>
              </a:rPr>
              <a:t>ftir_16 · improve_implied_mac_curve   </a:t>
            </a:r>
            <a:pPr indent="0" marL="0">
              <a:buNone/>
            </a:pPr>
            <a:r>
              <a:rPr lang="en-US" sz="950" i="1" dirty="0">
                <a:solidFill>
                  <a:srgbClr val="5E6369"/>
                </a:solidFill>
                <a:latin typeface="Calibri" pitchFamily="34" charset="0"/>
                <a:ea typeface="Calibri" pitchFamily="34" charset="-122"/>
                <a:cs typeface="Calibri" pitchFamily="34" charset="-120"/>
              </a:rPr>
              <a:t>Implied MAC = Fabs / TOR-EC, 151,843 matched filters</a:t>
            </a:r>
            <a:endParaRPr lang="en-US" sz="850" dirty="0"/>
          </a:p>
        </p:txBody>
      </p:sp>
      <p:sp>
        <p:nvSpPr>
          <p:cNvPr id="10" name="Shape 6"/>
          <p:cNvSpPr/>
          <p:nvPr/>
        </p:nvSpPr>
        <p:spPr>
          <a:xfrm>
            <a:off x="502920" y="5989320"/>
            <a:ext cx="3927348" cy="384048"/>
          </a:xfrm>
          <a:prstGeom prst="roundRect">
            <a:avLst>
              <a:gd name="adj" fmla="val 14286"/>
            </a:avLst>
          </a:prstGeom>
          <a:solidFill>
            <a:srgbClr val="F4F5F3"/>
          </a:solidFill>
          <a:ln w="9525">
            <a:solidFill>
              <a:srgbClr val="DDE0DC"/>
            </a:solidFill>
            <a:prstDash val="solid"/>
          </a:ln>
        </p:spPr>
      </p:sp>
      <p:sp>
        <p:nvSpPr>
          <p:cNvPr id="11" name="Text 7"/>
          <p:cNvSpPr/>
          <p:nvPr/>
        </p:nvSpPr>
        <p:spPr>
          <a:xfrm>
            <a:off x="576072" y="5989320"/>
            <a:ext cx="3835908" cy="38404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Addis-like subset (n = 6,503)  </a:t>
            </a:r>
            <a:pPr indent="0" marL="0">
              <a:buNone/>
            </a:pPr>
            <a:r>
              <a:rPr lang="en-US" sz="1100" b="1" dirty="0">
                <a:solidFill>
                  <a:srgbClr val="3F7A56"/>
                </a:solidFill>
                <a:latin typeface="Calibri" pitchFamily="34" charset="0"/>
                <a:ea typeface="Calibri" pitchFamily="34" charset="-122"/>
                <a:cs typeface="Calibri" pitchFamily="34" charset="-120"/>
              </a:rPr>
              <a:t>MAC 10.05</a:t>
            </a:r>
            <a:endParaRPr lang="en-US" sz="1100" dirty="0"/>
          </a:p>
        </p:txBody>
      </p:sp>
      <p:sp>
        <p:nvSpPr>
          <p:cNvPr id="12" name="Shape 8"/>
          <p:cNvSpPr/>
          <p:nvPr/>
        </p:nvSpPr>
        <p:spPr>
          <a:xfrm>
            <a:off x="4594860" y="5989320"/>
            <a:ext cx="1961388" cy="384048"/>
          </a:xfrm>
          <a:prstGeom prst="roundRect">
            <a:avLst>
              <a:gd name="adj" fmla="val 14286"/>
            </a:avLst>
          </a:prstGeom>
          <a:solidFill>
            <a:srgbClr val="F4F5F3"/>
          </a:solidFill>
          <a:ln w="9525">
            <a:solidFill>
              <a:srgbClr val="DDE0DC"/>
            </a:solidFill>
            <a:prstDash val="solid"/>
          </a:ln>
        </p:spPr>
      </p:sp>
      <p:sp>
        <p:nvSpPr>
          <p:cNvPr id="13" name="Text 9"/>
          <p:cNvSpPr/>
          <p:nvPr/>
        </p:nvSpPr>
        <p:spPr>
          <a:xfrm>
            <a:off x="4668012" y="5989320"/>
            <a:ext cx="1869948" cy="38404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pool median  </a:t>
            </a:r>
            <a:pPr indent="0" marL="0">
              <a:buNone/>
            </a:pPr>
            <a:r>
              <a:rPr lang="en-US" sz="1100" b="1" dirty="0">
                <a:solidFill>
                  <a:srgbClr val="2C6E9E"/>
                </a:solidFill>
                <a:latin typeface="Calibri" pitchFamily="34" charset="0"/>
                <a:ea typeface="Calibri" pitchFamily="34" charset="-122"/>
                <a:cs typeface="Calibri" pitchFamily="34" charset="-120"/>
              </a:rPr>
              <a:t>11.96</a:t>
            </a:r>
            <a:endParaRPr lang="en-US" sz="1100" dirty="0"/>
          </a:p>
        </p:txBody>
      </p:sp>
      <p:sp>
        <p:nvSpPr>
          <p:cNvPr id="14" name="Shape 10"/>
          <p:cNvSpPr/>
          <p:nvPr/>
        </p:nvSpPr>
        <p:spPr>
          <a:xfrm>
            <a:off x="6720840" y="5989320"/>
            <a:ext cx="2208276" cy="384048"/>
          </a:xfrm>
          <a:prstGeom prst="roundRect">
            <a:avLst>
              <a:gd name="adj" fmla="val 14286"/>
            </a:avLst>
          </a:prstGeom>
          <a:solidFill>
            <a:srgbClr val="F4F5F3"/>
          </a:solidFill>
          <a:ln w="9525">
            <a:solidFill>
              <a:srgbClr val="DDE0DC"/>
            </a:solidFill>
            <a:prstDash val="solid"/>
          </a:ln>
        </p:spPr>
      </p:sp>
      <p:sp>
        <p:nvSpPr>
          <p:cNvPr id="15" name="Text 11"/>
          <p:cNvSpPr/>
          <p:nvPr/>
        </p:nvSpPr>
        <p:spPr>
          <a:xfrm>
            <a:off x="6793992" y="5989320"/>
            <a:ext cx="2116836" cy="38404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high-OC/EC tail  </a:t>
            </a:r>
            <a:pPr indent="0" marL="0">
              <a:buNone/>
            </a:pPr>
            <a:r>
              <a:rPr lang="en-US" sz="1100" b="1" dirty="0">
                <a:solidFill>
                  <a:srgbClr val="B23327"/>
                </a:solidFill>
                <a:latin typeface="Calibri" pitchFamily="34" charset="0"/>
                <a:ea typeface="Calibri" pitchFamily="34" charset="-122"/>
                <a:cs typeface="Calibri" pitchFamily="34" charset="-120"/>
              </a:rPr>
              <a:t>19.8</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lIns="0" tIns="0" rIns="0" bIns="0" rtlCol="0" anchor="ctr"/>
          <a:lstStyle/>
          <a:p>
            <a:pPr indent="0" marL="0">
              <a:buNone/>
            </a:pPr>
            <a:r>
              <a:rPr lang="en-US" sz="1100" spc="200" kern="0" dirty="0">
                <a:solidFill>
                  <a:srgbClr val="B23327"/>
                </a:solidFill>
                <a:latin typeface="Courier New" pitchFamily="34" charset="0"/>
                <a:ea typeface="Courier New" pitchFamily="34" charset="-122"/>
                <a:cs typeface="Courier New" pitchFamily="34" charset="-120"/>
              </a:rPr>
              <a:t>13 · THE 1600 BAND — WITH JULY'S BURNING SIGNATURE, RESURFACED</a:t>
            </a:r>
            <a:endParaRPr lang="en-US" sz="1100" dirty="0"/>
          </a:p>
        </p:txBody>
      </p:sp>
      <p:sp>
        <p:nvSpPr>
          <p:cNvPr id="3" name="Text 1"/>
          <p:cNvSpPr/>
          <p:nvPr/>
        </p:nvSpPr>
        <p:spPr>
          <a:xfrm>
            <a:off x="502920" y="566928"/>
            <a:ext cx="11183112" cy="868680"/>
          </a:xfrm>
          <a:prstGeom prst="rect">
            <a:avLst/>
          </a:prstGeom>
          <a:noFill/>
          <a:ln/>
        </p:spPr>
        <p:txBody>
          <a:bodyPr wrap="square" lIns="0" tIns="0" rIns="0" bIns="0" rtlCol="0" anchor="t"/>
          <a:lstStyle/>
          <a:p>
            <a:pPr indent="0" marL="0">
              <a:buNone/>
            </a:pPr>
            <a:r>
              <a:rPr lang="en-US" sz="2600" b="1" dirty="0">
                <a:solidFill>
                  <a:srgbClr val="1A1D21"/>
                </a:solidFill>
                <a:latin typeface="Calibri" pitchFamily="34" charset="0"/>
                <a:ea typeface="Calibri" pitchFamily="34" charset="-122"/>
                <a:cs typeface="Calibri" pitchFamily="34" charset="-120"/>
              </a:rPr>
              <a:t>Charring grows aromatic C=C at ~1600 — a process argument, not just a correlation.</a:t>
            </a:r>
            <a:endParaRPr lang="en-US" sz="2600" dirty="0"/>
          </a:p>
        </p:txBody>
      </p:sp>
      <p:sp>
        <p:nvSpPr>
          <p:cNvPr id="4" name="Shape 2"/>
          <p:cNvSpPr/>
          <p:nvPr/>
        </p:nvSpPr>
        <p:spPr>
          <a:xfrm>
            <a:off x="502920" y="1600200"/>
            <a:ext cx="5577840" cy="4270248"/>
          </a:xfrm>
          <a:prstGeom prst="rect">
            <a:avLst/>
          </a:prstGeom>
          <a:solidFill>
            <a:srgbClr val="FFFFFF"/>
          </a:solidFill>
          <a:ln w="12700">
            <a:solidFill>
              <a:srgbClr val="DDE0DC"/>
            </a:solidFill>
            <a:prstDash val="solid"/>
          </a:ln>
          <a:effectLst>
            <a:outerShdw sx="100000" sy="100000" kx="0" ky="0" algn="bl" rotWithShape="0" blurRad="76200" dist="25400" dir="5400000">
              <a:srgbClr val="000000">
                <a:alpha val="18000"/>
              </a:srgbClr>
            </a:outerShdw>
          </a:effectLst>
        </p:spPr>
      </p:sp>
      <p:pic>
        <p:nvPicPr>
          <p:cNvPr id="5" name="Image 0" descr="/Users/ahmadjalil/github/aethmodular/research/ftir_ec_phase3/output/plots/ftir12/peak_center_1600_by_group.png">    </p:cNvPr>
          <p:cNvPicPr>
            <a:picLocks noChangeAspect="1"/>
          </p:cNvPicPr>
          <p:nvPr/>
        </p:nvPicPr>
        <p:blipFill>
          <a:blip r:embed="rId1"/>
          <a:srcRect l="0" r="0" t="0" b="0"/>
          <a:stretch/>
        </p:blipFill>
        <p:spPr>
          <a:xfrm>
            <a:off x="557784" y="1655064"/>
            <a:ext cx="5468112" cy="3867912"/>
          </a:xfrm>
          <a:prstGeom prst="rect">
            <a:avLst/>
          </a:prstGeom>
        </p:spPr>
      </p:pic>
      <p:sp>
        <p:nvSpPr>
          <p:cNvPr id="6" name="Text 3"/>
          <p:cNvSpPr/>
          <p:nvPr/>
        </p:nvSpPr>
        <p:spPr>
          <a:xfrm>
            <a:off x="594360" y="5559552"/>
            <a:ext cx="5394960" cy="292608"/>
          </a:xfrm>
          <a:prstGeom prst="rect">
            <a:avLst/>
          </a:prstGeom>
          <a:noFill/>
          <a:ln/>
        </p:spPr>
        <p:txBody>
          <a:bodyPr wrap="square" lIns="0" tIns="0" rIns="0" bIns="0" rtlCol="0" anchor="ctr"/>
          <a:lstStyle/>
          <a:p>
            <a:pPr indent="0" marL="0">
              <a:buNone/>
            </a:pPr>
            <a:r>
              <a:rPr lang="en-US" sz="850" dirty="0">
                <a:solidFill>
                  <a:srgbClr val="8A9098"/>
                </a:solidFill>
                <a:latin typeface="Courier New" pitchFamily="34" charset="0"/>
                <a:ea typeface="Courier New" pitchFamily="34" charset="-122"/>
                <a:cs typeface="Courier New" pitchFamily="34" charset="-120"/>
              </a:rPr>
              <a:t>ftir_12 · peak_center_1600_by_group   </a:t>
            </a:r>
            <a:pPr indent="0" marL="0">
              <a:buNone/>
            </a:pPr>
            <a:r>
              <a:rPr lang="en-US" sz="950" i="1" dirty="0">
                <a:solidFill>
                  <a:srgbClr val="5E6369"/>
                </a:solidFill>
                <a:latin typeface="Calibri" pitchFamily="34" charset="0"/>
                <a:ea typeface="Calibri" pitchFamily="34" charset="-122"/>
                <a:cs typeface="Calibri" pitchFamily="34" charset="-120"/>
              </a:rPr>
              <a:t>Addis 1617–1619 cm⁻¹ in every season; IMPROVE ≥ 1633</a:t>
            </a:r>
            <a:endParaRPr lang="en-US" sz="850" dirty="0"/>
          </a:p>
        </p:txBody>
      </p:sp>
      <p:sp>
        <p:nvSpPr>
          <p:cNvPr id="7" name="Shape 4"/>
          <p:cNvSpPr/>
          <p:nvPr/>
        </p:nvSpPr>
        <p:spPr>
          <a:xfrm>
            <a:off x="6263640" y="1600200"/>
            <a:ext cx="5577840" cy="4270248"/>
          </a:xfrm>
          <a:prstGeom prst="rect">
            <a:avLst/>
          </a:prstGeom>
          <a:solidFill>
            <a:srgbClr val="FFFFFF"/>
          </a:solidFill>
          <a:ln w="12700">
            <a:solidFill>
              <a:srgbClr val="DDE0DC"/>
            </a:solidFill>
            <a:prstDash val="solid"/>
          </a:ln>
          <a:effectLst>
            <a:outerShdw sx="100000" sy="100000" kx="0" ky="0" algn="bl" rotWithShape="0" blurRad="76200" dist="25400" dir="5400000">
              <a:srgbClr val="000000">
                <a:alpha val="18000"/>
              </a:srgbClr>
            </a:outerShdw>
          </a:effectLst>
        </p:spPr>
      </p:sp>
      <p:pic>
        <p:nvPicPr>
          <p:cNvPr id="8" name="Image 1" descr="/private/tmp/claude-501/-Users-ahmadjalil-github-aethmodular/98af0981-a12c-4f18-82f4-663747dfdcd7/scratchpad/july17_p23_crop.png">    </p:cNvPr>
          <p:cNvPicPr>
            <a:picLocks noChangeAspect="1"/>
          </p:cNvPicPr>
          <p:nvPr/>
        </p:nvPicPr>
        <p:blipFill>
          <a:blip r:embed="rId2"/>
          <a:srcRect l="0" r="0" t="0" b="0"/>
          <a:stretch/>
        </p:blipFill>
        <p:spPr>
          <a:xfrm>
            <a:off x="6318504" y="1655064"/>
            <a:ext cx="5468112" cy="3867912"/>
          </a:xfrm>
          <a:prstGeom prst="rect">
            <a:avLst/>
          </a:prstGeom>
        </p:spPr>
      </p:pic>
      <p:sp>
        <p:nvSpPr>
          <p:cNvPr id="9" name="Text 5"/>
          <p:cNvSpPr/>
          <p:nvPr/>
        </p:nvSpPr>
        <p:spPr>
          <a:xfrm>
            <a:off x="6355080" y="5559552"/>
            <a:ext cx="5394960" cy="292608"/>
          </a:xfrm>
          <a:prstGeom prst="rect">
            <a:avLst/>
          </a:prstGeom>
          <a:noFill/>
          <a:ln/>
        </p:spPr>
        <p:txBody>
          <a:bodyPr wrap="square" lIns="0" tIns="0" rIns="0" bIns="0" rtlCol="0" anchor="ctr"/>
          <a:lstStyle/>
          <a:p>
            <a:pPr indent="0" marL="0">
              <a:buNone/>
            </a:pPr>
            <a:r>
              <a:rPr lang="en-US" sz="850" dirty="0">
                <a:solidFill>
                  <a:srgbClr val="8A9098"/>
                </a:solidFill>
                <a:latin typeface="Courier New" pitchFamily="34" charset="0"/>
                <a:ea typeface="Courier New" pitchFamily="34" charset="-122"/>
                <a:cs typeface="Courier New" pitchFamily="34" charset="-120"/>
              </a:rPr>
              <a:t>July-17 deck · slide 23 (McCall)   </a:t>
            </a:r>
            <a:pPr indent="0" marL="0">
              <a:buNone/>
            </a:pPr>
            <a:r>
              <a:rPr lang="en-US" sz="950" i="1" dirty="0">
                <a:solidFill>
                  <a:srgbClr val="5E6369"/>
                </a:solidFill>
                <a:latin typeface="Calibri" pitchFamily="34" charset="0"/>
                <a:ea typeface="Calibri" pitchFamily="34" charset="-122"/>
                <a:cs typeface="Calibri" pitchFamily="34" charset="-120"/>
              </a:rPr>
              <a:t>Δ from raw feedstock: O–H and aliphatic C–H destroyed, aromatic C=C grown</a:t>
            </a:r>
            <a:endParaRPr lang="en-US" sz="850" dirty="0"/>
          </a:p>
        </p:txBody>
      </p:sp>
      <p:sp>
        <p:nvSpPr>
          <p:cNvPr id="10" name="Shape 6"/>
          <p:cNvSpPr/>
          <p:nvPr/>
        </p:nvSpPr>
        <p:spPr>
          <a:xfrm>
            <a:off x="502920" y="5989320"/>
            <a:ext cx="2450592" cy="384048"/>
          </a:xfrm>
          <a:prstGeom prst="roundRect">
            <a:avLst>
              <a:gd name="adj" fmla="val 14286"/>
            </a:avLst>
          </a:prstGeom>
          <a:solidFill>
            <a:srgbClr val="F4F5F3"/>
          </a:solidFill>
          <a:ln w="9525">
            <a:solidFill>
              <a:srgbClr val="DDE0DC"/>
            </a:solidFill>
            <a:prstDash val="solid"/>
          </a:ln>
        </p:spPr>
      </p:sp>
      <p:sp>
        <p:nvSpPr>
          <p:cNvPr id="11" name="Text 7"/>
          <p:cNvSpPr/>
          <p:nvPr/>
        </p:nvSpPr>
        <p:spPr>
          <a:xfrm>
            <a:off x="576072" y="5989320"/>
            <a:ext cx="2359152" cy="38404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Addis center  </a:t>
            </a:r>
            <a:pPr indent="0" marL="0">
              <a:buNone/>
            </a:pPr>
            <a:r>
              <a:rPr lang="en-US" sz="1100" b="1" dirty="0">
                <a:solidFill>
                  <a:srgbClr val="B23327"/>
                </a:solidFill>
                <a:latin typeface="Calibri" pitchFamily="34" charset="0"/>
                <a:ea typeface="Calibri" pitchFamily="34" charset="-122"/>
                <a:cs typeface="Calibri" pitchFamily="34" charset="-120"/>
              </a:rPr>
              <a:t>1617–1619</a:t>
            </a:r>
            <a:endParaRPr lang="en-US" sz="1100" dirty="0"/>
          </a:p>
        </p:txBody>
      </p:sp>
      <p:sp>
        <p:nvSpPr>
          <p:cNvPr id="12" name="Shape 8"/>
          <p:cNvSpPr/>
          <p:nvPr/>
        </p:nvSpPr>
        <p:spPr>
          <a:xfrm>
            <a:off x="3118104" y="5989320"/>
            <a:ext cx="2290572" cy="384048"/>
          </a:xfrm>
          <a:prstGeom prst="roundRect">
            <a:avLst>
              <a:gd name="adj" fmla="val 14286"/>
            </a:avLst>
          </a:prstGeom>
          <a:solidFill>
            <a:srgbClr val="F4F5F3"/>
          </a:solidFill>
          <a:ln w="9525">
            <a:solidFill>
              <a:srgbClr val="DDE0DC"/>
            </a:solidFill>
            <a:prstDash val="solid"/>
          </a:ln>
        </p:spPr>
      </p:sp>
      <p:sp>
        <p:nvSpPr>
          <p:cNvPr id="13" name="Text 9"/>
          <p:cNvSpPr/>
          <p:nvPr/>
        </p:nvSpPr>
        <p:spPr>
          <a:xfrm>
            <a:off x="3191256" y="5989320"/>
            <a:ext cx="2199132" cy="38404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char peak  </a:t>
            </a:r>
            <a:pPr indent="0" marL="0">
              <a:buNone/>
            </a:pPr>
            <a:r>
              <a:rPr lang="en-US" sz="1100" b="1" dirty="0">
                <a:solidFill>
                  <a:srgbClr val="B0792B"/>
                </a:solidFill>
                <a:latin typeface="Calibri" pitchFamily="34" charset="0"/>
                <a:ea typeface="Calibri" pitchFamily="34" charset="-122"/>
                <a:cs typeface="Calibri" pitchFamily="34" charset="-120"/>
              </a:rPr>
              <a:t>~1590–1600</a:t>
            </a:r>
            <a:endParaRPr lang="en-US" sz="1100" dirty="0"/>
          </a:p>
        </p:txBody>
      </p:sp>
      <p:sp>
        <p:nvSpPr>
          <p:cNvPr id="14" name="Shape 10"/>
          <p:cNvSpPr/>
          <p:nvPr/>
        </p:nvSpPr>
        <p:spPr>
          <a:xfrm>
            <a:off x="5573268" y="5989320"/>
            <a:ext cx="2747772" cy="384048"/>
          </a:xfrm>
          <a:prstGeom prst="roundRect">
            <a:avLst>
              <a:gd name="adj" fmla="val 14286"/>
            </a:avLst>
          </a:prstGeom>
          <a:solidFill>
            <a:srgbClr val="F4F5F3"/>
          </a:solidFill>
          <a:ln w="9525">
            <a:solidFill>
              <a:srgbClr val="DDE0DC"/>
            </a:solidFill>
            <a:prstDash val="solid"/>
          </a:ln>
        </p:spPr>
      </p:sp>
      <p:sp>
        <p:nvSpPr>
          <p:cNvPr id="15" name="Text 11"/>
          <p:cNvSpPr/>
          <p:nvPr/>
        </p:nvSpPr>
        <p:spPr>
          <a:xfrm>
            <a:off x="5646420" y="5989320"/>
            <a:ext cx="2656332" cy="38404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amine  </a:t>
            </a:r>
            <a:pPr indent="0" marL="0">
              <a:buNone/>
            </a:pPr>
            <a:r>
              <a:rPr lang="en-US" sz="1100" b="1" dirty="0">
                <a:solidFill>
                  <a:srgbClr val="5E6369"/>
                </a:solidFill>
                <a:latin typeface="Calibri" pitchFamily="34" charset="0"/>
                <a:ea typeface="Calibri" pitchFamily="34" charset="-122"/>
                <a:cs typeface="Calibri" pitchFamily="34" charset="-120"/>
              </a:rPr>
              <a:t>rejected (ftir_12)</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lIns="0" tIns="0" rIns="0" bIns="0" rtlCol="0" anchor="ctr"/>
          <a:lstStyle/>
          <a:p>
            <a:pPr indent="0" marL="0">
              <a:buNone/>
            </a:pPr>
            <a:r>
              <a:rPr lang="en-US" sz="1100" spc="200" kern="0" dirty="0">
                <a:solidFill>
                  <a:srgbClr val="B23327"/>
                </a:solidFill>
                <a:latin typeface="Courier New" pitchFamily="34" charset="0"/>
                <a:ea typeface="Courier New" pitchFamily="34" charset="-122"/>
                <a:cs typeface="Courier New" pitchFamily="34" charset="-120"/>
              </a:rPr>
              <a:t>14 · THE JUSTIFICATION YOU ASKED FOR — JULY SLIDES 30 &amp; 27, SAID OUT LOUD</a:t>
            </a:r>
            <a:endParaRPr lang="en-US" sz="1100" dirty="0"/>
          </a:p>
        </p:txBody>
      </p:sp>
      <p:sp>
        <p:nvSpPr>
          <p:cNvPr id="3" name="Text 1"/>
          <p:cNvSpPr/>
          <p:nvPr/>
        </p:nvSpPr>
        <p:spPr>
          <a:xfrm>
            <a:off x="502920" y="566928"/>
            <a:ext cx="11183112" cy="868680"/>
          </a:xfrm>
          <a:prstGeom prst="rect">
            <a:avLst/>
          </a:prstGeom>
          <a:noFill/>
          <a:ln/>
        </p:spPr>
        <p:txBody>
          <a:bodyPr wrap="square" lIns="0" tIns="0" rIns="0" bIns="0" rtlCol="0" anchor="t"/>
          <a:lstStyle/>
          <a:p>
            <a:pPr indent="0" marL="0">
              <a:buNone/>
            </a:pPr>
            <a:r>
              <a:rPr lang="en-US" sz="2600" b="1" dirty="0">
                <a:solidFill>
                  <a:srgbClr val="1A1D21"/>
                </a:solidFill>
                <a:latin typeface="Calibri" pitchFamily="34" charset="0"/>
                <a:ea typeface="Calibri" pitchFamily="34" charset="-122"/>
                <a:cs typeface="Calibri" pitchFamily="34" charset="-120"/>
              </a:rPr>
              <a:t>A mixture component found with no season labels isolates the anomaly — and it is Oct–Feb.</a:t>
            </a:r>
            <a:endParaRPr lang="en-US" sz="2600" dirty="0"/>
          </a:p>
        </p:txBody>
      </p:sp>
      <p:sp>
        <p:nvSpPr>
          <p:cNvPr id="4" name="Shape 2"/>
          <p:cNvSpPr/>
          <p:nvPr/>
        </p:nvSpPr>
        <p:spPr>
          <a:xfrm>
            <a:off x="502920" y="1600200"/>
            <a:ext cx="5577840" cy="4270248"/>
          </a:xfrm>
          <a:prstGeom prst="rect">
            <a:avLst/>
          </a:prstGeom>
          <a:solidFill>
            <a:srgbClr val="FFFFFF"/>
          </a:solidFill>
          <a:ln w="12700">
            <a:solidFill>
              <a:srgbClr val="DDE0DC"/>
            </a:solidFill>
            <a:prstDash val="solid"/>
          </a:ln>
          <a:effectLst>
            <a:outerShdw sx="100000" sy="100000" kx="0" ky="0" algn="bl" rotWithShape="0" blurRad="76200" dist="25400" dir="5400000">
              <a:srgbClr val="000000">
                <a:alpha val="18000"/>
              </a:srgbClr>
            </a:outerShdw>
          </a:effectLst>
        </p:spPr>
      </p:sp>
      <p:pic>
        <p:nvPicPr>
          <p:cNvPr id="5" name="Image 0" descr="/private/tmp/claude-501/-Users-ahmadjalil-github-aethmodular/98af0981-a12c-4f18-82f4-663747dfdcd7/scratchpad/july17_p30_crop.png">    </p:cNvPr>
          <p:cNvPicPr>
            <a:picLocks noChangeAspect="1"/>
          </p:cNvPicPr>
          <p:nvPr/>
        </p:nvPicPr>
        <p:blipFill>
          <a:blip r:embed="rId1"/>
          <a:srcRect l="0" r="0" t="0" b="0"/>
          <a:stretch/>
        </p:blipFill>
        <p:spPr>
          <a:xfrm>
            <a:off x="557784" y="1655064"/>
            <a:ext cx="5468112" cy="3867912"/>
          </a:xfrm>
          <a:prstGeom prst="rect">
            <a:avLst/>
          </a:prstGeom>
        </p:spPr>
      </p:pic>
      <p:sp>
        <p:nvSpPr>
          <p:cNvPr id="6" name="Text 3"/>
          <p:cNvSpPr/>
          <p:nvPr/>
        </p:nvSpPr>
        <p:spPr>
          <a:xfrm>
            <a:off x="594360" y="5559552"/>
            <a:ext cx="5394960" cy="292608"/>
          </a:xfrm>
          <a:prstGeom prst="rect">
            <a:avLst/>
          </a:prstGeom>
          <a:noFill/>
          <a:ln/>
        </p:spPr>
        <p:txBody>
          <a:bodyPr wrap="square" lIns="0" tIns="0" rIns="0" bIns="0" rtlCol="0" anchor="ctr"/>
          <a:lstStyle/>
          <a:p>
            <a:pPr indent="0" marL="0">
              <a:buNone/>
            </a:pPr>
            <a:r>
              <a:rPr lang="en-US" sz="850" dirty="0">
                <a:solidFill>
                  <a:srgbClr val="8A9098"/>
                </a:solidFill>
                <a:latin typeface="Courier New" pitchFamily="34" charset="0"/>
                <a:ea typeface="Courier New" pitchFamily="34" charset="-122"/>
                <a:cs typeface="Courier New" pitchFamily="34" charset="-120"/>
              </a:rPr>
              <a:t>July-17 deck · slide 30   </a:t>
            </a:r>
            <a:pPr indent="0" marL="0">
              <a:buNone/>
            </a:pPr>
            <a:r>
              <a:rPr lang="en-US" sz="950" i="1" dirty="0">
                <a:solidFill>
                  <a:srgbClr val="5E6369"/>
                </a:solidFill>
                <a:latin typeface="Calibri" pitchFamily="34" charset="0"/>
                <a:ea typeface="Calibri" pitchFamily="34" charset="-122"/>
                <a:cs typeface="Calibri" pitchFamily="34" charset="-120"/>
              </a:rPr>
              <a:t>Low-similarity component fitted season-blind (circled) — almost entirely Dry</a:t>
            </a:r>
            <a:endParaRPr lang="en-US" sz="850" dirty="0"/>
          </a:p>
        </p:txBody>
      </p:sp>
      <p:sp>
        <p:nvSpPr>
          <p:cNvPr id="7" name="Shape 4"/>
          <p:cNvSpPr/>
          <p:nvPr/>
        </p:nvSpPr>
        <p:spPr>
          <a:xfrm>
            <a:off x="6263640" y="1600200"/>
            <a:ext cx="5577840" cy="4270248"/>
          </a:xfrm>
          <a:prstGeom prst="rect">
            <a:avLst/>
          </a:prstGeom>
          <a:solidFill>
            <a:srgbClr val="FFFFFF"/>
          </a:solidFill>
          <a:ln w="12700">
            <a:solidFill>
              <a:srgbClr val="DDE0DC"/>
            </a:solidFill>
            <a:prstDash val="solid"/>
          </a:ln>
          <a:effectLst>
            <a:outerShdw sx="100000" sy="100000" kx="0" ky="0" algn="bl" rotWithShape="0" blurRad="76200" dist="25400" dir="5400000">
              <a:srgbClr val="000000">
                <a:alpha val="18000"/>
              </a:srgbClr>
            </a:outerShdw>
          </a:effectLst>
        </p:spPr>
      </p:sp>
      <p:pic>
        <p:nvPicPr>
          <p:cNvPr id="8" name="Image 1" descr="/private/tmp/claude-501/-Users-ahmadjalil-github-aethmodular/98af0981-a12c-4f18-82f4-663747dfdcd7/scratchpad/july17_p27_crop.png">    </p:cNvPr>
          <p:cNvPicPr>
            <a:picLocks noChangeAspect="1"/>
          </p:cNvPicPr>
          <p:nvPr/>
        </p:nvPicPr>
        <p:blipFill>
          <a:blip r:embed="rId2"/>
          <a:srcRect l="0" r="0" t="0" b="0"/>
          <a:stretch/>
        </p:blipFill>
        <p:spPr>
          <a:xfrm>
            <a:off x="6318504" y="1655064"/>
            <a:ext cx="5468112" cy="3867912"/>
          </a:xfrm>
          <a:prstGeom prst="rect">
            <a:avLst/>
          </a:prstGeom>
        </p:spPr>
      </p:pic>
      <p:sp>
        <p:nvSpPr>
          <p:cNvPr id="9" name="Text 5"/>
          <p:cNvSpPr/>
          <p:nvPr/>
        </p:nvSpPr>
        <p:spPr>
          <a:xfrm>
            <a:off x="6355080" y="5559552"/>
            <a:ext cx="5394960" cy="292608"/>
          </a:xfrm>
          <a:prstGeom prst="rect">
            <a:avLst/>
          </a:prstGeom>
          <a:noFill/>
          <a:ln/>
        </p:spPr>
        <p:txBody>
          <a:bodyPr wrap="square" lIns="0" tIns="0" rIns="0" bIns="0" rtlCol="0" anchor="ctr"/>
          <a:lstStyle/>
          <a:p>
            <a:pPr indent="0" marL="0">
              <a:buNone/>
            </a:pPr>
            <a:r>
              <a:rPr lang="en-US" sz="850" dirty="0">
                <a:solidFill>
                  <a:srgbClr val="8A9098"/>
                </a:solidFill>
                <a:latin typeface="Courier New" pitchFamily="34" charset="0"/>
                <a:ea typeface="Courier New" pitchFamily="34" charset="-122"/>
                <a:cs typeface="Courier New" pitchFamily="34" charset="-120"/>
              </a:rPr>
              <a:t>July-17 deck · slide 27   </a:t>
            </a:r>
            <a:pPr indent="0" marL="0">
              <a:buNone/>
            </a:pPr>
            <a:r>
              <a:rPr lang="en-US" sz="950" i="1" dirty="0">
                <a:solidFill>
                  <a:srgbClr val="5E6369"/>
                </a:solidFill>
                <a:latin typeface="Calibri" pitchFamily="34" charset="0"/>
                <a:ea typeface="Calibri" pitchFamily="34" charset="-122"/>
                <a:cs typeface="Calibri" pitchFamily="34" charset="-120"/>
              </a:rPr>
              <a:t>Share anomalous by month: Nov 0.82, Dec 0.61 — ≈ 0 May–Sep</a:t>
            </a:r>
            <a:endParaRPr lang="en-US" sz="850" dirty="0"/>
          </a:p>
        </p:txBody>
      </p:sp>
      <p:sp>
        <p:nvSpPr>
          <p:cNvPr id="10" name="Shape 6"/>
          <p:cNvSpPr/>
          <p:nvPr/>
        </p:nvSpPr>
        <p:spPr>
          <a:xfrm>
            <a:off x="502920" y="5989320"/>
            <a:ext cx="2171700" cy="384048"/>
          </a:xfrm>
          <a:prstGeom prst="roundRect">
            <a:avLst>
              <a:gd name="adj" fmla="val 14286"/>
            </a:avLst>
          </a:prstGeom>
          <a:solidFill>
            <a:srgbClr val="F4F5F3"/>
          </a:solidFill>
          <a:ln w="9525">
            <a:solidFill>
              <a:srgbClr val="DDE0DC"/>
            </a:solidFill>
            <a:prstDash val="solid"/>
          </a:ln>
        </p:spPr>
      </p:sp>
      <p:sp>
        <p:nvSpPr>
          <p:cNvPr id="11" name="Text 7"/>
          <p:cNvSpPr/>
          <p:nvPr/>
        </p:nvSpPr>
        <p:spPr>
          <a:xfrm>
            <a:off x="576072" y="5989320"/>
            <a:ext cx="2080260" cy="38404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Nov  </a:t>
            </a:r>
            <a:pPr indent="0" marL="0">
              <a:buNone/>
            </a:pPr>
            <a:r>
              <a:rPr lang="en-US" sz="1100" b="1" dirty="0">
                <a:solidFill>
                  <a:srgbClr val="B23327"/>
                </a:solidFill>
                <a:latin typeface="Calibri" pitchFamily="34" charset="0"/>
                <a:ea typeface="Calibri" pitchFamily="34" charset="-122"/>
                <a:cs typeface="Calibri" pitchFamily="34" charset="-120"/>
              </a:rPr>
              <a:t>0.82 anomalous</a:t>
            </a:r>
            <a:endParaRPr lang="en-US" sz="1100" dirty="0"/>
          </a:p>
        </p:txBody>
      </p:sp>
      <p:sp>
        <p:nvSpPr>
          <p:cNvPr id="12" name="Shape 8"/>
          <p:cNvSpPr/>
          <p:nvPr/>
        </p:nvSpPr>
        <p:spPr>
          <a:xfrm>
            <a:off x="2839212" y="5989320"/>
            <a:ext cx="1412748" cy="384048"/>
          </a:xfrm>
          <a:prstGeom prst="roundRect">
            <a:avLst>
              <a:gd name="adj" fmla="val 14286"/>
            </a:avLst>
          </a:prstGeom>
          <a:solidFill>
            <a:srgbClr val="F4F5F3"/>
          </a:solidFill>
          <a:ln w="9525">
            <a:solidFill>
              <a:srgbClr val="DDE0DC"/>
            </a:solidFill>
            <a:prstDash val="solid"/>
          </a:ln>
        </p:spPr>
      </p:sp>
      <p:sp>
        <p:nvSpPr>
          <p:cNvPr id="13" name="Text 9"/>
          <p:cNvSpPr/>
          <p:nvPr/>
        </p:nvSpPr>
        <p:spPr>
          <a:xfrm>
            <a:off x="2912364" y="5989320"/>
            <a:ext cx="1321308" cy="38404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May–Sep  </a:t>
            </a:r>
            <a:pPr indent="0" marL="0">
              <a:buNone/>
            </a:pPr>
            <a:r>
              <a:rPr lang="en-US" sz="1100" b="1" dirty="0">
                <a:solidFill>
                  <a:srgbClr val="2C6E9E"/>
                </a:solidFill>
                <a:latin typeface="Calibri" pitchFamily="34" charset="0"/>
                <a:ea typeface="Calibri" pitchFamily="34" charset="-122"/>
                <a:cs typeface="Calibri" pitchFamily="34" charset="-120"/>
              </a:rPr>
              <a:t>≈ 0</a:t>
            </a:r>
            <a:endParaRPr lang="en-US" sz="1100" dirty="0"/>
          </a:p>
        </p:txBody>
      </p:sp>
      <p:sp>
        <p:nvSpPr>
          <p:cNvPr id="14" name="Shape 10"/>
          <p:cNvSpPr/>
          <p:nvPr/>
        </p:nvSpPr>
        <p:spPr>
          <a:xfrm>
            <a:off x="4416552" y="5989320"/>
            <a:ext cx="2468880" cy="384048"/>
          </a:xfrm>
          <a:prstGeom prst="roundRect">
            <a:avLst>
              <a:gd name="adj" fmla="val 14286"/>
            </a:avLst>
          </a:prstGeom>
          <a:solidFill>
            <a:srgbClr val="F4F5F3"/>
          </a:solidFill>
          <a:ln w="9525">
            <a:solidFill>
              <a:srgbClr val="DDE0DC"/>
            </a:solidFill>
            <a:prstDash val="solid"/>
          </a:ln>
        </p:spPr>
      </p:sp>
      <p:sp>
        <p:nvSpPr>
          <p:cNvPr id="15" name="Text 11"/>
          <p:cNvSpPr/>
          <p:nvPr/>
        </p:nvSpPr>
        <p:spPr>
          <a:xfrm>
            <a:off x="4489704" y="5989320"/>
            <a:ext cx="2377440" cy="384048"/>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season labels used  </a:t>
            </a:r>
            <a:pPr indent="0" marL="0">
              <a:buNone/>
            </a:pPr>
            <a:r>
              <a:rPr lang="en-US" sz="1100" b="1" dirty="0">
                <a:solidFill>
                  <a:srgbClr val="3F7A56"/>
                </a:solidFill>
                <a:latin typeface="Calibri" pitchFamily="34" charset="0"/>
                <a:ea typeface="Calibri" pitchFamily="34" charset="-122"/>
                <a:cs typeface="Calibri" pitchFamily="34" charset="-120"/>
              </a:rPr>
              <a:t>none</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lIns="0" tIns="0" rIns="0" bIns="0" rtlCol="0" anchor="ctr"/>
          <a:lstStyle/>
          <a:p>
            <a:pPr indent="0" marL="0">
              <a:buNone/>
            </a:pPr>
            <a:r>
              <a:rPr lang="en-US" sz="1100" spc="200" kern="0" dirty="0">
                <a:solidFill>
                  <a:srgbClr val="B23327"/>
                </a:solidFill>
                <a:latin typeface="Courier New" pitchFamily="34" charset="0"/>
                <a:ea typeface="Courier New" pitchFamily="34" charset="-122"/>
                <a:cs typeface="Courier New" pitchFamily="34" charset="-120"/>
              </a:rPr>
              <a:t>15 · FTIR_24 — YOUR HYPOTHESIS, TESTED AGAINST COMMITTED NUMBERS</a:t>
            </a:r>
            <a:endParaRPr lang="en-US" sz="1100" dirty="0"/>
          </a:p>
        </p:txBody>
      </p:sp>
      <p:sp>
        <p:nvSpPr>
          <p:cNvPr id="3" name="Text 1"/>
          <p:cNvSpPr/>
          <p:nvPr/>
        </p:nvSpPr>
        <p:spPr>
          <a:xfrm>
            <a:off x="502920" y="566928"/>
            <a:ext cx="11183112" cy="868680"/>
          </a:xfrm>
          <a:prstGeom prst="rect">
            <a:avLst/>
          </a:prstGeom>
          <a:noFill/>
          <a:ln/>
        </p:spPr>
        <p:txBody>
          <a:bodyPr wrap="square" lIns="0" tIns="0" rIns="0" bIns="0" rtlCol="0" anchor="t"/>
          <a:lstStyle/>
          <a:p>
            <a:pPr indent="0" marL="0">
              <a:buNone/>
            </a:pPr>
            <a:r>
              <a:rPr lang="en-US" sz="2600" b="1" dirty="0">
                <a:solidFill>
                  <a:srgbClr val="1A1D21"/>
                </a:solidFill>
                <a:latin typeface="Calibri" pitchFamily="34" charset="0"/>
                <a:ea typeface="Calibri" pitchFamily="34" charset="-122"/>
                <a:cs typeface="Calibri" pitchFamily="34" charset="-120"/>
              </a:rPr>
              <a:t>“Dry is right, wet breaks” comes out inverted — and only for the raw model.</a:t>
            </a:r>
            <a:endParaRPr lang="en-US" sz="2600" dirty="0"/>
          </a:p>
        </p:txBody>
      </p:sp>
      <p:sp>
        <p:nvSpPr>
          <p:cNvPr id="4" name="Shape 2"/>
          <p:cNvSpPr/>
          <p:nvPr/>
        </p:nvSpPr>
        <p:spPr>
          <a:xfrm>
            <a:off x="5394960" y="1554480"/>
            <a:ext cx="6309360" cy="4453128"/>
          </a:xfrm>
          <a:prstGeom prst="rect">
            <a:avLst/>
          </a:prstGeom>
          <a:solidFill>
            <a:srgbClr val="FFFFFF"/>
          </a:solidFill>
          <a:ln w="12700">
            <a:solidFill>
              <a:srgbClr val="DDE0DC"/>
            </a:solidFill>
            <a:prstDash val="solid"/>
          </a:ln>
          <a:effectLst>
            <a:outerShdw sx="100000" sy="100000" kx="0" ky="0" algn="bl" rotWithShape="0" blurRad="76200" dist="25400" dir="5400000">
              <a:srgbClr val="000000">
                <a:alpha val="18000"/>
              </a:srgbClr>
            </a:outerShdw>
          </a:effectLst>
        </p:spPr>
      </p:sp>
      <p:pic>
        <p:nvPicPr>
          <p:cNvPr id="5" name="Image 0" descr="/Users/ahmadjalil/github/aethmodular/research/ftir_ec_phase3/output/plots/ftir17/addis_spectra_by_season.png">    </p:cNvPr>
          <p:cNvPicPr>
            <a:picLocks noChangeAspect="1"/>
          </p:cNvPicPr>
          <p:nvPr/>
        </p:nvPicPr>
        <p:blipFill>
          <a:blip r:embed="rId1"/>
          <a:srcRect l="0" r="0" t="0" b="0"/>
          <a:stretch/>
        </p:blipFill>
        <p:spPr>
          <a:xfrm>
            <a:off x="5449824" y="1609344"/>
            <a:ext cx="6199632" cy="4050792"/>
          </a:xfrm>
          <a:prstGeom prst="rect">
            <a:avLst/>
          </a:prstGeom>
        </p:spPr>
      </p:pic>
      <p:sp>
        <p:nvSpPr>
          <p:cNvPr id="6" name="Text 3"/>
          <p:cNvSpPr/>
          <p:nvPr/>
        </p:nvSpPr>
        <p:spPr>
          <a:xfrm>
            <a:off x="5486400" y="5696712"/>
            <a:ext cx="6126480" cy="292608"/>
          </a:xfrm>
          <a:prstGeom prst="rect">
            <a:avLst/>
          </a:prstGeom>
          <a:noFill/>
          <a:ln/>
        </p:spPr>
        <p:txBody>
          <a:bodyPr wrap="square" lIns="0" tIns="0" rIns="0" bIns="0" rtlCol="0" anchor="ctr"/>
          <a:lstStyle/>
          <a:p>
            <a:pPr indent="0" marL="0">
              <a:buNone/>
            </a:pPr>
            <a:r>
              <a:rPr lang="en-US" sz="850" dirty="0">
                <a:solidFill>
                  <a:srgbClr val="8A9098"/>
                </a:solidFill>
                <a:latin typeface="Courier New" pitchFamily="34" charset="0"/>
                <a:ea typeface="Courier New" pitchFamily="34" charset="-122"/>
                <a:cs typeface="Courier New" pitchFamily="34" charset="-120"/>
              </a:rPr>
              <a:t>ftir_17 · addis_spectra_by_season   </a:t>
            </a:r>
            <a:pPr indent="0" marL="0">
              <a:buNone/>
            </a:pPr>
            <a:r>
              <a:rPr lang="en-US" sz="950" i="1" dirty="0">
                <a:solidFill>
                  <a:srgbClr val="5E6369"/>
                </a:solidFill>
                <a:latin typeface="Calibri" pitchFamily="34" charset="0"/>
                <a:ea typeface="Calibri" pitchFamily="34" charset="-122"/>
                <a:cs typeface="Calibri" pitchFamily="34" charset="-120"/>
              </a:rPr>
              <a:t>Dry Oct–Feb / Belg / Kiremt; season moves loading, not shape</a:t>
            </a:r>
            <a:endParaRPr lang="en-US" sz="850" dirty="0"/>
          </a:p>
        </p:txBody>
      </p:sp>
      <p:sp>
        <p:nvSpPr>
          <p:cNvPr id="7" name="Text 4"/>
          <p:cNvSpPr/>
          <p:nvPr/>
        </p:nvSpPr>
        <p:spPr>
          <a:xfrm>
            <a:off x="502920" y="1737360"/>
            <a:ext cx="4663440" cy="4206240"/>
          </a:xfrm>
          <a:prstGeom prst="rect">
            <a:avLst/>
          </a:prstGeom>
          <a:noFill/>
          <a:ln/>
        </p:spPr>
        <p:txBody>
          <a:bodyPr wrap="square" lIns="0" tIns="0" rIns="0" bIns="0" rtlCol="0" anchor="t"/>
          <a:lstStyle/>
          <a:p>
            <a:pPr algn="l" indent="0" marL="0">
              <a:spcAft>
                <a:spcPts val="800"/>
              </a:spcAft>
              <a:buNone/>
            </a:pPr>
            <a:r>
              <a:rPr lang="en-US" sz="1250" b="1" dirty="0">
                <a:solidFill>
                  <a:srgbClr val="1A1D21"/>
                </a:solidFill>
                <a:latin typeface="Calibri" pitchFamily="34" charset="0"/>
                <a:ea typeface="Calibri" pitchFamily="34" charset="-122"/>
                <a:cs typeface="Calibri" pitchFamily="34" charset="-120"/>
              </a:rPr>
              <a:t>Raw-model residuals by season: Dry −1.25 (worst), Belg −0.47, Kiremt +0.49 (best). Corrected: season-stable −2.0…−2.6. Season sensitivity is a raw-model phenomenon.</a:t>
            </a:r>
            <a:endParaRPr lang="en-US" sz="1250" dirty="0"/>
          </a:p>
          <a:p>
            <a:pPr algn="l" indent="0" marL="0">
              <a:spcAft>
                <a:spcPts val="800"/>
              </a:spcAft>
              <a:buNone/>
            </a:pPr>
            <a:r>
              <a:rPr lang="en-US" sz="1250" dirty="0">
                <a:solidFill>
                  <a:srgbClr val="1A1D21"/>
                </a:solidFill>
                <a:latin typeface="Calibri" pitchFamily="34" charset="0"/>
                <a:ea typeface="Calibri" pitchFamily="34" charset="-122"/>
                <a:cs typeface="Calibri" pitchFamily="34" charset="-120"/>
              </a:rPr>
              <a:t>Design constraint: Dry spans only ~55% of the wet x-range, so naive per-season slopes attenuate mechanically. It must be a pooled fit with a season × x interaction, not three crossplots.</a:t>
            </a:r>
            <a:endParaRPr lang="en-US" sz="1250" dirty="0"/>
          </a:p>
          <a:p>
            <a:pPr algn="l" indent="0" marL="0">
              <a:spcAft>
                <a:spcPts val="800"/>
              </a:spcAft>
              <a:buNone/>
            </a:pPr>
            <a:r>
              <a:rPr lang="en-US" sz="1150" dirty="0">
                <a:solidFill>
                  <a:srgbClr val="5E6369"/>
                </a:solidFill>
                <a:latin typeface="Calibri" pitchFamily="34" charset="0"/>
                <a:ea typeface="Calibri" pitchFamily="34" charset="-122"/>
                <a:cs typeface="Calibri" pitchFamily="34" charset="-120"/>
              </a:rPr>
              <a:t>Feasibility: buildable today (~1 GB pull, ~5 min regen); all 43 undated spectra fall outside the 239-filter evaluation set (105 / 61 / 73).</a:t>
            </a:r>
            <a:endParaRPr lang="en-US" sz="1250" dirty="0"/>
          </a:p>
          <a:p>
            <a:pPr algn="l" indent="0" marL="0">
              <a:spcAft>
                <a:spcPts val="800"/>
              </a:spcAft>
              <a:buNone/>
            </a:pPr>
            <a:r>
              <a:rPr lang="en-US" sz="1250" b="1" dirty="0">
                <a:solidFill>
                  <a:srgbClr val="B23327"/>
                </a:solidFill>
                <a:latin typeface="Calibri" pitchFamily="34" charset="0"/>
                <a:ea typeface="Calibri" pitchFamily="34" charset="-122"/>
                <a:cs typeface="Calibri" pitchFamily="34" charset="-120"/>
              </a:rPr>
              <a:t>Decision: build today, or after tomorrow?</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11183112" cy="274320"/>
          </a:xfrm>
          <a:prstGeom prst="rect">
            <a:avLst/>
          </a:prstGeom>
          <a:noFill/>
          <a:ln/>
        </p:spPr>
        <p:txBody>
          <a:bodyPr wrap="square" lIns="0" tIns="0" rIns="0" bIns="0" rtlCol="0" anchor="ctr"/>
          <a:lstStyle/>
          <a:p>
            <a:pPr indent="0" marL="0">
              <a:buNone/>
            </a:pPr>
            <a:r>
              <a:rPr lang="en-US" sz="1100" spc="200" kern="0" dirty="0">
                <a:solidFill>
                  <a:srgbClr val="B23327"/>
                </a:solidFill>
                <a:latin typeface="Courier New" pitchFamily="34" charset="0"/>
                <a:ea typeface="Courier New" pitchFamily="34" charset="-122"/>
                <a:cs typeface="Courier New" pitchFamily="34" charset="-120"/>
              </a:rPr>
              <a:t>16 · THE ASK THAT SEPARATES THE SURVIVORS</a:t>
            </a:r>
            <a:endParaRPr lang="en-US" sz="1100" dirty="0"/>
          </a:p>
        </p:txBody>
      </p:sp>
      <p:sp>
        <p:nvSpPr>
          <p:cNvPr id="3" name="Text 1"/>
          <p:cNvSpPr/>
          <p:nvPr/>
        </p:nvSpPr>
        <p:spPr>
          <a:xfrm>
            <a:off x="502920" y="566928"/>
            <a:ext cx="11183112" cy="868680"/>
          </a:xfrm>
          <a:prstGeom prst="rect">
            <a:avLst/>
          </a:prstGeom>
          <a:noFill/>
          <a:ln/>
        </p:spPr>
        <p:txBody>
          <a:bodyPr wrap="square" lIns="0" tIns="0" rIns="0" bIns="0" rtlCol="0" anchor="t"/>
          <a:lstStyle/>
          <a:p>
            <a:pPr indent="0" marL="0">
              <a:buNone/>
            </a:pPr>
            <a:r>
              <a:rPr lang="en-US" sz="2600" b="1" dirty="0">
                <a:solidFill>
                  <a:srgbClr val="1A1D21"/>
                </a:solidFill>
                <a:latin typeface="Calibri" pitchFamily="34" charset="0"/>
                <a:ea typeface="Calibri" pitchFamily="34" charset="-122"/>
                <a:cs typeface="Calibri" pitchFamily="34" charset="-120"/>
              </a:rPr>
              <a:t>Quartz TOR is now the ask — every EC reference we hold is circular with one axis or the other.</a:t>
            </a:r>
            <a:endParaRPr lang="en-US" sz="2600" dirty="0"/>
          </a:p>
        </p:txBody>
      </p:sp>
      <p:sp>
        <p:nvSpPr>
          <p:cNvPr id="4" name="Shape 2"/>
          <p:cNvSpPr/>
          <p:nvPr/>
        </p:nvSpPr>
        <p:spPr>
          <a:xfrm>
            <a:off x="5394960" y="1554480"/>
            <a:ext cx="6309360" cy="4453128"/>
          </a:xfrm>
          <a:prstGeom prst="rect">
            <a:avLst/>
          </a:prstGeom>
          <a:solidFill>
            <a:srgbClr val="FFFFFF"/>
          </a:solidFill>
          <a:ln w="12700">
            <a:solidFill>
              <a:srgbClr val="DDE0DC"/>
            </a:solidFill>
            <a:prstDash val="solid"/>
          </a:ln>
          <a:effectLst>
            <a:outerShdw sx="100000" sy="100000" kx="0" ky="0" algn="bl" rotWithShape="0" blurRad="76200" dist="25400" dir="5400000">
              <a:srgbClr val="000000">
                <a:alpha val="18000"/>
              </a:srgbClr>
            </a:outerShdw>
          </a:effectLst>
        </p:spPr>
      </p:sp>
      <p:pic>
        <p:nvPicPr>
          <p:cNvPr id="5" name="Image 0" descr="/Users/ahmadjalil/github/aethmodular/research/ftir_ec_phase3/output/plots/context/adama_etbi_context.png">    </p:cNvPr>
          <p:cNvPicPr>
            <a:picLocks noChangeAspect="1"/>
          </p:cNvPicPr>
          <p:nvPr/>
        </p:nvPicPr>
        <p:blipFill>
          <a:blip r:embed="rId1"/>
          <a:srcRect l="0" r="0" t="0" b="0"/>
          <a:stretch/>
        </p:blipFill>
        <p:spPr>
          <a:xfrm>
            <a:off x="5449824" y="1609344"/>
            <a:ext cx="6199632" cy="4050792"/>
          </a:xfrm>
          <a:prstGeom prst="rect">
            <a:avLst/>
          </a:prstGeom>
        </p:spPr>
      </p:pic>
      <p:sp>
        <p:nvSpPr>
          <p:cNvPr id="6" name="Text 3"/>
          <p:cNvSpPr/>
          <p:nvPr/>
        </p:nvSpPr>
        <p:spPr>
          <a:xfrm>
            <a:off x="5486400" y="5696712"/>
            <a:ext cx="6126480" cy="292608"/>
          </a:xfrm>
          <a:prstGeom prst="rect">
            <a:avLst/>
          </a:prstGeom>
          <a:noFill/>
          <a:ln/>
        </p:spPr>
        <p:txBody>
          <a:bodyPr wrap="square" lIns="0" tIns="0" rIns="0" bIns="0" rtlCol="0" anchor="ctr"/>
          <a:lstStyle/>
          <a:p>
            <a:pPr indent="0" marL="0">
              <a:buNone/>
            </a:pPr>
            <a:r>
              <a:rPr lang="en-US" sz="850" dirty="0">
                <a:solidFill>
                  <a:srgbClr val="8A9098"/>
                </a:solidFill>
                <a:latin typeface="Courier New" pitchFamily="34" charset="0"/>
                <a:ea typeface="Courier New" pitchFamily="34" charset="-122"/>
                <a:cs typeface="Courier New" pitchFamily="34" charset="-120"/>
              </a:rPr>
              <a:t>context · adama_etbi_context   </a:t>
            </a:r>
            <a:pPr indent="0" marL="0">
              <a:buNone/>
            </a:pPr>
            <a:r>
              <a:rPr lang="en-US" sz="950" i="1" dirty="0">
                <a:solidFill>
                  <a:srgbClr val="5E6369"/>
                </a:solidFill>
                <a:latin typeface="Calibri" pitchFamily="34" charset="0"/>
                <a:ea typeface="Calibri" pitchFamily="34" charset="-122"/>
                <a:cs typeface="Calibri" pitchFamily="34" charset="-120"/>
              </a:rPr>
              <a:t>Adama TOR sits at the IMPROVE median; Bishoftu (ETBI) unused, 26 HIPS filters</a:t>
            </a:r>
            <a:endParaRPr lang="en-US" sz="850" dirty="0"/>
          </a:p>
        </p:txBody>
      </p:sp>
      <p:sp>
        <p:nvSpPr>
          <p:cNvPr id="7" name="Text 4"/>
          <p:cNvSpPr/>
          <p:nvPr/>
        </p:nvSpPr>
        <p:spPr>
          <a:xfrm>
            <a:off x="502920" y="1737360"/>
            <a:ext cx="4663440" cy="3977640"/>
          </a:xfrm>
          <a:prstGeom prst="rect">
            <a:avLst/>
          </a:prstGeom>
          <a:noFill/>
          <a:ln/>
        </p:spPr>
        <p:txBody>
          <a:bodyPr wrap="square" lIns="0" tIns="0" rIns="0" bIns="0" rtlCol="0" anchor="t"/>
          <a:lstStyle/>
          <a:p>
            <a:pPr algn="l" indent="0" marL="0">
              <a:spcAft>
                <a:spcPts val="800"/>
              </a:spcAft>
              <a:buNone/>
            </a:pPr>
            <a:r>
              <a:rPr lang="en-US" sz="1250" dirty="0">
                <a:solidFill>
                  <a:srgbClr val="1A1D21"/>
                </a:solidFill>
                <a:latin typeface="Calibri" pitchFamily="34" charset="0"/>
                <a:ea typeface="Calibri" pitchFamily="34" charset="-122"/>
                <a:cs typeface="Calibri" pitchFamily="34" charset="-120"/>
              </a:rPr>
              <a:t>Four-direction narrowing: not a generic HIPS zero (ftir_26) · not the FTIR zero (slide 07's flat, D²-independent structure) · no in-hand reference can discriminate (ftir_27) · and the survivors — loading artifact, curve geometry, real absorption — all yield to a co-located quartz-TOR campaign.</a:t>
            </a:r>
            <a:endParaRPr lang="en-US" sz="1250" dirty="0"/>
          </a:p>
          <a:p>
            <a:pPr algn="l" indent="0" marL="0">
              <a:spcAft>
                <a:spcPts val="800"/>
              </a:spcAft>
              <a:buNone/>
            </a:pPr>
            <a:r>
              <a:rPr lang="en-US" sz="1250" b="1" dirty="0">
                <a:solidFill>
                  <a:srgbClr val="1A1D21"/>
                </a:solidFill>
                <a:latin typeface="Calibri" pitchFamily="34" charset="0"/>
                <a:ea typeface="Calibri" pitchFamily="34" charset="-122"/>
                <a:cs typeface="Calibri" pitchFamily="34" charset="-120"/>
              </a:rPr>
              <a:t>Spec (ftir_16, committed): ~3σ/day separation of MAC 6 vs 10 → 11–13 days per season, ~36 filters in total (12 + 13 + 11). TOR needs quartz; archived Teflon cannot substitute; Adama Batch-54 proves the chain works.</a:t>
            </a:r>
            <a:endParaRPr lang="en-US" sz="1250" dirty="0"/>
          </a:p>
          <a:p>
            <a:pPr algn="l" indent="0" marL="0">
              <a:spcAft>
                <a:spcPts val="800"/>
              </a:spcAft>
              <a:buNone/>
            </a:pPr>
            <a:r>
              <a:rPr lang="en-US" sz="1150" dirty="0">
                <a:solidFill>
                  <a:srgbClr val="5E6369"/>
                </a:solidFill>
                <a:latin typeface="Calibri" pitchFamily="34" charset="0"/>
                <a:ea typeface="Calibri" pitchFamily="34" charset="-122"/>
                <a:cs typeface="Calibri" pitchFamily="34" charset="-120"/>
              </a:rPr>
              <a:t>Pre-registered: if the ~21 Mm⁻¹ were a persistent background, ETBI (median 26.9 Mm⁻¹) would be mostly background — its FTIR-EC should come out very low the day its spectra arrive.</a:t>
            </a:r>
            <a:endParaRPr lang="en-US" sz="1250" dirty="0"/>
          </a:p>
        </p:txBody>
      </p:sp>
      <p:sp>
        <p:nvSpPr>
          <p:cNvPr id="8" name="Shape 5"/>
          <p:cNvSpPr/>
          <p:nvPr/>
        </p:nvSpPr>
        <p:spPr>
          <a:xfrm>
            <a:off x="502920" y="5532120"/>
            <a:ext cx="2377440" cy="402336"/>
          </a:xfrm>
          <a:prstGeom prst="roundRect">
            <a:avLst>
              <a:gd name="adj" fmla="val 13636"/>
            </a:avLst>
          </a:prstGeom>
          <a:solidFill>
            <a:srgbClr val="F4F5F3"/>
          </a:solidFill>
          <a:ln w="9525">
            <a:solidFill>
              <a:srgbClr val="DDE0DC"/>
            </a:solidFill>
            <a:prstDash val="solid"/>
          </a:ln>
        </p:spPr>
      </p:sp>
      <p:sp>
        <p:nvSpPr>
          <p:cNvPr id="9" name="Text 6"/>
          <p:cNvSpPr/>
          <p:nvPr/>
        </p:nvSpPr>
        <p:spPr>
          <a:xfrm>
            <a:off x="612648" y="5532120"/>
            <a:ext cx="219456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days per season  </a:t>
            </a:r>
            <a:pPr indent="0" marL="0">
              <a:buNone/>
            </a:pPr>
            <a:r>
              <a:rPr lang="en-US" sz="1100" b="1" dirty="0">
                <a:solidFill>
                  <a:srgbClr val="3F7A56"/>
                </a:solidFill>
                <a:latin typeface="Calibri" pitchFamily="34" charset="0"/>
                <a:ea typeface="Calibri" pitchFamily="34" charset="-122"/>
                <a:cs typeface="Calibri" pitchFamily="34" charset="-120"/>
              </a:rPr>
              <a:t>11–13</a:t>
            </a:r>
            <a:endParaRPr lang="en-US" sz="1100" dirty="0"/>
          </a:p>
        </p:txBody>
      </p:sp>
      <p:sp>
        <p:nvSpPr>
          <p:cNvPr id="10" name="Shape 7"/>
          <p:cNvSpPr/>
          <p:nvPr/>
        </p:nvSpPr>
        <p:spPr>
          <a:xfrm>
            <a:off x="502920" y="6044184"/>
            <a:ext cx="2377440" cy="402336"/>
          </a:xfrm>
          <a:prstGeom prst="roundRect">
            <a:avLst>
              <a:gd name="adj" fmla="val 13636"/>
            </a:avLst>
          </a:prstGeom>
          <a:solidFill>
            <a:srgbClr val="F4F5F3"/>
          </a:solidFill>
          <a:ln w="9525">
            <a:solidFill>
              <a:srgbClr val="DDE0DC"/>
            </a:solidFill>
            <a:prstDash val="solid"/>
          </a:ln>
        </p:spPr>
      </p:sp>
      <p:sp>
        <p:nvSpPr>
          <p:cNvPr id="11" name="Text 8"/>
          <p:cNvSpPr/>
          <p:nvPr/>
        </p:nvSpPr>
        <p:spPr>
          <a:xfrm>
            <a:off x="612648" y="6044184"/>
            <a:ext cx="2194560" cy="402336"/>
          </a:xfrm>
          <a:prstGeom prst="rect">
            <a:avLst/>
          </a:prstGeom>
          <a:noFill/>
          <a:ln/>
        </p:spPr>
        <p:txBody>
          <a:bodyPr wrap="square" lIns="0" tIns="0" rIns="0" bIns="0" rtlCol="0" anchor="ctr"/>
          <a:lstStyle/>
          <a:p>
            <a:pPr indent="0" marL="0">
              <a:buNone/>
            </a:pPr>
            <a:r>
              <a:rPr lang="en-US" sz="1100" dirty="0">
                <a:solidFill>
                  <a:srgbClr val="5E6369"/>
                </a:solidFill>
                <a:latin typeface="Calibri" pitchFamily="34" charset="0"/>
                <a:ea typeface="Calibri" pitchFamily="34" charset="-122"/>
                <a:cs typeface="Calibri" pitchFamily="34" charset="-120"/>
              </a:rPr>
              <a:t>filters TOTAL  </a:t>
            </a:r>
            <a:pPr indent="0" marL="0">
              <a:buNone/>
            </a:pPr>
            <a:r>
              <a:rPr lang="en-US" sz="1100" b="1" dirty="0">
                <a:solidFill>
                  <a:srgbClr val="3F7A56"/>
                </a:solidFill>
                <a:latin typeface="Calibri" pitchFamily="34" charset="0"/>
                <a:ea typeface="Calibri" pitchFamily="34" charset="-122"/>
                <a:cs typeface="Calibri" pitchFamily="34" charset="-120"/>
              </a:rPr>
              <a:t>~36</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1D21"/>
        </a:solidFill>
      </p:bgPr>
    </p:bg>
    <p:spTree>
      <p:nvGrpSpPr>
        <p:cNvPr id="1" name=""/>
        <p:cNvGrpSpPr/>
        <p:nvPr/>
      </p:nvGrpSpPr>
      <p:grpSpPr>
        <a:xfrm>
          <a:off x="0" y="0"/>
          <a:ext cx="0" cy="0"/>
          <a:chOff x="0" y="0"/>
          <a:chExt cx="0" cy="0"/>
        </a:xfrm>
      </p:grpSpPr>
      <p:sp>
        <p:nvSpPr>
          <p:cNvPr id="2" name="Text 0"/>
          <p:cNvSpPr/>
          <p:nvPr/>
        </p:nvSpPr>
        <p:spPr>
          <a:xfrm>
            <a:off x="502920" y="457200"/>
            <a:ext cx="7315200" cy="320040"/>
          </a:xfrm>
          <a:prstGeom prst="rect">
            <a:avLst/>
          </a:prstGeom>
          <a:noFill/>
          <a:ln/>
        </p:spPr>
        <p:txBody>
          <a:bodyPr wrap="square" lIns="0" tIns="0" rIns="0" bIns="0" rtlCol="0" anchor="ctr"/>
          <a:lstStyle/>
          <a:p>
            <a:pPr indent="0" marL="0">
              <a:buNone/>
            </a:pPr>
            <a:r>
              <a:rPr lang="en-US" sz="1200" spc="200" kern="0" dirty="0">
                <a:solidFill>
                  <a:srgbClr val="E0705F"/>
                </a:solidFill>
                <a:latin typeface="Courier New" pitchFamily="34" charset="0"/>
                <a:ea typeface="Courier New" pitchFamily="34" charset="-122"/>
                <a:cs typeface="Courier New" pitchFamily="34" charset="-120"/>
              </a:rPr>
              <a:t>TODAY'S DECISIONS</a:t>
            </a:r>
            <a:endParaRPr lang="en-US" sz="1200" dirty="0"/>
          </a:p>
        </p:txBody>
      </p:sp>
      <p:sp>
        <p:nvSpPr>
          <p:cNvPr id="3" name="Text 1"/>
          <p:cNvSpPr/>
          <p:nvPr/>
        </p:nvSpPr>
        <p:spPr>
          <a:xfrm>
            <a:off x="502920" y="822960"/>
            <a:ext cx="10972800" cy="73152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Six calls, then tomorrow is mechanical.</a:t>
            </a:r>
            <a:endParaRPr lang="en-US" sz="3000" dirty="0"/>
          </a:p>
        </p:txBody>
      </p:sp>
      <p:sp>
        <p:nvSpPr>
          <p:cNvPr id="4" name="Shape 2"/>
          <p:cNvSpPr/>
          <p:nvPr/>
        </p:nvSpPr>
        <p:spPr>
          <a:xfrm>
            <a:off x="502920" y="1828800"/>
            <a:ext cx="5486400" cy="1371600"/>
          </a:xfrm>
          <a:prstGeom prst="roundRect">
            <a:avLst>
              <a:gd name="adj" fmla="val 5333"/>
            </a:avLst>
          </a:prstGeom>
          <a:solidFill>
            <a:srgbClr val="23262C"/>
          </a:solidFill>
          <a:ln w="9525">
            <a:solidFill>
              <a:srgbClr val="3A3F46"/>
            </a:solidFill>
            <a:prstDash val="solid"/>
          </a:ln>
        </p:spPr>
      </p:sp>
      <p:sp>
        <p:nvSpPr>
          <p:cNvPr id="5" name="Text 3"/>
          <p:cNvSpPr/>
          <p:nvPr/>
        </p:nvSpPr>
        <p:spPr>
          <a:xfrm>
            <a:off x="704088" y="1938528"/>
            <a:ext cx="5120640" cy="36576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① Approve the Satoshi deck</a:t>
            </a:r>
            <a:endParaRPr lang="en-US" sz="1450" dirty="0"/>
          </a:p>
        </p:txBody>
      </p:sp>
      <p:sp>
        <p:nvSpPr>
          <p:cNvPr id="6" name="Text 4"/>
          <p:cNvSpPr/>
          <p:nvPr/>
        </p:nvSpPr>
        <p:spPr>
          <a:xfrm>
            <a:off x="704088" y="2331720"/>
            <a:ext cx="5120640" cy="777240"/>
          </a:xfrm>
          <a:prstGeom prst="rect">
            <a:avLst/>
          </a:prstGeom>
          <a:noFill/>
          <a:ln/>
        </p:spPr>
        <p:txBody>
          <a:bodyPr wrap="square" lIns="0" tIns="0" rIns="0" bIns="0" rtlCol="0" anchor="ctr"/>
          <a:lstStyle/>
          <a:p>
            <a:pPr indent="0" marL="0">
              <a:buNone/>
            </a:pPr>
            <a:r>
              <a:rPr lang="en-US" sz="1100" dirty="0">
                <a:solidFill>
                  <a:srgbClr val="A2A8AE"/>
                </a:solidFill>
                <a:latin typeface="Calibri" pitchFamily="34" charset="0"/>
                <a:ea typeface="Calibri" pitchFamily="34" charset="-122"/>
                <a:cs typeface="Calibri" pitchFamily="34" charset="-120"/>
              </a:rPr>
              <a:t>Five parts, six asks — two tone calls: the Calibration-app framing, and how hard to push MAC ≈ 10.</a:t>
            </a:r>
            <a:endParaRPr lang="en-US" sz="1100" dirty="0"/>
          </a:p>
        </p:txBody>
      </p:sp>
      <p:sp>
        <p:nvSpPr>
          <p:cNvPr id="7" name="Shape 5"/>
          <p:cNvSpPr/>
          <p:nvPr/>
        </p:nvSpPr>
        <p:spPr>
          <a:xfrm>
            <a:off x="6263640" y="1828800"/>
            <a:ext cx="5486400" cy="1371600"/>
          </a:xfrm>
          <a:prstGeom prst="roundRect">
            <a:avLst>
              <a:gd name="adj" fmla="val 5333"/>
            </a:avLst>
          </a:prstGeom>
          <a:solidFill>
            <a:srgbClr val="23262C"/>
          </a:solidFill>
          <a:ln w="9525">
            <a:solidFill>
              <a:srgbClr val="3A3F46"/>
            </a:solidFill>
            <a:prstDash val="solid"/>
          </a:ln>
        </p:spPr>
      </p:sp>
      <p:sp>
        <p:nvSpPr>
          <p:cNvPr id="8" name="Text 6"/>
          <p:cNvSpPr/>
          <p:nvPr/>
        </p:nvSpPr>
        <p:spPr>
          <a:xfrm>
            <a:off x="6464808" y="1938528"/>
            <a:ext cx="5120640" cy="36576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② HIPS_Uncertainty semantics</a:t>
            </a:r>
            <a:endParaRPr lang="en-US" sz="1450" dirty="0"/>
          </a:p>
        </p:txBody>
      </p:sp>
      <p:sp>
        <p:nvSpPr>
          <p:cNvPr id="9" name="Text 7"/>
          <p:cNvSpPr/>
          <p:nvPr/>
        </p:nvSpPr>
        <p:spPr>
          <a:xfrm>
            <a:off x="6464808" y="2331720"/>
            <a:ext cx="5120640" cy="777240"/>
          </a:xfrm>
          <a:prstGeom prst="rect">
            <a:avLst/>
          </a:prstGeom>
          <a:noFill/>
          <a:ln/>
        </p:spPr>
        <p:txBody>
          <a:bodyPr wrap="square" lIns="0" tIns="0" rIns="0" bIns="0" rtlCol="0" anchor="ctr"/>
          <a:lstStyle/>
          <a:p>
            <a:pPr indent="0" marL="0">
              <a:buNone/>
            </a:pPr>
            <a:r>
              <a:rPr lang="en-US" sz="1100" dirty="0">
                <a:solidFill>
                  <a:srgbClr val="A2A8AE"/>
                </a:solidFill>
                <a:latin typeface="Calibri" pitchFamily="34" charset="0"/>
                <a:ea typeface="Calibri" pitchFamily="34" charset="-122"/>
                <a:cs typeface="Calibri" pitchFamily="34" charset="-120"/>
              </a:rPr>
              <a:t>Counting statistics, repeatability, or propagated calibration uncertainty? If unknown — assign who emails SPARTAN.</a:t>
            </a:r>
            <a:endParaRPr lang="en-US" sz="1100" dirty="0"/>
          </a:p>
        </p:txBody>
      </p:sp>
      <p:sp>
        <p:nvSpPr>
          <p:cNvPr id="10" name="Shape 8"/>
          <p:cNvSpPr/>
          <p:nvPr/>
        </p:nvSpPr>
        <p:spPr>
          <a:xfrm>
            <a:off x="502920" y="3383280"/>
            <a:ext cx="5486400" cy="1371600"/>
          </a:xfrm>
          <a:prstGeom prst="roundRect">
            <a:avLst>
              <a:gd name="adj" fmla="val 5333"/>
            </a:avLst>
          </a:prstGeom>
          <a:solidFill>
            <a:srgbClr val="23262C"/>
          </a:solidFill>
          <a:ln w="9525">
            <a:solidFill>
              <a:srgbClr val="3A3F46"/>
            </a:solidFill>
            <a:prstDash val="solid"/>
          </a:ln>
        </p:spPr>
      </p:sp>
      <p:sp>
        <p:nvSpPr>
          <p:cNvPr id="11" name="Text 9"/>
          <p:cNvSpPr/>
          <p:nvPr/>
        </p:nvSpPr>
        <p:spPr>
          <a:xfrm>
            <a:off x="704088" y="3493008"/>
            <a:ext cx="5120640" cy="36576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③ ftir_24 — today or after?</a:t>
            </a:r>
            <a:endParaRPr lang="en-US" sz="1450" dirty="0"/>
          </a:p>
        </p:txBody>
      </p:sp>
      <p:sp>
        <p:nvSpPr>
          <p:cNvPr id="12" name="Text 10"/>
          <p:cNvSpPr/>
          <p:nvPr/>
        </p:nvSpPr>
        <p:spPr>
          <a:xfrm>
            <a:off x="704088" y="3886200"/>
            <a:ext cx="5120640" cy="777240"/>
          </a:xfrm>
          <a:prstGeom prst="rect">
            <a:avLst/>
          </a:prstGeom>
          <a:noFill/>
          <a:ln/>
        </p:spPr>
        <p:txBody>
          <a:bodyPr wrap="square" lIns="0" tIns="0" rIns="0" bIns="0" rtlCol="0" anchor="ctr"/>
          <a:lstStyle/>
          <a:p>
            <a:pPr indent="0" marL="0">
              <a:buNone/>
            </a:pPr>
            <a:r>
              <a:rPr lang="en-US" sz="1100" dirty="0">
                <a:solidFill>
                  <a:srgbClr val="A2A8AE"/>
                </a:solidFill>
                <a:latin typeface="Calibri" pitchFamily="34" charset="0"/>
                <a:ea typeface="Calibri" pitchFamily="34" charset="-122"/>
                <a:cs typeface="Calibri" pitchFamily="34" charset="-120"/>
              </a:rPr>
              <a:t>Buildable this afternoon with the season × x design; unaudited if it goes straight to a deck.</a:t>
            </a:r>
            <a:endParaRPr lang="en-US" sz="1100" dirty="0"/>
          </a:p>
        </p:txBody>
      </p:sp>
      <p:sp>
        <p:nvSpPr>
          <p:cNvPr id="13" name="Shape 11"/>
          <p:cNvSpPr/>
          <p:nvPr/>
        </p:nvSpPr>
        <p:spPr>
          <a:xfrm>
            <a:off x="6263640" y="3383280"/>
            <a:ext cx="5486400" cy="1371600"/>
          </a:xfrm>
          <a:prstGeom prst="roundRect">
            <a:avLst>
              <a:gd name="adj" fmla="val 5333"/>
            </a:avLst>
          </a:prstGeom>
          <a:solidFill>
            <a:srgbClr val="23262C"/>
          </a:solidFill>
          <a:ln w="9525">
            <a:solidFill>
              <a:srgbClr val="3A3F46"/>
            </a:solidFill>
            <a:prstDash val="solid"/>
          </a:ln>
        </p:spPr>
      </p:sp>
      <p:sp>
        <p:nvSpPr>
          <p:cNvPr id="14" name="Text 12"/>
          <p:cNvSpPr/>
          <p:nvPr/>
        </p:nvSpPr>
        <p:spPr>
          <a:xfrm>
            <a:off x="6464808" y="3493008"/>
            <a:ext cx="5120640" cy="36576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④ Ask owners for tomorrow</a:t>
            </a:r>
            <a:endParaRPr lang="en-US" sz="1450" dirty="0"/>
          </a:p>
        </p:txBody>
      </p:sp>
      <p:sp>
        <p:nvSpPr>
          <p:cNvPr id="15" name="Text 13"/>
          <p:cNvSpPr/>
          <p:nvPr/>
        </p:nvSpPr>
        <p:spPr>
          <a:xfrm>
            <a:off x="6464808" y="3886200"/>
            <a:ext cx="5120640" cy="777240"/>
          </a:xfrm>
          <a:prstGeom prst="rect">
            <a:avLst/>
          </a:prstGeom>
          <a:noFill/>
          <a:ln/>
        </p:spPr>
        <p:txBody>
          <a:bodyPr wrap="square" lIns="0" tIns="0" rIns="0" bIns="0" rtlCol="0" anchor="ctr"/>
          <a:lstStyle/>
          <a:p>
            <a:pPr indent="0" marL="0">
              <a:buNone/>
            </a:pPr>
            <a:r>
              <a:rPr lang="en-US" sz="1100" dirty="0">
                <a:solidFill>
                  <a:srgbClr val="A2A8AE"/>
                </a:solidFill>
                <a:latin typeface="Calibri" pitchFamily="34" charset="0"/>
                <a:ea typeface="Calibri" pitchFamily="34" charset="-122"/>
                <a:cs typeface="Calibri" pitchFamily="34" charset="-120"/>
              </a:rPr>
              <a:t>Quartz TOR (headline) · Emily Lee's charcoal spectra · sub-1500 model · INDH/CHTS/ETBI pull · ATR go/no-go · baselining trade-off.</a:t>
            </a:r>
            <a:endParaRPr lang="en-US" sz="1100" dirty="0"/>
          </a:p>
        </p:txBody>
      </p:sp>
      <p:sp>
        <p:nvSpPr>
          <p:cNvPr id="16" name="Shape 14"/>
          <p:cNvSpPr/>
          <p:nvPr/>
        </p:nvSpPr>
        <p:spPr>
          <a:xfrm>
            <a:off x="502920" y="4937760"/>
            <a:ext cx="5486400" cy="1371600"/>
          </a:xfrm>
          <a:prstGeom prst="roundRect">
            <a:avLst>
              <a:gd name="adj" fmla="val 5333"/>
            </a:avLst>
          </a:prstGeom>
          <a:solidFill>
            <a:srgbClr val="23262C"/>
          </a:solidFill>
          <a:ln w="9525">
            <a:solidFill>
              <a:srgbClr val="3A3F46"/>
            </a:solidFill>
            <a:prstDash val="solid"/>
          </a:ln>
        </p:spPr>
      </p:sp>
      <p:sp>
        <p:nvSpPr>
          <p:cNvPr id="17" name="Text 15"/>
          <p:cNvSpPr/>
          <p:nvPr/>
        </p:nvSpPr>
        <p:spPr>
          <a:xfrm>
            <a:off x="704088" y="5047488"/>
            <a:ext cx="5120640" cy="36576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⑤ Quartz-TOR one-pager</a:t>
            </a:r>
            <a:endParaRPr lang="en-US" sz="1450" dirty="0"/>
          </a:p>
        </p:txBody>
      </p:sp>
      <p:sp>
        <p:nvSpPr>
          <p:cNvPr id="18" name="Text 16"/>
          <p:cNvSpPr/>
          <p:nvPr/>
        </p:nvSpPr>
        <p:spPr>
          <a:xfrm>
            <a:off x="704088" y="5440680"/>
            <a:ext cx="5120640" cy="777240"/>
          </a:xfrm>
          <a:prstGeom prst="rect">
            <a:avLst/>
          </a:prstGeom>
          <a:noFill/>
          <a:ln/>
        </p:spPr>
        <p:txBody>
          <a:bodyPr wrap="square" lIns="0" tIns="0" rIns="0" bIns="0" rtlCol="0" anchor="ctr"/>
          <a:lstStyle/>
          <a:p>
            <a:pPr indent="0" marL="0">
              <a:buNone/>
            </a:pPr>
            <a:r>
              <a:rPr lang="en-US" sz="1100" dirty="0">
                <a:solidFill>
                  <a:srgbClr val="A2A8AE"/>
                </a:solidFill>
                <a:latin typeface="Calibri" pitchFamily="34" charset="0"/>
                <a:ea typeface="Calibri" pitchFamily="34" charset="-122"/>
                <a:cs typeface="Calibri" pitchFamily="34" charset="-120"/>
              </a:rPr>
              <a:t>Committed and ready — does it go to Satoshi tomorrow?</a:t>
            </a:r>
            <a:endParaRPr lang="en-US" sz="1100" dirty="0"/>
          </a:p>
        </p:txBody>
      </p:sp>
      <p:sp>
        <p:nvSpPr>
          <p:cNvPr id="19" name="Shape 17"/>
          <p:cNvSpPr/>
          <p:nvPr/>
        </p:nvSpPr>
        <p:spPr>
          <a:xfrm>
            <a:off x="6263640" y="4937760"/>
            <a:ext cx="5486400" cy="1371600"/>
          </a:xfrm>
          <a:prstGeom prst="roundRect">
            <a:avLst>
              <a:gd name="adj" fmla="val 5333"/>
            </a:avLst>
          </a:prstGeom>
          <a:solidFill>
            <a:srgbClr val="23262C"/>
          </a:solidFill>
          <a:ln w="9525">
            <a:solidFill>
              <a:srgbClr val="3A3F46"/>
            </a:solidFill>
            <a:prstDash val="solid"/>
          </a:ln>
        </p:spPr>
      </p:sp>
      <p:sp>
        <p:nvSpPr>
          <p:cNvPr id="20" name="Text 18"/>
          <p:cNvSpPr/>
          <p:nvPr/>
        </p:nvSpPr>
        <p:spPr>
          <a:xfrm>
            <a:off x="6464808" y="5047488"/>
            <a:ext cx="5120640" cy="365760"/>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⑥ Hossein outcome</a:t>
            </a:r>
            <a:endParaRPr lang="en-US" sz="1450" dirty="0"/>
          </a:p>
        </p:txBody>
      </p:sp>
      <p:sp>
        <p:nvSpPr>
          <p:cNvPr id="21" name="Text 19"/>
          <p:cNvSpPr/>
          <p:nvPr/>
        </p:nvSpPr>
        <p:spPr>
          <a:xfrm>
            <a:off x="6464808" y="5440680"/>
            <a:ext cx="5120640" cy="777240"/>
          </a:xfrm>
          <a:prstGeom prst="rect">
            <a:avLst/>
          </a:prstGeom>
          <a:noFill/>
          <a:ln/>
        </p:spPr>
        <p:txBody>
          <a:bodyPr wrap="square" lIns="0" tIns="0" rIns="0" bIns="0" rtlCol="0" anchor="ctr"/>
          <a:lstStyle/>
          <a:p>
            <a:pPr indent="0" marL="0">
              <a:buNone/>
            </a:pPr>
            <a:r>
              <a:rPr lang="en-US" sz="1100" dirty="0">
                <a:solidFill>
                  <a:srgbClr val="A2A8AE"/>
                </a:solidFill>
                <a:latin typeface="Calibri" pitchFamily="34" charset="0"/>
                <a:ea typeface="Calibri" pitchFamily="34" charset="-122"/>
                <a:cs typeface="Calibri" pitchFamily="34" charset="-120"/>
              </a:rPr>
              <a:t>Gates the co-author email; nothing else can unblock it.</a:t>
            </a:r>
            <a:endParaRPr lang="en-US" sz="1100" dirty="0"/>
          </a:p>
        </p:txBody>
      </p:sp>
      <p:sp>
        <p:nvSpPr>
          <p:cNvPr id="22" name="Text 20"/>
          <p:cNvSpPr/>
          <p:nvPr/>
        </p:nvSpPr>
        <p:spPr>
          <a:xfrm>
            <a:off x="502920" y="6419088"/>
            <a:ext cx="11155680" cy="365760"/>
          </a:xfrm>
          <a:prstGeom prst="rect">
            <a:avLst/>
          </a:prstGeom>
          <a:noFill/>
          <a:ln/>
        </p:spPr>
        <p:txBody>
          <a:bodyPr wrap="square" lIns="0" tIns="0" rIns="0" bIns="0" rtlCol="0" anchor="ctr"/>
          <a:lstStyle/>
          <a:p>
            <a:pPr indent="0" marL="0">
              <a:buNone/>
            </a:pPr>
            <a:r>
              <a:rPr lang="en-US" sz="1050" dirty="0">
                <a:solidFill>
                  <a:srgbClr val="E0705F"/>
                </a:solidFill>
                <a:latin typeface="Courier New" pitchFamily="34" charset="0"/>
                <a:ea typeface="Courier New" pitchFamily="34" charset="-122"/>
                <a:cs typeface="Courier New" pitchFamily="34" charset="-120"/>
              </a:rPr>
              <a:t>Standing rule: nothing reaches Satoshi or the co-authors until you have approved it. That is what today is for.</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FTIR-EC at Addis Ababa - Ann 1:1, 12 Aug 2026</dc:title>
  <dc:subject>PptxGenJS Presentation</dc:subject>
  <dc:creator>Ahmad Jalil</dc:creator>
  <cp:lastModifiedBy>Ahmad Jalil</cp:lastModifiedBy>
  <cp:revision>1</cp:revision>
  <dcterms:created xsi:type="dcterms:W3CDTF">2026-08-12T21:49:55Z</dcterms:created>
  <dcterms:modified xsi:type="dcterms:W3CDTF">2026-08-12T21:49:55Z</dcterms:modified>
</cp:coreProperties>
</file>