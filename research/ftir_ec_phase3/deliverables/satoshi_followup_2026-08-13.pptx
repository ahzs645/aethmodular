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Thanks both — Naveed, good to have you back on this thread. The plan: shared ground first, then the component-selection question, which is genuinely open and where we want your call, Satoshi. The deck is staged: once we settle how components should be chosen, we jump into that section's results — both variants are fully built, so whichever way the discussion goes, the numbers are one click away.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The anchor plot. The network calibration carried to Addis is steep with a deep negative intercept — and nothing at Addis has negative EC, so the offset is the model, not the air. Note the right panel: at MAC six the slope pivots to one-point-one-four but the intercept stays at exactly minus four-point-one-seven — that invariance is proved later and it kills a whole family of would-be fixes. Intercepts are micrograms per cubic metre everywhere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Ann's cohort idea: the 800 lowest-OC/EC filters, the closest IMPROVE gets to Addis composition. Like-for-like it wins — same 190 Addis filters, RMSE one-point-one-six against one-point-five to two-point-two, held-out TOR R-squared point-nine-one against point-six to point-eight. New since yesterday, answering Ann's question: the Ethiopia-shaped-300 and this 800 share exactly ONE filter — shape-similarity and composition-similarity select disjoint filters, which fits their opposite behaviour since the shape-selected cohort fails the held-out TOR test.
QUESTION FOR SATOSHI: why would spectral-shape similarity fail to track composition here — is the baseline swamping the shape metric too?
IF ASKED about the histogram n: 12,962 is the pool with TOR pairs; 48 of the 13,010 lack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Your baselining suggestion, implemented. Black line is one real filter — not an average; the red dash is the APRLssb segmented-spline baseline fitted under it, per spectrum. The shaded sliver is all that is actually bands. Two things for you specifically: the port is your algorithm — validated against your group's R output on the ETAD scans to six times ten-to-the-minus-seven absorbance. And your EDF question has an answer: six versus eight is indistinguishable, delta-slope under one hundredth.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Left: the same filter after subtracting its own baseline — the whole panel spans three hundredths of an absorbance unit against a raw spectrum of point-three-four. Right: baseline height at the CH band, one value per filter — cohort median point-one-oh-one, Addis point-one-seven-oh. Whatever a raw-spectra model learns about background does not transfer, and that error lands as an offset. Baselining both sides takes the intercept from minus three-point-two to minus one-point-six — the biggest single improvement of the project. Honest cost: R-squared point-seven-seven to point-six-six, RMSE one-point-two to two-point-four. We prefer it for its residual structure, coming up in the results sections.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Now the open question — how many PLS components. Option A holds whole SITES out, five folds, and takes the first major minimum, with the standard-error ribbon drawn. It picks small k — four to fifteen. Two verified facts: for biomass-smoke, k equals four IS the global minimum of this curve — the earlier confusion came from a different overlaid figure — and this scheme returns the same k on any row ordering of the data.
The case FOR it: Addis is a site nobody has seen, and holding sites out is the rehearsal for that. The worry Ann raised: on raw spectra, the first four or five factors can be mostly Teflon.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Option B is the group's standard — the Calibration app's scheme. Every tenth FILTER held out, ten folds, take the first k within five percent of the minimum. It picks large k — seventeen to twenty-seven, about twenty for smoke, which matches how the deployed models were built. Two caveats we can show: the pooled curve carries no fold-to-fold spread, so it cannot draw an error band — it looks decisive partly because it discards that information — and it is row-order dependent: the same 800 filters give k of fifteen, eighteen or nineteen depending on row order.
THE DECISION QUESTION FOR SATOSHI: which scheme should carry the headline — and must k match across models when we compare them? Ann's suggestion if unresolved: run five-for-all and twenty-for-all as a control.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Here is the same six-setup ladder under both schemes, side by side, so the decision has its consequences in view: biomass-smoke swings from minus six-point-nine to minus one on the component choice alone — bigger than anything MAC can do — while the corrected setup moves from minus one-point-six-five to minus one-point-six-two. That last point is the safety net: OUR headline conclusion is protocol-robust, so if the room cannot decide today, the corrected setup's answer does not hang on it.
Then jump: pick a scheme and I go to that section — same four slides in each: matrix, crossplots, residuals, MAC pivot. If we truly cannot pick, I present section A and hand section B out as the parallel copy.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(Section A): the setup matrix under site-grouped selection, intercepts in micrograms per cubic metre. The ladder runs minus four-point-two, minus three-point-two, minus one-point-six. Two rows carry warnings — no held-out TOR skill. The corrected setup passes the disjoint-site TOR test cleanly, slope one-point-oh-one — and cohort engineering beyond it breaks that test: this is the terminal IMPROVE-only candidate.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All six setups, identical axes, fixed cohort, MAC ten. Ann's standing objection deserves saying out loud: EC's sloping absorption lives partly in the baseline, so baselining an EC calibration should LOSE signal. Our evidence that what we removed was mostly not EC: smoke-906 falls from slope two-point-six-five to point-three-seven when both sides are baselined, and the HIPS-transfer failure survives baselining — the break at Addis is compositional.
THE BIG QUESTION FOR SATOSHI: how much genuine EC signal does full baseline removal discard? Is a middle path worth testing — and where does your group's newer baselining work stand?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Residual against distance from the calibration cloud. Raw model: error tracks extrapolation, r point-seven-one, flips sign by season — out-of-domain failure. Corrected model: flat, distance-independent, season-stable minus two to minus two-point-six. Bootstrap CI excludes zero. Restated as absorption: about twenty-one inverse megametres with no FTIR-EC behind it, forty-six percent of a typical Addis filter, exactly MAC-invariant.
IF THE ESTIMATOR comes up: with measured HIPS uncertainty, Deming moves the corrected intercept to minus two-point-one — errors-in-variables makes the offset LARGER, so OLS is the conservative bound. Backup slides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The promised algebra. x is Fabs over MAC, so changing MAC rescales x by a constant — every setup keeps its intercept and R-squared exactly; slopes scale by exactly point-six. MAC six makes the raw models self-consistent — lowest-OC/EC point-nine-five — while MAC ten is where the corrected model lands closest at point-eight-six. Deliberately “lands closest”, not “self-consistent”. Estimator-independent too: the pivot survives Deming exactly — backup slide.
Then click through to the shared results.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(Section B): the same matrix under the group's interleaved scheme with its large k. The corrected setup reads minus one-point-six-five here — essentially unchanged from section A — while the raw setups deepen: smoke-906 sits at minus six-point-three-five at k nineteen. One structural caveat to state: under this scheme the fit uses all cohort filters, so there is no site-disjoint TOR test by construction — the TOR column that defends cohort choices only exists under site-held-out.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The same six crossplots with the large-k models. The reading is unchanged in kind: every setup is roughly linear at Addis with the wrong gain and offset, and the corrected setup is the closest to one-to-one. The smoke and analog fits are steeper and deeper here — the extra components bought fit at their own sites, not transfer. Ann's baselining question stands identically in this branch: how much genuine EC does the correction discard?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The residual story under the interleaved models: the raw model's error still tracks extrapolation distance — even more strongly here, r point-eight-seven — and the corrected model's error is still a flat constant. So the central diagnosis does not depend on the component scheme: raw models fail by extrapolation, the corrected model misses by something additive.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Same algebra, this branch's models: every intercept is identical at both MACs and every slope scales by exactly point-six. The fork stays a slope contest whichever way components are chosen. Then click through to the shared results.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Back on shared ground — nothing from here depends on the component scheme. The non-circular way to let data set MAC: where IMPROVE has both HIPS and TOR — one hundred fifty-two thousand filters — implied MAC is Fabs over TOR-EC. Pool median twelve; the Addis-like subset, the purple star, ten-point-oh-five. MAC ten is centred at Addis-like composition. And the high-OC/EC tail inflating to twenty shows Fabs carries organic-scaling non-EC absorption. Resolved fact: HIPS is confirmed helium-neon, six-thirty-three nanometres, MAC ten defined at six-thirty-three — SPARTAN's own sources.
QUESTION FOR SATOSHI: does this chain hold — and is there an independent HIPS MAC or protocol bridge that tests MAC-ten-at-Addis without new sampling?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Addis peaks at sixteen-seventeen to sixteen-nineteen in every season; every IMPROVE cohort sits at sixteen-thirty-three or higher. The band co-varies with CH and carbonyl but NOT with the N-H/O-H window — an N-H bend without its stretch is implausible, so amine is out. Carboxylate versus aromatic C=C cannot be separated on Teflon because the symmetric partner near fourteen-hundred is below the trusted range.
TWO ASKS: the sub-1500 model status — it is the unblocking tool — and Emily Lee's charcoal spectra as data; the burning-chemistry argument is the process case for the aromatic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Naveed's seasons on the corrected spectra: everything peaks in Kiremt — deployed EC three-point-three to seven-point-two — while the 1600-band centre never moves; the one shape effect is more broad O-H in the Dry season. The committed residuals show season sensitivity is a raw-model phenomenon, and inverted from our guess: Dry is the WORST season for the raw model, Kiremt the best; the corrected model is season-stable. ftir_24 is queued with a pooled season-by-x design, because Dry spans only about half the wet x-range and naive per-season slopes attenuate mechanically.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The uncomfortable check: Adama's five quartz TOR filters give OC/EC four-point-six to seven-point-two — the IMPROVE median, not the extreme tail the Addis offset implies regionally. Reconciling Addis HIPS with FTIR OC at that composition needs a MAC around forty-seven — unphysical — so something has to give. And Bishoftu, ETBI, is an untouched in-country test set — twenty-six HIPS filters, median twenty-seven against Addis's dry-season forty-three — IF its spectra come through.
THE ASK: the INDH-CHTS spectra export with ETBI added, same shape as the ETAD pull — the cheapest unblocking step on the list. Pre-registered: if the twenty-one megametres were a persistent background, ETBI's FTIR-EC should come out very 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Six things, one headline. Quartz TOR moved to the top this week because we closed every in-hand route to an independent EC reference — both ChemSpec carbon columns turned out circular, BC with Fabs and EC with our own FTIR-EC. Spec: eleven to thirteen days per season, about thirty-six filters TOTAL — not per season — and Adama Batch-54 proves the chain. Hand over the one-pager here.
The first card is today's decision, written down so it leaves the room with an owner: which CV scheme carries the headline, and whether k must match across models.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(if the estimator question opens): every crossplot today used OLS, which assumes all error in y. Refit with errors in both axes — Deming at the measured error ratio, a constant-CV weighted variant, and a Huber-robust variant — every slope steepens and every intercept goes MORE negative. So the slide numbers are the conservative bound on the offset. The corrected setup moves least: minus one-point-six-two to minus two-point-one across all four. OLS rows asserted against the committed matrix in-notebook.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(if asked whether MAC-proof depends on OLS): no. Redone under Deming with the error-variance ratio scaled with MAC squared — the correct error model when rescaling x — the intercept is identical at both MACs to ten-to-the-minus-nine and the slope scales by exactly point-six, asserted per setup in the notebook. Deming deepens every intercept relative to OLS, but MAC still cannot move any of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" Target="slide13.xml"/><Relationship Id="rId3" Type="http://schemas.openxmlformats.org/officeDocument/2006/relationships/slide" Target="slide17.xml"/><Relationship Id="rId4" Type="http://schemas.openxmlformats.org/officeDocument/2006/relationships/image" Target="../media/image-8-1.png"/><Relationship Id="rId5" Type="http://schemas.openxmlformats.org/officeDocument/2006/relationships/image" Target="../media/image-8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up meeting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502920" y="33832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2A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FTIR EC at Addis Ababa · 13 Aug 2026 · every figure regenerated in ftir_31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02920" y="39776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67C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Staged: the component-selection discussion comes first — then we jump into the results under whichever selection we agree on (both sections are in here).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the deployed calibration reads y = 1.90x − 4.17 at Addis.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502920" y="1600200"/>
            <a:ext cx="32461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at Addis has negative EC — the offset is the model, not the air.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MAC 6 the slope pivots to 1.14 but the intercept stays at −4.17. All intercepts today are µg/m³.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02920" y="3931920"/>
            <a:ext cx="3246120" cy="402336"/>
          </a:xfrm>
          <a:prstGeom prst="roundRect">
            <a:avLst>
              <a:gd name="adj" fmla="val 13636"/>
            </a:avLst>
          </a:prstGeom>
          <a:solidFill>
            <a:srgbClr val="F4F5F3"/>
          </a:solidFill>
          <a:ln w="9525">
            <a:solidFill>
              <a:srgbClr val="DDE0D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12648" y="3931920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 10  </a:t>
            </a:r>
            <a:pPr indent="0" marL="0">
              <a:buNone/>
            </a:pPr>
            <a:r>
              <a:rPr lang="en-US" sz="1100" b="1" dirty="0">
                <a:solidFill>
                  <a:srgbClr val="B2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1.90x − 4.17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02920" y="4443984"/>
            <a:ext cx="3246120" cy="402336"/>
          </a:xfrm>
          <a:prstGeom prst="roundRect">
            <a:avLst>
              <a:gd name="adj" fmla="val 13636"/>
            </a:avLst>
          </a:prstGeom>
          <a:solidFill>
            <a:srgbClr val="F4F5F3"/>
          </a:solidFill>
          <a:ln w="9525">
            <a:solidFill>
              <a:srgbClr val="DDE0D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12648" y="4443984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 6  </a:t>
            </a:r>
            <a:pPr indent="0" marL="0">
              <a:buNone/>
            </a:pPr>
            <a:r>
              <a:rPr lang="en-US" sz="1100" b="1" dirty="0">
                <a:solidFill>
                  <a:srgbClr val="2C6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1.14x − 4.17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023360" y="1463040"/>
            <a:ext cx="768096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0DC"/>
            </a:solidFill>
            <a:prstDash val="solid"/>
          </a:ln>
        </p:spPr>
      </p:sp>
      <p:pic>
        <p:nvPicPr>
          <p:cNvPr id="10" name="Image 0" descr="/private/tmp/claude-501/-Users-ahmadjalil-github-aethmodular/98af0981-a12c-4f18-82f4-663747dfdcd7/scratchpad/plates31/deploy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078224" y="1517904"/>
            <a:ext cx="7571232" cy="446227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114800" y="601675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ftir_31 §4   </a:t>
            </a:r>
            <a:pPr indent="0" marL="0">
              <a:buNone/>
            </a:pPr>
            <a:r>
              <a:rPr lang="en-US" sz="950" i="1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190-filter cohort; fits asserted against committed values in-notebook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Addis-like composition is the extreme tail of IMPROVE — 800 of 13,010 filters.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502920" y="1600200"/>
            <a:ext cx="32461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800 lowest-OC/EC filters (≤ 2.27 vs pool median 5.54) are the closest IMPROVE gets to Addis. Like-for-like they win: same-190 RMSE 1.16 vs 1.48–2.24; held-out TOR R² 0.911 vs 0.59–0.78.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New: Ethiopia-shaped-300 ∩ lowest-OC/EC-800 = 1 filter. Shape and composition select disjoint filters.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02920" y="4160520"/>
            <a:ext cx="3246120" cy="402336"/>
          </a:xfrm>
          <a:prstGeom prst="roundRect">
            <a:avLst>
              <a:gd name="adj" fmla="val 13636"/>
            </a:avLst>
          </a:prstGeom>
          <a:solidFill>
            <a:srgbClr val="F4F5F3"/>
          </a:solidFill>
          <a:ln w="9525">
            <a:solidFill>
              <a:srgbClr val="DDE0D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12648" y="4160520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cutoff  </a:t>
            </a:r>
            <a:pPr indent="0" marL="0">
              <a:buNone/>
            </a:pPr>
            <a:r>
              <a:rPr lang="en-US" sz="1100" b="1" dirty="0">
                <a:solidFill>
                  <a:srgbClr val="7A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OC/EC ≤ 2.27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02920" y="4672584"/>
            <a:ext cx="3246120" cy="402336"/>
          </a:xfrm>
          <a:prstGeom prst="roundRect">
            <a:avLst>
              <a:gd name="adj" fmla="val 13636"/>
            </a:avLst>
          </a:prstGeom>
          <a:solidFill>
            <a:srgbClr val="F4F5F3"/>
          </a:solidFill>
          <a:ln w="9525">
            <a:solidFill>
              <a:srgbClr val="DDE0D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12648" y="4672584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∩ 800 overlap  </a:t>
            </a:r>
            <a:pPr indent="0" marL="0">
              <a:buNone/>
            </a:pPr>
            <a:r>
              <a:rPr lang="en-US" sz="1100" b="1" dirty="0">
                <a:solidFill>
                  <a:srgbClr val="B2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filter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02920" y="5184648"/>
            <a:ext cx="3246120" cy="402336"/>
          </a:xfrm>
          <a:prstGeom prst="roundRect">
            <a:avLst>
              <a:gd name="adj" fmla="val 13636"/>
            </a:avLst>
          </a:prstGeom>
          <a:solidFill>
            <a:srgbClr val="F4F5F3"/>
          </a:solidFill>
          <a:ln w="9525">
            <a:solidFill>
              <a:srgbClr val="DDE0D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12648" y="5184648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TOR R²  </a:t>
            </a:r>
            <a:pPr indent="0" marL="0">
              <a:buNone/>
            </a:pPr>
            <a:r>
              <a:rPr lang="en-US" sz="1100" b="1" dirty="0">
                <a:solidFill>
                  <a:srgbClr val="3F7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0.911 vs 0.59–0.78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023360" y="1463040"/>
            <a:ext cx="768096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0DC"/>
            </a:solidFill>
            <a:prstDash val="solid"/>
          </a:ln>
        </p:spPr>
      </p:sp>
      <p:pic>
        <p:nvPicPr>
          <p:cNvPr id="12" name="Image 0" descr="/private/tmp/claude-501/-Users-ahmadjalil-github-aethmodular/98af0981-a12c-4f18-82f4-663747dfdcd7/scratchpad/plates31/filter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078224" y="1517904"/>
            <a:ext cx="7571232" cy="44622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114800" y="601675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ftir_31 §2.1   </a:t>
            </a:r>
            <a:pPr indent="0" marL="0">
              <a:buNone/>
            </a:pPr>
            <a:r>
              <a:rPr lang="en-US" sz="950" i="1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12,962 with TOR pairs (48 of 13,010 lack them)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CH band, ~91% of a raw Addis spectrum is background.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502920" y="1600200"/>
            <a:ext cx="32461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real filter; the red dash is the baseline AIRSpec fits under it, per spectrum. The shaded sliver is the bands.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port validated against the group's R output to ≤ 6×10⁻⁷ absorbance. EDF 6 vs 8: indistinguishable.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02920" y="4160520"/>
            <a:ext cx="3246120" cy="402336"/>
          </a:xfrm>
          <a:prstGeom prst="roundRect">
            <a:avLst>
              <a:gd name="adj" fmla="val 13636"/>
            </a:avLst>
          </a:prstGeom>
          <a:solidFill>
            <a:srgbClr val="F4F5F3"/>
          </a:solidFill>
          <a:ln w="9525">
            <a:solidFill>
              <a:srgbClr val="DDE0D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12648" y="4160520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share @ CH  </a:t>
            </a:r>
            <a:pPr indent="0" marL="0">
              <a:buNone/>
            </a:pPr>
            <a:r>
              <a:rPr lang="en-US" sz="1100" b="1" dirty="0">
                <a:solidFill>
                  <a:srgbClr val="B2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~91% (this filter)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02920" y="4672584"/>
            <a:ext cx="3246120" cy="402336"/>
          </a:xfrm>
          <a:prstGeom prst="roundRect">
            <a:avLst>
              <a:gd name="adj" fmla="val 13636"/>
            </a:avLst>
          </a:prstGeom>
          <a:solidFill>
            <a:srgbClr val="F4F5F3"/>
          </a:solidFill>
          <a:ln w="9525">
            <a:solidFill>
              <a:srgbClr val="DDE0D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12648" y="4672584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vs R  </a:t>
            </a:r>
            <a:pPr indent="0" marL="0">
              <a:buNone/>
            </a:pPr>
            <a:r>
              <a:rPr lang="en-US" sz="1100" b="1" dirty="0">
                <a:solidFill>
                  <a:srgbClr val="2C6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6×10⁻⁷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02920" y="5184648"/>
            <a:ext cx="3246120" cy="402336"/>
          </a:xfrm>
          <a:prstGeom prst="roundRect">
            <a:avLst>
              <a:gd name="adj" fmla="val 13636"/>
            </a:avLst>
          </a:prstGeom>
          <a:solidFill>
            <a:srgbClr val="F4F5F3"/>
          </a:solidFill>
          <a:ln w="9525">
            <a:solidFill>
              <a:srgbClr val="DDE0D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12648" y="5184648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EDF 6 vs 8  </a:t>
            </a:r>
            <a:pPr indent="0" marL="0">
              <a:buNone/>
            </a:pPr>
            <a:r>
              <a:rPr lang="en-US" sz="1100" b="1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Δslope &lt; 0.01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023360" y="1463040"/>
            <a:ext cx="768096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0DC"/>
            </a:solidFill>
            <a:prstDash val="solid"/>
          </a:ln>
        </p:spPr>
      </p:sp>
      <p:pic>
        <p:nvPicPr>
          <p:cNvPr id="12" name="Image 0" descr="/private/tmp/claude-501/-Users-ahmadjalil-github-aethmodular/98af0981-a12c-4f18-82f4-663747dfdcd7/scratchpad/plates31/airspec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078224" y="1517904"/>
            <a:ext cx="7571232" cy="44622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114800" y="601675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ftir_31 §2.3   </a:t>
            </a:r>
            <a:pPr indent="0" marL="0">
              <a:buNone/>
            </a:pPr>
            <a:r>
              <a:rPr lang="en-US" sz="950" i="1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real filter (median-like); grey = all 239 Addis spectra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Addis rides a higher background than its calibration cohort.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502920" y="1600200"/>
            <a:ext cx="32461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height at 2920 cm⁻¹ per filter: cohort 0.101 vs Addis 0.170. Background structure does not transfer — and lands as an offset.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Baselining both sides: intercept −3.22 → −1.62, slope 1.59 → 0.86. Cost: R² 0.77 → 0.66, RMSE 1.16 → 2.41.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02920" y="4160520"/>
            <a:ext cx="3246120" cy="402336"/>
          </a:xfrm>
          <a:prstGeom prst="roundRect">
            <a:avLst>
              <a:gd name="adj" fmla="val 13636"/>
            </a:avLst>
          </a:prstGeom>
          <a:solidFill>
            <a:srgbClr val="F4F5F3"/>
          </a:solidFill>
          <a:ln w="9525">
            <a:solidFill>
              <a:srgbClr val="DDE0D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12648" y="4160520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Addis vs cohort baseline  </a:t>
            </a:r>
            <a:pPr indent="0" marL="0">
              <a:buNone/>
            </a:pPr>
            <a:r>
              <a:rPr lang="en-US" sz="1100" b="1" dirty="0">
                <a:solidFill>
                  <a:srgbClr val="B2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0.170 vs 0.101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02920" y="4672584"/>
            <a:ext cx="3246120" cy="402336"/>
          </a:xfrm>
          <a:prstGeom prst="roundRect">
            <a:avLst>
              <a:gd name="adj" fmla="val 13636"/>
            </a:avLst>
          </a:prstGeom>
          <a:solidFill>
            <a:srgbClr val="F4F5F3"/>
          </a:solidFill>
          <a:ln w="9525">
            <a:solidFill>
              <a:srgbClr val="DDE0D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12648" y="4672584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intercept  </a:t>
            </a:r>
            <a:pPr indent="0" marL="0">
              <a:buNone/>
            </a:pPr>
            <a:r>
              <a:rPr lang="en-US" sz="1100" b="1" dirty="0">
                <a:solidFill>
                  <a:srgbClr val="3F7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−3.22 → −1.62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023360" y="1463040"/>
            <a:ext cx="379476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0DC"/>
            </a:solidFill>
            <a:prstDash val="solid"/>
          </a:ln>
        </p:spPr>
      </p:sp>
      <p:pic>
        <p:nvPicPr>
          <p:cNvPr id="10" name="Image 0" descr="/private/tmp/claude-501/-Users-ahmadjalil-github-aethmodular/98af0981-a12c-4f18-82f4-663747dfdcd7/scratchpad/plates31/airspec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078224" y="1517904"/>
            <a:ext cx="3685032" cy="446227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114800" y="601675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ftir_31 §2.4   </a:t>
            </a:r>
            <a:pPr indent="0" marL="0">
              <a:buNone/>
            </a:pPr>
            <a:r>
              <a:rPr lang="en-US" sz="950" i="1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filter, corrected</a:t>
            </a:r>
            <a:endParaRPr lang="en-US" sz="850" dirty="0"/>
          </a:p>
        </p:txBody>
      </p:sp>
      <p:sp>
        <p:nvSpPr>
          <p:cNvPr id="12" name="Shape 8"/>
          <p:cNvSpPr/>
          <p:nvPr/>
        </p:nvSpPr>
        <p:spPr>
          <a:xfrm>
            <a:off x="7909560" y="1463040"/>
            <a:ext cx="379476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0DC"/>
            </a:solidFill>
            <a:prstDash val="solid"/>
          </a:ln>
        </p:spPr>
      </p:sp>
      <p:pic>
        <p:nvPicPr>
          <p:cNvPr id="13" name="Image 1" descr="/private/tmp/claude-501/-Users-ahmadjalil-github-aethmodular/98af0981-a12c-4f18-82f4-663747dfdcd7/scratchpad/plates31/airspec3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964424" y="1517904"/>
            <a:ext cx="3685032" cy="446227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001000" y="601675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ftir_31 §2.5   </a:t>
            </a:r>
            <a:pPr indent="0" marL="0">
              <a:buNone/>
            </a:pPr>
            <a:r>
              <a:rPr lang="en-US" sz="950" i="1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at 2920 cm⁻¹ per filter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components, option A: site-grouped 5-fold CV, first major minimum.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502920" y="1600200"/>
            <a:ext cx="32461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whole sites out (5 folds), take the first major minimum, ±1 SE ribbon drawn. Picks k = 4–15.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Verified: biomass-smoke's k = 4 IS this curve's global minimum. And site-grouped CV is row-order stable — the same k every time.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For: Addis is an unseen site; this is the rehearsal. Against (Ann): the first few factors on raw spectra can be mostly Teflon.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02920" y="4572000"/>
            <a:ext cx="3246120" cy="402336"/>
          </a:xfrm>
          <a:prstGeom prst="roundRect">
            <a:avLst>
              <a:gd name="adj" fmla="val 13636"/>
            </a:avLst>
          </a:prstGeom>
          <a:solidFill>
            <a:srgbClr val="F4F5F3"/>
          </a:solidFill>
          <a:ln w="9525">
            <a:solidFill>
              <a:srgbClr val="DDE0D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12648" y="4572000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picks  </a:t>
            </a:r>
            <a:pPr indent="0" marL="0">
              <a:buNone/>
            </a:pPr>
            <a:r>
              <a:rPr lang="en-US" sz="1100" b="1" dirty="0">
                <a:solidFill>
                  <a:srgbClr val="2C6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4–15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02920" y="5084064"/>
            <a:ext cx="3246120" cy="402336"/>
          </a:xfrm>
          <a:prstGeom prst="roundRect">
            <a:avLst>
              <a:gd name="adj" fmla="val 13636"/>
            </a:avLst>
          </a:prstGeom>
          <a:solidFill>
            <a:srgbClr val="F4F5F3"/>
          </a:solidFill>
          <a:ln w="9525">
            <a:solidFill>
              <a:srgbClr val="DDE0D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12648" y="5084064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smoke k = 4  </a:t>
            </a:r>
            <a:pPr indent="0" marL="0">
              <a:buNone/>
            </a:pPr>
            <a:r>
              <a:rPr lang="en-US" sz="1100" b="1" dirty="0">
                <a:solidFill>
                  <a:srgbClr val="3F7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minimum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023360" y="1463040"/>
            <a:ext cx="768096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0DC"/>
            </a:solidFill>
            <a:prstDash val="solid"/>
          </a:ln>
        </p:spPr>
      </p:sp>
      <p:pic>
        <p:nvPicPr>
          <p:cNvPr id="10" name="Image 0" descr="/private/tmp/claude-501/-Users-ahmadjalil-github-aethmodular/98af0981-a12c-4f18-82f4-663747dfdcd7/scratchpad/plates31/component_selection_sh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078224" y="1517904"/>
            <a:ext cx="7571232" cy="446227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114800" y="601675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ftir_31 §1.5   </a:t>
            </a:r>
            <a:pPr indent="0" marL="0">
              <a:buNone/>
            </a:pPr>
            <a:r>
              <a:rPr lang="en-US" sz="950" i="1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Site-grouped curves with the rule's machinery and chosen k drawn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components, option B: interleaved 10-fold CV, within 5% of minimum.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502920" y="1600200"/>
            <a:ext cx="32461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10th filter held out (10 folds), first k within 5% of the minimum. Picks k = 17–27 — the group's standard, matching the deployed models.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Caveats: the pooled curve has no fold spread, so no error band exists; and it is row-order dependent (k = 15/18/19 on reorderings of the same 800).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2C6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Satoshi: which scheme carries the headline — and must k match across models? (Control option: 5-for-all vs 20-for-all.)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02920" y="4617720"/>
            <a:ext cx="3246120" cy="402336"/>
          </a:xfrm>
          <a:prstGeom prst="roundRect">
            <a:avLst>
              <a:gd name="adj" fmla="val 13636"/>
            </a:avLst>
          </a:prstGeom>
          <a:solidFill>
            <a:srgbClr val="F4F5F3"/>
          </a:solidFill>
          <a:ln w="9525">
            <a:solidFill>
              <a:srgbClr val="DDE0D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12648" y="4617720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picks  </a:t>
            </a:r>
            <a:pPr indent="0" marL="0">
              <a:buNone/>
            </a:pPr>
            <a:r>
              <a:rPr lang="en-US" sz="1100" b="1" dirty="0">
                <a:solidFill>
                  <a:srgbClr val="B07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17–27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02920" y="5129784"/>
            <a:ext cx="3246120" cy="402336"/>
          </a:xfrm>
          <a:prstGeom prst="roundRect">
            <a:avLst>
              <a:gd name="adj" fmla="val 13636"/>
            </a:avLst>
          </a:prstGeom>
          <a:solidFill>
            <a:srgbClr val="F4F5F3"/>
          </a:solidFill>
          <a:ln w="9525">
            <a:solidFill>
              <a:srgbClr val="DDE0D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12648" y="5129784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row-order  </a:t>
            </a:r>
            <a:pPr indent="0" marL="0">
              <a:buNone/>
            </a:pPr>
            <a:r>
              <a:rPr lang="en-US" sz="1100" b="1" dirty="0">
                <a:solidFill>
                  <a:srgbClr val="B2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15/18/19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023360" y="1463040"/>
            <a:ext cx="768096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0DC"/>
            </a:solidFill>
            <a:prstDash val="solid"/>
          </a:ln>
        </p:spPr>
      </p:sp>
      <p:pic>
        <p:nvPicPr>
          <p:cNvPr id="10" name="Image 0" descr="/private/tmp/claude-501/-Users-ahmadjalil-github-aethmodular/98af0981-a12c-4f18-82f4-663747dfdcd7/scratchpad/plates31/component_selection_ap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078224" y="1517904"/>
            <a:ext cx="7571232" cy="446227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114800" y="601675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ftir_31 §1.5   </a:t>
            </a:r>
            <a:pPr indent="0" marL="0">
              <a:buNone/>
            </a:pPr>
            <a:r>
              <a:rPr lang="en-US" sz="950" i="1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Interleaved curves with the within-5% band and chosen k drawn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— then jump. Both sections are fully built.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502920" y="1554480"/>
            <a:ext cx="32461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consequences, side by side: smoke-906 swings −6.35 ↔ −0.99 on the component scheme alone; the corrected setup moves −1.65 ↔ −1.62.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Whichever we pick, the corrected setup's answer is the same — the headline is protocol-robust.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02920" y="3977640"/>
            <a:ext cx="3246120" cy="548640"/>
          </a:xfrm>
          <a:prstGeom prst="roundRect">
            <a:avLst>
              <a:gd name="adj" fmla="val 15000"/>
            </a:avLst>
          </a:prstGeom>
          <a:solidFill>
            <a:srgbClr val="2C6E9E"/>
          </a:solidFill>
          <a:ln w="12700">
            <a:solidFill>
              <a:srgbClr val="2C6E9E"/>
            </a:solidFill>
            <a:prstDash val="solid"/>
          </a:ln>
        </p:spPr>
      </p:sp>
      <p:sp>
        <p:nvSpPr>
          <p:cNvPr id="6" name="Text 3">
            <a:hlinkClick r:id="rId1" tooltip="Jump to slide 9" action="ppaction://hlinksldjump"/>
          </p:cNvPr>
          <p:cNvSpPr/>
          <p:nvPr/>
        </p:nvSpPr>
        <p:spPr>
          <a:xfrm>
            <a:off x="502920" y="397764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Jump to slide 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 Section A — 5-fold site-grouped results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02920" y="4663440"/>
            <a:ext cx="3246120" cy="548640"/>
          </a:xfrm>
          <a:prstGeom prst="roundRect">
            <a:avLst>
              <a:gd name="adj" fmla="val 15000"/>
            </a:avLst>
          </a:prstGeom>
          <a:solidFill>
            <a:srgbClr val="B0792B"/>
          </a:solidFill>
          <a:ln w="12700">
            <a:solidFill>
              <a:srgbClr val="B0792B"/>
            </a:solidFill>
            <a:prstDash val="solid"/>
          </a:ln>
        </p:spPr>
      </p:sp>
      <p:sp>
        <p:nvSpPr>
          <p:cNvPr id="8" name="Text 5">
            <a:hlinkClick r:id="rId2" tooltip="Jump to slide 13" action="ppaction://hlinksldjump"/>
          </p:cNvPr>
          <p:cNvSpPr/>
          <p:nvPr/>
        </p:nvSpPr>
        <p:spPr>
          <a:xfrm>
            <a:off x="502920" y="466344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action="ppaction://hlinksldjump" tooltip="Jump to slide 1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 Section B — 10-fold interleaved results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02920" y="5349240"/>
            <a:ext cx="3246120" cy="548640"/>
          </a:xfrm>
          <a:prstGeom prst="roundRect">
            <a:avLst>
              <a:gd name="adj" fmla="val 15000"/>
            </a:avLst>
          </a:prstGeom>
          <a:solidFill>
            <a:srgbClr val="5E6369"/>
          </a:solidFill>
          <a:ln w="12700">
            <a:solidFill>
              <a:srgbClr val="5E6369"/>
            </a:solidFill>
            <a:prstDash val="solid"/>
          </a:ln>
        </p:spPr>
      </p:sp>
      <p:sp>
        <p:nvSpPr>
          <p:cNvPr id="10" name="Text 7">
            <a:hlinkClick r:id="rId3" tooltip="Jump to slide 17" action="ppaction://hlinksldjump"/>
          </p:cNvPr>
          <p:cNvSpPr/>
          <p:nvPr/>
        </p:nvSpPr>
        <p:spPr>
          <a:xfrm>
            <a:off x="502920" y="534924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Jump to slide 1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 Skip both — shared results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023360" y="1463040"/>
            <a:ext cx="379476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0DC"/>
            </a:solidFill>
            <a:prstDash val="solid"/>
          </a:ln>
        </p:spPr>
      </p:sp>
      <p:pic>
        <p:nvPicPr>
          <p:cNvPr id="12" name="Image 0" descr="/private/tmp/claude-501/-Users-ahmadjalil-github-aethmodular/98af0981-a12c-4f18-82f4-663747dfdcd7/scratchpad/plates31/ladder_shp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078224" y="1517904"/>
            <a:ext cx="3685032" cy="44622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114800" y="601675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ftir_31 §1.6   </a:t>
            </a:r>
            <a:pPr indent="0" marL="0">
              <a:buNone/>
            </a:pPr>
            <a:r>
              <a:rPr lang="en-US" sz="950" i="1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site-grouped 5-fold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7909560" y="1463040"/>
            <a:ext cx="379476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0DC"/>
            </a:solidFill>
            <a:prstDash val="solid"/>
          </a:ln>
        </p:spPr>
      </p:sp>
      <p:pic>
        <p:nvPicPr>
          <p:cNvPr id="15" name="Image 1" descr="/private/tmp/claude-501/-Users-ahmadjalil-github-aethmodular/98af0981-a12c-4f18-82f4-663747dfdcd7/scratchpad/plates31/ladder_app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7964424" y="1517904"/>
            <a:ext cx="3685032" cy="446227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001000" y="601675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ftir_31 §1.6   </a:t>
            </a:r>
            <a:pPr indent="0" marL="0">
              <a:buNone/>
            </a:pPr>
            <a:r>
              <a:rPr lang="en-US" sz="950" i="1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interleaved 10-fold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· Every training choice, one table — k = 4–15.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9418320" y="384048"/>
            <a:ext cx="2267712" cy="457200"/>
          </a:xfrm>
          <a:prstGeom prst="roundRect">
            <a:avLst>
              <a:gd name="adj" fmla="val 16000"/>
            </a:avLst>
          </a:prstGeom>
          <a:solidFill>
            <a:srgbClr val="2C6E9E"/>
          </a:solidFill>
          <a:ln w="12700">
            <a:solidFill>
              <a:srgbClr val="2C6E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418320" y="384048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· 5-FOLD SITE-GROUPED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02920" y="1600200"/>
            <a:ext cx="32461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intercept ladder: −4.17 (deployed) → −3.22 (lowest-OC/EC raw) → −1.62 (+ baseline correction).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corrected setup passes the disjoint-site TOR test (slope 1.01, R² 0.90); engineering beyond it breaks that test.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3931920"/>
            <a:ext cx="3246120" cy="402336"/>
          </a:xfrm>
          <a:prstGeom prst="roundRect">
            <a:avLst>
              <a:gd name="adj" fmla="val 13636"/>
            </a:avLst>
          </a:prstGeom>
          <a:solidFill>
            <a:srgbClr val="F4F5F3"/>
          </a:solidFill>
          <a:ln w="9525">
            <a:solidFill>
              <a:srgbClr val="DDE0D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12648" y="3931920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 intercept  </a:t>
            </a:r>
            <a:pPr indent="0" marL="0">
              <a:buNone/>
            </a:pPr>
            <a:r>
              <a:rPr lang="en-US" sz="1100" b="1" dirty="0">
                <a:solidFill>
                  <a:srgbClr val="B2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−1.62 µg/m³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02920" y="4443984"/>
            <a:ext cx="3246120" cy="402336"/>
          </a:xfrm>
          <a:prstGeom prst="roundRect">
            <a:avLst>
              <a:gd name="adj" fmla="val 13636"/>
            </a:avLst>
          </a:prstGeom>
          <a:solidFill>
            <a:srgbClr val="F4F5F3"/>
          </a:solidFill>
          <a:ln w="9525">
            <a:solidFill>
              <a:srgbClr val="DDE0D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12648" y="4443984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TOR  </a:t>
            </a:r>
            <a:pPr indent="0" marL="0">
              <a:buNone/>
            </a:pPr>
            <a:r>
              <a:rPr lang="en-US" sz="1100" b="1" dirty="0">
                <a:solidFill>
                  <a:srgbClr val="3F7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1.01x · R² 0.90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023360" y="1463040"/>
            <a:ext cx="768096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0DC"/>
            </a:solidFill>
            <a:prstDash val="solid"/>
          </a:ln>
        </p:spPr>
      </p:sp>
      <p:pic>
        <p:nvPicPr>
          <p:cNvPr id="12" name="Image 0" descr="/private/tmp/claude-501/-Users-ahmadjalil-github-aethmodular/98af0981-a12c-4f18-82f4-663747dfdcd7/scratchpad/plates31/matrix_sh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078224" y="1517904"/>
            <a:ext cx="7571232" cy="44622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114800" y="601675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ftir_31 §1.1   </a:t>
            </a:r>
            <a:pPr indent="0" marL="0">
              <a:buNone/>
            </a:pPr>
            <a:r>
              <a:rPr lang="en-US" sz="950" i="1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Site-grouped 5-fold · first major minimum · intercepts µg/m³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 · The smoke calibration collapses on corrected spectra.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9418320" y="384048"/>
            <a:ext cx="2267712" cy="457200"/>
          </a:xfrm>
          <a:prstGeom prst="roundRect">
            <a:avLst>
              <a:gd name="adj" fmla="val 16000"/>
            </a:avLst>
          </a:prstGeom>
          <a:solidFill>
            <a:srgbClr val="2C6E9E"/>
          </a:solidFill>
          <a:ln w="12700">
            <a:solidFill>
              <a:srgbClr val="2C6E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418320" y="384048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· 5-FOLD SITE-GROUPED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02920" y="1600200"/>
            <a:ext cx="32461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Ann's objection: EC's sloping absorption lives partly in the baseline, so baselining should lose signal.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it was mostly not EC: smoke-906 falls 2.65 → 0.37 on corrected spectra; the HIPS-transfer failure survives baselining.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2C6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Satoshi: how much real EC does the correction discard — is a middle path worth testing?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4663440"/>
            <a:ext cx="3246120" cy="402336"/>
          </a:xfrm>
          <a:prstGeom prst="roundRect">
            <a:avLst>
              <a:gd name="adj" fmla="val 13636"/>
            </a:avLst>
          </a:prstGeom>
          <a:solidFill>
            <a:srgbClr val="F4F5F3"/>
          </a:solidFill>
          <a:ln w="9525">
            <a:solidFill>
              <a:srgbClr val="DDE0D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12648" y="4663440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smoke-906 corrected  </a:t>
            </a:r>
            <a:pPr indent="0" marL="0">
              <a:buNone/>
            </a:pPr>
            <a:r>
              <a:rPr lang="en-US" sz="1100" b="1" dirty="0">
                <a:solidFill>
                  <a:srgbClr val="B2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slope 0.37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02920" y="5175504"/>
            <a:ext cx="3246120" cy="402336"/>
          </a:xfrm>
          <a:prstGeom prst="roundRect">
            <a:avLst>
              <a:gd name="adj" fmla="val 13636"/>
            </a:avLst>
          </a:prstGeom>
          <a:solidFill>
            <a:srgbClr val="F4F5F3"/>
          </a:solidFill>
          <a:ln w="9525">
            <a:solidFill>
              <a:srgbClr val="DDE0D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12648" y="5175504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HIPS transfer  </a:t>
            </a:r>
            <a:pPr indent="0" marL="0">
              <a:buNone/>
            </a:pPr>
            <a:r>
              <a:rPr lang="en-US" sz="1100" b="1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fails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023360" y="1463040"/>
            <a:ext cx="768096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0DC"/>
            </a:solidFill>
            <a:prstDash val="solid"/>
          </a:ln>
        </p:spPr>
      </p:sp>
      <p:pic>
        <p:nvPicPr>
          <p:cNvPr id="12" name="Image 0" descr="/private/tmp/claude-501/-Users-ahmadjalil-github-aethmodular/98af0981-a12c-4f18-82f4-663747dfdcd7/scratchpad/plates31/crossplots_sh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078224" y="1517904"/>
            <a:ext cx="7571232" cy="44622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114800" y="601675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ftir_31 §1.2   </a:t>
            </a:r>
            <a:pPr indent="0" marL="0">
              <a:buNone/>
            </a:pPr>
            <a:r>
              <a:rPr lang="en-US" sz="950" i="1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190-filter cohort, MAC = 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 · The corrected model misses by a season-stable constant: −2.0 to −2.6 µg/m³.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9418320" y="384048"/>
            <a:ext cx="2267712" cy="457200"/>
          </a:xfrm>
          <a:prstGeom prst="roundRect">
            <a:avLst>
              <a:gd name="adj" fmla="val 16000"/>
            </a:avLst>
          </a:prstGeom>
          <a:solidFill>
            <a:srgbClr val="2C6E9E"/>
          </a:solidFill>
          <a:ln w="12700">
            <a:solidFill>
              <a:srgbClr val="2C6E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418320" y="384048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· 5-FOLD SITE-GROUPED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02920" y="1600200"/>
            <a:ext cx="32461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Raw: error tracks D² (r = 0.71) and flips sign by season. Corrected: flat, season-stable −2.0…−2.6; bootstrap CI [−1.78, −1.06] excludes zero.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Restated: ~21 Mm⁻¹ of absorption with no FTIR-EC behind it — MAC-invariant. Deming (measured σ_x): −1.62 → −2.09; OLS is the conservative bound.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4434840"/>
            <a:ext cx="3246120" cy="402336"/>
          </a:xfrm>
          <a:prstGeom prst="roundRect">
            <a:avLst>
              <a:gd name="adj" fmla="val 13636"/>
            </a:avLst>
          </a:prstGeom>
          <a:solidFill>
            <a:srgbClr val="F4F5F3"/>
          </a:solidFill>
          <a:ln w="9525">
            <a:solidFill>
              <a:srgbClr val="DDE0D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12648" y="4434840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raw: resid ~ D²  </a:t>
            </a:r>
            <a:pPr indent="0" marL="0">
              <a:buNone/>
            </a:pPr>
            <a:r>
              <a:rPr lang="en-US" sz="1100" b="1" dirty="0">
                <a:solidFill>
                  <a:srgbClr val="B2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0.71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02920" y="4946904"/>
            <a:ext cx="3246120" cy="402336"/>
          </a:xfrm>
          <a:prstGeom prst="roundRect">
            <a:avLst>
              <a:gd name="adj" fmla="val 13636"/>
            </a:avLst>
          </a:prstGeom>
          <a:solidFill>
            <a:srgbClr val="F4F5F3"/>
          </a:solidFill>
          <a:ln w="9525">
            <a:solidFill>
              <a:srgbClr val="DDE0D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12648" y="4946904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 CI  </a:t>
            </a:r>
            <a:pPr indent="0" marL="0">
              <a:buNone/>
            </a:pPr>
            <a:r>
              <a:rPr lang="en-US" sz="1100" b="1" dirty="0">
                <a:solidFill>
                  <a:srgbClr val="3F7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[−1.78, −1.06]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02920" y="5458968"/>
            <a:ext cx="3246120" cy="402336"/>
          </a:xfrm>
          <a:prstGeom prst="roundRect">
            <a:avLst>
              <a:gd name="adj" fmla="val 13636"/>
            </a:avLst>
          </a:prstGeom>
          <a:solidFill>
            <a:srgbClr val="F4F5F3"/>
          </a:solidFill>
          <a:ln w="9525">
            <a:solidFill>
              <a:srgbClr val="DDE0D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12648" y="5458968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Deming λ*  </a:t>
            </a:r>
            <a:pPr indent="0" marL="0">
              <a:buNone/>
            </a:pPr>
            <a:r>
              <a:rPr lang="en-US" sz="1100" b="1" dirty="0">
                <a:solidFill>
                  <a:srgbClr val="2C6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−1.62 → −2.09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023360" y="1463040"/>
            <a:ext cx="768096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0DC"/>
            </a:solidFill>
            <a:prstDash val="solid"/>
          </a:ln>
        </p:spPr>
      </p:sp>
      <p:pic>
        <p:nvPicPr>
          <p:cNvPr id="14" name="Image 0" descr="/private/tmp/claude-501/-Users-ahmadjalil-github-aethmodular/98af0981-a12c-4f18-82f4-663747dfdcd7/scratchpad/plates31/residual_sh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078224" y="1517904"/>
            <a:ext cx="7571232" cy="446227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114800" y="601675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ftir_31 §1.3   </a:t>
            </a:r>
            <a:pPr indent="0" marL="0">
              <a:buNone/>
            </a:pPr>
            <a:r>
              <a:rPr lang="en-US" sz="950" i="1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vs Mahalanobis D²; site-cluster bootstrap B = 200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 · MAC cannot move any intercept — the fork is a slope contest.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9418320" y="384048"/>
            <a:ext cx="2267712" cy="457200"/>
          </a:xfrm>
          <a:prstGeom prst="roundRect">
            <a:avLst>
              <a:gd name="adj" fmla="val 16000"/>
            </a:avLst>
          </a:prstGeom>
          <a:solidFill>
            <a:srgbClr val="2C6E9E"/>
          </a:solidFill>
          <a:ln w="12700">
            <a:solidFill>
              <a:srgbClr val="2C6E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418320" y="384048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· 5-FOLD SITE-GROUPED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02920" y="1600200"/>
            <a:ext cx="32461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Fabs/MAC: intercepts and R² exact under any MAC; slopes ×0.6 going 10 → 6.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 6 → raw self-consistent (0.95). MAC 10 → corrected lands closest (0.86). Fit statistics cannot choose.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4160520"/>
            <a:ext cx="3246120" cy="402336"/>
          </a:xfrm>
          <a:prstGeom prst="roundRect">
            <a:avLst>
              <a:gd name="adj" fmla="val 13636"/>
            </a:avLst>
          </a:prstGeom>
          <a:solidFill>
            <a:srgbClr val="F4F5F3"/>
          </a:solidFill>
          <a:ln w="9525">
            <a:solidFill>
              <a:srgbClr val="DDE0D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12648" y="4160520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slope scaling  </a:t>
            </a:r>
            <a:pPr indent="0" marL="0">
              <a:buNone/>
            </a:pPr>
            <a:r>
              <a:rPr lang="en-US" sz="1100" b="1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×0.6 exact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02920" y="4672584"/>
            <a:ext cx="3246120" cy="402336"/>
          </a:xfrm>
          <a:prstGeom prst="roundRect">
            <a:avLst>
              <a:gd name="adj" fmla="val 13636"/>
            </a:avLst>
          </a:prstGeom>
          <a:solidFill>
            <a:srgbClr val="F4F5F3"/>
          </a:solidFill>
          <a:ln w="9525">
            <a:solidFill>
              <a:srgbClr val="DDE0D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12648" y="4672584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@ MAC 6  </a:t>
            </a:r>
            <a:pPr indent="0" marL="0">
              <a:buNone/>
            </a:pPr>
            <a:r>
              <a:rPr lang="en-US" sz="1100" b="1" dirty="0">
                <a:solidFill>
                  <a:srgbClr val="2C6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0.95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02920" y="5184648"/>
            <a:ext cx="3246120" cy="402336"/>
          </a:xfrm>
          <a:prstGeom prst="roundRect">
            <a:avLst>
              <a:gd name="adj" fmla="val 13636"/>
            </a:avLst>
          </a:prstGeom>
          <a:solidFill>
            <a:srgbClr val="F4F5F3"/>
          </a:solidFill>
          <a:ln w="9525">
            <a:solidFill>
              <a:srgbClr val="DDE0D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12648" y="5184648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 @ MAC 10  </a:t>
            </a:r>
            <a:pPr indent="0" marL="0">
              <a:buNone/>
            </a:pPr>
            <a:r>
              <a:rPr lang="en-US" sz="1100" b="1" dirty="0">
                <a:solidFill>
                  <a:srgbClr val="7A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0.86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02920" y="5806440"/>
            <a:ext cx="3246120" cy="548640"/>
          </a:xfrm>
          <a:prstGeom prst="roundRect">
            <a:avLst>
              <a:gd name="adj" fmla="val 15000"/>
            </a:avLst>
          </a:prstGeom>
          <a:solidFill>
            <a:srgbClr val="3F7A56"/>
          </a:solidFill>
          <a:ln w="12700">
            <a:solidFill>
              <a:srgbClr val="3F7A56"/>
            </a:solidFill>
            <a:prstDash val="solid"/>
          </a:ln>
        </p:spPr>
      </p:sp>
      <p:sp>
        <p:nvSpPr>
          <p:cNvPr id="14" name="Text 11">
            <a:hlinkClick r:id="rId1" tooltip="Jump to slide 17" action="ppaction://hlinksldjump"/>
          </p:cNvPr>
          <p:cNvSpPr/>
          <p:nvPr/>
        </p:nvSpPr>
        <p:spPr>
          <a:xfrm>
            <a:off x="502920" y="580644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Jump to slide 1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 Continue — shared results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023360" y="1463040"/>
            <a:ext cx="768096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0DC"/>
            </a:solidFill>
            <a:prstDash val="solid"/>
          </a:ln>
        </p:spPr>
      </p:sp>
      <p:pic>
        <p:nvPicPr>
          <p:cNvPr id="16" name="Image 0" descr="/private/tmp/claude-501/-Users-ahmadjalil-github-aethmodular/98af0981-a12c-4f18-82f4-663747dfdcd7/scratchpad/plates31/macpivot_shp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078224" y="1517904"/>
            <a:ext cx="7571232" cy="4462272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4114800" y="601675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ftir_31 §1.4   </a:t>
            </a:r>
            <a:pPr indent="0" marL="0">
              <a:buNone/>
            </a:pPr>
            <a:r>
              <a:rPr lang="en-US" sz="950" i="1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Intercepts identical at both MACs; slope ×0.6 exactly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· Every training choice, one table — k = 17–27.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9418320" y="384048"/>
            <a:ext cx="2267712" cy="457200"/>
          </a:xfrm>
          <a:prstGeom prst="roundRect">
            <a:avLst>
              <a:gd name="adj" fmla="val 16000"/>
            </a:avLst>
          </a:prstGeom>
          <a:solidFill>
            <a:srgbClr val="B0792B"/>
          </a:solidFill>
          <a:ln w="12700">
            <a:solidFill>
              <a:srgbClr val="B07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418320" y="384048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· 10-FOLD INTERLEAVED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02920" y="1600200"/>
            <a:ext cx="32461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six setups, interleaved 10-fold, within-5% rule (k = 17–27), fits on all cohort filters.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corrected setup reads −1.65 — same answer as section A. Raw setups deepen: smoke-906 −6.35 (k = 19).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site-disjoint TOR test exists under this scheme, by construction.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4160520"/>
            <a:ext cx="3246120" cy="402336"/>
          </a:xfrm>
          <a:prstGeom prst="roundRect">
            <a:avLst>
              <a:gd name="adj" fmla="val 13636"/>
            </a:avLst>
          </a:prstGeom>
          <a:solidFill>
            <a:srgbClr val="F4F5F3"/>
          </a:solidFill>
          <a:ln w="9525">
            <a:solidFill>
              <a:srgbClr val="DDE0D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12648" y="4160520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 intercept  </a:t>
            </a:r>
            <a:pPr indent="0" marL="0">
              <a:buNone/>
            </a:pPr>
            <a:r>
              <a:rPr lang="en-US" sz="1100" b="1" dirty="0">
                <a:solidFill>
                  <a:srgbClr val="B2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−1.65 µg/m³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02920" y="4672584"/>
            <a:ext cx="3246120" cy="402336"/>
          </a:xfrm>
          <a:prstGeom prst="roundRect">
            <a:avLst>
              <a:gd name="adj" fmla="val 13636"/>
            </a:avLst>
          </a:prstGeom>
          <a:solidFill>
            <a:srgbClr val="F4F5F3"/>
          </a:solidFill>
          <a:ln w="9525">
            <a:solidFill>
              <a:srgbClr val="DDE0D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12648" y="4672584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smoke-906  </a:t>
            </a:r>
            <a:pPr indent="0" marL="0">
              <a:buNone/>
            </a:pPr>
            <a:r>
              <a:rPr lang="en-US" sz="1100" b="1" dirty="0">
                <a:solidFill>
                  <a:srgbClr val="B07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−6.35 (k = 19)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023360" y="1463040"/>
            <a:ext cx="768096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0DC"/>
            </a:solidFill>
            <a:prstDash val="solid"/>
          </a:ln>
        </p:spPr>
      </p:sp>
      <p:pic>
        <p:nvPicPr>
          <p:cNvPr id="12" name="Image 0" descr="/private/tmp/claude-501/-Users-ahmadjalil-github-aethmodular/98af0981-a12c-4f18-82f4-663747dfdcd7/scratchpad/plates31/matrix_ap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078224" y="1517904"/>
            <a:ext cx="7571232" cy="44622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114800" y="601675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ftir_31 §1.1   </a:t>
            </a:r>
            <a:pPr indent="0" marL="0">
              <a:buNone/>
            </a:pPr>
            <a:r>
              <a:rPr lang="en-US" sz="950" i="1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Interleaved 10-fold · within 5% of minimum · intercepts µg/m³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 · The six setups on Addis — interleaved-selection models.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9418320" y="384048"/>
            <a:ext cx="2267712" cy="457200"/>
          </a:xfrm>
          <a:prstGeom prst="roundRect">
            <a:avLst>
              <a:gd name="adj" fmla="val 16000"/>
            </a:avLst>
          </a:prstGeom>
          <a:solidFill>
            <a:srgbClr val="B0792B"/>
          </a:solidFill>
          <a:ln w="12700">
            <a:solidFill>
              <a:srgbClr val="B07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418320" y="384048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· 10-FOLD INTERLEAVED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02920" y="1600200"/>
            <a:ext cx="32461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six setups, large-k models. Every transfer is roughly linear with wrong gain/offset; the corrected setup is nearest 1:1.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steeper, deeper smoke/analog fits show what the extra components bought: fit at familiar sites, not transfer.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3931920"/>
            <a:ext cx="3246120" cy="402336"/>
          </a:xfrm>
          <a:prstGeom prst="roundRect">
            <a:avLst>
              <a:gd name="adj" fmla="val 13636"/>
            </a:avLst>
          </a:prstGeom>
          <a:solidFill>
            <a:srgbClr val="F4F5F3"/>
          </a:solidFill>
          <a:ln w="9525">
            <a:solidFill>
              <a:srgbClr val="DDE0D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12648" y="3931920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  </a:t>
            </a:r>
            <a:pPr indent="0" marL="0">
              <a:buNone/>
            </a:pPr>
            <a:r>
              <a:rPr lang="en-US" sz="1100" b="1" dirty="0">
                <a:solidFill>
                  <a:srgbClr val="3F7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same as A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02920" y="4443984"/>
            <a:ext cx="3246120" cy="402336"/>
          </a:xfrm>
          <a:prstGeom prst="roundRect">
            <a:avLst>
              <a:gd name="adj" fmla="val 13636"/>
            </a:avLst>
          </a:prstGeom>
          <a:solidFill>
            <a:srgbClr val="F4F5F3"/>
          </a:solidFill>
          <a:ln w="9525">
            <a:solidFill>
              <a:srgbClr val="DDE0D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12648" y="4443984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smoke/analogs  </a:t>
            </a:r>
            <a:pPr indent="0" marL="0">
              <a:buNone/>
            </a:pPr>
            <a:r>
              <a:rPr lang="en-US" sz="1100" b="1" dirty="0">
                <a:solidFill>
                  <a:srgbClr val="B07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steeper, deeper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023360" y="1463040"/>
            <a:ext cx="768096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0DC"/>
            </a:solidFill>
            <a:prstDash val="solid"/>
          </a:ln>
        </p:spPr>
      </p:sp>
      <p:pic>
        <p:nvPicPr>
          <p:cNvPr id="12" name="Image 0" descr="/private/tmp/claude-501/-Users-ahmadjalil-github-aethmodular/98af0981-a12c-4f18-82f4-663747dfdcd7/scratchpad/plates31/crossplots_ap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078224" y="1517904"/>
            <a:ext cx="7571232" cy="44622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114800" y="601675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ftir_31 §1.2   </a:t>
            </a:r>
            <a:pPr indent="0" marL="0">
              <a:buNone/>
            </a:pPr>
            <a:r>
              <a:rPr lang="en-US" sz="950" i="1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190-filter cohort, MAC = 10, interleaved-selection models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 · Residual structure — the raw/corrected contrast survives the scheme.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9418320" y="384048"/>
            <a:ext cx="2267712" cy="457200"/>
          </a:xfrm>
          <a:prstGeom prst="roundRect">
            <a:avLst>
              <a:gd name="adj" fmla="val 16000"/>
            </a:avLst>
          </a:prstGeom>
          <a:solidFill>
            <a:srgbClr val="B0792B"/>
          </a:solidFill>
          <a:ln w="12700">
            <a:solidFill>
              <a:srgbClr val="B07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418320" y="384048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· 10-FOLD INTERLEAVED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02920" y="1600200"/>
            <a:ext cx="32461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Raw: residual tracks D² at r = 0.87 under this scheme. Corrected: flat, distance-independent.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diagnosis is scheme-independent: raw fails by extrapolation; corrected misses by an additive constant.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3931920"/>
            <a:ext cx="3246120" cy="402336"/>
          </a:xfrm>
          <a:prstGeom prst="roundRect">
            <a:avLst>
              <a:gd name="adj" fmla="val 13636"/>
            </a:avLst>
          </a:prstGeom>
          <a:solidFill>
            <a:srgbClr val="F4F5F3"/>
          </a:solidFill>
          <a:ln w="9525">
            <a:solidFill>
              <a:srgbClr val="DDE0D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12648" y="3931920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raw: resid ~ D²  </a:t>
            </a:r>
            <a:pPr indent="0" marL="0">
              <a:buNone/>
            </a:pPr>
            <a:r>
              <a:rPr lang="en-US" sz="1100" b="1" dirty="0">
                <a:solidFill>
                  <a:srgbClr val="B2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0.87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02920" y="4443984"/>
            <a:ext cx="3246120" cy="402336"/>
          </a:xfrm>
          <a:prstGeom prst="roundRect">
            <a:avLst>
              <a:gd name="adj" fmla="val 13636"/>
            </a:avLst>
          </a:prstGeom>
          <a:solidFill>
            <a:srgbClr val="F4F5F3"/>
          </a:solidFill>
          <a:ln w="9525">
            <a:solidFill>
              <a:srgbClr val="DDE0D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12648" y="4443984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  </a:t>
            </a:r>
            <a:pPr indent="0" marL="0">
              <a:buNone/>
            </a:pPr>
            <a:r>
              <a:rPr lang="en-US" sz="1100" b="1" dirty="0">
                <a:solidFill>
                  <a:srgbClr val="3F7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023360" y="1463040"/>
            <a:ext cx="768096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0DC"/>
            </a:solidFill>
            <a:prstDash val="solid"/>
          </a:ln>
        </p:spPr>
      </p:sp>
      <p:pic>
        <p:nvPicPr>
          <p:cNvPr id="12" name="Image 0" descr="/private/tmp/claude-501/-Users-ahmadjalil-github-aethmodular/98af0981-a12c-4f18-82f4-663747dfdcd7/scratchpad/plates31/residual_ap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078224" y="1517904"/>
            <a:ext cx="7571232" cy="44622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114800" y="601675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ftir_31 §1.3   </a:t>
            </a:r>
            <a:pPr indent="0" marL="0">
              <a:buNone/>
            </a:pPr>
            <a:r>
              <a:rPr lang="en-US" sz="950" i="1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Interleaved-selection models; bootstrap CIs overlap section A's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B4 · MAC cannot move any intercept here either.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9418320" y="384048"/>
            <a:ext cx="2267712" cy="457200"/>
          </a:xfrm>
          <a:prstGeom prst="roundRect">
            <a:avLst>
              <a:gd name="adj" fmla="val 16000"/>
            </a:avLst>
          </a:prstGeom>
          <a:solidFill>
            <a:srgbClr val="B0792B"/>
          </a:solidFill>
          <a:ln w="12700">
            <a:solidFill>
              <a:srgbClr val="B07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418320" y="384048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· 10-FOLD INTERLEAVED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02920" y="1600200"/>
            <a:ext cx="32461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Intercepts identical at both MACs; slopes ×0.6 exactly — the MAC-proof result is scheme-independent.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3429000"/>
            <a:ext cx="3246120" cy="402336"/>
          </a:xfrm>
          <a:prstGeom prst="roundRect">
            <a:avLst>
              <a:gd name="adj" fmla="val 13636"/>
            </a:avLst>
          </a:prstGeom>
          <a:solidFill>
            <a:srgbClr val="F4F5F3"/>
          </a:solidFill>
          <a:ln w="9525">
            <a:solidFill>
              <a:srgbClr val="DDE0D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12648" y="3429000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slope scaling  </a:t>
            </a:r>
            <a:pPr indent="0" marL="0">
              <a:buNone/>
            </a:pPr>
            <a:r>
              <a:rPr lang="en-US" sz="1100" b="1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×0.6 exact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02920" y="3941064"/>
            <a:ext cx="3246120" cy="402336"/>
          </a:xfrm>
          <a:prstGeom prst="roundRect">
            <a:avLst>
              <a:gd name="adj" fmla="val 13636"/>
            </a:avLst>
          </a:prstGeom>
          <a:solidFill>
            <a:srgbClr val="F4F5F3"/>
          </a:solidFill>
          <a:ln w="9525">
            <a:solidFill>
              <a:srgbClr val="DDE0D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12648" y="3941064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intercepts  </a:t>
            </a:r>
            <a:pPr indent="0" marL="0">
              <a:buNone/>
            </a:pPr>
            <a:r>
              <a:rPr lang="en-US" sz="1100" b="1" dirty="0">
                <a:solidFill>
                  <a:srgbClr val="3F7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MAC-proof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02920" y="5806440"/>
            <a:ext cx="3246120" cy="548640"/>
          </a:xfrm>
          <a:prstGeom prst="roundRect">
            <a:avLst>
              <a:gd name="adj" fmla="val 15000"/>
            </a:avLst>
          </a:prstGeom>
          <a:solidFill>
            <a:srgbClr val="3F7A56"/>
          </a:solidFill>
          <a:ln w="12700">
            <a:solidFill>
              <a:srgbClr val="3F7A56"/>
            </a:solidFill>
            <a:prstDash val="solid"/>
          </a:ln>
        </p:spPr>
      </p:sp>
      <p:sp>
        <p:nvSpPr>
          <p:cNvPr id="12" name="Text 9">
            <a:hlinkClick r:id="rId1" tooltip="Jump to slide 17" action="ppaction://hlinksldjump"/>
          </p:cNvPr>
          <p:cNvSpPr/>
          <p:nvPr/>
        </p:nvSpPr>
        <p:spPr>
          <a:xfrm>
            <a:off x="502920" y="580644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action="ppaction://hlinksldjump" tooltip="Jump to slide 1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 Continue — shared results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023360" y="1463040"/>
            <a:ext cx="768096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0DC"/>
            </a:solidFill>
            <a:prstDash val="solid"/>
          </a:ln>
        </p:spPr>
      </p:sp>
      <p:pic>
        <p:nvPicPr>
          <p:cNvPr id="14" name="Image 0" descr="/private/tmp/claude-501/-Users-ahmadjalil-github-aethmodular/98af0981-a12c-4f18-82f4-663747dfdcd7/scratchpad/plates31/macpivot_app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078224" y="1517904"/>
            <a:ext cx="7571232" cy="446227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114800" y="601675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ftir_31 §1.4   </a:t>
            </a:r>
            <a:pPr indent="0" marL="0">
              <a:buNone/>
            </a:pPr>
            <a:r>
              <a:rPr lang="en-US" sz="950" i="1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Interleaved-selection models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Addis-like composition, IMPROVE's implied MAC is 10.05 — at the confirmed 633 nm.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502920" y="1600200"/>
            <a:ext cx="32461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Implied MAC = Fabs / TOR-EC across 151,843 matched filters. Pool median 11.96; the Addis-like OC/EC ≤ 2.27 subset (star, n = 6,503) sits at 10.05.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HIPS wavelength confirmed: He–Ne 632.8 ≈ 633 nm, MAC 10 defined at 633.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02920" y="4434840"/>
            <a:ext cx="3246120" cy="402336"/>
          </a:xfrm>
          <a:prstGeom prst="roundRect">
            <a:avLst>
              <a:gd name="adj" fmla="val 13636"/>
            </a:avLst>
          </a:prstGeom>
          <a:solidFill>
            <a:srgbClr val="F4F5F3"/>
          </a:solidFill>
          <a:ln w="9525">
            <a:solidFill>
              <a:srgbClr val="DDE0D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12648" y="4434840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Addis-like subset  </a:t>
            </a:r>
            <a:pPr indent="0" marL="0">
              <a:buNone/>
            </a:pPr>
            <a:r>
              <a:rPr lang="en-US" sz="1100" b="1" dirty="0">
                <a:solidFill>
                  <a:srgbClr val="3F7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 10.05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02920" y="4946904"/>
            <a:ext cx="3246120" cy="402336"/>
          </a:xfrm>
          <a:prstGeom prst="roundRect">
            <a:avLst>
              <a:gd name="adj" fmla="val 13636"/>
            </a:avLst>
          </a:prstGeom>
          <a:solidFill>
            <a:srgbClr val="F4F5F3"/>
          </a:solidFill>
          <a:ln w="9525">
            <a:solidFill>
              <a:srgbClr val="DDE0D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12648" y="4946904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median  </a:t>
            </a:r>
            <a:pPr indent="0" marL="0">
              <a:buNone/>
            </a:pPr>
            <a:r>
              <a:rPr lang="en-US" sz="1100" b="1" dirty="0">
                <a:solidFill>
                  <a:srgbClr val="2C6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11.96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02920" y="5458968"/>
            <a:ext cx="3246120" cy="402336"/>
          </a:xfrm>
          <a:prstGeom prst="roundRect">
            <a:avLst>
              <a:gd name="adj" fmla="val 13636"/>
            </a:avLst>
          </a:prstGeom>
          <a:solidFill>
            <a:srgbClr val="F4F5F3"/>
          </a:solidFill>
          <a:ln w="9525">
            <a:solidFill>
              <a:srgbClr val="DDE0D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12648" y="5458968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high-OC/EC tail  </a:t>
            </a:r>
            <a:pPr indent="0" marL="0">
              <a:buNone/>
            </a:pPr>
            <a:r>
              <a:rPr lang="en-US" sz="1100" b="1" dirty="0">
                <a:solidFill>
                  <a:srgbClr val="B2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19.8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023360" y="1463040"/>
            <a:ext cx="768096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0DC"/>
            </a:solidFill>
            <a:prstDash val="solid"/>
          </a:ln>
        </p:spPr>
      </p:sp>
      <p:pic>
        <p:nvPicPr>
          <p:cNvPr id="12" name="Image 0" descr="/private/tmp/claude-501/-Users-ahmadjalil-github-aethmodular/98af0981-a12c-4f18-82f4-663747dfdcd7/scratchpad/plates31/implied_ma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078224" y="1517904"/>
            <a:ext cx="7571232" cy="44622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114800" y="601675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ftir_31 §3   </a:t>
            </a:r>
            <a:pPr indent="0" marL="0">
              <a:buNone/>
            </a:pPr>
            <a:r>
              <a:rPr lang="en-US" sz="950" i="1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Rebuilt from the committed 151,843-filter table; numbers asserted in-notebook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1600 band is not amine — stuck below 1425 cm⁻¹ without your sub-1500 model.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502920" y="1600200"/>
            <a:ext cx="32461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Addis: 1617–1619 cm⁻¹, every season. IMPROVE cohorts: ≥ 1633. Co-varies with CH (ρ 0.88), carbonyl (0.93); not N–H/O–H (0.17) — amine rejected.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Carboxylate vs aromatic C=C needs the region below 1425 cm⁻¹: your sub-1500 model, or charcoal spectra as data.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02920" y="4434840"/>
            <a:ext cx="3246120" cy="402336"/>
          </a:xfrm>
          <a:prstGeom prst="roundRect">
            <a:avLst>
              <a:gd name="adj" fmla="val 13636"/>
            </a:avLst>
          </a:prstGeom>
          <a:solidFill>
            <a:srgbClr val="F4F5F3"/>
          </a:solidFill>
          <a:ln w="9525">
            <a:solidFill>
              <a:srgbClr val="DDE0D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12648" y="4434840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Addis center  </a:t>
            </a:r>
            <a:pPr indent="0" marL="0">
              <a:buNone/>
            </a:pPr>
            <a:r>
              <a:rPr lang="en-US" sz="1100" b="1" dirty="0">
                <a:solidFill>
                  <a:srgbClr val="B2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1617–1619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02920" y="4946904"/>
            <a:ext cx="3246120" cy="402336"/>
          </a:xfrm>
          <a:prstGeom prst="roundRect">
            <a:avLst>
              <a:gd name="adj" fmla="val 13636"/>
            </a:avLst>
          </a:prstGeom>
          <a:solidFill>
            <a:srgbClr val="F4F5F3"/>
          </a:solidFill>
          <a:ln w="9525">
            <a:solidFill>
              <a:srgbClr val="DDE0D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12648" y="4946904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  </a:t>
            </a:r>
            <a:pPr indent="0" marL="0">
              <a:buNone/>
            </a:pPr>
            <a:r>
              <a:rPr lang="en-US" sz="1100" b="1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1633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02920" y="5458968"/>
            <a:ext cx="3246120" cy="402336"/>
          </a:xfrm>
          <a:prstGeom prst="roundRect">
            <a:avLst>
              <a:gd name="adj" fmla="val 13636"/>
            </a:avLst>
          </a:prstGeom>
          <a:solidFill>
            <a:srgbClr val="F4F5F3"/>
          </a:solidFill>
          <a:ln w="9525">
            <a:solidFill>
              <a:srgbClr val="DDE0D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12648" y="5458968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ρ(1600, N–H)  </a:t>
            </a:r>
            <a:pPr indent="0" marL="0">
              <a:buNone/>
            </a:pPr>
            <a:r>
              <a:rPr lang="en-US" sz="1100" b="1" dirty="0">
                <a:solidFill>
                  <a:srgbClr val="2C6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0.17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023360" y="1463040"/>
            <a:ext cx="768096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0DC"/>
            </a:solidFill>
            <a:prstDash val="solid"/>
          </a:ln>
        </p:spPr>
      </p:sp>
      <p:pic>
        <p:nvPicPr>
          <p:cNvPr id="12" name="Image 0" descr="/private/tmp/claude-501/-Users-ahmadjalil-github-aethmodular/98af0981-a12c-4f18-82f4-663747dfdcd7/scratchpad/plates31/peak160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078224" y="1517904"/>
            <a:ext cx="7571232" cy="44622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114800" y="601675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ftir_31 §6   </a:t>
            </a:r>
            <a:pPr indent="0" marL="0">
              <a:buNone/>
            </a:pPr>
            <a:r>
              <a:rPr lang="en-US" sz="950" i="1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medians and IQRs from the committed ftir_12 stats table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 changes loading, not shape — ftir_24 predicts dry and wet separately.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502920" y="1600200"/>
            <a:ext cx="32461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bands, deployed EC (3.3 → 7.2 µg/m³) and Fabs peak in Kiremt; the 1600-band centre never moves; Dry has relatively more broad O–H.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Raw-model residuals: Dry −1.25 (worst) → Kiremt +0.49 (best); corrected season-stable. ftir_24: pooled season × x design.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02920" y="4434840"/>
            <a:ext cx="3246120" cy="402336"/>
          </a:xfrm>
          <a:prstGeom prst="roundRect">
            <a:avLst>
              <a:gd name="adj" fmla="val 13636"/>
            </a:avLst>
          </a:prstGeom>
          <a:solidFill>
            <a:srgbClr val="F4F5F3"/>
          </a:solidFill>
          <a:ln w="9525">
            <a:solidFill>
              <a:srgbClr val="DDE0D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12648" y="4434840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 by season  </a:t>
            </a:r>
            <a:pPr indent="0" marL="0">
              <a:buNone/>
            </a:pPr>
            <a:r>
              <a:rPr lang="en-US" sz="1100" b="1" dirty="0">
                <a:solidFill>
                  <a:srgbClr val="2C6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 → 7.2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02920" y="4946904"/>
            <a:ext cx="3246120" cy="402336"/>
          </a:xfrm>
          <a:prstGeom prst="roundRect">
            <a:avLst>
              <a:gd name="adj" fmla="val 13636"/>
            </a:avLst>
          </a:prstGeom>
          <a:solidFill>
            <a:srgbClr val="F4F5F3"/>
          </a:solidFill>
          <a:ln w="9525">
            <a:solidFill>
              <a:srgbClr val="DDE0D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12648" y="4946904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residuals  </a:t>
            </a:r>
            <a:pPr indent="0" marL="0">
              <a:buNone/>
            </a:pPr>
            <a:r>
              <a:rPr lang="en-US" sz="1100" b="1" dirty="0">
                <a:solidFill>
                  <a:srgbClr val="B07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 −1.25 → Kiremt +0.49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02920" y="5458968"/>
            <a:ext cx="3246120" cy="402336"/>
          </a:xfrm>
          <a:prstGeom prst="roundRect">
            <a:avLst>
              <a:gd name="adj" fmla="val 13636"/>
            </a:avLst>
          </a:prstGeom>
          <a:solidFill>
            <a:srgbClr val="F4F5F3"/>
          </a:solidFill>
          <a:ln w="9525">
            <a:solidFill>
              <a:srgbClr val="DDE0D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12648" y="5458968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split  </a:t>
            </a:r>
            <a:pPr indent="0" marL="0">
              <a:buNone/>
            </a:pPr>
            <a:r>
              <a:rPr lang="en-US" sz="1100" b="1" dirty="0">
                <a:solidFill>
                  <a:srgbClr val="3F7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 / 61 / 73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023360" y="1463040"/>
            <a:ext cx="768096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0DC"/>
            </a:solidFill>
            <a:prstDash val="solid"/>
          </a:ln>
        </p:spPr>
      </p:sp>
      <p:pic>
        <p:nvPicPr>
          <p:cNvPr id="12" name="Image 0" descr="/private/tmp/claude-501/-Users-ahmadjalil-github-aethmodular/98af0981-a12c-4f18-82f4-663747dfdcd7/scratchpad/plates31/seaso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078224" y="1517904"/>
            <a:ext cx="7571232" cy="44622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114800" y="601675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ftir_31 §5   </a:t>
            </a:r>
            <a:pPr indent="0" marL="0">
              <a:buNone/>
            </a:pPr>
            <a:r>
              <a:rPr lang="en-US" sz="950" i="1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 spectra, median ± 10–90 % per season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same-corridor TOR looks ordinary — and a second Ethiopian site sits unused.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502920" y="1600200"/>
            <a:ext cx="32461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Adama TOR: OC/EC 4.6–7.2 — the IMPROVE median. Reconciling Addis HIPS with FTIR OC at that composition needs MAC ≈ 47 m²/g — unphysical.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ETBI (Bishoftu): 26 HIPS filters, median 26.9 Mm⁻¹ — a free in-country test set, blocked only on the spectra pull.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02920" y="4434840"/>
            <a:ext cx="3246120" cy="402336"/>
          </a:xfrm>
          <a:prstGeom prst="roundRect">
            <a:avLst>
              <a:gd name="adj" fmla="val 13636"/>
            </a:avLst>
          </a:prstGeom>
          <a:solidFill>
            <a:srgbClr val="F4F5F3"/>
          </a:solidFill>
          <a:ln w="9525">
            <a:solidFill>
              <a:srgbClr val="DDE0D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12648" y="4434840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Adama OC/EC  </a:t>
            </a:r>
            <a:pPr indent="0" marL="0">
              <a:buNone/>
            </a:pPr>
            <a:r>
              <a:rPr lang="en-US" sz="1100" b="1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4.6–7.2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02920" y="4946904"/>
            <a:ext cx="3246120" cy="402336"/>
          </a:xfrm>
          <a:prstGeom prst="roundRect">
            <a:avLst>
              <a:gd name="adj" fmla="val 13636"/>
            </a:avLst>
          </a:prstGeom>
          <a:solidFill>
            <a:srgbClr val="F4F5F3"/>
          </a:solidFill>
          <a:ln w="9525">
            <a:solidFill>
              <a:srgbClr val="DDE0D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12648" y="4946904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MAC  </a:t>
            </a:r>
            <a:pPr indent="0" marL="0">
              <a:buNone/>
            </a:pPr>
            <a:r>
              <a:rPr lang="en-US" sz="1100" b="1" dirty="0">
                <a:solidFill>
                  <a:srgbClr val="B2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47 m²/g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02920" y="5458968"/>
            <a:ext cx="3246120" cy="402336"/>
          </a:xfrm>
          <a:prstGeom prst="roundRect">
            <a:avLst>
              <a:gd name="adj" fmla="val 13636"/>
            </a:avLst>
          </a:prstGeom>
          <a:solidFill>
            <a:srgbClr val="F4F5F3"/>
          </a:solidFill>
          <a:ln w="9525">
            <a:solidFill>
              <a:srgbClr val="DDE0D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12648" y="5458968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ETBI  </a:t>
            </a:r>
            <a:pPr indent="0" marL="0">
              <a:buNone/>
            </a:pPr>
            <a:r>
              <a:rPr lang="en-US" sz="1100" b="1" dirty="0">
                <a:solidFill>
                  <a:srgbClr val="2C6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filters, unused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023360" y="1463040"/>
            <a:ext cx="768096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0DC"/>
            </a:solidFill>
            <a:prstDash val="solid"/>
          </a:ln>
        </p:spPr>
      </p:sp>
      <p:pic>
        <p:nvPicPr>
          <p:cNvPr id="12" name="Image 0" descr="/private/tmp/claude-501/-Users-ahmadjalil-github-aethmodular/98af0981-a12c-4f18-82f4-663747dfdcd7/scratchpad/plates31/adama_etb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078224" y="1517904"/>
            <a:ext cx="7571232" cy="44622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114800" y="601675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ftir_31 §7   </a:t>
            </a:r>
            <a:pPr indent="0" marL="0">
              <a:buNone/>
            </a:pPr>
            <a:r>
              <a:rPr lang="en-US" sz="950" i="1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Rebuilt from the SPARTAN HIPS export + committed Adama TOR; medians asserted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you.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02920" y="1554480"/>
            <a:ext cx="11183112" cy="1325880"/>
          </a:xfrm>
          <a:prstGeom prst="roundRect">
            <a:avLst>
              <a:gd name="adj" fmla="val 5517"/>
            </a:avLst>
          </a:prstGeom>
          <a:solidFill>
            <a:srgbClr val="2E2225"/>
          </a:solidFill>
          <a:ln w="15875">
            <a:solidFill>
              <a:srgbClr val="E0705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69164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headline: a co-located quartz-TOR campaign at ETAD or Bishoftu.  </a:t>
            </a:r>
            <a:pPr indent="0" marL="0">
              <a:buNone/>
            </a:pPr>
            <a:r>
              <a:rPr lang="en-US" sz="1200" dirty="0">
                <a:solidFill>
                  <a:srgbClr val="C9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EC reference we hold is circular with one axis or the other, and the surviving explanations for the ~21 Mm⁻¹ offset all yield to it. Spec: 11–13 days per season, ~36 filters total; Adama Batch-54 proves the chain. One-pager in hand.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3108960"/>
            <a:ext cx="5486400" cy="1024128"/>
          </a:xfrm>
          <a:prstGeom prst="roundRect">
            <a:avLst>
              <a:gd name="adj" fmla="val 7143"/>
            </a:avLst>
          </a:prstGeom>
          <a:solidFill>
            <a:srgbClr val="23262C"/>
          </a:solidFill>
          <a:ln w="9525">
            <a:solidFill>
              <a:srgbClr val="3A3F4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3182112"/>
            <a:ext cx="5166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 — the decision from today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85800" y="3511296"/>
            <a:ext cx="5166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2A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CV scheme carries the headline, and must k match across models? Control option: 5-for-all vs 20-for-all.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263640" y="3108960"/>
            <a:ext cx="5486400" cy="1024128"/>
          </a:xfrm>
          <a:prstGeom prst="roundRect">
            <a:avLst>
              <a:gd name="adj" fmla="val 7143"/>
            </a:avLst>
          </a:prstGeom>
          <a:solidFill>
            <a:srgbClr val="23262C"/>
          </a:solidFill>
          <a:ln w="9525">
            <a:solidFill>
              <a:srgbClr val="3A3F4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46520" y="3182112"/>
            <a:ext cx="5166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Baselining trade-off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46520" y="3511296"/>
            <a:ext cx="5166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2A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real EC does full baseline removal discard? Middle path / your newer method — worth testing vs AIRSpec?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4270248"/>
            <a:ext cx="5486400" cy="1024128"/>
          </a:xfrm>
          <a:prstGeom prst="roundRect">
            <a:avLst>
              <a:gd name="adj" fmla="val 7143"/>
            </a:avLst>
          </a:prstGeom>
          <a:solidFill>
            <a:srgbClr val="23262C"/>
          </a:solidFill>
          <a:ln w="9525">
            <a:solidFill>
              <a:srgbClr val="3A3F4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4343400"/>
            <a:ext cx="5166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Sub-1500 cm⁻¹ model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85800" y="4672584"/>
            <a:ext cx="5166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2A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Status? It is the unblocking tool for carboxylate vs aromatic C=C at 1600.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263640" y="4270248"/>
            <a:ext cx="5486400" cy="1024128"/>
          </a:xfrm>
          <a:prstGeom prst="roundRect">
            <a:avLst>
              <a:gd name="adj" fmla="val 7143"/>
            </a:avLst>
          </a:prstGeom>
          <a:solidFill>
            <a:srgbClr val="23262C"/>
          </a:solidFill>
          <a:ln w="9525">
            <a:solidFill>
              <a:srgbClr val="3A3F4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46520" y="4343400"/>
            <a:ext cx="5166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Emily Lee's charcoal spectra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46520" y="4672584"/>
            <a:ext cx="5166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2A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data — the paper versions are print-only; replaces our failed KBr attempt.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5431536"/>
            <a:ext cx="5486400" cy="1024128"/>
          </a:xfrm>
          <a:prstGeom prst="roundRect">
            <a:avLst>
              <a:gd name="adj" fmla="val 7143"/>
            </a:avLst>
          </a:prstGeom>
          <a:solidFill>
            <a:srgbClr val="23262C"/>
          </a:solidFill>
          <a:ln w="9525">
            <a:solidFill>
              <a:srgbClr val="3A3F4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5504688"/>
            <a:ext cx="5166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INDH / CHTS / ETBI spectra export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85800" y="5833872"/>
            <a:ext cx="5166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2A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 as the ETAD pull; turns Bishoftu into a live in-country test set.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263640" y="5431536"/>
            <a:ext cx="5486400" cy="1024128"/>
          </a:xfrm>
          <a:prstGeom prst="roundRect">
            <a:avLst>
              <a:gd name="adj" fmla="val 7143"/>
            </a:avLst>
          </a:prstGeom>
          <a:solidFill>
            <a:srgbClr val="23262C"/>
          </a:solidFill>
          <a:ln w="9525">
            <a:solidFill>
              <a:srgbClr val="3A3F4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46520" y="5504688"/>
            <a:ext cx="5166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 / protocol bridge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46520" y="5833872"/>
            <a:ext cx="5166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2A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implied-MAC chain hold — any independent test of MAC ≈ 10 without new sampling?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— Four regression estimators per setup: OLS is the conservative bound.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502920" y="1600200"/>
            <a:ext cx="32461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fixed cohort, four fits per setup: OLS, Deming (measured λ* = 2.96), constant-CV weighted Deming, Huber-robust Deming.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errors-in-variables treatment deepens the intercept — OLS is the conservative bound. Corrected setup moves least (−1.62 → −2.09).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02920" y="4160520"/>
            <a:ext cx="3246120" cy="402336"/>
          </a:xfrm>
          <a:prstGeom prst="roundRect">
            <a:avLst>
              <a:gd name="adj" fmla="val 13636"/>
            </a:avLst>
          </a:prstGeom>
          <a:solidFill>
            <a:srgbClr val="F4F5F3"/>
          </a:solidFill>
          <a:ln w="9525">
            <a:solidFill>
              <a:srgbClr val="DDE0D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12648" y="4160520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λ*  </a:t>
            </a:r>
            <a:pPr indent="0" marL="0">
              <a:buNone/>
            </a:pPr>
            <a:r>
              <a:rPr lang="en-US" sz="1100" b="1" dirty="0">
                <a:solidFill>
                  <a:srgbClr val="2C6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2.96 (measured)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02920" y="4672584"/>
            <a:ext cx="3246120" cy="402336"/>
          </a:xfrm>
          <a:prstGeom prst="roundRect">
            <a:avLst>
              <a:gd name="adj" fmla="val 13636"/>
            </a:avLst>
          </a:prstGeom>
          <a:solidFill>
            <a:srgbClr val="F4F5F3"/>
          </a:solidFill>
          <a:ln w="9525">
            <a:solidFill>
              <a:srgbClr val="DDE0D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12648" y="4672584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corrected, Deming  </a:t>
            </a:r>
            <a:pPr indent="0" marL="0">
              <a:buNone/>
            </a:pPr>
            <a:r>
              <a:rPr lang="en-US" sz="1100" b="1" dirty="0">
                <a:solidFill>
                  <a:srgbClr val="3F7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0.95x − 2.09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023360" y="1463040"/>
            <a:ext cx="768096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0DC"/>
            </a:solidFill>
            <a:prstDash val="solid"/>
          </a:ln>
        </p:spPr>
      </p:sp>
      <p:pic>
        <p:nvPicPr>
          <p:cNvPr id="10" name="Image 0" descr="/private/tmp/claude-501/-Users-ahmadjalil-github-aethmodular/98af0981-a12c-4f18-82f4-663747dfdcd7/scratchpad/plates31/estimator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078224" y="1517904"/>
            <a:ext cx="7571232" cy="446227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114800" y="601675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ftir_31 §1.10   </a:t>
            </a:r>
            <a:pPr indent="0" marL="0">
              <a:buNone/>
            </a:pPr>
            <a:r>
              <a:rPr lang="en-US" sz="950" i="1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OLS rows asserted against the committed setup matrix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— The MAC pivot survives Deming exactly.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502920" y="1600200"/>
            <a:ext cx="32461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Filled/solid = MAC 10, open/dashed = MAC 6, diamond = the shared intercept. All fits Deming, λ scaled with MAC².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1A1D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Asserted per setup: intercept identical at both MACs (10⁻⁹); slope ×0.6 exactly — estimator-independent.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02920" y="3931920"/>
            <a:ext cx="3246120" cy="402336"/>
          </a:xfrm>
          <a:prstGeom prst="roundRect">
            <a:avLst>
              <a:gd name="adj" fmla="val 13636"/>
            </a:avLst>
          </a:prstGeom>
          <a:solidFill>
            <a:srgbClr val="F4F5F3"/>
          </a:solidFill>
          <a:ln w="9525">
            <a:solidFill>
              <a:srgbClr val="DDE0D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12648" y="3931920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@ MAC 10 / 6  </a:t>
            </a:r>
            <a:pPr indent="0" marL="0">
              <a:buNone/>
            </a:pPr>
            <a:r>
              <a:rPr lang="en-US" sz="1100" b="1" dirty="0">
                <a:solidFill>
                  <a:srgbClr val="2C6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2.96 / 1.07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02920" y="4443984"/>
            <a:ext cx="3246120" cy="402336"/>
          </a:xfrm>
          <a:prstGeom prst="roundRect">
            <a:avLst>
              <a:gd name="adj" fmla="val 13636"/>
            </a:avLst>
          </a:prstGeom>
          <a:solidFill>
            <a:srgbClr val="F4F5F3"/>
          </a:solidFill>
          <a:ln w="9525">
            <a:solidFill>
              <a:srgbClr val="DDE0D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12648" y="4443984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pivot  </a:t>
            </a:r>
            <a:pPr indent="0" marL="0">
              <a:buNone/>
            </a:pPr>
            <a:r>
              <a:rPr lang="en-US" sz="1100" b="1" dirty="0">
                <a:solidFill>
                  <a:srgbClr val="3F7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under Deming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023360" y="1463040"/>
            <a:ext cx="768096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0DC"/>
            </a:solidFill>
            <a:prstDash val="solid"/>
          </a:ln>
        </p:spPr>
      </p:sp>
      <p:pic>
        <p:nvPicPr>
          <p:cNvPr id="10" name="Image 0" descr="/private/tmp/claude-501/-Users-ahmadjalil-github-aethmodular/98af0981-a12c-4f18-82f4-663747dfdcd7/scratchpad/plates31/mac_dem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078224" y="1517904"/>
            <a:ext cx="7571232" cy="446227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114800" y="601675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ftir_31 §1.11   </a:t>
            </a:r>
            <a:pPr indent="0" marL="0">
              <a:buNone/>
            </a:pPr>
            <a:r>
              <a:rPr lang="en-US" sz="950" i="1" dirty="0">
                <a:solidFill>
                  <a:srgbClr val="5E63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fit Deming; OLS intercepts quoted per panel for reference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Follow up meeting - 13 Aug 2026 (staged)</dc:title>
  <dc:subject>PptxGenJS Presentation</dc:subject>
  <dc:creator>Ahmad Jalil</dc:creator>
  <cp:lastModifiedBy>Ahmad Jalil</cp:lastModifiedBy>
  <cp:revision>1</cp:revision>
  <dcterms:created xsi:type="dcterms:W3CDTF">2026-08-13T16:54:56Z</dcterms:created>
  <dcterms:modified xsi:type="dcterms:W3CDTF">2026-08-13T16:54:56Z</dcterms:modified>
</cp:coreProperties>
</file>