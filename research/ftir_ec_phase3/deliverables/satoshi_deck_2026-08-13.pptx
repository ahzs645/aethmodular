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spring check-in the whole thread has been reworked. This walks the argument, then the asks. Roughly 30 minutes of content — parts B and C are where your input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him read while you frame it: everything left is committed and reproducible; everything right is why this meeting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network calibration carried to Addis is steep with a deep negative intercept — and nothing at Addis has negative EC, so the offset is the model, not the air. At MAC 6 the slope pivots but the intercept stays exactly put; we will prove that invariance in part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Taking the 800 lowest-OC/EC filters is the closest IMPROVE can get to Addis composition — and that cohort wins on both the Addis crossplot and a locked disjoint-site TOR test, like-for-like. Cohort engineering beyond this point breaks the TOR test, so this is the terminal IMPROVE-only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 training-set choices, one protocol per column set. The corrected setup is the one whose answer barely depends on who processed it — the strongest robustness claim in the deck. Note row 1 is the whole IMPROVE network: the only SPARTAN spectra we hold are ETAD's, and those are evaluation-only, never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PLS model on raw spectra is handed a predictor that is mostly background, and is free to lean on it. The port is validated against your R output to six times ten-to-the-minus-seven — this is your algorithm. And your EDF question has an answer: six versus eight makes no practical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Whatever a raw-spectra model learned about background does not transfer, and that error lands as an offset. Baselining both sides and retraining takes the Addis intercept from −3.22 to −1.62 — the single biggest improvement of phase 3. Honest cost: Addis R² drops 0.77 to 0.66 and RMSE 1.16 to 2.41; we prefer it for its residual structure, not its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Ann's objection deserves a direct answer, and this is our evidence: the smoke model collapses on corrected spectra, and the HIPS-transfer failure survives baselining — so what breaks at Addis is compositional, not a baseline artifact. The question we cannot answer alone: how much genuine EC signal does full baseline removal discard, and is a partial-retention middle path worth trying?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Look at biomass-smoke, top middle — interleaved it looks fine; hold the sites out and the floor rises sixty percent. Lowest-OC/EC, bottom middle — the lines sit on top of each other. On second-derivative spectra the whole effect disappears, so what an interleaved fold leaks is the site's characteristic background. That is the same quantity as the AIRSpec story, from a completely different direction. Also: interleaved CV is row-order dependent — the same 800 filters give k = 15, 18 or 19 on reorderings; site-grouped gives 5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raw model fails by extrapolation; the corrected model misses by a flat constant that no cohort choice removes. That flat constant is the object of part D — restated as roughly 21 inverse megametres of absorption with no FTIR-EC behind it, exactly MAC-invariant, with three surviving explanations: a loading-dependent HIPS artifact, curve geometry in the Fabs–EC relation, and real non-EC absorption. Nothing in hand separates them — that is the quartz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intercept ladder is MAC-proof and R² cannot arbitrate MAC — the fork is purely a slope contest between two self-consistent branches. Deliberate phrasing: the corrected model “lands closest” at MAC 10 — 0.86 does not clear the |slope−1| ≤ 0.1 bar the raw models clear at MAC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net phase-3 read is MAC ≈ 10, the corrected model, and a genuine additive component at Addis whose owner is not yet identified — loading-dependent HIPS artifact, curve geometry, or real non-EC absorption. We would like your judgment on this chain, and whether an independent HIPS MAC or protocol bridge exists that could test it without new sampling. Quote 10.05 only with its qualifier: the Addis-like subset, 6,503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asks live on this slide. Where does the sub-1500 model stand — it is the unblocking tool for carboxylate versus aromatic C=C. And can we get Emily Lee's charcoal spectra as data — the paper versions are print-only, and burning chemistry (O–H and aliphatic C–H destroyed, aromatic C=C grown, stronger with temperature) is the process argument for the aromatic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Season moves loading, not shape — and a season-blind mixture component isolates the same Oct–Feb anomaly the residuals show, so three independent views agree. ftir_24 quantifies it with a pooled season-by-x design to avoid the mechanical slope attenuation from Dry's shorter x-range.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Since Addis's extreme ranking is computed from the very FTIR/HIPS values under suspicion, we cannot currently tell how much of the extremity is the artifact. The spectra pull that would include ETBI is the cheapest unblocking step on the list — and we have pre-registered the prediction: if the ~21 Mm⁻¹ were a persistent background, ETBI's FTIR-EC should come out very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order changed this week: quartz TOR is the headline because ftir_26/27 closed every in-hand route to an independent EC reference. Hand over the one-pager here if Ann approved it. The five supporting asks are cheap for him and high-leverage for us — the spectra export especially.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502920" y="1280160"/>
            <a:ext cx="11183112" cy="320040"/>
          </a:xfrm>
          <a:prstGeom prst="rect">
            <a:avLst/>
          </a:prstGeom>
          <a:noFill/>
          <a:ln/>
        </p:spPr>
        <p:txBody>
          <a:bodyPr wrap="square" lIns="0" tIns="0" rIns="0" bIns="0" rtlCol="0" anchor="ctr"/>
          <a:lstStyle/>
          <a:p>
            <a:pPr indent="0" marL="0">
              <a:buNone/>
            </a:pPr>
            <a:r>
              <a:rPr lang="en-US" sz="1200" spc="200" kern="0" dirty="0">
                <a:solidFill>
                  <a:srgbClr val="E0705F"/>
                </a:solidFill>
                <a:latin typeface="Courier New" pitchFamily="34" charset="0"/>
                <a:ea typeface="Courier New" pitchFamily="34" charset="-122"/>
                <a:cs typeface="Courier New" pitchFamily="34" charset="-120"/>
              </a:rPr>
              <a:t>FTIR · EC CALIBRATION · ADDIS ABABA · BRIEFING FOR SATOSHI · 13 AUG 2026</a:t>
            </a:r>
            <a:endParaRPr lang="en-US" sz="1200" dirty="0"/>
          </a:p>
        </p:txBody>
      </p:sp>
      <p:sp>
        <p:nvSpPr>
          <p:cNvPr id="3" name="Text 1"/>
          <p:cNvSpPr/>
          <p:nvPr/>
        </p:nvSpPr>
        <p:spPr>
          <a:xfrm>
            <a:off x="502920" y="1737360"/>
            <a:ext cx="11155680" cy="210312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Calibri" pitchFamily="34" charset="0"/>
                <a:ea typeface="Calibri" pitchFamily="34" charset="-122"/>
                <a:cs typeface="Calibri" pitchFamily="34" charset="-120"/>
              </a:rPr>
              <a:t>Phase 3, end to end —</a:t>
            </a:r>
            <a:endParaRPr lang="en-US" sz="4400" dirty="0"/>
          </a:p>
          <a:p>
            <a:pPr indent="0" marL="0">
              <a:lnSpc>
                <a:spcPts val="5000"/>
              </a:lnSpc>
              <a:buNone/>
            </a:pPr>
            <a:r>
              <a:rPr lang="en-US" sz="4400" b="1" dirty="0">
                <a:solidFill>
                  <a:srgbClr val="FFFFFF"/>
                </a:solidFill>
                <a:latin typeface="Calibri" pitchFamily="34" charset="0"/>
                <a:ea typeface="Calibri" pitchFamily="34" charset="-122"/>
                <a:cs typeface="Calibri" pitchFamily="34" charset="-120"/>
              </a:rPr>
              <a:t>and what we need from you.</a:t>
            </a:r>
            <a:endParaRPr lang="en-US" sz="4400" dirty="0"/>
          </a:p>
        </p:txBody>
      </p:sp>
      <p:sp>
        <p:nvSpPr>
          <p:cNvPr id="4" name="Text 2"/>
          <p:cNvSpPr/>
          <p:nvPr/>
        </p:nvSpPr>
        <p:spPr>
          <a:xfrm>
            <a:off x="502920" y="3977640"/>
            <a:ext cx="9692640" cy="1005840"/>
          </a:xfrm>
          <a:prstGeom prst="rect">
            <a:avLst/>
          </a:prstGeom>
          <a:noFill/>
          <a:ln/>
        </p:spPr>
        <p:txBody>
          <a:bodyPr wrap="square" lIns="0" tIns="0" rIns="0" bIns="0" rtlCol="0" anchor="ctr"/>
          <a:lstStyle/>
          <a:p>
            <a:pPr indent="0" marL="0">
              <a:buNone/>
            </a:pPr>
            <a:r>
              <a:rPr lang="en-US" sz="1600" dirty="0">
                <a:solidFill>
                  <a:srgbClr val="A2A8AE"/>
                </a:solidFill>
                <a:latin typeface="Calibri" pitchFamily="34" charset="0"/>
                <a:ea typeface="Calibri" pitchFamily="34" charset="-122"/>
                <a:cs typeface="Calibri" pitchFamily="34" charset="-120"/>
              </a:rPr>
              <a:t>Your baselining suggestion implemented and validated · Ann's low-OC/EC cohort locked as the best calibration · the MAC question reduced to a two-branch fork · the residual offset restated as a measurable target · and the asks that would unblock the rest.</a:t>
            </a:r>
            <a:endParaRPr lang="en-US" sz="1600" dirty="0"/>
          </a:p>
        </p:txBody>
      </p:sp>
      <p:sp>
        <p:nvSpPr>
          <p:cNvPr id="5" name="Text 3"/>
          <p:cNvSpPr/>
          <p:nvPr/>
        </p:nvSpPr>
        <p:spPr>
          <a:xfrm>
            <a:off x="502920" y="5989320"/>
            <a:ext cx="10515600" cy="548640"/>
          </a:xfrm>
          <a:prstGeom prst="rect">
            <a:avLst/>
          </a:prstGeom>
          <a:noFill/>
          <a:ln/>
        </p:spPr>
        <p:txBody>
          <a:bodyPr wrap="square" lIns="0" tIns="0" rIns="0" bIns="0" rtlCol="0" anchor="ctr"/>
          <a:lstStyle/>
          <a:p>
            <a:pPr indent="0" marL="0">
              <a:buNone/>
            </a:pPr>
            <a:r>
              <a:rPr lang="en-US" sz="1000" dirty="0">
                <a:solidFill>
                  <a:srgbClr val="767C83"/>
                </a:solidFill>
                <a:latin typeface="Courier New" pitchFamily="34" charset="0"/>
                <a:ea typeface="Courier New" pitchFamily="34" charset="-122"/>
                <a:cs typeface="Courier New" pitchFamily="34" charset="-120"/>
              </a:rPr>
              <a:t>Notebooks ftir_11–27 · fixed 190-filter Addis cohort for crossplots · MAC = 10 headline · site-disjoint splits (seed 20260717) · every number traces to a committed table.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STATUS AT A GLANCE</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Settled since we last talked — and open, mostly needing you.</a:t>
            </a:r>
            <a:endParaRPr lang="en-US" sz="2600" dirty="0"/>
          </a:p>
        </p:txBody>
      </p:sp>
      <p:sp>
        <p:nvSpPr>
          <p:cNvPr id="4" name="Text 2"/>
          <p:cNvSpPr/>
          <p:nvPr/>
        </p:nvSpPr>
        <p:spPr>
          <a:xfrm>
            <a:off x="502920" y="1417320"/>
            <a:ext cx="5394960" cy="32004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Settled since we last talked</a:t>
            </a:r>
            <a:endParaRPr lang="en-US" sz="1400" dirty="0"/>
          </a:p>
        </p:txBody>
      </p:sp>
      <p:sp>
        <p:nvSpPr>
          <p:cNvPr id="5" name="Shape 3"/>
          <p:cNvSpPr/>
          <p:nvPr/>
        </p:nvSpPr>
        <p:spPr>
          <a:xfrm>
            <a:off x="502920" y="2395728"/>
            <a:ext cx="5440680" cy="0"/>
          </a:xfrm>
          <a:prstGeom prst="rect">
            <a:avLst/>
          </a:prstGeom>
          <a:noFill/>
          <a:ln w="9525">
            <a:solidFill>
              <a:srgbClr val="DDE0DC"/>
            </a:solidFill>
            <a:prstDash val="solid"/>
          </a:ln>
        </p:spPr>
      </p:sp>
      <p:sp>
        <p:nvSpPr>
          <p:cNvPr id="6" name="Text 4"/>
          <p:cNvSpPr/>
          <p:nvPr/>
        </p:nvSpPr>
        <p:spPr>
          <a:xfrm>
            <a:off x="502920" y="182880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AIRSpec ported to Python, validated to ~10⁻⁷ against the R output</a:t>
            </a:r>
            <a:endParaRPr lang="en-US" sz="1100" dirty="0"/>
          </a:p>
        </p:txBody>
      </p:sp>
      <p:sp>
        <p:nvSpPr>
          <p:cNvPr id="7" name="Text 5"/>
          <p:cNvSpPr/>
          <p:nvPr/>
        </p:nvSpPr>
        <p:spPr>
          <a:xfrm>
            <a:off x="4754880" y="1901952"/>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done</a:t>
            </a:r>
            <a:endParaRPr lang="en-US" sz="850" dirty="0"/>
          </a:p>
        </p:txBody>
      </p:sp>
      <p:sp>
        <p:nvSpPr>
          <p:cNvPr id="8" name="Shape 6"/>
          <p:cNvSpPr/>
          <p:nvPr/>
        </p:nvSpPr>
        <p:spPr>
          <a:xfrm>
            <a:off x="502920" y="3054096"/>
            <a:ext cx="5440680" cy="0"/>
          </a:xfrm>
          <a:prstGeom prst="rect">
            <a:avLst/>
          </a:prstGeom>
          <a:noFill/>
          <a:ln w="9525">
            <a:solidFill>
              <a:srgbClr val="DDE0DC"/>
            </a:solidFill>
            <a:prstDash val="solid"/>
          </a:ln>
        </p:spPr>
      </p:sp>
      <p:sp>
        <p:nvSpPr>
          <p:cNvPr id="9" name="Text 7"/>
          <p:cNvSpPr/>
          <p:nvPr/>
        </p:nvSpPr>
        <p:spPr>
          <a:xfrm>
            <a:off x="502920" y="248716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EDF 6 vs 8: indistinguishable — not a sensitive parameter</a:t>
            </a:r>
            <a:endParaRPr lang="en-US" sz="1100" dirty="0"/>
          </a:p>
        </p:txBody>
      </p:sp>
      <p:sp>
        <p:nvSpPr>
          <p:cNvPr id="10" name="Text 8"/>
          <p:cNvSpPr/>
          <p:nvPr/>
        </p:nvSpPr>
        <p:spPr>
          <a:xfrm>
            <a:off x="4754880" y="2560320"/>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done</a:t>
            </a:r>
            <a:endParaRPr lang="en-US" sz="850" dirty="0"/>
          </a:p>
        </p:txBody>
      </p:sp>
      <p:sp>
        <p:nvSpPr>
          <p:cNvPr id="11" name="Shape 9"/>
          <p:cNvSpPr/>
          <p:nvPr/>
        </p:nvSpPr>
        <p:spPr>
          <a:xfrm>
            <a:off x="502920" y="3712464"/>
            <a:ext cx="5440680" cy="0"/>
          </a:xfrm>
          <a:prstGeom prst="rect">
            <a:avLst/>
          </a:prstGeom>
          <a:noFill/>
          <a:ln w="9525">
            <a:solidFill>
              <a:srgbClr val="DDE0DC"/>
            </a:solidFill>
            <a:prstDash val="solid"/>
          </a:ln>
        </p:spPr>
      </p:sp>
      <p:sp>
        <p:nvSpPr>
          <p:cNvPr id="12" name="Text 10"/>
          <p:cNvSpPr/>
          <p:nvPr/>
        </p:nvSpPr>
        <p:spPr>
          <a:xfrm>
            <a:off x="502920" y="3145536"/>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Lowest-OC/EC (800) + AIRSpec locked as the terminal IMPROVE-only candidate</a:t>
            </a:r>
            <a:endParaRPr lang="en-US" sz="1100" dirty="0"/>
          </a:p>
        </p:txBody>
      </p:sp>
      <p:sp>
        <p:nvSpPr>
          <p:cNvPr id="13" name="Text 11"/>
          <p:cNvSpPr/>
          <p:nvPr/>
        </p:nvSpPr>
        <p:spPr>
          <a:xfrm>
            <a:off x="4754880" y="3218688"/>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done</a:t>
            </a:r>
            <a:endParaRPr lang="en-US" sz="850" dirty="0"/>
          </a:p>
        </p:txBody>
      </p:sp>
      <p:sp>
        <p:nvSpPr>
          <p:cNvPr id="14" name="Shape 12"/>
          <p:cNvSpPr/>
          <p:nvPr/>
        </p:nvSpPr>
        <p:spPr>
          <a:xfrm>
            <a:off x="502920" y="4370832"/>
            <a:ext cx="5440680" cy="0"/>
          </a:xfrm>
          <a:prstGeom prst="rect">
            <a:avLst/>
          </a:prstGeom>
          <a:noFill/>
          <a:ln w="9525">
            <a:solidFill>
              <a:srgbClr val="DDE0DC"/>
            </a:solidFill>
            <a:prstDash val="solid"/>
          </a:ln>
        </p:spPr>
      </p:sp>
      <p:sp>
        <p:nvSpPr>
          <p:cNvPr id="15" name="Text 13"/>
          <p:cNvSpPr/>
          <p:nvPr/>
        </p:nvSpPr>
        <p:spPr>
          <a:xfrm>
            <a:off x="502920" y="3803904"/>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~1600 cm⁻¹ band: amine rejected; carboxylate / aromatic C=C remain</a:t>
            </a:r>
            <a:endParaRPr lang="en-US" sz="1100" dirty="0"/>
          </a:p>
        </p:txBody>
      </p:sp>
      <p:sp>
        <p:nvSpPr>
          <p:cNvPr id="16" name="Text 14"/>
          <p:cNvSpPr/>
          <p:nvPr/>
        </p:nvSpPr>
        <p:spPr>
          <a:xfrm>
            <a:off x="4754880" y="3877056"/>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done</a:t>
            </a:r>
            <a:endParaRPr lang="en-US" sz="850" dirty="0"/>
          </a:p>
        </p:txBody>
      </p:sp>
      <p:sp>
        <p:nvSpPr>
          <p:cNvPr id="17" name="Shape 15"/>
          <p:cNvSpPr/>
          <p:nvPr/>
        </p:nvSpPr>
        <p:spPr>
          <a:xfrm>
            <a:off x="502920" y="5029200"/>
            <a:ext cx="5440680" cy="0"/>
          </a:xfrm>
          <a:prstGeom prst="rect">
            <a:avLst/>
          </a:prstGeom>
          <a:noFill/>
          <a:ln w="9525">
            <a:solidFill>
              <a:srgbClr val="DDE0DC"/>
            </a:solidFill>
            <a:prstDash val="solid"/>
          </a:ln>
        </p:spPr>
      </p:sp>
      <p:sp>
        <p:nvSpPr>
          <p:cNvPr id="18" name="Text 16"/>
          <p:cNvSpPr/>
          <p:nvPr/>
        </p:nvSpPr>
        <p:spPr>
          <a:xfrm>
            <a:off x="502920" y="4462272"/>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choice provably cannot move any intercept — it is a slope contest</a:t>
            </a:r>
            <a:endParaRPr lang="en-US" sz="1100" dirty="0"/>
          </a:p>
        </p:txBody>
      </p:sp>
      <p:sp>
        <p:nvSpPr>
          <p:cNvPr id="19" name="Text 17"/>
          <p:cNvSpPr/>
          <p:nvPr/>
        </p:nvSpPr>
        <p:spPr>
          <a:xfrm>
            <a:off x="4754880" y="4535424"/>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done</a:t>
            </a:r>
            <a:endParaRPr lang="en-US" sz="850" dirty="0"/>
          </a:p>
        </p:txBody>
      </p:sp>
      <p:sp>
        <p:nvSpPr>
          <p:cNvPr id="20" name="Shape 18"/>
          <p:cNvSpPr/>
          <p:nvPr/>
        </p:nvSpPr>
        <p:spPr>
          <a:xfrm>
            <a:off x="502920" y="5687568"/>
            <a:ext cx="5440680" cy="0"/>
          </a:xfrm>
          <a:prstGeom prst="rect">
            <a:avLst/>
          </a:prstGeom>
          <a:noFill/>
          <a:ln w="9525">
            <a:solidFill>
              <a:srgbClr val="DDE0DC"/>
            </a:solidFill>
            <a:prstDash val="solid"/>
          </a:ln>
        </p:spPr>
      </p:sp>
      <p:sp>
        <p:nvSpPr>
          <p:cNvPr id="21" name="Text 19"/>
          <p:cNvSpPr/>
          <p:nvPr/>
        </p:nvSpPr>
        <p:spPr>
          <a:xfrm>
            <a:off x="502920" y="512064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HIPS wavelength confirmed: He–Ne 632.8 ≈ 633 nm, MAC 10 at 633</a:t>
            </a:r>
            <a:endParaRPr lang="en-US" sz="1100" dirty="0"/>
          </a:p>
        </p:txBody>
      </p:sp>
      <p:sp>
        <p:nvSpPr>
          <p:cNvPr id="22" name="Text 20"/>
          <p:cNvSpPr/>
          <p:nvPr/>
        </p:nvSpPr>
        <p:spPr>
          <a:xfrm>
            <a:off x="4754880" y="5193792"/>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resolved</a:t>
            </a:r>
            <a:endParaRPr lang="en-US" sz="850" dirty="0"/>
          </a:p>
        </p:txBody>
      </p:sp>
      <p:sp>
        <p:nvSpPr>
          <p:cNvPr id="23" name="Shape 21"/>
          <p:cNvSpPr/>
          <p:nvPr/>
        </p:nvSpPr>
        <p:spPr>
          <a:xfrm>
            <a:off x="502920" y="6345936"/>
            <a:ext cx="5440680" cy="0"/>
          </a:xfrm>
          <a:prstGeom prst="rect">
            <a:avLst/>
          </a:prstGeom>
          <a:noFill/>
          <a:ln w="9525">
            <a:solidFill>
              <a:srgbClr val="DDE0DC"/>
            </a:solidFill>
            <a:prstDash val="solid"/>
          </a:ln>
        </p:spPr>
      </p:sp>
      <p:sp>
        <p:nvSpPr>
          <p:cNvPr id="24" name="Text 22"/>
          <p:cNvSpPr/>
          <p:nvPr/>
        </p:nvSpPr>
        <p:spPr>
          <a:xfrm>
            <a:off x="502920" y="577900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Intercept restated as a MAC-invariant ~21 Mm⁻¹ absorption target</a:t>
            </a:r>
            <a:endParaRPr lang="en-US" sz="1100" dirty="0"/>
          </a:p>
        </p:txBody>
      </p:sp>
      <p:sp>
        <p:nvSpPr>
          <p:cNvPr id="25" name="Text 23"/>
          <p:cNvSpPr/>
          <p:nvPr/>
        </p:nvSpPr>
        <p:spPr>
          <a:xfrm>
            <a:off x="4754880" y="5852160"/>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committed</a:t>
            </a:r>
            <a:endParaRPr lang="en-US" sz="850" dirty="0"/>
          </a:p>
        </p:txBody>
      </p:sp>
      <p:sp>
        <p:nvSpPr>
          <p:cNvPr id="26" name="Text 24"/>
          <p:cNvSpPr/>
          <p:nvPr/>
        </p:nvSpPr>
        <p:spPr>
          <a:xfrm>
            <a:off x="6263640" y="1417320"/>
            <a:ext cx="5394960" cy="32004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Open — mostly needs you</a:t>
            </a:r>
            <a:endParaRPr lang="en-US" sz="1400" dirty="0"/>
          </a:p>
        </p:txBody>
      </p:sp>
      <p:sp>
        <p:nvSpPr>
          <p:cNvPr id="27" name="Shape 25"/>
          <p:cNvSpPr/>
          <p:nvPr/>
        </p:nvSpPr>
        <p:spPr>
          <a:xfrm>
            <a:off x="6263640" y="2395728"/>
            <a:ext cx="5440680" cy="0"/>
          </a:xfrm>
          <a:prstGeom prst="rect">
            <a:avLst/>
          </a:prstGeom>
          <a:noFill/>
          <a:ln w="9525">
            <a:solidFill>
              <a:srgbClr val="DDE0DC"/>
            </a:solidFill>
            <a:prstDash val="solid"/>
          </a:ln>
        </p:spPr>
      </p:sp>
      <p:sp>
        <p:nvSpPr>
          <p:cNvPr id="28" name="Text 26"/>
          <p:cNvSpPr/>
          <p:nvPr/>
        </p:nvSpPr>
        <p:spPr>
          <a:xfrm>
            <a:off x="6263640" y="182880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Emily Lee's charcoal spectra (print-only in the paper)</a:t>
            </a:r>
            <a:endParaRPr lang="en-US" sz="1100" dirty="0"/>
          </a:p>
        </p:txBody>
      </p:sp>
      <p:sp>
        <p:nvSpPr>
          <p:cNvPr id="29" name="Text 27"/>
          <p:cNvSpPr/>
          <p:nvPr/>
        </p:nvSpPr>
        <p:spPr>
          <a:xfrm>
            <a:off x="10515600" y="1901952"/>
            <a:ext cx="1188720" cy="402336"/>
          </a:xfrm>
          <a:prstGeom prst="rect">
            <a:avLst/>
          </a:prstGeom>
          <a:noFill/>
          <a:ln/>
        </p:spPr>
        <p:txBody>
          <a:bodyPr wrap="square" lIns="0" tIns="0" rIns="0" bIns="0" rtlCol="0" anchor="ctr"/>
          <a:lstStyle/>
          <a:p>
            <a:pPr algn="r" indent="0" marL="0">
              <a:buNone/>
            </a:pPr>
            <a:r>
              <a:rPr lang="en-US" sz="850" dirty="0">
                <a:solidFill>
                  <a:srgbClr val="2C6E9E"/>
                </a:solidFill>
                <a:latin typeface="Courier New" pitchFamily="34" charset="0"/>
                <a:ea typeface="Courier New" pitchFamily="34" charset="-122"/>
                <a:cs typeface="Courier New" pitchFamily="34" charset="-120"/>
              </a:rPr>
              <a:t>ask</a:t>
            </a:r>
            <a:endParaRPr lang="en-US" sz="850" dirty="0"/>
          </a:p>
        </p:txBody>
      </p:sp>
      <p:sp>
        <p:nvSpPr>
          <p:cNvPr id="30" name="Shape 28"/>
          <p:cNvSpPr/>
          <p:nvPr/>
        </p:nvSpPr>
        <p:spPr>
          <a:xfrm>
            <a:off x="6263640" y="3054096"/>
            <a:ext cx="5440680" cy="0"/>
          </a:xfrm>
          <a:prstGeom prst="rect">
            <a:avLst/>
          </a:prstGeom>
          <a:noFill/>
          <a:ln w="9525">
            <a:solidFill>
              <a:srgbClr val="DDE0DC"/>
            </a:solidFill>
            <a:prstDash val="solid"/>
          </a:ln>
        </p:spPr>
      </p:sp>
      <p:sp>
        <p:nvSpPr>
          <p:cNvPr id="31" name="Text 29"/>
          <p:cNvSpPr/>
          <p:nvPr/>
        </p:nvSpPr>
        <p:spPr>
          <a:xfrm>
            <a:off x="6263640" y="248716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Sub-1500 cm⁻¹ model — status? (unblocks the band identity)</a:t>
            </a:r>
            <a:endParaRPr lang="en-US" sz="1100" dirty="0"/>
          </a:p>
        </p:txBody>
      </p:sp>
      <p:sp>
        <p:nvSpPr>
          <p:cNvPr id="32" name="Text 30"/>
          <p:cNvSpPr/>
          <p:nvPr/>
        </p:nvSpPr>
        <p:spPr>
          <a:xfrm>
            <a:off x="10515600" y="2560320"/>
            <a:ext cx="1188720" cy="402336"/>
          </a:xfrm>
          <a:prstGeom prst="rect">
            <a:avLst/>
          </a:prstGeom>
          <a:noFill/>
          <a:ln/>
        </p:spPr>
        <p:txBody>
          <a:bodyPr wrap="square" lIns="0" tIns="0" rIns="0" bIns="0" rtlCol="0" anchor="ctr"/>
          <a:lstStyle/>
          <a:p>
            <a:pPr algn="r" indent="0" marL="0">
              <a:buNone/>
            </a:pPr>
            <a:r>
              <a:rPr lang="en-US" sz="850" dirty="0">
                <a:solidFill>
                  <a:srgbClr val="2C6E9E"/>
                </a:solidFill>
                <a:latin typeface="Courier New" pitchFamily="34" charset="0"/>
                <a:ea typeface="Courier New" pitchFamily="34" charset="-122"/>
                <a:cs typeface="Courier New" pitchFamily="34" charset="-120"/>
              </a:rPr>
              <a:t>ask</a:t>
            </a:r>
            <a:endParaRPr lang="en-US" sz="850" dirty="0"/>
          </a:p>
        </p:txBody>
      </p:sp>
      <p:sp>
        <p:nvSpPr>
          <p:cNvPr id="33" name="Shape 31"/>
          <p:cNvSpPr/>
          <p:nvPr/>
        </p:nvSpPr>
        <p:spPr>
          <a:xfrm>
            <a:off x="6263640" y="3712464"/>
            <a:ext cx="5440680" cy="0"/>
          </a:xfrm>
          <a:prstGeom prst="rect">
            <a:avLst/>
          </a:prstGeom>
          <a:noFill/>
          <a:ln w="9525">
            <a:solidFill>
              <a:srgbClr val="DDE0DC"/>
            </a:solidFill>
            <a:prstDash val="solid"/>
          </a:ln>
        </p:spPr>
      </p:sp>
      <p:sp>
        <p:nvSpPr>
          <p:cNvPr id="34" name="Text 32"/>
          <p:cNvSpPr/>
          <p:nvPr/>
        </p:nvSpPr>
        <p:spPr>
          <a:xfrm>
            <a:off x="6263640" y="3145536"/>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Why does baselining help if baseline carries EC signal?</a:t>
            </a:r>
            <a:endParaRPr lang="en-US" sz="1100" dirty="0"/>
          </a:p>
        </p:txBody>
      </p:sp>
      <p:sp>
        <p:nvSpPr>
          <p:cNvPr id="35" name="Text 33"/>
          <p:cNvSpPr/>
          <p:nvPr/>
        </p:nvSpPr>
        <p:spPr>
          <a:xfrm>
            <a:off x="10515600" y="3218688"/>
            <a:ext cx="1188720" cy="402336"/>
          </a:xfrm>
          <a:prstGeom prst="rect">
            <a:avLst/>
          </a:prstGeom>
          <a:noFill/>
          <a:ln/>
        </p:spPr>
        <p:txBody>
          <a:bodyPr wrap="square" lIns="0" tIns="0" rIns="0" bIns="0" rtlCol="0" anchor="ctr"/>
          <a:lstStyle/>
          <a:p>
            <a:pPr algn="r" indent="0" marL="0">
              <a:buNone/>
            </a:pPr>
            <a:r>
              <a:rPr lang="en-US" sz="850" dirty="0">
                <a:solidFill>
                  <a:srgbClr val="2C6E9E"/>
                </a:solidFill>
                <a:latin typeface="Courier New" pitchFamily="34" charset="0"/>
                <a:ea typeface="Courier New" pitchFamily="34" charset="-122"/>
                <a:cs typeface="Courier New" pitchFamily="34" charset="-120"/>
              </a:rPr>
              <a:t>discuss</a:t>
            </a:r>
            <a:endParaRPr lang="en-US" sz="850" dirty="0"/>
          </a:p>
        </p:txBody>
      </p:sp>
      <p:sp>
        <p:nvSpPr>
          <p:cNvPr id="36" name="Shape 34"/>
          <p:cNvSpPr/>
          <p:nvPr/>
        </p:nvSpPr>
        <p:spPr>
          <a:xfrm>
            <a:off x="6263640" y="4370832"/>
            <a:ext cx="5440680" cy="0"/>
          </a:xfrm>
          <a:prstGeom prst="rect">
            <a:avLst/>
          </a:prstGeom>
          <a:noFill/>
          <a:ln w="9525">
            <a:solidFill>
              <a:srgbClr val="DDE0DC"/>
            </a:solidFill>
            <a:prstDash val="solid"/>
          </a:ln>
        </p:spPr>
      </p:sp>
      <p:sp>
        <p:nvSpPr>
          <p:cNvPr id="37" name="Text 35"/>
          <p:cNvSpPr/>
          <p:nvPr/>
        </p:nvSpPr>
        <p:spPr>
          <a:xfrm>
            <a:off x="6263640" y="3803904"/>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INDH / CHTS / ETBI spectra export (same shape as the ETAD pull)</a:t>
            </a:r>
            <a:endParaRPr lang="en-US" sz="1100" dirty="0"/>
          </a:p>
        </p:txBody>
      </p:sp>
      <p:sp>
        <p:nvSpPr>
          <p:cNvPr id="38" name="Text 36"/>
          <p:cNvSpPr/>
          <p:nvPr/>
        </p:nvSpPr>
        <p:spPr>
          <a:xfrm>
            <a:off x="10515600" y="3877056"/>
            <a:ext cx="1188720" cy="402336"/>
          </a:xfrm>
          <a:prstGeom prst="rect">
            <a:avLst/>
          </a:prstGeom>
          <a:noFill/>
          <a:ln/>
        </p:spPr>
        <p:txBody>
          <a:bodyPr wrap="square" lIns="0" tIns="0" rIns="0" bIns="0" rtlCol="0" anchor="ctr"/>
          <a:lstStyle/>
          <a:p>
            <a:pPr algn="r" indent="0" marL="0">
              <a:buNone/>
            </a:pPr>
            <a:r>
              <a:rPr lang="en-US" sz="850" dirty="0">
                <a:solidFill>
                  <a:srgbClr val="B23327"/>
                </a:solidFill>
                <a:latin typeface="Courier New" pitchFamily="34" charset="0"/>
                <a:ea typeface="Courier New" pitchFamily="34" charset="-122"/>
                <a:cs typeface="Courier New" pitchFamily="34" charset="-120"/>
              </a:rPr>
              <a:t>blocked · data</a:t>
            </a:r>
            <a:endParaRPr lang="en-US" sz="850" dirty="0"/>
          </a:p>
        </p:txBody>
      </p:sp>
      <p:sp>
        <p:nvSpPr>
          <p:cNvPr id="39" name="Shape 37"/>
          <p:cNvSpPr/>
          <p:nvPr/>
        </p:nvSpPr>
        <p:spPr>
          <a:xfrm>
            <a:off x="6263640" y="5029200"/>
            <a:ext cx="5440680" cy="0"/>
          </a:xfrm>
          <a:prstGeom prst="rect">
            <a:avLst/>
          </a:prstGeom>
          <a:noFill/>
          <a:ln w="9525">
            <a:solidFill>
              <a:srgbClr val="DDE0DC"/>
            </a:solidFill>
            <a:prstDash val="solid"/>
          </a:ln>
        </p:spPr>
      </p:sp>
      <p:sp>
        <p:nvSpPr>
          <p:cNvPr id="40" name="Text 38"/>
          <p:cNvSpPr/>
          <p:nvPr/>
        </p:nvSpPr>
        <p:spPr>
          <a:xfrm>
            <a:off x="6263640" y="4462272"/>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Dry vs non-dry split, predicted separately (ftir_24)</a:t>
            </a:r>
            <a:endParaRPr lang="en-US" sz="1100" dirty="0"/>
          </a:p>
        </p:txBody>
      </p:sp>
      <p:sp>
        <p:nvSpPr>
          <p:cNvPr id="41" name="Text 39"/>
          <p:cNvSpPr/>
          <p:nvPr/>
        </p:nvSpPr>
        <p:spPr>
          <a:xfrm>
            <a:off x="10515600" y="4535424"/>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next notebook</a:t>
            </a:r>
            <a:endParaRPr lang="en-US" sz="850" dirty="0"/>
          </a:p>
        </p:txBody>
      </p:sp>
      <p:sp>
        <p:nvSpPr>
          <p:cNvPr id="42" name="Shape 40"/>
          <p:cNvSpPr/>
          <p:nvPr/>
        </p:nvSpPr>
        <p:spPr>
          <a:xfrm>
            <a:off x="6263640" y="5687568"/>
            <a:ext cx="5440680" cy="0"/>
          </a:xfrm>
          <a:prstGeom prst="rect">
            <a:avLst/>
          </a:prstGeom>
          <a:noFill/>
          <a:ln w="9525">
            <a:solidFill>
              <a:srgbClr val="DDE0DC"/>
            </a:solidFill>
            <a:prstDash val="solid"/>
          </a:ln>
        </p:spPr>
      </p:sp>
      <p:sp>
        <p:nvSpPr>
          <p:cNvPr id="43" name="Text 41"/>
          <p:cNvSpPr/>
          <p:nvPr/>
        </p:nvSpPr>
        <p:spPr>
          <a:xfrm>
            <a:off x="6263640" y="512064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Charcoal ATR: worth it, given grinding stops at 10–40 µm?</a:t>
            </a:r>
            <a:endParaRPr lang="en-US" sz="1100" dirty="0"/>
          </a:p>
        </p:txBody>
      </p:sp>
      <p:sp>
        <p:nvSpPr>
          <p:cNvPr id="44" name="Text 42"/>
          <p:cNvSpPr/>
          <p:nvPr/>
        </p:nvSpPr>
        <p:spPr>
          <a:xfrm>
            <a:off x="10515600" y="5193792"/>
            <a:ext cx="1188720" cy="402336"/>
          </a:xfrm>
          <a:prstGeom prst="rect">
            <a:avLst/>
          </a:prstGeom>
          <a:noFill/>
          <a:ln/>
        </p:spPr>
        <p:txBody>
          <a:bodyPr wrap="square" lIns="0" tIns="0" rIns="0" bIns="0" rtlCol="0" anchor="ctr"/>
          <a:lstStyle/>
          <a:p>
            <a:pPr algn="r" indent="0" marL="0">
              <a:buNone/>
            </a:pPr>
            <a:r>
              <a:rPr lang="en-US" sz="850" dirty="0">
                <a:solidFill>
                  <a:srgbClr val="2C6E9E"/>
                </a:solidFill>
                <a:latin typeface="Courier New" pitchFamily="34" charset="0"/>
                <a:ea typeface="Courier New" pitchFamily="34" charset="-122"/>
                <a:cs typeface="Courier New" pitchFamily="34" charset="-120"/>
              </a:rPr>
              <a:t>advise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A·01 · THE PROBLEM — DEPLOYED CALIBRATION AT ADDIS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deployed calibration reads y = 1.90x − 4.17 at MAC = 10.</a:t>
            </a:r>
            <a:endParaRPr lang="en-US" sz="2600" dirty="0"/>
          </a:p>
        </p:txBody>
      </p:sp>
      <p:sp>
        <p:nvSpPr>
          <p:cNvPr id="4" name="Shape 2"/>
          <p:cNvSpPr/>
          <p:nvPr/>
        </p:nvSpPr>
        <p:spPr>
          <a:xfrm>
            <a:off x="4297680" y="1554480"/>
            <a:ext cx="740664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deployed_alldata_crossplot.png">    </p:cNvPr>
          <p:cNvPicPr>
            <a:picLocks noChangeAspect="1"/>
          </p:cNvPicPr>
          <p:nvPr/>
        </p:nvPicPr>
        <p:blipFill>
          <a:blip r:embed="rId1"/>
          <a:srcRect l="0" r="0" t="0" b="0"/>
          <a:stretch/>
        </p:blipFill>
        <p:spPr>
          <a:xfrm>
            <a:off x="4352544" y="1609344"/>
            <a:ext cx="7296912" cy="4370832"/>
          </a:xfrm>
          <a:prstGeom prst="rect">
            <a:avLst/>
          </a:prstGeom>
        </p:spPr>
      </p:pic>
      <p:sp>
        <p:nvSpPr>
          <p:cNvPr id="6" name="Text 3"/>
          <p:cNvSpPr/>
          <p:nvPr/>
        </p:nvSpPr>
        <p:spPr>
          <a:xfrm>
            <a:off x="4389120" y="6016752"/>
            <a:ext cx="72237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ftir_17 · deployed_alldata_crossplot   </a:t>
            </a:r>
            <a:pPr indent="0" marL="0">
              <a:buNone/>
            </a:pPr>
            <a:r>
              <a:rPr lang="en-US" sz="950" i="1" dirty="0">
                <a:solidFill>
                  <a:srgbClr val="5E6369"/>
                </a:solidFill>
                <a:latin typeface="Calibri" pitchFamily="34" charset="0"/>
                <a:ea typeface="Calibri" pitchFamily="34" charset="-122"/>
                <a:cs typeface="Calibri" pitchFamily="34" charset="-120"/>
              </a:rPr>
              <a:t>FTIR EC (y) vs HIPS Fabs/MAC (x); deployed predictions exist only for the fixed 190</a:t>
            </a:r>
            <a:endParaRPr lang="en-US" sz="850" dirty="0"/>
          </a:p>
        </p:txBody>
      </p:sp>
      <p:sp>
        <p:nvSpPr>
          <p:cNvPr id="7" name="Text 4"/>
          <p:cNvSpPr/>
          <p:nvPr/>
        </p:nvSpPr>
        <p:spPr>
          <a:xfrm>
            <a:off x="502920" y="1737360"/>
            <a:ext cx="3566160" cy="292608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This is the plot the whole project hangs on: the network calibration, carried to Addis, is steep with a deep negative intercept.</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At MAC 6 it pivots to slope 1.14 but the intercept stays at −4.17 — that invariance is proved in part D.</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Nothing at Addis has negative EC; the offset is the model, not the air.</a:t>
            </a:r>
            <a:endParaRPr lang="en-US" sz="1250" dirty="0"/>
          </a:p>
        </p:txBody>
      </p:sp>
      <p:sp>
        <p:nvSpPr>
          <p:cNvPr id="8" name="Shape 5"/>
          <p:cNvSpPr/>
          <p:nvPr/>
        </p:nvSpPr>
        <p:spPr>
          <a:xfrm>
            <a:off x="502920" y="45720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5720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10  </a:t>
            </a:r>
            <a:pPr indent="0" marL="0">
              <a:buNone/>
            </a:pPr>
            <a:r>
              <a:rPr lang="en-US" sz="1100" b="1" dirty="0">
                <a:solidFill>
                  <a:srgbClr val="B23327"/>
                </a:solidFill>
                <a:latin typeface="Calibri" pitchFamily="34" charset="0"/>
                <a:ea typeface="Calibri" pitchFamily="34" charset="-122"/>
                <a:cs typeface="Calibri" pitchFamily="34" charset="-120"/>
              </a:rPr>
              <a:t>1.90x − 4.17</a:t>
            </a:r>
            <a:endParaRPr lang="en-US" sz="1100" dirty="0"/>
          </a:p>
        </p:txBody>
      </p:sp>
      <p:sp>
        <p:nvSpPr>
          <p:cNvPr id="10" name="Shape 7"/>
          <p:cNvSpPr/>
          <p:nvPr/>
        </p:nvSpPr>
        <p:spPr>
          <a:xfrm>
            <a:off x="502920" y="50840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0840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6  </a:t>
            </a:r>
            <a:pPr indent="0" marL="0">
              <a:buNone/>
            </a:pPr>
            <a:r>
              <a:rPr lang="en-US" sz="1100" b="1" dirty="0">
                <a:solidFill>
                  <a:srgbClr val="2C6E9E"/>
                </a:solidFill>
                <a:latin typeface="Calibri" pitchFamily="34" charset="0"/>
                <a:ea typeface="Calibri" pitchFamily="34" charset="-122"/>
                <a:cs typeface="Calibri" pitchFamily="34" charset="-120"/>
              </a:rPr>
              <a:t>1.14x − 4.17</a:t>
            </a:r>
            <a:endParaRPr lang="en-US" sz="1100" dirty="0"/>
          </a:p>
        </p:txBody>
      </p:sp>
      <p:sp>
        <p:nvSpPr>
          <p:cNvPr id="12" name="Shape 9"/>
          <p:cNvSpPr/>
          <p:nvPr/>
        </p:nvSpPr>
        <p:spPr>
          <a:xfrm>
            <a:off x="502920" y="559612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59612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R² 0.76 · RMSE  </a:t>
            </a:r>
            <a:pPr indent="0" marL="0">
              <a:buNone/>
            </a:pPr>
            <a:r>
              <a:rPr lang="en-US" sz="1100" b="1" dirty="0">
                <a:solidFill>
                  <a:srgbClr val="5E6369"/>
                </a:solidFill>
                <a:latin typeface="Calibri" pitchFamily="34" charset="0"/>
                <a:ea typeface="Calibri" pitchFamily="34" charset="-122"/>
                <a:cs typeface="Calibri" pitchFamily="34" charset="-120"/>
              </a:rPr>
              <a:t>1.49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A·02 · ANN'S COHORT — WHAT “LOWEST OC/EC” MEANS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Addis-like composition is the extreme tail of IMPROVE — 800 filters out of 13,010.</a:t>
            </a:r>
            <a:endParaRPr lang="en-US" sz="2600" dirty="0"/>
          </a:p>
        </p:txBody>
      </p:sp>
      <p:sp>
        <p:nvSpPr>
          <p:cNvPr id="4" name="Shape 2"/>
          <p:cNvSpPr/>
          <p:nvPr/>
        </p:nvSpPr>
        <p:spPr>
          <a:xfrm>
            <a:off x="4297680" y="1554480"/>
            <a:ext cx="740664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filtering_by_ocec.png">    </p:cNvPr>
          <p:cNvPicPr>
            <a:picLocks noChangeAspect="1"/>
          </p:cNvPicPr>
          <p:nvPr/>
        </p:nvPicPr>
        <p:blipFill>
          <a:blip r:embed="rId1"/>
          <a:srcRect l="0" r="0" t="0" b="0"/>
          <a:stretch/>
        </p:blipFill>
        <p:spPr>
          <a:xfrm>
            <a:off x="4352544" y="1609344"/>
            <a:ext cx="7296912" cy="4370832"/>
          </a:xfrm>
          <a:prstGeom prst="rect">
            <a:avLst/>
          </a:prstGeom>
        </p:spPr>
      </p:pic>
      <p:sp>
        <p:nvSpPr>
          <p:cNvPr id="6" name="Text 3"/>
          <p:cNvSpPr/>
          <p:nvPr/>
        </p:nvSpPr>
        <p:spPr>
          <a:xfrm>
            <a:off x="4389120" y="6016752"/>
            <a:ext cx="72237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filtering_by_ocec   </a:t>
            </a:r>
            <a:pPr indent="0" marL="0">
              <a:buNone/>
            </a:pPr>
            <a:r>
              <a:rPr lang="en-US" sz="950" i="1" dirty="0">
                <a:solidFill>
                  <a:srgbClr val="5E6369"/>
                </a:solidFill>
                <a:latin typeface="Calibri" pitchFamily="34" charset="0"/>
                <a:ea typeface="Calibri" pitchFamily="34" charset="-122"/>
                <a:cs typeface="Calibri" pitchFamily="34" charset="-120"/>
              </a:rPr>
              <a:t>Cutoff OC/EC ≤ 2.27; IMPROVE pool median 5.54</a:t>
            </a:r>
            <a:endParaRPr lang="en-US" sz="850" dirty="0"/>
          </a:p>
        </p:txBody>
      </p:sp>
      <p:sp>
        <p:nvSpPr>
          <p:cNvPr id="7" name="Text 4"/>
          <p:cNvSpPr/>
          <p:nvPr/>
        </p:nvSpPr>
        <p:spPr>
          <a:xfrm>
            <a:off x="502920" y="1737360"/>
            <a:ext cx="3566160" cy="329184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Addis offset implies OC/EC far below anything IMPROVE routinely sees. The 800 lowest-OC/EC filters (≤ 2.27 vs pool median 5.54) are the closest IMPROVE gets to Addis composition.</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That cohort beats the deployed, smoke-906, no-selection and analog cohorts like-for-like: same 190 Addis filters, RMSE 1.16 vs 1.48–2.24; held-out TOR R² 0.911 vs 0.594–0.775. Engineering beyond it breaks the TOR test — this is the terminal IMPROVE-only candidate.</a:t>
            </a:r>
            <a:endParaRPr lang="en-US" sz="1250" dirty="0"/>
          </a:p>
        </p:txBody>
      </p:sp>
      <p:sp>
        <p:nvSpPr>
          <p:cNvPr id="8" name="Shape 5"/>
          <p:cNvSpPr/>
          <p:nvPr/>
        </p:nvSpPr>
        <p:spPr>
          <a:xfrm>
            <a:off x="502920" y="4572000"/>
            <a:ext cx="356616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572000"/>
            <a:ext cx="338328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cutoff  </a:t>
            </a:r>
            <a:pPr indent="0" marL="0">
              <a:buNone/>
            </a:pPr>
            <a:r>
              <a:rPr lang="en-US" sz="1100" b="1" dirty="0">
                <a:solidFill>
                  <a:srgbClr val="7A4FA3"/>
                </a:solidFill>
                <a:latin typeface="Calibri" pitchFamily="34" charset="0"/>
                <a:ea typeface="Calibri" pitchFamily="34" charset="-122"/>
                <a:cs typeface="Calibri" pitchFamily="34" charset="-120"/>
              </a:rPr>
              <a:t>OC/EC ≤ 2.27</a:t>
            </a:r>
            <a:endParaRPr lang="en-US" sz="1100" dirty="0"/>
          </a:p>
        </p:txBody>
      </p:sp>
      <p:sp>
        <p:nvSpPr>
          <p:cNvPr id="10" name="Shape 7"/>
          <p:cNvSpPr/>
          <p:nvPr/>
        </p:nvSpPr>
        <p:spPr>
          <a:xfrm>
            <a:off x="502920" y="5084064"/>
            <a:ext cx="356616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084064"/>
            <a:ext cx="338328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same-190 RMSE  </a:t>
            </a:r>
            <a:pPr indent="0" marL="0">
              <a:buNone/>
            </a:pPr>
            <a:r>
              <a:rPr lang="en-US" sz="1100" b="1" dirty="0">
                <a:solidFill>
                  <a:srgbClr val="3F7A56"/>
                </a:solidFill>
                <a:latin typeface="Calibri" pitchFamily="34" charset="0"/>
                <a:ea typeface="Calibri" pitchFamily="34" charset="-122"/>
                <a:cs typeface="Calibri" pitchFamily="34" charset="-120"/>
              </a:rPr>
              <a:t>1.16 vs 1.48–2.24</a:t>
            </a:r>
            <a:endParaRPr lang="en-US" sz="1100" dirty="0"/>
          </a:p>
        </p:txBody>
      </p:sp>
      <p:sp>
        <p:nvSpPr>
          <p:cNvPr id="12" name="Shape 9"/>
          <p:cNvSpPr/>
          <p:nvPr/>
        </p:nvSpPr>
        <p:spPr>
          <a:xfrm>
            <a:off x="502920" y="5596128"/>
            <a:ext cx="356616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596128"/>
            <a:ext cx="338328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held-out TOR R²  </a:t>
            </a:r>
            <a:pPr indent="0" marL="0">
              <a:buNone/>
            </a:pPr>
            <a:r>
              <a:rPr lang="en-US" sz="1100" b="1" dirty="0">
                <a:solidFill>
                  <a:srgbClr val="3F7A56"/>
                </a:solidFill>
                <a:latin typeface="Calibri" pitchFamily="34" charset="0"/>
                <a:ea typeface="Calibri" pitchFamily="34" charset="-122"/>
                <a:cs typeface="Calibri" pitchFamily="34" charset="-120"/>
              </a:rPr>
              <a:t>0.911 vs 0.59–0.78</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A·03 · THE SETUP MATRIX — EVERY TRAINING CHOICE, ONE TABLE</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Lowest-OC/EC + AIRSpec ends at −1.62 — and is the only setup robust to who processes it.</a:t>
            </a:r>
            <a:endParaRPr lang="en-US" sz="2600" dirty="0"/>
          </a:p>
        </p:txBody>
      </p:sp>
      <p:sp>
        <p:nvSpPr>
          <p:cNvPr id="4" name="Shape 2"/>
          <p:cNvSpPr/>
          <p:nvPr/>
        </p:nvSpPr>
        <p:spPr>
          <a:xfrm>
            <a:off x="3977640" y="1554480"/>
            <a:ext cx="772668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calibration_setup_matrix.png">    </p:cNvPr>
          <p:cNvPicPr>
            <a:picLocks noChangeAspect="1"/>
          </p:cNvPicPr>
          <p:nvPr/>
        </p:nvPicPr>
        <p:blipFill>
          <a:blip r:embed="rId1"/>
          <a:srcRect l="0" r="0" t="0" b="0"/>
          <a:stretch/>
        </p:blipFill>
        <p:spPr>
          <a:xfrm>
            <a:off x="4032504" y="1609344"/>
            <a:ext cx="7616952" cy="4370832"/>
          </a:xfrm>
          <a:prstGeom prst="rect">
            <a:avLst/>
          </a:prstGeom>
        </p:spPr>
      </p:pic>
      <p:sp>
        <p:nvSpPr>
          <p:cNvPr id="6" name="Text 3"/>
          <p:cNvSpPr/>
          <p:nvPr/>
        </p:nvSpPr>
        <p:spPr>
          <a:xfrm>
            <a:off x="4069080" y="6016752"/>
            <a:ext cx="754380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by_protocol/site_held_out · calibration_setup_matrix   </a:t>
            </a:r>
            <a:pPr indent="0" marL="0">
              <a:buNone/>
            </a:pPr>
            <a:r>
              <a:rPr lang="en-US" sz="950" i="1" dirty="0">
                <a:solidFill>
                  <a:srgbClr val="5E6369"/>
                </a:solidFill>
                <a:latin typeface="Calibri" pitchFamily="34" charset="0"/>
                <a:ea typeface="Calibri" pitchFamily="34" charset="-122"/>
                <a:cs typeface="Calibri" pitchFamily="34" charset="-120"/>
              </a:rPr>
              <a:t>Row 1 is the entire IMPROVE network (13,010) — ETAD spectra are evaluation-only</a:t>
            </a:r>
            <a:endParaRPr lang="en-US" sz="850" dirty="0"/>
          </a:p>
        </p:txBody>
      </p:sp>
      <p:sp>
        <p:nvSpPr>
          <p:cNvPr id="7" name="Text 4"/>
          <p:cNvSpPr/>
          <p:nvPr/>
        </p:nvSpPr>
        <p:spPr>
          <a:xfrm>
            <a:off x="502920" y="1737360"/>
            <a:ext cx="3246120" cy="329184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intercept ladder runs −4.17 (deployed) → −3.22 (lowest-OC/EC raw) → −1.62 (+ AIRSpec).</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corrected setup barely moves between your group's Calibration-app protocol and our site-held-out protocol (−1.65 vs −1.62), while raw setups swing by more than a µg/m³ on the component choice alone. It passes the disjoint-site TOR test cleanly (slope 1.01, R² 0.90).</a:t>
            </a:r>
            <a:endParaRPr lang="en-US" sz="1250" dirty="0"/>
          </a:p>
        </p:txBody>
      </p:sp>
      <p:sp>
        <p:nvSpPr>
          <p:cNvPr id="8" name="Shape 5"/>
          <p:cNvSpPr/>
          <p:nvPr/>
        </p:nvSpPr>
        <p:spPr>
          <a:xfrm>
            <a:off x="502920" y="45720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5720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corrected intercept  </a:t>
            </a:r>
            <a:pPr indent="0" marL="0">
              <a:buNone/>
            </a:pPr>
            <a:r>
              <a:rPr lang="en-US" sz="1100" b="1" dirty="0">
                <a:solidFill>
                  <a:srgbClr val="B23327"/>
                </a:solidFill>
                <a:latin typeface="Calibri" pitchFamily="34" charset="0"/>
                <a:ea typeface="Calibri" pitchFamily="34" charset="-122"/>
                <a:cs typeface="Calibri" pitchFamily="34" charset="-120"/>
              </a:rPr>
              <a:t>−1.62</a:t>
            </a:r>
            <a:endParaRPr lang="en-US" sz="1100" dirty="0"/>
          </a:p>
        </p:txBody>
      </p:sp>
      <p:sp>
        <p:nvSpPr>
          <p:cNvPr id="10" name="Shape 7"/>
          <p:cNvSpPr/>
          <p:nvPr/>
        </p:nvSpPr>
        <p:spPr>
          <a:xfrm>
            <a:off x="502920" y="50840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0840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protocol-robust  </a:t>
            </a:r>
            <a:pPr indent="0" marL="0">
              <a:buNone/>
            </a:pPr>
            <a:r>
              <a:rPr lang="en-US" sz="1100" b="1" dirty="0">
                <a:solidFill>
                  <a:srgbClr val="3F7A56"/>
                </a:solidFill>
                <a:latin typeface="Calibri" pitchFamily="34" charset="0"/>
                <a:ea typeface="Calibri" pitchFamily="34" charset="-122"/>
                <a:cs typeface="Calibri" pitchFamily="34" charset="-120"/>
              </a:rPr>
              <a:t>−1.65 / −1.62</a:t>
            </a:r>
            <a:endParaRPr lang="en-US" sz="1100" dirty="0"/>
          </a:p>
        </p:txBody>
      </p:sp>
      <p:sp>
        <p:nvSpPr>
          <p:cNvPr id="12" name="Shape 9"/>
          <p:cNvSpPr/>
          <p:nvPr/>
        </p:nvSpPr>
        <p:spPr>
          <a:xfrm>
            <a:off x="502920" y="559612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59612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held-out TOR  </a:t>
            </a:r>
            <a:pPr indent="0" marL="0">
              <a:buNone/>
            </a:pPr>
            <a:r>
              <a:rPr lang="en-US" sz="1100" b="1" dirty="0">
                <a:solidFill>
                  <a:srgbClr val="3F7A56"/>
                </a:solidFill>
                <a:latin typeface="Calibri" pitchFamily="34" charset="0"/>
                <a:ea typeface="Calibri" pitchFamily="34" charset="-122"/>
                <a:cs typeface="Calibri" pitchFamily="34" charset="-120"/>
              </a:rPr>
              <a:t>1.01x · R² 0.90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B·04 · YOUR BASELINING SUGGESTION, IMPLEMENTED — 1 OF 3</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At the CH band, ~91% of a raw Addis spectrum is background, not chemistry.</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airspec_1_baseline.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airspec_1_baseline   </a:t>
            </a:r>
            <a:pPr indent="0" marL="0">
              <a:buNone/>
            </a:pPr>
            <a:r>
              <a:rPr lang="en-US" sz="950" i="1" dirty="0">
                <a:solidFill>
                  <a:srgbClr val="5E6369"/>
                </a:solidFill>
                <a:latin typeface="Calibri" pitchFamily="34" charset="0"/>
                <a:ea typeface="Calibri" pitchFamily="34" charset="-122"/>
                <a:cs typeface="Calibri" pitchFamily="34" charset="-120"/>
              </a:rPr>
              <a:t>One real filter (median-like on all four bands and baseline height); grey = all 239. Not an average.</a:t>
            </a:r>
            <a:endParaRPr lang="en-US" sz="850" dirty="0"/>
          </a:p>
        </p:txBody>
      </p:sp>
      <p:sp>
        <p:nvSpPr>
          <p:cNvPr id="7" name="Text 4"/>
          <p:cNvSpPr/>
          <p:nvPr/>
        </p:nvSpPr>
        <p:spPr>
          <a:xfrm>
            <a:off x="502920" y="1737360"/>
            <a:ext cx="3291840" cy="310896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black line is a single real filter; the red dash is the smoothing-spline baseline AIRSpec fits underneath it, per spectrum. The shaded sliver is all that is actually bands.</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Port note: APRLssb reimplemented in Python and validated against your group's R output on the ETAD scans to ≤ 6×10⁻⁷ absorbance — your algorithm, not an approximation. EDF 6 vs 8: indistinguishable (Δslope &lt; 0.01).</a:t>
            </a:r>
            <a:endParaRPr lang="en-US" sz="1250" dirty="0"/>
          </a:p>
        </p:txBody>
      </p:sp>
      <p:sp>
        <p:nvSpPr>
          <p:cNvPr id="8" name="Shape 5"/>
          <p:cNvSpPr/>
          <p:nvPr/>
        </p:nvSpPr>
        <p:spPr>
          <a:xfrm>
            <a:off x="502920" y="45720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5720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CH-band baseline share  </a:t>
            </a:r>
            <a:pPr indent="0" marL="0">
              <a:buNone/>
            </a:pPr>
            <a:r>
              <a:rPr lang="en-US" sz="1100" b="1" dirty="0">
                <a:solidFill>
                  <a:srgbClr val="B23327"/>
                </a:solidFill>
                <a:latin typeface="Calibri" pitchFamily="34" charset="0"/>
                <a:ea typeface="Calibri" pitchFamily="34" charset="-122"/>
                <a:cs typeface="Calibri" pitchFamily="34" charset="-120"/>
              </a:rPr>
              <a:t>~91%</a:t>
            </a:r>
            <a:endParaRPr lang="en-US" sz="1100" dirty="0"/>
          </a:p>
        </p:txBody>
      </p:sp>
      <p:sp>
        <p:nvSpPr>
          <p:cNvPr id="10" name="Shape 7"/>
          <p:cNvSpPr/>
          <p:nvPr/>
        </p:nvSpPr>
        <p:spPr>
          <a:xfrm>
            <a:off x="502920" y="50840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0840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port vs R  </a:t>
            </a:r>
            <a:pPr indent="0" marL="0">
              <a:buNone/>
            </a:pPr>
            <a:r>
              <a:rPr lang="en-US" sz="1100" b="1" dirty="0">
                <a:solidFill>
                  <a:srgbClr val="2C6E9E"/>
                </a:solidFill>
                <a:latin typeface="Calibri" pitchFamily="34" charset="0"/>
                <a:ea typeface="Calibri" pitchFamily="34" charset="-122"/>
                <a:cs typeface="Calibri" pitchFamily="34" charset="-120"/>
              </a:rPr>
              <a:t>≤ 6×10⁻⁷</a:t>
            </a:r>
            <a:endParaRPr lang="en-US" sz="1100" dirty="0"/>
          </a:p>
        </p:txBody>
      </p:sp>
      <p:sp>
        <p:nvSpPr>
          <p:cNvPr id="12" name="Shape 9"/>
          <p:cNvSpPr/>
          <p:nvPr/>
        </p:nvSpPr>
        <p:spPr>
          <a:xfrm>
            <a:off x="502920" y="559612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59612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EDF 6 vs 8  </a:t>
            </a:r>
            <a:pPr indent="0" marL="0">
              <a:buNone/>
            </a:pPr>
            <a:r>
              <a:rPr lang="en-US" sz="1100" b="1" dirty="0">
                <a:solidFill>
                  <a:srgbClr val="5E6369"/>
                </a:solidFill>
                <a:latin typeface="Calibri" pitchFamily="34" charset="0"/>
                <a:ea typeface="Calibri" pitchFamily="34" charset="-122"/>
                <a:cs typeface="Calibri" pitchFamily="34" charset="-120"/>
              </a:rPr>
              <a:t>Δslope &lt; 0.01</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B·05 · YOUR BASELINING SUGGESTION, IMPLEMENTED — 2 &amp; 3 OF 3</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What is left is a thin skin — and Addis rides a higher background than its calibration cohort.</a:t>
            </a:r>
            <a:endParaRPr lang="en-US" sz="2600" dirty="0"/>
          </a:p>
        </p:txBody>
      </p:sp>
      <p:sp>
        <p:nvSpPr>
          <p:cNvPr id="4" name="Shape 2"/>
          <p:cNvSpPr/>
          <p:nvPr/>
        </p:nvSpPr>
        <p:spPr>
          <a:xfrm>
            <a:off x="50292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airspec_2_corrected.png">    </p:cNvPr>
          <p:cNvPicPr>
            <a:picLocks noChangeAspect="1"/>
          </p:cNvPicPr>
          <p:nvPr/>
        </p:nvPicPr>
        <p:blipFill>
          <a:blip r:embed="rId1"/>
          <a:srcRect l="0" r="0" t="0" b="0"/>
          <a:stretch/>
        </p:blipFill>
        <p:spPr>
          <a:xfrm>
            <a:off x="557784" y="1655064"/>
            <a:ext cx="5468112" cy="3867912"/>
          </a:xfrm>
          <a:prstGeom prst="rect">
            <a:avLst/>
          </a:prstGeom>
        </p:spPr>
      </p:pic>
      <p:sp>
        <p:nvSpPr>
          <p:cNvPr id="6" name="Text 3"/>
          <p:cNvSpPr/>
          <p:nvPr/>
        </p:nvSpPr>
        <p:spPr>
          <a:xfrm>
            <a:off x="59436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airspec_2_corrected   </a:t>
            </a:r>
            <a:pPr indent="0" marL="0">
              <a:buNone/>
            </a:pPr>
            <a:r>
              <a:rPr lang="en-US" sz="950" i="1" dirty="0">
                <a:solidFill>
                  <a:srgbClr val="5E6369"/>
                </a:solidFill>
                <a:latin typeface="Calibri" pitchFamily="34" charset="0"/>
                <a:ea typeface="Calibri" pitchFamily="34" charset="-122"/>
                <a:cs typeface="Calibri" pitchFamily="34" charset="-120"/>
              </a:rPr>
              <a:t>Same filter, baseline removed — the panel spans 0.03 AU against a raw spectrum of 0.34</a:t>
            </a:r>
            <a:endParaRPr lang="en-US" sz="850" dirty="0"/>
          </a:p>
        </p:txBody>
      </p:sp>
      <p:sp>
        <p:nvSpPr>
          <p:cNvPr id="7" name="Shape 4"/>
          <p:cNvSpPr/>
          <p:nvPr/>
        </p:nvSpPr>
        <p:spPr>
          <a:xfrm>
            <a:off x="626364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8" name="Image 1" descr="/Users/ahmadjalil/github/aethmodular/research/ftir_ec_phase3/output/plots/deck/airspec_3_background_gap.png">    </p:cNvPr>
          <p:cNvPicPr>
            <a:picLocks noChangeAspect="1"/>
          </p:cNvPicPr>
          <p:nvPr/>
        </p:nvPicPr>
        <p:blipFill>
          <a:blip r:embed="rId2"/>
          <a:srcRect l="0" r="0" t="0" b="0"/>
          <a:stretch/>
        </p:blipFill>
        <p:spPr>
          <a:xfrm>
            <a:off x="6318504" y="1655064"/>
            <a:ext cx="5468112" cy="3867912"/>
          </a:xfrm>
          <a:prstGeom prst="rect">
            <a:avLst/>
          </a:prstGeom>
        </p:spPr>
      </p:pic>
      <p:sp>
        <p:nvSpPr>
          <p:cNvPr id="9" name="Text 5"/>
          <p:cNvSpPr/>
          <p:nvPr/>
        </p:nvSpPr>
        <p:spPr>
          <a:xfrm>
            <a:off x="635508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airspec_3_background_gap   </a:t>
            </a:r>
            <a:pPr indent="0" marL="0">
              <a:buNone/>
            </a:pPr>
            <a:r>
              <a:rPr lang="en-US" sz="950" i="1" dirty="0">
                <a:solidFill>
                  <a:srgbClr val="5E6369"/>
                </a:solidFill>
                <a:latin typeface="Calibri" pitchFamily="34" charset="0"/>
                <a:ea typeface="Calibri" pitchFamily="34" charset="-122"/>
                <a:cs typeface="Calibri" pitchFamily="34" charset="-120"/>
              </a:rPr>
              <a:t>Baseline at 2920 cm⁻¹ per filter: 800-cohort 0.101 vs Addis 0.170</a:t>
            </a:r>
            <a:endParaRPr lang="en-US" sz="850" dirty="0"/>
          </a:p>
        </p:txBody>
      </p:sp>
      <p:sp>
        <p:nvSpPr>
          <p:cNvPr id="10" name="Shape 6"/>
          <p:cNvSpPr/>
          <p:nvPr/>
        </p:nvSpPr>
        <p:spPr>
          <a:xfrm>
            <a:off x="502920" y="5989320"/>
            <a:ext cx="2221992" cy="384048"/>
          </a:xfrm>
          <a:prstGeom prst="roundRect">
            <a:avLst>
              <a:gd name="adj" fmla="val 14286"/>
            </a:avLst>
          </a:prstGeom>
          <a:solidFill>
            <a:srgbClr val="F4F5F3"/>
          </a:solidFill>
          <a:ln w="9525">
            <a:solidFill>
              <a:srgbClr val="DDE0DC"/>
            </a:solidFill>
            <a:prstDash val="solid"/>
          </a:ln>
        </p:spPr>
      </p:sp>
      <p:sp>
        <p:nvSpPr>
          <p:cNvPr id="11" name="Text 7"/>
          <p:cNvSpPr/>
          <p:nvPr/>
        </p:nvSpPr>
        <p:spPr>
          <a:xfrm>
            <a:off x="576072" y="5989320"/>
            <a:ext cx="2130552"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 baseline  </a:t>
            </a:r>
            <a:pPr indent="0" marL="0">
              <a:buNone/>
            </a:pPr>
            <a:r>
              <a:rPr lang="en-US" sz="1100" b="1" dirty="0">
                <a:solidFill>
                  <a:srgbClr val="B23327"/>
                </a:solidFill>
                <a:latin typeface="Calibri" pitchFamily="34" charset="0"/>
                <a:ea typeface="Calibri" pitchFamily="34" charset="-122"/>
                <a:cs typeface="Calibri" pitchFamily="34" charset="-120"/>
              </a:rPr>
              <a:t>0.170</a:t>
            </a:r>
            <a:endParaRPr lang="en-US" sz="1100" dirty="0"/>
          </a:p>
        </p:txBody>
      </p:sp>
      <p:sp>
        <p:nvSpPr>
          <p:cNvPr id="12" name="Shape 8"/>
          <p:cNvSpPr/>
          <p:nvPr/>
        </p:nvSpPr>
        <p:spPr>
          <a:xfrm>
            <a:off x="2889504" y="5989320"/>
            <a:ext cx="2308860" cy="384048"/>
          </a:xfrm>
          <a:prstGeom prst="roundRect">
            <a:avLst>
              <a:gd name="adj" fmla="val 14286"/>
            </a:avLst>
          </a:prstGeom>
          <a:solidFill>
            <a:srgbClr val="F4F5F3"/>
          </a:solidFill>
          <a:ln w="9525">
            <a:solidFill>
              <a:srgbClr val="DDE0DC"/>
            </a:solidFill>
            <a:prstDash val="solid"/>
          </a:ln>
        </p:spPr>
      </p:sp>
      <p:sp>
        <p:nvSpPr>
          <p:cNvPr id="13" name="Text 9"/>
          <p:cNvSpPr/>
          <p:nvPr/>
        </p:nvSpPr>
        <p:spPr>
          <a:xfrm>
            <a:off x="2962656" y="5989320"/>
            <a:ext cx="2217420"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cohort baseline  </a:t>
            </a:r>
            <a:pPr indent="0" marL="0">
              <a:buNone/>
            </a:pPr>
            <a:r>
              <a:rPr lang="en-US" sz="1100" b="1" dirty="0">
                <a:solidFill>
                  <a:srgbClr val="7A4FA3"/>
                </a:solidFill>
                <a:latin typeface="Calibri" pitchFamily="34" charset="0"/>
                <a:ea typeface="Calibri" pitchFamily="34" charset="-122"/>
                <a:cs typeface="Calibri" pitchFamily="34" charset="-120"/>
              </a:rPr>
              <a:t>0.101</a:t>
            </a:r>
            <a:endParaRPr lang="en-US" sz="1100" dirty="0"/>
          </a:p>
        </p:txBody>
      </p:sp>
      <p:sp>
        <p:nvSpPr>
          <p:cNvPr id="14" name="Shape 10"/>
          <p:cNvSpPr/>
          <p:nvPr/>
        </p:nvSpPr>
        <p:spPr>
          <a:xfrm>
            <a:off x="5362956" y="5989320"/>
            <a:ext cx="2592324" cy="384048"/>
          </a:xfrm>
          <a:prstGeom prst="roundRect">
            <a:avLst>
              <a:gd name="adj" fmla="val 14286"/>
            </a:avLst>
          </a:prstGeom>
          <a:solidFill>
            <a:srgbClr val="F4F5F3"/>
          </a:solidFill>
          <a:ln w="9525">
            <a:solidFill>
              <a:srgbClr val="DDE0DC"/>
            </a:solidFill>
            <a:prstDash val="solid"/>
          </a:ln>
        </p:spPr>
      </p:sp>
      <p:sp>
        <p:nvSpPr>
          <p:cNvPr id="15" name="Text 11"/>
          <p:cNvSpPr/>
          <p:nvPr/>
        </p:nvSpPr>
        <p:spPr>
          <a:xfrm>
            <a:off x="5436108" y="5989320"/>
            <a:ext cx="2500884"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intercept  </a:t>
            </a:r>
            <a:pPr indent="0" marL="0">
              <a:buNone/>
            </a:pPr>
            <a:r>
              <a:rPr lang="en-US" sz="1100" b="1" dirty="0">
                <a:solidFill>
                  <a:srgbClr val="3F7A56"/>
                </a:solidFill>
                <a:latin typeface="Calibri" pitchFamily="34" charset="0"/>
                <a:ea typeface="Calibri" pitchFamily="34" charset="-122"/>
                <a:cs typeface="Calibri" pitchFamily="34" charset="-120"/>
              </a:rPr>
              <a:t>−3.22 → −1.62</a:t>
            </a:r>
            <a:endParaRPr lang="en-US" sz="1100" dirty="0"/>
          </a:p>
        </p:txBody>
      </p:sp>
      <p:sp>
        <p:nvSpPr>
          <p:cNvPr id="16" name="Shape 12"/>
          <p:cNvSpPr/>
          <p:nvPr/>
        </p:nvSpPr>
        <p:spPr>
          <a:xfrm>
            <a:off x="8119872" y="5989320"/>
            <a:ext cx="2043684" cy="384048"/>
          </a:xfrm>
          <a:prstGeom prst="roundRect">
            <a:avLst>
              <a:gd name="adj" fmla="val 14286"/>
            </a:avLst>
          </a:prstGeom>
          <a:solidFill>
            <a:srgbClr val="F4F5F3"/>
          </a:solidFill>
          <a:ln w="9525">
            <a:solidFill>
              <a:srgbClr val="DDE0DC"/>
            </a:solidFill>
            <a:prstDash val="solid"/>
          </a:ln>
        </p:spPr>
      </p:sp>
      <p:sp>
        <p:nvSpPr>
          <p:cNvPr id="17" name="Text 13"/>
          <p:cNvSpPr/>
          <p:nvPr/>
        </p:nvSpPr>
        <p:spPr>
          <a:xfrm>
            <a:off x="8193024" y="5989320"/>
            <a:ext cx="1952244"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slope  </a:t>
            </a:r>
            <a:pPr indent="0" marL="0">
              <a:buNone/>
            </a:pPr>
            <a:r>
              <a:rPr lang="en-US" sz="1100" b="1" dirty="0">
                <a:solidFill>
                  <a:srgbClr val="2C6E9E"/>
                </a:solidFill>
                <a:latin typeface="Calibri" pitchFamily="34" charset="0"/>
                <a:ea typeface="Calibri" pitchFamily="34" charset="-122"/>
                <a:cs typeface="Calibri" pitchFamily="34" charset="-120"/>
              </a:rPr>
              <a:t>1.59 → 0.86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B·06 · ANN'S QUESTION — DOESN'T THE BASELINE CARRY EC?</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smoke calibration collapses on corrected spectra — its Addis response was mostly baseline.</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crossplots_all_setups.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by_protocol/site_held_out · crossplots_all_setups   </a:t>
            </a:r>
            <a:pPr indent="0" marL="0">
              <a:buNone/>
            </a:pPr>
            <a:r>
              <a:rPr lang="en-US" sz="950" i="1" dirty="0">
                <a:solidFill>
                  <a:srgbClr val="5E6369"/>
                </a:solidFill>
                <a:latin typeface="Calibri" pitchFamily="34" charset="0"/>
                <a:ea typeface="Calibri" pitchFamily="34" charset="-122"/>
                <a:cs typeface="Calibri" pitchFamily="34" charset="-120"/>
              </a:rPr>
              <a:t>All six setups, identical per-panel square axes, fixed 190-filter cohort, MAC = 10</a:t>
            </a:r>
            <a:endParaRPr lang="en-US" sz="850" dirty="0"/>
          </a:p>
        </p:txBody>
      </p:sp>
      <p:sp>
        <p:nvSpPr>
          <p:cNvPr id="7" name="Text 4"/>
          <p:cNvSpPr/>
          <p:nvPr/>
        </p:nvSpPr>
        <p:spPr>
          <a:xfrm>
            <a:off x="502920" y="1737360"/>
            <a:ext cx="3291840" cy="384048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Ann's standing objection: EC's sloping absorption lives partly in the baseline, so baselining an EC calibration should lose signal.</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Our evidence so far: the 906-smoke model falls from slope 2.65 to 0.37 when both sides are baselined — much of its raw response was memorised background — and the ftir_08 HIPS-transfer failure survives baselining, so what breaks at Addis is compositional.</a:t>
            </a:r>
            <a:endParaRPr lang="en-US" sz="1250" dirty="0"/>
          </a:p>
          <a:p>
            <a:pPr algn="l" indent="0" marL="0">
              <a:spcAft>
                <a:spcPts val="800"/>
              </a:spcAft>
              <a:buNone/>
            </a:pPr>
            <a:r>
              <a:rPr lang="en-US" sz="1250" dirty="0">
                <a:solidFill>
                  <a:srgbClr val="2C6E9E"/>
                </a:solidFill>
                <a:latin typeface="Calibri" pitchFamily="34" charset="0"/>
                <a:ea typeface="Calibri" pitchFamily="34" charset="-122"/>
                <a:cs typeface="Calibri" pitchFamily="34" charset="-120"/>
              </a:rPr>
              <a:t>The open question for you: how much genuine EC signal does the correction discard, and is a middle path — or your group's newer baselining work — worth testing against AIRSpec?</a:t>
            </a:r>
            <a:endParaRPr lang="en-US" sz="1250" dirty="0"/>
          </a:p>
        </p:txBody>
      </p:sp>
      <p:sp>
        <p:nvSpPr>
          <p:cNvPr id="8" name="Shape 5"/>
          <p:cNvSpPr/>
          <p:nvPr/>
        </p:nvSpPr>
        <p:spPr>
          <a:xfrm>
            <a:off x="502920" y="52578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2578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smoke-906 corrected  </a:t>
            </a:r>
            <a:pPr indent="0" marL="0">
              <a:buNone/>
            </a:pPr>
            <a:r>
              <a:rPr lang="en-US" sz="1100" b="1" dirty="0">
                <a:solidFill>
                  <a:srgbClr val="B23327"/>
                </a:solidFill>
                <a:latin typeface="Calibri" pitchFamily="34" charset="0"/>
                <a:ea typeface="Calibri" pitchFamily="34" charset="-122"/>
                <a:cs typeface="Calibri" pitchFamily="34" charset="-120"/>
              </a:rPr>
              <a:t>slope 0.37</a:t>
            </a:r>
            <a:endParaRPr lang="en-US" sz="1100" dirty="0"/>
          </a:p>
        </p:txBody>
      </p:sp>
      <p:sp>
        <p:nvSpPr>
          <p:cNvPr id="10" name="Shape 7"/>
          <p:cNvSpPr/>
          <p:nvPr/>
        </p:nvSpPr>
        <p:spPr>
          <a:xfrm>
            <a:off x="502920" y="57698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7698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HIPS transfer post-AIRSpec  </a:t>
            </a:r>
            <a:pPr indent="0" marL="0">
              <a:buNone/>
            </a:pPr>
            <a:r>
              <a:rPr lang="en-US" sz="1100" b="1" dirty="0">
                <a:solidFill>
                  <a:srgbClr val="5E6369"/>
                </a:solidFill>
                <a:latin typeface="Calibri" pitchFamily="34" charset="0"/>
                <a:ea typeface="Calibri" pitchFamily="34" charset="-122"/>
                <a:cs typeface="Calibri" pitchFamily="34" charset="-120"/>
              </a:rPr>
              <a:t>still fails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C·07 · WHAT THE MODELS LEAN ON — COMPONENT SELECTION</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What interleaved folds leak is the site's background, not its chemistry.</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component_selection_all_setups.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ftir_20 · component_selection_all_setups   </a:t>
            </a:r>
            <a:pPr indent="0" marL="0">
              <a:buNone/>
            </a:pPr>
            <a:r>
              <a:rPr lang="en-US" sz="950" i="1" dirty="0">
                <a:solidFill>
                  <a:srgbClr val="5E6369"/>
                </a:solidFill>
                <a:latin typeface="Calibri" pitchFamily="34" charset="0"/>
                <a:ea typeface="Calibri" pitchFamily="34" charset="-122"/>
                <a:cs typeface="Calibri" pitchFamily="34" charset="-120"/>
              </a:rPr>
              <a:t>%RMSECV (log y); solid = interleaved 10-fold, dashed = whole sites held out; blue = raw, red = 2nd derivative</a:t>
            </a:r>
            <a:endParaRPr lang="en-US" sz="850" dirty="0"/>
          </a:p>
        </p:txBody>
      </p:sp>
      <p:sp>
        <p:nvSpPr>
          <p:cNvPr id="7" name="Text 4"/>
          <p:cNvSpPr/>
          <p:nvPr/>
        </p:nvSpPr>
        <p:spPr>
          <a:xfrm>
            <a:off x="502920" y="1737360"/>
            <a:ext cx="3291840" cy="36576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Hold whole sites out and the error floor rises ×1.59 for biomass-smoke and ×1.41 for Ethiopia-shaped smoke — but only ×1.01–1.07 for the composition-selected cohorts.</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On 2nd-derivative spectra the entire effect vanishes (every ratio 0.89–1.06): removing the smooth baseline removes the advantage of having seen the site.</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Same conclusion as the AIRSpec slides, from fold structure instead of spectra. Not a criticism of the app as a tool — it answers a different question than transfer to an unseen site.</a:t>
            </a:r>
            <a:endParaRPr lang="en-US" sz="1250" dirty="0"/>
          </a:p>
        </p:txBody>
      </p:sp>
      <p:sp>
        <p:nvSpPr>
          <p:cNvPr id="8" name="Shape 5"/>
          <p:cNvSpPr/>
          <p:nvPr/>
        </p:nvSpPr>
        <p:spPr>
          <a:xfrm>
            <a:off x="502920" y="50749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0749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smoke floor  </a:t>
            </a:r>
            <a:pPr indent="0" marL="0">
              <a:buNone/>
            </a:pPr>
            <a:r>
              <a:rPr lang="en-US" sz="1100" b="1" dirty="0">
                <a:solidFill>
                  <a:srgbClr val="B23327"/>
                </a:solidFill>
                <a:latin typeface="Calibri" pitchFamily="34" charset="0"/>
                <a:ea typeface="Calibri" pitchFamily="34" charset="-122"/>
                <a:cs typeface="Calibri" pitchFamily="34" charset="-120"/>
              </a:rPr>
              <a:t>×1.59</a:t>
            </a:r>
            <a:endParaRPr lang="en-US" sz="1100" dirty="0"/>
          </a:p>
        </p:txBody>
      </p:sp>
      <p:sp>
        <p:nvSpPr>
          <p:cNvPr id="10" name="Shape 7"/>
          <p:cNvSpPr/>
          <p:nvPr/>
        </p:nvSpPr>
        <p:spPr>
          <a:xfrm>
            <a:off x="502920" y="55869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5869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lowest-OC/EC  </a:t>
            </a:r>
            <a:pPr indent="0" marL="0">
              <a:buNone/>
            </a:pPr>
            <a:r>
              <a:rPr lang="en-US" sz="1100" b="1" dirty="0">
                <a:solidFill>
                  <a:srgbClr val="3F7A56"/>
                </a:solidFill>
                <a:latin typeface="Calibri" pitchFamily="34" charset="0"/>
                <a:ea typeface="Calibri" pitchFamily="34" charset="-122"/>
                <a:cs typeface="Calibri" pitchFamily="34" charset="-120"/>
              </a:rPr>
              <a:t>×1.01</a:t>
            </a:r>
            <a:endParaRPr lang="en-US" sz="1100" dirty="0"/>
          </a:p>
        </p:txBody>
      </p:sp>
      <p:sp>
        <p:nvSpPr>
          <p:cNvPr id="12" name="Shape 9"/>
          <p:cNvSpPr/>
          <p:nvPr/>
        </p:nvSpPr>
        <p:spPr>
          <a:xfrm>
            <a:off x="502920" y="609904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609904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2nd-deriv ratios  </a:t>
            </a:r>
            <a:pPr indent="0" marL="0">
              <a:buNone/>
            </a:pPr>
            <a:r>
              <a:rPr lang="en-US" sz="1100" b="1" dirty="0">
                <a:solidFill>
                  <a:srgbClr val="2C6E9E"/>
                </a:solidFill>
                <a:latin typeface="Calibri" pitchFamily="34" charset="0"/>
                <a:ea typeface="Calibri" pitchFamily="34" charset="-122"/>
                <a:cs typeface="Calibri" pitchFamily="34" charset="-120"/>
              </a:rPr>
              <a:t>0.89–1.06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C·08 · RESIDUAL STRUCTURE — RAW VS CORRECTED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corrected model misses by a season-stable constant: −2.0 to −2.6 µg/m³.</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residual_vs_d2.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ftir_15/22 · residual_vs_d2   </a:t>
            </a:r>
            <a:pPr indent="0" marL="0">
              <a:buNone/>
            </a:pPr>
            <a:r>
              <a:rPr lang="en-US" sz="950" i="1" dirty="0">
                <a:solidFill>
                  <a:srgbClr val="5E6369"/>
                </a:solidFill>
                <a:latin typeface="Calibri" pitchFamily="34" charset="0"/>
                <a:ea typeface="Calibri" pitchFamily="34" charset="-122"/>
                <a:cs typeface="Calibri" pitchFamily="34" charset="-120"/>
              </a:rPr>
              <a:t>Residual vs Mahalanobis D² in score space; site-cluster bootstrap B = 200</a:t>
            </a:r>
            <a:endParaRPr lang="en-US" sz="850" dirty="0"/>
          </a:p>
        </p:txBody>
      </p:sp>
      <p:sp>
        <p:nvSpPr>
          <p:cNvPr id="7" name="Text 4"/>
          <p:cNvSpPr/>
          <p:nvPr/>
        </p:nvSpPr>
        <p:spPr>
          <a:xfrm>
            <a:off x="502920" y="1737360"/>
            <a:ext cx="3291840" cy="36576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raw model's Addis error tracks extrapolation distance (r = 0.71) and flips sign by season — it fails by being out of domain.</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The corrected model's error is D²-independent and flat in every season. Bootstrap: corrected intercept 95% CI [−1.78, −1.06] — excludes zero, disjoint from raw's [−4.88, −2.81].</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A constant that survives every modelling choice is the shape of something additive in the x-axis data — which part D makes precise.</a:t>
            </a:r>
            <a:endParaRPr lang="en-US" sz="1250" dirty="0"/>
          </a:p>
        </p:txBody>
      </p:sp>
      <p:sp>
        <p:nvSpPr>
          <p:cNvPr id="8" name="Shape 5"/>
          <p:cNvSpPr/>
          <p:nvPr/>
        </p:nvSpPr>
        <p:spPr>
          <a:xfrm>
            <a:off x="502920" y="50749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0749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raw: resid ~ D²  </a:t>
            </a:r>
            <a:pPr indent="0" marL="0">
              <a:buNone/>
            </a:pPr>
            <a:r>
              <a:rPr lang="en-US" sz="1100" b="1" dirty="0">
                <a:solidFill>
                  <a:srgbClr val="B23327"/>
                </a:solidFill>
                <a:latin typeface="Calibri" pitchFamily="34" charset="0"/>
                <a:ea typeface="Calibri" pitchFamily="34" charset="-122"/>
                <a:cs typeface="Calibri" pitchFamily="34" charset="-120"/>
              </a:rPr>
              <a:t>r = 0.71</a:t>
            </a:r>
            <a:endParaRPr lang="en-US" sz="1100" dirty="0"/>
          </a:p>
        </p:txBody>
      </p:sp>
      <p:sp>
        <p:nvSpPr>
          <p:cNvPr id="10" name="Shape 7"/>
          <p:cNvSpPr/>
          <p:nvPr/>
        </p:nvSpPr>
        <p:spPr>
          <a:xfrm>
            <a:off x="502920" y="55869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5869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corrected CI  </a:t>
            </a:r>
            <a:pPr indent="0" marL="0">
              <a:buNone/>
            </a:pPr>
            <a:r>
              <a:rPr lang="en-US" sz="1100" b="1" dirty="0">
                <a:solidFill>
                  <a:srgbClr val="3F7A56"/>
                </a:solidFill>
                <a:latin typeface="Calibri" pitchFamily="34" charset="0"/>
                <a:ea typeface="Calibri" pitchFamily="34" charset="-122"/>
                <a:cs typeface="Calibri" pitchFamily="34" charset="-120"/>
              </a:rPr>
              <a:t>[−1.78, −1.06]</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D·09 · ALGEBRA FIRST — WHAT MAC CAN AND CANNOT MOVE</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MAC cannot move any intercept — every calibration pivots; the fork is a slope contest.</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mac_slope_pivot.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ftir_19 · mac_slope_pivot   </a:t>
            </a:r>
            <a:pPr indent="0" marL="0">
              <a:buNone/>
            </a:pPr>
            <a:r>
              <a:rPr lang="en-US" sz="950" i="1" dirty="0">
                <a:solidFill>
                  <a:srgbClr val="5E6369"/>
                </a:solidFill>
                <a:latin typeface="Calibri" pitchFamily="34" charset="0"/>
                <a:ea typeface="Calibri" pitchFamily="34" charset="-122"/>
                <a:cs typeface="Calibri" pitchFamily="34" charset="-120"/>
              </a:rPr>
              <a:t>x = Fabs/MAC: intercept and R² exact, slope ×0.6 going 10 → 6</a:t>
            </a:r>
            <a:endParaRPr lang="en-US" sz="850" dirty="0"/>
          </a:p>
        </p:txBody>
      </p:sp>
      <p:sp>
        <p:nvSpPr>
          <p:cNvPr id="7" name="Text 4"/>
          <p:cNvSpPr/>
          <p:nvPr/>
        </p:nvSpPr>
        <p:spPr>
          <a:xfrm>
            <a:off x="502920" y="1737360"/>
            <a:ext cx="3291840" cy="347472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Since x = Fabs/MAC, switching MAC rescales x by a constant: every setup keeps its intercept and R² exactly, and its slope scales by exactly 0.6.</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So the fork reduces to: MAC 6 makes the raw models self-consistent (lowest-OC/EC 0.95, Ethiopia-shaped 1.05, deployed 1.14); MAC 10 is where the corrected model lands closest (0.86). Fit statistics cannot choose between the branches.</a:t>
            </a:r>
            <a:endParaRPr lang="en-US" sz="1250" dirty="0"/>
          </a:p>
        </p:txBody>
      </p:sp>
      <p:sp>
        <p:nvSpPr>
          <p:cNvPr id="8" name="Shape 5"/>
          <p:cNvSpPr/>
          <p:nvPr/>
        </p:nvSpPr>
        <p:spPr>
          <a:xfrm>
            <a:off x="502920" y="48463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8463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slope scaling  </a:t>
            </a:r>
            <a:pPr indent="0" marL="0">
              <a:buNone/>
            </a:pPr>
            <a:r>
              <a:rPr lang="en-US" sz="1100" b="1" dirty="0">
                <a:solidFill>
                  <a:srgbClr val="5E6369"/>
                </a:solidFill>
                <a:latin typeface="Calibri" pitchFamily="34" charset="0"/>
                <a:ea typeface="Calibri" pitchFamily="34" charset="-122"/>
                <a:cs typeface="Calibri" pitchFamily="34" charset="-120"/>
              </a:rPr>
              <a:t>×0.6 exact</a:t>
            </a:r>
            <a:endParaRPr lang="en-US" sz="1100" dirty="0"/>
          </a:p>
        </p:txBody>
      </p:sp>
      <p:sp>
        <p:nvSpPr>
          <p:cNvPr id="10" name="Shape 7"/>
          <p:cNvSpPr/>
          <p:nvPr/>
        </p:nvSpPr>
        <p:spPr>
          <a:xfrm>
            <a:off x="502920" y="53583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3583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raw @ MAC 6  </a:t>
            </a:r>
            <a:pPr indent="0" marL="0">
              <a:buNone/>
            </a:pPr>
            <a:r>
              <a:rPr lang="en-US" sz="1100" b="1" dirty="0">
                <a:solidFill>
                  <a:srgbClr val="2C6E9E"/>
                </a:solidFill>
                <a:latin typeface="Calibri" pitchFamily="34" charset="0"/>
                <a:ea typeface="Calibri" pitchFamily="34" charset="-122"/>
                <a:cs typeface="Calibri" pitchFamily="34" charset="-120"/>
              </a:rPr>
              <a:t>0.95</a:t>
            </a:r>
            <a:endParaRPr lang="en-US" sz="1100" dirty="0"/>
          </a:p>
        </p:txBody>
      </p:sp>
      <p:sp>
        <p:nvSpPr>
          <p:cNvPr id="12" name="Shape 9"/>
          <p:cNvSpPr/>
          <p:nvPr/>
        </p:nvSpPr>
        <p:spPr>
          <a:xfrm>
            <a:off x="502920" y="587044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87044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corrected @ MAC 10  </a:t>
            </a:r>
            <a:pPr indent="0" marL="0">
              <a:buNone/>
            </a:pPr>
            <a:r>
              <a:rPr lang="en-US" sz="1100" b="1" dirty="0">
                <a:solidFill>
                  <a:srgbClr val="7A4FA3"/>
                </a:solidFill>
                <a:latin typeface="Calibri" pitchFamily="34" charset="0"/>
                <a:ea typeface="Calibri" pitchFamily="34" charset="-122"/>
                <a:cs typeface="Calibri" pitchFamily="34" charset="-120"/>
              </a:rPr>
              <a:t>0.86</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D·10 · THE BRIDGE — 151,843 IMPROVE FILTERS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At Addis-like composition, IMPROVE's implied MAC is 10.05 — at the confirmed 633 nm.</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6/improve_implied_mac_curve.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ftir_16 · improve_implied_mac_curve   </a:t>
            </a:r>
            <a:pPr indent="0" marL="0">
              <a:buNone/>
            </a:pPr>
            <a:r>
              <a:rPr lang="en-US" sz="950" i="1" dirty="0">
                <a:solidFill>
                  <a:srgbClr val="5E6369"/>
                </a:solidFill>
                <a:latin typeface="Calibri" pitchFamily="34" charset="0"/>
                <a:ea typeface="Calibri" pitchFamily="34" charset="-122"/>
                <a:cs typeface="Calibri" pitchFamily="34" charset="-120"/>
              </a:rPr>
              <a:t>Implied MAC = HIPS Fabs / TOR EC, 151,843 matched filters, binned by OC/EC</a:t>
            </a:r>
            <a:endParaRPr lang="en-US" sz="850" dirty="0"/>
          </a:p>
        </p:txBody>
      </p:sp>
      <p:sp>
        <p:nvSpPr>
          <p:cNvPr id="7" name="Text 4"/>
          <p:cNvSpPr/>
          <p:nvPr/>
        </p:nvSpPr>
        <p:spPr>
          <a:xfrm>
            <a:off x="502920" y="1737360"/>
            <a:ext cx="3291840" cy="3840480"/>
          </a:xfrm>
          <a:prstGeom prst="rect">
            <a:avLst/>
          </a:prstGeom>
          <a:noFill/>
          <a:ln/>
        </p:spPr>
        <p:txBody>
          <a:bodyPr wrap="square" lIns="0" tIns="0" rIns="0" bIns="0" rtlCol="0" anchor="t"/>
          <a:lstStyle/>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Where IMPROVE has both HIPS and TOR: implied MAC median 11.96 overall — and 10.05 in the Addis-like OC/EC ≤ 2.27 subset (n = 6,503). MAC 10 is centred at Addis-like composition; MAC 6 sits in the lower tail.</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high-OC/EC tail's inflated implied MAC (median 19.8) independently shows Fabs carries organic-scaling non-EC absorption.</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Wavelength note: HIPS is confirmed He–Ne 632.8 ≈ 633 nm with MAC 10 defined at 633 (SPARTAN Instruments page; 2025 methods paper) — so this bridge and the MAC convention are on the same wavelength.</a:t>
            </a:r>
            <a:endParaRPr lang="en-US" sz="1250" dirty="0"/>
          </a:p>
        </p:txBody>
      </p:sp>
      <p:sp>
        <p:nvSpPr>
          <p:cNvPr id="8" name="Shape 5"/>
          <p:cNvSpPr/>
          <p:nvPr/>
        </p:nvSpPr>
        <p:spPr>
          <a:xfrm>
            <a:off x="502920" y="52578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2578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Addis-like subset  </a:t>
            </a:r>
            <a:pPr indent="0" marL="0">
              <a:buNone/>
            </a:pPr>
            <a:r>
              <a:rPr lang="en-US" sz="1100" b="1" dirty="0">
                <a:solidFill>
                  <a:srgbClr val="3F7A56"/>
                </a:solidFill>
                <a:latin typeface="Calibri" pitchFamily="34" charset="0"/>
                <a:ea typeface="Calibri" pitchFamily="34" charset="-122"/>
                <a:cs typeface="Calibri" pitchFamily="34" charset="-120"/>
              </a:rPr>
              <a:t>MAC 10.05</a:t>
            </a:r>
            <a:endParaRPr lang="en-US" sz="1100" dirty="0"/>
          </a:p>
        </p:txBody>
      </p:sp>
      <p:sp>
        <p:nvSpPr>
          <p:cNvPr id="10" name="Shape 7"/>
          <p:cNvSpPr/>
          <p:nvPr/>
        </p:nvSpPr>
        <p:spPr>
          <a:xfrm>
            <a:off x="502920" y="57698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7698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pool median  </a:t>
            </a:r>
            <a:pPr indent="0" marL="0">
              <a:buNone/>
            </a:pPr>
            <a:r>
              <a:rPr lang="en-US" sz="1100" b="1" dirty="0">
                <a:solidFill>
                  <a:srgbClr val="2C6E9E"/>
                </a:solidFill>
                <a:latin typeface="Calibri" pitchFamily="34" charset="0"/>
                <a:ea typeface="Calibri" pitchFamily="34" charset="-122"/>
                <a:cs typeface="Calibri" pitchFamily="34" charset="-120"/>
              </a:rPr>
              <a:t>11.96</a:t>
            </a:r>
            <a:endParaRPr lang="en-US" sz="1100" dirty="0"/>
          </a:p>
        </p:txBody>
      </p:sp>
      <p:sp>
        <p:nvSpPr>
          <p:cNvPr id="12" name="Shape 9"/>
          <p:cNvSpPr/>
          <p:nvPr/>
        </p:nvSpPr>
        <p:spPr>
          <a:xfrm>
            <a:off x="502920" y="628192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628192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high-OC/EC tail  </a:t>
            </a:r>
            <a:pPr indent="0" marL="0">
              <a:buNone/>
            </a:pPr>
            <a:r>
              <a:rPr lang="en-US" sz="1100" b="1" dirty="0">
                <a:solidFill>
                  <a:srgbClr val="B23327"/>
                </a:solidFill>
                <a:latin typeface="Calibri" pitchFamily="34" charset="0"/>
                <a:ea typeface="Calibri" pitchFamily="34" charset="-122"/>
                <a:cs typeface="Calibri" pitchFamily="34" charset="-120"/>
              </a:rPr>
              <a:t>19.8</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E·11 · THE ~1600 CM⁻¹ BAND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Not amine. Carboxylate and/or aromatic C=C — stuck below 1425 cm⁻¹ without your sub-1500 model.</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2/peak_center_1600_by_group.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ftir_12 · peak_center_1600_by_group   </a:t>
            </a:r>
            <a:pPr indent="0" marL="0">
              <a:buNone/>
            </a:pPr>
            <a:r>
              <a:rPr lang="en-US" sz="950" i="1" dirty="0">
                <a:solidFill>
                  <a:srgbClr val="5E6369"/>
                </a:solidFill>
                <a:latin typeface="Calibri" pitchFamily="34" charset="0"/>
                <a:ea typeface="Calibri" pitchFamily="34" charset="-122"/>
                <a:cs typeface="Calibri" pitchFamily="34" charset="-120"/>
              </a:rPr>
              <a:t>Peak centers under the edge-corrected window; unchanged on AIRSpec-corrected spectra</a:t>
            </a:r>
            <a:endParaRPr lang="en-US" sz="850" dirty="0"/>
          </a:p>
        </p:txBody>
      </p:sp>
      <p:sp>
        <p:nvSpPr>
          <p:cNvPr id="7" name="Text 4"/>
          <p:cNvSpPr/>
          <p:nvPr/>
        </p:nvSpPr>
        <p:spPr>
          <a:xfrm>
            <a:off x="502920" y="1737360"/>
            <a:ext cx="3291840" cy="384048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Addis peaks at 1617–1619 cm⁻¹ (IQR 1616–1620) in every season; every IMPROVE cohort sits ≥ 1633 with essentially no overlap.</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Within Addis the band co-varies with CH (ρ = 0.88) and carbonyl (0.93) but not with the 3100–3400 N–H/O–H window (0.17) — an N–H bend without its stretch is implausible, so amine is out.</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remaining candidates — carboxylate COO⁻ and aromatic C=C — are both charcoal-consistent and cannot be separated on Teflon: the ~1400 symmetric partner is below AIRSpec's trusted range.</a:t>
            </a:r>
            <a:endParaRPr lang="en-US" sz="1250" dirty="0"/>
          </a:p>
        </p:txBody>
      </p:sp>
      <p:sp>
        <p:nvSpPr>
          <p:cNvPr id="8" name="Shape 5"/>
          <p:cNvSpPr/>
          <p:nvPr/>
        </p:nvSpPr>
        <p:spPr>
          <a:xfrm>
            <a:off x="502920" y="50749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0749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 center  </a:t>
            </a:r>
            <a:pPr indent="0" marL="0">
              <a:buNone/>
            </a:pPr>
            <a:r>
              <a:rPr lang="en-US" sz="1100" b="1" dirty="0">
                <a:solidFill>
                  <a:srgbClr val="B23327"/>
                </a:solidFill>
                <a:latin typeface="Calibri" pitchFamily="34" charset="0"/>
                <a:ea typeface="Calibri" pitchFamily="34" charset="-122"/>
                <a:cs typeface="Calibri" pitchFamily="34" charset="-120"/>
              </a:rPr>
              <a:t>1617–1619</a:t>
            </a:r>
            <a:endParaRPr lang="en-US" sz="1100" dirty="0"/>
          </a:p>
        </p:txBody>
      </p:sp>
      <p:sp>
        <p:nvSpPr>
          <p:cNvPr id="10" name="Shape 7"/>
          <p:cNvSpPr/>
          <p:nvPr/>
        </p:nvSpPr>
        <p:spPr>
          <a:xfrm>
            <a:off x="502920" y="55869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5869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IMPROVE  </a:t>
            </a:r>
            <a:pPr indent="0" marL="0">
              <a:buNone/>
            </a:pPr>
            <a:r>
              <a:rPr lang="en-US" sz="1100" b="1" dirty="0">
                <a:solidFill>
                  <a:srgbClr val="5E6369"/>
                </a:solidFill>
                <a:latin typeface="Calibri" pitchFamily="34" charset="0"/>
                <a:ea typeface="Calibri" pitchFamily="34" charset="-122"/>
                <a:cs typeface="Calibri" pitchFamily="34" charset="-120"/>
              </a:rPr>
              <a:t>≥ 1633</a:t>
            </a:r>
            <a:endParaRPr lang="en-US" sz="1100" dirty="0"/>
          </a:p>
        </p:txBody>
      </p:sp>
      <p:sp>
        <p:nvSpPr>
          <p:cNvPr id="12" name="Shape 9"/>
          <p:cNvSpPr/>
          <p:nvPr/>
        </p:nvSpPr>
        <p:spPr>
          <a:xfrm>
            <a:off x="502920" y="609904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609904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ρ(1600, N–H)  </a:t>
            </a:r>
            <a:pPr indent="0" marL="0">
              <a:buNone/>
            </a:pPr>
            <a:r>
              <a:rPr lang="en-US" sz="1100" b="1" dirty="0">
                <a:solidFill>
                  <a:srgbClr val="2C6E9E"/>
                </a:solidFill>
                <a:latin typeface="Calibri" pitchFamily="34" charset="0"/>
                <a:ea typeface="Calibri" pitchFamily="34" charset="-122"/>
                <a:cs typeface="Calibri" pitchFamily="34" charset="-120"/>
              </a:rPr>
              <a:t>0.17</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E·12 · NAVEED'S SEASONS — AND THE NEXT NOTEBOOK</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Season changes loading, not shape — ftir_24 predicts dry and wet separately.</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7/addis_spectra_by_season.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ftir_17 · addis_spectra_by_season   </a:t>
            </a:r>
            <a:pPr indent="0" marL="0">
              <a:buNone/>
            </a:pPr>
            <a:r>
              <a:rPr lang="en-US" sz="950" i="1" dirty="0">
                <a:solidFill>
                  <a:srgbClr val="5E6369"/>
                </a:solidFill>
                <a:latin typeface="Calibri" pitchFamily="34" charset="0"/>
                <a:ea typeface="Calibri" pitchFamily="34" charset="-122"/>
                <a:cs typeface="Calibri" pitchFamily="34" charset="-120"/>
              </a:rPr>
              <a:t>Dry Oct–Feb / Belg Mar–May / Kiremt Jun–Sep</a:t>
            </a:r>
            <a:endParaRPr lang="en-US" sz="850" dirty="0"/>
          </a:p>
        </p:txBody>
      </p:sp>
      <p:sp>
        <p:nvSpPr>
          <p:cNvPr id="7" name="Text 4"/>
          <p:cNvSpPr/>
          <p:nvPr/>
        </p:nvSpPr>
        <p:spPr>
          <a:xfrm>
            <a:off x="502920" y="1737360"/>
            <a:ext cx="3291840" cy="36576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All bands, deployed EC (3.3 → 7.2 µg/m³) and Fabs (43 → 56 Mm⁻¹) peak in Kiremt, while the 1600-band centre never moves; the one shape effect is relatively more broad O–H in the Dry season.</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The committed residuals already show the season structure is a raw-model phenomenon (Dry −1.25 → Kiremt +0.49; corrected season-stable). ftir_24 will put per-season crossplots under the locked models with a season × x interaction design.</a:t>
            </a:r>
            <a:endParaRPr lang="en-US" sz="1250" dirty="0"/>
          </a:p>
        </p:txBody>
      </p:sp>
      <p:sp>
        <p:nvSpPr>
          <p:cNvPr id="8" name="Shape 5"/>
          <p:cNvSpPr/>
          <p:nvPr/>
        </p:nvSpPr>
        <p:spPr>
          <a:xfrm>
            <a:off x="502920" y="48463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8463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EC by season  </a:t>
            </a:r>
            <a:pPr indent="0" marL="0">
              <a:buNone/>
            </a:pPr>
            <a:r>
              <a:rPr lang="en-US" sz="1100" b="1" dirty="0">
                <a:solidFill>
                  <a:srgbClr val="2C6E9E"/>
                </a:solidFill>
                <a:latin typeface="Calibri" pitchFamily="34" charset="0"/>
                <a:ea typeface="Calibri" pitchFamily="34" charset="-122"/>
                <a:cs typeface="Calibri" pitchFamily="34" charset="-120"/>
              </a:rPr>
              <a:t>3.3 → 7.2</a:t>
            </a:r>
            <a:endParaRPr lang="en-US" sz="1100" dirty="0"/>
          </a:p>
        </p:txBody>
      </p:sp>
      <p:sp>
        <p:nvSpPr>
          <p:cNvPr id="10" name="Shape 7"/>
          <p:cNvSpPr/>
          <p:nvPr/>
        </p:nvSpPr>
        <p:spPr>
          <a:xfrm>
            <a:off x="502920" y="53583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3583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band centre  </a:t>
            </a:r>
            <a:pPr indent="0" marL="0">
              <a:buNone/>
            </a:pPr>
            <a:r>
              <a:rPr lang="en-US" sz="1100" b="1" dirty="0">
                <a:solidFill>
                  <a:srgbClr val="5E6369"/>
                </a:solidFill>
                <a:latin typeface="Calibri" pitchFamily="34" charset="0"/>
                <a:ea typeface="Calibri" pitchFamily="34" charset="-122"/>
                <a:cs typeface="Calibri" pitchFamily="34" charset="-120"/>
              </a:rPr>
              <a:t>fixed 1617–1619</a:t>
            </a:r>
            <a:endParaRPr lang="en-US" sz="1100" dirty="0"/>
          </a:p>
        </p:txBody>
      </p:sp>
      <p:sp>
        <p:nvSpPr>
          <p:cNvPr id="12" name="Shape 9"/>
          <p:cNvSpPr/>
          <p:nvPr/>
        </p:nvSpPr>
        <p:spPr>
          <a:xfrm>
            <a:off x="502920" y="587044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87044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eval split  </a:t>
            </a:r>
            <a:pPr indent="0" marL="0">
              <a:buNone/>
            </a:pPr>
            <a:r>
              <a:rPr lang="en-US" sz="1100" b="1" dirty="0">
                <a:solidFill>
                  <a:srgbClr val="3F7A56"/>
                </a:solidFill>
                <a:latin typeface="Calibri" pitchFamily="34" charset="0"/>
                <a:ea typeface="Calibri" pitchFamily="34" charset="-122"/>
                <a:cs typeface="Calibri" pitchFamily="34" charset="-120"/>
              </a:rPr>
              <a:t>105 / 61 / 73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E·13 · ADAMA &amp; BISHOFTU — THE UNCOMFORTABLE CHECK AND THE FREE TEST SET</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one same-corridor TOR we have looks ordinary — and a second Ethiopian site sits unused.</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context/adama_etbi_context.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context · adama_etbi_context   </a:t>
            </a:r>
            <a:pPr indent="0" marL="0">
              <a:buNone/>
            </a:pPr>
            <a:r>
              <a:rPr lang="en-US" sz="950" i="1" dirty="0">
                <a:solidFill>
                  <a:srgbClr val="5E6369"/>
                </a:solidFill>
                <a:latin typeface="Calibri" pitchFamily="34" charset="0"/>
                <a:ea typeface="Calibri" pitchFamily="34" charset="-122"/>
                <a:cs typeface="Calibri" pitchFamily="34" charset="-120"/>
              </a:rPr>
              <a:t>Adama Batch-54: 5 quartz filters, July 2024 · ETBI: 32 filters Oct–Dec 2025, 26 with HIPS</a:t>
            </a:r>
            <a:endParaRPr lang="en-US" sz="850" dirty="0"/>
          </a:p>
        </p:txBody>
      </p:sp>
      <p:sp>
        <p:nvSpPr>
          <p:cNvPr id="7" name="Text 4"/>
          <p:cNvSpPr/>
          <p:nvPr/>
        </p:nvSpPr>
        <p:spPr>
          <a:xfrm>
            <a:off x="502920" y="1737360"/>
            <a:ext cx="3291840" cy="36576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Adama TOR gives OC/EC 4.6–7.2 — right at the IMPROVE median, not the extreme tail the Addis offset implies regionally. Reconciling Addis HIPS with FTIR OC at Adama-like composition would need MAC ≈ 47 m²/g — unphysical — so something has to give.</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ETBI (Bishoftu, median Fabs 26.9 Mm⁻¹ vs Addis Dry-season 43.2) is an untouched in-country test set for every conclusion here — if its spectra come through in the same pull as INDH/CHTS.</a:t>
            </a:r>
            <a:endParaRPr lang="en-US" sz="1250" dirty="0"/>
          </a:p>
        </p:txBody>
      </p:sp>
      <p:sp>
        <p:nvSpPr>
          <p:cNvPr id="8" name="Shape 5"/>
          <p:cNvSpPr/>
          <p:nvPr/>
        </p:nvSpPr>
        <p:spPr>
          <a:xfrm>
            <a:off x="502920" y="48463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8463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Adama OC/EC  </a:t>
            </a:r>
            <a:pPr indent="0" marL="0">
              <a:buNone/>
            </a:pPr>
            <a:r>
              <a:rPr lang="en-US" sz="1100" b="1" dirty="0">
                <a:solidFill>
                  <a:srgbClr val="5E6369"/>
                </a:solidFill>
                <a:latin typeface="Calibri" pitchFamily="34" charset="0"/>
                <a:ea typeface="Calibri" pitchFamily="34" charset="-122"/>
                <a:cs typeface="Calibri" pitchFamily="34" charset="-120"/>
              </a:rPr>
              <a:t>4.6–7.2</a:t>
            </a:r>
            <a:endParaRPr lang="en-US" sz="1100" dirty="0"/>
          </a:p>
        </p:txBody>
      </p:sp>
      <p:sp>
        <p:nvSpPr>
          <p:cNvPr id="10" name="Shape 7"/>
          <p:cNvSpPr/>
          <p:nvPr/>
        </p:nvSpPr>
        <p:spPr>
          <a:xfrm>
            <a:off x="502920" y="53583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3583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bridge MAC  </a:t>
            </a:r>
            <a:pPr indent="0" marL="0">
              <a:buNone/>
            </a:pPr>
            <a:r>
              <a:rPr lang="en-US" sz="1100" b="1" dirty="0">
                <a:solidFill>
                  <a:srgbClr val="B23327"/>
                </a:solidFill>
                <a:latin typeface="Calibri" pitchFamily="34" charset="0"/>
                <a:ea typeface="Calibri" pitchFamily="34" charset="-122"/>
                <a:cs typeface="Calibri" pitchFamily="34" charset="-120"/>
              </a:rPr>
              <a:t>≈ 47 m²/g</a:t>
            </a:r>
            <a:endParaRPr lang="en-US" sz="1100" dirty="0"/>
          </a:p>
        </p:txBody>
      </p:sp>
      <p:sp>
        <p:nvSpPr>
          <p:cNvPr id="12" name="Shape 9"/>
          <p:cNvSpPr/>
          <p:nvPr/>
        </p:nvSpPr>
        <p:spPr>
          <a:xfrm>
            <a:off x="502920" y="587044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87044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ETBI HIPS filters  </a:t>
            </a:r>
            <a:pPr indent="0" marL="0">
              <a:buNone/>
            </a:pPr>
            <a:r>
              <a:rPr lang="en-US" sz="1100" b="1" dirty="0">
                <a:solidFill>
                  <a:srgbClr val="2C6E9E"/>
                </a:solidFill>
                <a:latin typeface="Calibri" pitchFamily="34" charset="0"/>
                <a:ea typeface="Calibri" pitchFamily="34" charset="-122"/>
                <a:cs typeface="Calibri" pitchFamily="34" charset="-120"/>
              </a:rPr>
              <a:t>26, unused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502920" y="411480"/>
            <a:ext cx="7315200" cy="320040"/>
          </a:xfrm>
          <a:prstGeom prst="rect">
            <a:avLst/>
          </a:prstGeom>
          <a:noFill/>
          <a:ln/>
        </p:spPr>
        <p:txBody>
          <a:bodyPr wrap="square" lIns="0" tIns="0" rIns="0" bIns="0" rtlCol="0" anchor="ctr"/>
          <a:lstStyle/>
          <a:p>
            <a:pPr indent="0" marL="0">
              <a:buNone/>
            </a:pPr>
            <a:r>
              <a:rPr lang="en-US" sz="1200" spc="200" kern="0" dirty="0">
                <a:solidFill>
                  <a:srgbClr val="E0705F"/>
                </a:solidFill>
                <a:latin typeface="Courier New" pitchFamily="34" charset="0"/>
                <a:ea typeface="Courier New" pitchFamily="34" charset="-122"/>
                <a:cs typeface="Courier New" pitchFamily="34" charset="-120"/>
              </a:rPr>
              <a:t>THE ASKS</a:t>
            </a:r>
            <a:endParaRPr lang="en-US" sz="1200" dirty="0"/>
          </a:p>
        </p:txBody>
      </p:sp>
      <p:sp>
        <p:nvSpPr>
          <p:cNvPr id="3" name="Text 1"/>
          <p:cNvSpPr/>
          <p:nvPr/>
        </p:nvSpPr>
        <p:spPr>
          <a:xfrm>
            <a:off x="502920" y="777240"/>
            <a:ext cx="109728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One headline ask, five supporting.</a:t>
            </a:r>
            <a:endParaRPr lang="en-US" sz="2800" dirty="0"/>
          </a:p>
        </p:txBody>
      </p:sp>
      <p:sp>
        <p:nvSpPr>
          <p:cNvPr id="4" name="Shape 2"/>
          <p:cNvSpPr/>
          <p:nvPr/>
        </p:nvSpPr>
        <p:spPr>
          <a:xfrm>
            <a:off x="502920" y="1600200"/>
            <a:ext cx="11183112" cy="1417320"/>
          </a:xfrm>
          <a:prstGeom prst="roundRect">
            <a:avLst>
              <a:gd name="adj" fmla="val 5161"/>
            </a:avLst>
          </a:prstGeom>
          <a:solidFill>
            <a:srgbClr val="2E2225"/>
          </a:solidFill>
          <a:ln w="15875">
            <a:solidFill>
              <a:srgbClr val="E0705F"/>
            </a:solidFill>
            <a:prstDash val="solid"/>
          </a:ln>
        </p:spPr>
      </p:sp>
      <p:sp>
        <p:nvSpPr>
          <p:cNvPr id="5" name="Text 3"/>
          <p:cNvSpPr/>
          <p:nvPr/>
        </p:nvSpPr>
        <p:spPr>
          <a:xfrm>
            <a:off x="731520" y="1737360"/>
            <a:ext cx="10698480" cy="11887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Quartz-TOR campaign at ETAD or Bishoftu — the instrument that separates what is left.  </a:t>
            </a:r>
            <a:pPr indent="0" marL="0">
              <a:buNone/>
            </a:pPr>
            <a:r>
              <a:rPr lang="en-US" sz="1200" dirty="0">
                <a:solidFill>
                  <a:srgbClr val="C9CDD2"/>
                </a:solidFill>
                <a:latin typeface="Calibri" pitchFamily="34" charset="0"/>
                <a:ea typeface="Calibri" pitchFamily="34" charset="-122"/>
                <a:cs typeface="Calibri" pitchFamily="34" charset="-120"/>
              </a:rPr>
              <a:t>Every EC reference we hold is circular with one axis or the other; the three surviving explanations for the ~21 Mm⁻¹ offset all yield to co-located quartz TOR. Spec: ~3σ/day separation of MAC 6 vs 10 → 11–13 days per season, ~36 filters total; Adama Batch-54 proves the chain. One-pager in hand.</a:t>
            </a:r>
            <a:endParaRPr lang="en-US" sz="1500" dirty="0"/>
          </a:p>
        </p:txBody>
      </p:sp>
      <p:sp>
        <p:nvSpPr>
          <p:cNvPr id="6" name="Shape 4"/>
          <p:cNvSpPr/>
          <p:nvPr/>
        </p:nvSpPr>
        <p:spPr>
          <a:xfrm>
            <a:off x="502920" y="3246120"/>
            <a:ext cx="5486400" cy="969264"/>
          </a:xfrm>
          <a:prstGeom prst="roundRect">
            <a:avLst>
              <a:gd name="adj" fmla="val 7547"/>
            </a:avLst>
          </a:prstGeom>
          <a:solidFill>
            <a:srgbClr val="23262C"/>
          </a:solidFill>
          <a:ln w="9525">
            <a:solidFill>
              <a:srgbClr val="3A3F46"/>
            </a:solidFill>
            <a:prstDash val="solid"/>
          </a:ln>
        </p:spPr>
      </p:sp>
      <p:sp>
        <p:nvSpPr>
          <p:cNvPr id="7" name="Text 5"/>
          <p:cNvSpPr/>
          <p:nvPr/>
        </p:nvSpPr>
        <p:spPr>
          <a:xfrm>
            <a:off x="685800" y="331012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Emily Lee's charcoal spectra</a:t>
            </a:r>
            <a:endParaRPr lang="en-US" sz="1250" dirty="0"/>
          </a:p>
        </p:txBody>
      </p:sp>
      <p:sp>
        <p:nvSpPr>
          <p:cNvPr id="8" name="Text 6"/>
          <p:cNvSpPr/>
          <p:nvPr/>
        </p:nvSpPr>
        <p:spPr>
          <a:xfrm>
            <a:off x="685800" y="361188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Print-only in the paper. As data, they replace our failed KBr-pellet attempt and benchmark any ATR run.</a:t>
            </a:r>
            <a:endParaRPr lang="en-US" sz="950" dirty="0"/>
          </a:p>
        </p:txBody>
      </p:sp>
      <p:sp>
        <p:nvSpPr>
          <p:cNvPr id="9" name="Shape 7"/>
          <p:cNvSpPr/>
          <p:nvPr/>
        </p:nvSpPr>
        <p:spPr>
          <a:xfrm>
            <a:off x="6263640" y="3246120"/>
            <a:ext cx="5486400" cy="969264"/>
          </a:xfrm>
          <a:prstGeom prst="roundRect">
            <a:avLst>
              <a:gd name="adj" fmla="val 7547"/>
            </a:avLst>
          </a:prstGeom>
          <a:solidFill>
            <a:srgbClr val="23262C"/>
          </a:solidFill>
          <a:ln w="9525">
            <a:solidFill>
              <a:srgbClr val="3A3F46"/>
            </a:solidFill>
            <a:prstDash val="solid"/>
          </a:ln>
        </p:spPr>
      </p:sp>
      <p:sp>
        <p:nvSpPr>
          <p:cNvPr id="10" name="Text 8"/>
          <p:cNvSpPr/>
          <p:nvPr/>
        </p:nvSpPr>
        <p:spPr>
          <a:xfrm>
            <a:off x="6446520" y="331012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Sub-1500 cm⁻¹ model status</a:t>
            </a:r>
            <a:endParaRPr lang="en-US" sz="1250" dirty="0"/>
          </a:p>
        </p:txBody>
      </p:sp>
      <p:sp>
        <p:nvSpPr>
          <p:cNvPr id="11" name="Text 9"/>
          <p:cNvSpPr/>
          <p:nvPr/>
        </p:nvSpPr>
        <p:spPr>
          <a:xfrm>
            <a:off x="6446520" y="361188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The 1600-band identity is stuck at the 1425 cm⁻¹ trusted-range edge. Your model is the unblocking tool.</a:t>
            </a:r>
            <a:endParaRPr lang="en-US" sz="950" dirty="0"/>
          </a:p>
        </p:txBody>
      </p:sp>
      <p:sp>
        <p:nvSpPr>
          <p:cNvPr id="12" name="Shape 10"/>
          <p:cNvSpPr/>
          <p:nvPr/>
        </p:nvSpPr>
        <p:spPr>
          <a:xfrm>
            <a:off x="502920" y="4343400"/>
            <a:ext cx="5486400" cy="969264"/>
          </a:xfrm>
          <a:prstGeom prst="roundRect">
            <a:avLst>
              <a:gd name="adj" fmla="val 7547"/>
            </a:avLst>
          </a:prstGeom>
          <a:solidFill>
            <a:srgbClr val="23262C"/>
          </a:solidFill>
          <a:ln w="9525">
            <a:solidFill>
              <a:srgbClr val="3A3F46"/>
            </a:solidFill>
            <a:prstDash val="solid"/>
          </a:ln>
        </p:spPr>
      </p:sp>
      <p:sp>
        <p:nvSpPr>
          <p:cNvPr id="13" name="Text 11"/>
          <p:cNvSpPr/>
          <p:nvPr/>
        </p:nvSpPr>
        <p:spPr>
          <a:xfrm>
            <a:off x="685800" y="440740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baselining trade-off</a:t>
            </a:r>
            <a:endParaRPr lang="en-US" sz="1250" dirty="0"/>
          </a:p>
        </p:txBody>
      </p:sp>
      <p:sp>
        <p:nvSpPr>
          <p:cNvPr id="14" name="Text 12"/>
          <p:cNvSpPr/>
          <p:nvPr/>
        </p:nvSpPr>
        <p:spPr>
          <a:xfrm>
            <a:off x="685800" y="470916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How much real EC signal does full baseline removal discard — and is a middle path worth testing against AIRSpec?</a:t>
            </a:r>
            <a:endParaRPr lang="en-US" sz="950" dirty="0"/>
          </a:p>
        </p:txBody>
      </p:sp>
      <p:sp>
        <p:nvSpPr>
          <p:cNvPr id="15" name="Shape 13"/>
          <p:cNvSpPr/>
          <p:nvPr/>
        </p:nvSpPr>
        <p:spPr>
          <a:xfrm>
            <a:off x="6263640" y="4343400"/>
            <a:ext cx="5486400" cy="969264"/>
          </a:xfrm>
          <a:prstGeom prst="roundRect">
            <a:avLst>
              <a:gd name="adj" fmla="val 7547"/>
            </a:avLst>
          </a:prstGeom>
          <a:solidFill>
            <a:srgbClr val="23262C"/>
          </a:solidFill>
          <a:ln w="9525">
            <a:solidFill>
              <a:srgbClr val="3A3F46"/>
            </a:solidFill>
            <a:prstDash val="solid"/>
          </a:ln>
        </p:spPr>
      </p:sp>
      <p:sp>
        <p:nvSpPr>
          <p:cNvPr id="16" name="Text 14"/>
          <p:cNvSpPr/>
          <p:nvPr/>
        </p:nvSpPr>
        <p:spPr>
          <a:xfrm>
            <a:off x="6446520" y="440740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INDH / CHTS / ETBI spectra export</a:t>
            </a:r>
            <a:endParaRPr lang="en-US" sz="1250" dirty="0"/>
          </a:p>
        </p:txBody>
      </p:sp>
      <p:sp>
        <p:nvSpPr>
          <p:cNvPr id="17" name="Text 15"/>
          <p:cNvSpPr/>
          <p:nvPr/>
        </p:nvSpPr>
        <p:spPr>
          <a:xfrm>
            <a:off x="6446520" y="470916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Same shape as the ETAD pull. Unblocks Delhi/Beijing score-space checks and turns Bishoftu into a live test set.</a:t>
            </a:r>
            <a:endParaRPr lang="en-US" sz="950" dirty="0"/>
          </a:p>
        </p:txBody>
      </p:sp>
      <p:sp>
        <p:nvSpPr>
          <p:cNvPr id="18" name="Shape 16"/>
          <p:cNvSpPr/>
          <p:nvPr/>
        </p:nvSpPr>
        <p:spPr>
          <a:xfrm>
            <a:off x="502920" y="5440680"/>
            <a:ext cx="5486400" cy="969264"/>
          </a:xfrm>
          <a:prstGeom prst="roundRect">
            <a:avLst>
              <a:gd name="adj" fmla="val 7547"/>
            </a:avLst>
          </a:prstGeom>
          <a:solidFill>
            <a:srgbClr val="23262C"/>
          </a:solidFill>
          <a:ln w="9525">
            <a:solidFill>
              <a:srgbClr val="3A3F46"/>
            </a:solidFill>
            <a:prstDash val="solid"/>
          </a:ln>
        </p:spPr>
      </p:sp>
      <p:sp>
        <p:nvSpPr>
          <p:cNvPr id="19" name="Text 17"/>
          <p:cNvSpPr/>
          <p:nvPr/>
        </p:nvSpPr>
        <p:spPr>
          <a:xfrm>
            <a:off x="685800" y="550468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Charcoal ATR — go / no-go</a:t>
            </a:r>
            <a:endParaRPr lang="en-US" sz="1250" dirty="0"/>
          </a:p>
        </p:txBody>
      </p:sp>
      <p:sp>
        <p:nvSpPr>
          <p:cNvPr id="20" name="Text 18"/>
          <p:cNvSpPr/>
          <p:nvPr/>
        </p:nvSpPr>
        <p:spPr>
          <a:xfrm>
            <a:off x="685800" y="580644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Grinding stops at 10–40 µm; ambient soot is sub-micron. Is ATR on ground charcoal informative at all?</a:t>
            </a:r>
            <a:endParaRPr lang="en-US" sz="950" dirty="0"/>
          </a:p>
        </p:txBody>
      </p:sp>
      <p:sp>
        <p:nvSpPr>
          <p:cNvPr id="21" name="Shape 19"/>
          <p:cNvSpPr/>
          <p:nvPr/>
        </p:nvSpPr>
        <p:spPr>
          <a:xfrm>
            <a:off x="6263640" y="5440680"/>
            <a:ext cx="5486400" cy="969264"/>
          </a:xfrm>
          <a:prstGeom prst="roundRect">
            <a:avLst>
              <a:gd name="adj" fmla="val 7547"/>
            </a:avLst>
          </a:prstGeom>
          <a:solidFill>
            <a:srgbClr val="23262C"/>
          </a:solidFill>
          <a:ln w="9525">
            <a:solidFill>
              <a:srgbClr val="3A3F46"/>
            </a:solidFill>
            <a:prstDash val="solid"/>
          </a:ln>
        </p:spPr>
      </p:sp>
      <p:sp>
        <p:nvSpPr>
          <p:cNvPr id="22" name="Text 20"/>
          <p:cNvSpPr/>
          <p:nvPr/>
        </p:nvSpPr>
        <p:spPr>
          <a:xfrm>
            <a:off x="6446520" y="5504688"/>
            <a:ext cx="516636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MAC / protocol bridge</a:t>
            </a:r>
            <a:endParaRPr lang="en-US" sz="1250" dirty="0"/>
          </a:p>
        </p:txBody>
      </p:sp>
      <p:sp>
        <p:nvSpPr>
          <p:cNvPr id="23" name="Text 21"/>
          <p:cNvSpPr/>
          <p:nvPr/>
        </p:nvSpPr>
        <p:spPr>
          <a:xfrm>
            <a:off x="6446520" y="5806440"/>
            <a:ext cx="5166360" cy="566928"/>
          </a:xfrm>
          <a:prstGeom prst="rect">
            <a:avLst/>
          </a:prstGeom>
          <a:noFill/>
          <a:ln/>
        </p:spPr>
        <p:txBody>
          <a:bodyPr wrap="square" lIns="0" tIns="0" rIns="0" bIns="0" rtlCol="0" anchor="ctr"/>
          <a:lstStyle/>
          <a:p>
            <a:pPr indent="0" marL="0">
              <a:buNone/>
            </a:pPr>
            <a:r>
              <a:rPr lang="en-US" sz="950" dirty="0">
                <a:solidFill>
                  <a:srgbClr val="A2A8AE"/>
                </a:solidFill>
                <a:latin typeface="Calibri" pitchFamily="34" charset="0"/>
                <a:ea typeface="Calibri" pitchFamily="34" charset="-122"/>
                <a:cs typeface="Calibri" pitchFamily="34" charset="-120"/>
              </a:rPr>
              <a:t>Does the implied-MAC chain hold up — and is there an independent HIPS bridge that tests MAC ≈ 10 without new sampling?</a:t>
            </a:r>
            <a:endParaRPr lang="en-US" sz="950" dirty="0"/>
          </a:p>
        </p:txBody>
      </p:sp>
      <p:sp>
        <p:nvSpPr>
          <p:cNvPr id="24" name="Text 22"/>
          <p:cNvSpPr/>
          <p:nvPr/>
        </p:nvSpPr>
        <p:spPr>
          <a:xfrm>
            <a:off x="502920" y="6473952"/>
            <a:ext cx="11155680" cy="320040"/>
          </a:xfrm>
          <a:prstGeom prst="rect">
            <a:avLst/>
          </a:prstGeom>
          <a:noFill/>
          <a:ln/>
        </p:spPr>
        <p:txBody>
          <a:bodyPr wrap="square" lIns="0" tIns="0" rIns="0" bIns="0" rtlCol="0" anchor="ctr"/>
          <a:lstStyle/>
          <a:p>
            <a:pPr indent="0" marL="0">
              <a:buNone/>
            </a:pPr>
            <a:r>
              <a:rPr lang="en-US" sz="950" dirty="0">
                <a:solidFill>
                  <a:srgbClr val="767C83"/>
                </a:solidFill>
                <a:latin typeface="Courier New" pitchFamily="34" charset="0"/>
                <a:ea typeface="Courier New" pitchFamily="34" charset="-122"/>
                <a:cs typeface="Courier New" pitchFamily="34" charset="-120"/>
              </a:rPr>
              <a:t>Sources: research/ftir_ec_phase3 (ftir_11–27) · every figure is executed notebook output · every number traces to a committed table.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FTIR-EC at Addis Ababa - phase 3 briefing for Satoshi, 13 Aug 2026</dc:title>
  <dc:subject>PptxGenJS Presentation</dc:subject>
  <dc:creator>Ahmad Jalil</dc:creator>
  <cp:lastModifiedBy>Ahmad Jalil</cp:lastModifiedBy>
  <cp:revision>1</cp:revision>
  <dcterms:created xsi:type="dcterms:W3CDTF">2026-08-12T21:52:32Z</dcterms:created>
  <dcterms:modified xsi:type="dcterms:W3CDTF">2026-08-12T21:52:32Z</dcterms:modified>
</cp:coreProperties>
</file>