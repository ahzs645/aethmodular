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Naveed is joining too — he had the SPARTAN EC thread before the handoff, so the recap slides are for him as much as Satoshi. Roughly 30 minutes of content; parts B and C are where Satoshi's input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him read while you frame it: everything left is committed and reproducible; everything right is why this meeting exists. The component-count question is new on the list — it came out of yesterday's meeting with 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calibration carried to Addis is steep with a deep negative intercept — and nothing at Addis has negative EC, so the offset is the model, not the air. One framing from yesterday: with no MAC applied at all, the deployed fit implies a native MAC of about 10 over 1.90, roughly 5.3 — but that trusts FTIR-EC, which is the same circularity that rules out ChemSpec as a reference. The non-circular version of that idea is the implied-MAC bridge in part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Ann asked yesterday whether the shape-selected and composition-selected cohorts overlap — in theory shape should reflect the OC/EC ratio. From the committed membership tables: one filter of three hundred. They are disjoint selections, which is consistent with their opposite behaviour — the shape-selected cohort fails the held-out TOR test while this one passes. QUESTION FOR SATOSHI: why does spectral-shape similarity fail to track composition here — is that a baseline effect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thing that confused us yesterday and is worth stating plainly: the biomass-smoke intercept is −0.99 on this table and −6.91 on older slides — both are right; they are two protocols, k = 4 versus k = 19 on the same filters. That swing is itself a finding: the component choice moves the Addis answer more than the MAC fork can. The corrected setup is the one whose answer does not depend on who processed it. All intercepts on this slide are micrograms per cubic 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PLS model on raw spectra is handed a predictor that is mostly background, and is free to lean on it. The port is validated against your R output — this is your algorithm, not an approximation. And your EDF question has an answer: six versus eight makes no practical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Whatever a raw-spectra model learned about background does not transfer, and that error lands as an offset. Baselining both sides and retraining takes the Addis intercept from −3.22 to −1.62 — the single biggest improvement of phase 3. Honest cost: Addis R² drops 0.77 to 0.66 and RMSE 1.16 to 2.41; we prefer it for its residual structure, not its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Ann's objection deserves a direct answer, and this is our evidence: the smoke model collapses on corrected spectra, and the HIPS-transfer failure survives baselining — so what breaks at Addis is compositional, not a baseline artifact. The question we cannot answer alone: how much genuine EC signal does full baseline removal discard, and is a partial-retention middle path worth 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headline number uses one rule — site-grouped five-fold, first major minimum. QUESTION FOR SATOSHI: is four or five components defensibly enough, especially on corrected spectra? And does comparing across models require matching the component count, or is per-model selection under one rule the right discipline? Ann flags that four or five factors on raw spectra can still be mostly Teflon. Also have ready: the ±SE ribbons on the network and smoke panels are huge — the interleaved curve only looks decisive because pooling discards that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slide Ann asked for yesterday — everything twice, one protocol per side. Two takeaways: robustness to protocol is itself a model-selection criterion, and only one setup has it; and the order-dependence result means the app's k is not a reproducible quantity. Framing discipline: this is not a criticism of the app as a tool — interleaved CV answers a different question than transfer to an unseen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raw model fails by extrapolation; the corrected model misses by a flat constant that no cohort choice removes. Restated as absorption, that constant is C = |intercept| × MAC / slope — about 21 inverse megametres, 46% of a typical Addis filter's Fabs, and exactly MAC-invariant. Three explanations survive: a loading-dependent HIPS artifact, curve geometry in the Fabs–EC relation, and real non-EC absorption. Nothing in hand separates them — that is the quartz ask. On Ann's estimator point: we now have a real sigma-x from HIPS_Uncertainty, and Deming moves the intercept to −2.09, so the OLS number understates the offset if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intercept ladder is MAC-proof and R² cannot arbitrate MAC — the fork is purely a slope contest between two self-consistent branches. Deliberate phrasing: the corrected model “lands closest” at MAC 10 — 0.86 does not clear the |slope−1| ≤ 0.1 bar the raw models clear at MAC 6. Yesterday's discussion of letting the slope define MAC is on the slide with its circularity caveat, so it is pre-answered if Naveed raises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 phase-3 read is MAC ≈ 10, the corrected model, and a genuine additive component at Addis whose owner is not yet identified. We would like your judgment on this chain, and whether an independent HIPS MAC or protocol bridge exists that could test it without new sampling. Quote 10.05 only with its qualifier: the Addis-like subset, 6,503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asks live on this slide. Where does the sub-1500 model stand — it is the unblocking tool for carboxylate versus aromatic C=C. And can we get Emily Lee's charcoal spectra as data — the paper versions are print-only, and burning chemistry (O–H and aliphatic C–H destroyed, aromatic C=C grown, stronger with temperature) is the process argument for the aromatic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Season moves loading, not shape — and a season-blind mixture component isolates the same Oct–Feb anomaly the residuals show, so three independent views agree. ftir_24 quantifies it with a pooled season-by-x design to avoid the mechanical slope attenuation from Dry's shorter x-range.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Since Addis's extreme ranking is computed from the very FTIR/HIPS values under suspicion, we cannot currently tell how much of the extremity is the artifact. The spectra pull that would include ETBI is the cheapest unblocking step on the list — and we have pre-registered the prediction: if the ~21 Mm⁻¹ were a persistent background, ETBI's FTIR-EC should come out very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order changed this week: quartz TOR is the headline because ftir_26/27 closed every in-hand route to an independent EC reference. Hand over the one-pager here — Ann has seen it. The components question is folded into the baselining card since they are both his-methods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502920" y="1280160"/>
            <a:ext cx="11183112" cy="320040"/>
          </a:xfrm>
          <a:prstGeom prst="rect">
            <a:avLst/>
          </a:prstGeom>
          <a:noFill/>
          <a:ln/>
        </p:spPr>
        <p:txBody>
          <a:bodyPr wrap="square" lIns="0" tIns="0" rIns="0" bIns="0" rtlCol="0" anchor="ctr"/>
          <a:lstStyle/>
          <a:p>
            <a:pPr indent="0" marL="0">
              <a:buNone/>
            </a:pPr>
            <a:r>
              <a:rPr lang="en-US" sz="1200" spc="200" kern="0" dirty="0">
                <a:solidFill>
                  <a:srgbClr val="E0705F"/>
                </a:solidFill>
                <a:latin typeface="Courier New" pitchFamily="34" charset="0"/>
                <a:ea typeface="Courier New" pitchFamily="34" charset="-122"/>
                <a:cs typeface="Courier New" pitchFamily="34" charset="-120"/>
              </a:rPr>
              <a:t>FTIR · EC CALIBRATION · ADDIS ABABA · BRIEFING FOR SATOSHI &amp; NAVEED · 13 AUG 2026</a:t>
            </a:r>
            <a:endParaRPr lang="en-US" sz="1200" dirty="0"/>
          </a:p>
        </p:txBody>
      </p:sp>
      <p:sp>
        <p:nvSpPr>
          <p:cNvPr id="3" name="Text 1"/>
          <p:cNvSpPr/>
          <p:nvPr/>
        </p:nvSpPr>
        <p:spPr>
          <a:xfrm>
            <a:off x="502920" y="1737360"/>
            <a:ext cx="11155680" cy="210312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libri" pitchFamily="34" charset="0"/>
                <a:ea typeface="Calibri" pitchFamily="34" charset="-122"/>
                <a:cs typeface="Calibri" pitchFamily="34" charset="-120"/>
              </a:rPr>
              <a:t>Phase 3, end to end —</a:t>
            </a:r>
            <a:endParaRPr lang="en-US" sz="4400" dirty="0"/>
          </a:p>
          <a:p>
            <a:pPr indent="0" marL="0">
              <a:lnSpc>
                <a:spcPts val="5000"/>
              </a:lnSpc>
              <a:buNone/>
            </a:pPr>
            <a:r>
              <a:rPr lang="en-US" sz="4400" b="1" dirty="0">
                <a:solidFill>
                  <a:srgbClr val="FFFFFF"/>
                </a:solidFill>
                <a:latin typeface="Calibri" pitchFamily="34" charset="0"/>
                <a:ea typeface="Calibri" pitchFamily="34" charset="-122"/>
                <a:cs typeface="Calibri" pitchFamily="34" charset="-120"/>
              </a:rPr>
              <a:t>and what we need from you.</a:t>
            </a:r>
            <a:endParaRPr lang="en-US" sz="4400" dirty="0"/>
          </a:p>
        </p:txBody>
      </p:sp>
      <p:sp>
        <p:nvSpPr>
          <p:cNvPr id="4" name="Text 2"/>
          <p:cNvSpPr/>
          <p:nvPr/>
        </p:nvSpPr>
        <p:spPr>
          <a:xfrm>
            <a:off x="502920" y="3977640"/>
            <a:ext cx="9692640" cy="1005840"/>
          </a:xfrm>
          <a:prstGeom prst="rect">
            <a:avLst/>
          </a:prstGeom>
          <a:noFill/>
          <a:ln/>
        </p:spPr>
        <p:txBody>
          <a:bodyPr wrap="square" lIns="0" tIns="0" rIns="0" bIns="0" rtlCol="0" anchor="ctr"/>
          <a:lstStyle/>
          <a:p>
            <a:pPr indent="0" marL="0">
              <a:buNone/>
            </a:pPr>
            <a:r>
              <a:rPr lang="en-US" sz="1600" dirty="0">
                <a:solidFill>
                  <a:srgbClr val="A2A8AE"/>
                </a:solidFill>
                <a:latin typeface="Calibri" pitchFamily="34" charset="0"/>
                <a:ea typeface="Calibri" pitchFamily="34" charset="-122"/>
                <a:cs typeface="Calibri" pitchFamily="34" charset="-120"/>
              </a:rPr>
              <a:t>Your baselining suggestion implemented and validated · Ann's low-OC/EC cohort locked as the best calibration · the MAC question reduced to a two-branch fork · the residual offset restated as a measurable target · and the asks that would unblock the rest.</a:t>
            </a:r>
            <a:endParaRPr lang="en-US" sz="1600" dirty="0"/>
          </a:p>
        </p:txBody>
      </p:sp>
      <p:sp>
        <p:nvSpPr>
          <p:cNvPr id="5" name="Text 3"/>
          <p:cNvSpPr/>
          <p:nvPr/>
        </p:nvSpPr>
        <p:spPr>
          <a:xfrm>
            <a:off x="502920" y="5989320"/>
            <a:ext cx="10515600" cy="548640"/>
          </a:xfrm>
          <a:prstGeom prst="rect">
            <a:avLst/>
          </a:prstGeom>
          <a:noFill/>
          <a:ln/>
        </p:spPr>
        <p:txBody>
          <a:bodyPr wrap="square" lIns="0" tIns="0" rIns="0" bIns="0" rtlCol="0" anchor="ctr"/>
          <a:lstStyle/>
          <a:p>
            <a:pPr indent="0" marL="0">
              <a:buNone/>
            </a:pPr>
            <a:r>
              <a:rPr lang="en-US" sz="1000" dirty="0">
                <a:solidFill>
                  <a:srgbClr val="767C83"/>
                </a:solidFill>
                <a:latin typeface="Courier New" pitchFamily="34" charset="0"/>
                <a:ea typeface="Courier New" pitchFamily="34" charset="-122"/>
                <a:cs typeface="Courier New" pitchFamily="34" charset="-120"/>
              </a:rPr>
              <a:t>Notebooks ftir_11–27 · fixed 190-filter Addis cohort for crossplots · intercepts in µg/m³ · MAC = 10 headline · site-disjoint splits (seed 20260717) · every number traces to a committed table.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STATUS AT A GLANCE</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Settled since we last talked — and open, mostly needing you.</a:t>
            </a:r>
            <a:endParaRPr lang="en-US" sz="2600" dirty="0"/>
          </a:p>
        </p:txBody>
      </p:sp>
      <p:sp>
        <p:nvSpPr>
          <p:cNvPr id="4" name="Text 2"/>
          <p:cNvSpPr/>
          <p:nvPr/>
        </p:nvSpPr>
        <p:spPr>
          <a:xfrm>
            <a:off x="502920" y="1417320"/>
            <a:ext cx="5394960" cy="320040"/>
          </a:xfrm>
          <a:prstGeom prst="rect">
            <a:avLst/>
          </a:prstGeom>
          <a:noFill/>
          <a:ln/>
        </p:spPr>
        <p:txBody>
          <a:bodyPr wrap="square" lIns="0" tIns="0" rIns="0" bIns="0" rtlCol="0" anchor="ctr"/>
          <a:lstStyle/>
          <a:p>
            <a:pPr indent="0" marL="0">
              <a:buNone/>
            </a:pPr>
            <a:r>
              <a:rPr lang="en-US" sz="1400" b="1" dirty="0">
                <a:solidFill>
                  <a:srgbClr val="1A1D21"/>
                </a:solidFill>
                <a:latin typeface="Calibri" pitchFamily="34" charset="0"/>
                <a:ea typeface="Calibri" pitchFamily="34" charset="-122"/>
                <a:cs typeface="Calibri" pitchFamily="34" charset="-120"/>
              </a:rPr>
              <a:t>Settled since we last talked</a:t>
            </a:r>
            <a:endParaRPr lang="en-US" sz="1400" dirty="0"/>
          </a:p>
        </p:txBody>
      </p:sp>
      <p:sp>
        <p:nvSpPr>
          <p:cNvPr id="5" name="Shape 3"/>
          <p:cNvSpPr/>
          <p:nvPr/>
        </p:nvSpPr>
        <p:spPr>
          <a:xfrm>
            <a:off x="502920" y="2395728"/>
            <a:ext cx="5440680" cy="0"/>
          </a:xfrm>
          <a:prstGeom prst="rect">
            <a:avLst/>
          </a:prstGeom>
          <a:noFill/>
          <a:ln w="9525">
            <a:solidFill>
              <a:srgbClr val="DDE0DC"/>
            </a:solidFill>
            <a:prstDash val="solid"/>
          </a:ln>
        </p:spPr>
      </p:sp>
      <p:sp>
        <p:nvSpPr>
          <p:cNvPr id="6" name="Text 4"/>
          <p:cNvSpPr/>
          <p:nvPr/>
        </p:nvSpPr>
        <p:spPr>
          <a:xfrm>
            <a:off x="502920" y="1828800"/>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AIRSpec baseline correction ported to Python, validated to ~10⁻⁷ vs the R output</a:t>
            </a:r>
            <a:endParaRPr lang="en-US" sz="1100" dirty="0"/>
          </a:p>
        </p:txBody>
      </p:sp>
      <p:sp>
        <p:nvSpPr>
          <p:cNvPr id="7" name="Text 5"/>
          <p:cNvSpPr/>
          <p:nvPr/>
        </p:nvSpPr>
        <p:spPr>
          <a:xfrm>
            <a:off x="4754880" y="1901952"/>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done</a:t>
            </a:r>
            <a:endParaRPr lang="en-US" sz="850" dirty="0"/>
          </a:p>
        </p:txBody>
      </p:sp>
      <p:sp>
        <p:nvSpPr>
          <p:cNvPr id="8" name="Shape 6"/>
          <p:cNvSpPr/>
          <p:nvPr/>
        </p:nvSpPr>
        <p:spPr>
          <a:xfrm>
            <a:off x="502920" y="3054096"/>
            <a:ext cx="5440680" cy="0"/>
          </a:xfrm>
          <a:prstGeom prst="rect">
            <a:avLst/>
          </a:prstGeom>
          <a:noFill/>
          <a:ln w="9525">
            <a:solidFill>
              <a:srgbClr val="DDE0DC"/>
            </a:solidFill>
            <a:prstDash val="solid"/>
          </a:ln>
        </p:spPr>
      </p:sp>
      <p:sp>
        <p:nvSpPr>
          <p:cNvPr id="9" name="Text 7"/>
          <p:cNvSpPr/>
          <p:nvPr/>
        </p:nvSpPr>
        <p:spPr>
          <a:xfrm>
            <a:off x="502920" y="2487168"/>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EDF 6 vs 8: indistinguishable — not a sensitive parameter</a:t>
            </a:r>
            <a:endParaRPr lang="en-US" sz="1100" dirty="0"/>
          </a:p>
        </p:txBody>
      </p:sp>
      <p:sp>
        <p:nvSpPr>
          <p:cNvPr id="10" name="Text 8"/>
          <p:cNvSpPr/>
          <p:nvPr/>
        </p:nvSpPr>
        <p:spPr>
          <a:xfrm>
            <a:off x="4754880" y="2560320"/>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done</a:t>
            </a:r>
            <a:endParaRPr lang="en-US" sz="850" dirty="0"/>
          </a:p>
        </p:txBody>
      </p:sp>
      <p:sp>
        <p:nvSpPr>
          <p:cNvPr id="11" name="Shape 9"/>
          <p:cNvSpPr/>
          <p:nvPr/>
        </p:nvSpPr>
        <p:spPr>
          <a:xfrm>
            <a:off x="502920" y="3712464"/>
            <a:ext cx="5440680" cy="0"/>
          </a:xfrm>
          <a:prstGeom prst="rect">
            <a:avLst/>
          </a:prstGeom>
          <a:noFill/>
          <a:ln w="9525">
            <a:solidFill>
              <a:srgbClr val="DDE0DC"/>
            </a:solidFill>
            <a:prstDash val="solid"/>
          </a:ln>
        </p:spPr>
      </p:sp>
      <p:sp>
        <p:nvSpPr>
          <p:cNvPr id="12" name="Text 10"/>
          <p:cNvSpPr/>
          <p:nvPr/>
        </p:nvSpPr>
        <p:spPr>
          <a:xfrm>
            <a:off x="502920" y="3145536"/>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Lowest-OC/EC (800) + baseline correction locked as the terminal IMPROVE-only candidate</a:t>
            </a:r>
            <a:endParaRPr lang="en-US" sz="1100" dirty="0"/>
          </a:p>
        </p:txBody>
      </p:sp>
      <p:sp>
        <p:nvSpPr>
          <p:cNvPr id="13" name="Text 11"/>
          <p:cNvSpPr/>
          <p:nvPr/>
        </p:nvSpPr>
        <p:spPr>
          <a:xfrm>
            <a:off x="4754880" y="3218688"/>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done</a:t>
            </a:r>
            <a:endParaRPr lang="en-US" sz="850" dirty="0"/>
          </a:p>
        </p:txBody>
      </p:sp>
      <p:sp>
        <p:nvSpPr>
          <p:cNvPr id="14" name="Shape 12"/>
          <p:cNvSpPr/>
          <p:nvPr/>
        </p:nvSpPr>
        <p:spPr>
          <a:xfrm>
            <a:off x="502920" y="4370832"/>
            <a:ext cx="5440680" cy="0"/>
          </a:xfrm>
          <a:prstGeom prst="rect">
            <a:avLst/>
          </a:prstGeom>
          <a:noFill/>
          <a:ln w="9525">
            <a:solidFill>
              <a:srgbClr val="DDE0DC"/>
            </a:solidFill>
            <a:prstDash val="solid"/>
          </a:ln>
        </p:spPr>
      </p:sp>
      <p:sp>
        <p:nvSpPr>
          <p:cNvPr id="15" name="Text 13"/>
          <p:cNvSpPr/>
          <p:nvPr/>
        </p:nvSpPr>
        <p:spPr>
          <a:xfrm>
            <a:off x="502920" y="3803904"/>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~1600 cm⁻¹ band: amine rejected; carboxylate / aromatic C=C remain</a:t>
            </a:r>
            <a:endParaRPr lang="en-US" sz="1100" dirty="0"/>
          </a:p>
        </p:txBody>
      </p:sp>
      <p:sp>
        <p:nvSpPr>
          <p:cNvPr id="16" name="Text 14"/>
          <p:cNvSpPr/>
          <p:nvPr/>
        </p:nvSpPr>
        <p:spPr>
          <a:xfrm>
            <a:off x="4754880" y="3877056"/>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done</a:t>
            </a:r>
            <a:endParaRPr lang="en-US" sz="850" dirty="0"/>
          </a:p>
        </p:txBody>
      </p:sp>
      <p:sp>
        <p:nvSpPr>
          <p:cNvPr id="17" name="Shape 15"/>
          <p:cNvSpPr/>
          <p:nvPr/>
        </p:nvSpPr>
        <p:spPr>
          <a:xfrm>
            <a:off x="502920" y="5029200"/>
            <a:ext cx="5440680" cy="0"/>
          </a:xfrm>
          <a:prstGeom prst="rect">
            <a:avLst/>
          </a:prstGeom>
          <a:noFill/>
          <a:ln w="9525">
            <a:solidFill>
              <a:srgbClr val="DDE0DC"/>
            </a:solidFill>
            <a:prstDash val="solid"/>
          </a:ln>
        </p:spPr>
      </p:sp>
      <p:sp>
        <p:nvSpPr>
          <p:cNvPr id="18" name="Text 16"/>
          <p:cNvSpPr/>
          <p:nvPr/>
        </p:nvSpPr>
        <p:spPr>
          <a:xfrm>
            <a:off x="502920" y="4462272"/>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MAC choice provably cannot move any intercept — it is a slope contest</a:t>
            </a:r>
            <a:endParaRPr lang="en-US" sz="1100" dirty="0"/>
          </a:p>
        </p:txBody>
      </p:sp>
      <p:sp>
        <p:nvSpPr>
          <p:cNvPr id="19" name="Text 17"/>
          <p:cNvSpPr/>
          <p:nvPr/>
        </p:nvSpPr>
        <p:spPr>
          <a:xfrm>
            <a:off x="4754880" y="4535424"/>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done</a:t>
            </a:r>
            <a:endParaRPr lang="en-US" sz="850" dirty="0"/>
          </a:p>
        </p:txBody>
      </p:sp>
      <p:sp>
        <p:nvSpPr>
          <p:cNvPr id="20" name="Shape 18"/>
          <p:cNvSpPr/>
          <p:nvPr/>
        </p:nvSpPr>
        <p:spPr>
          <a:xfrm>
            <a:off x="502920" y="5687568"/>
            <a:ext cx="5440680" cy="0"/>
          </a:xfrm>
          <a:prstGeom prst="rect">
            <a:avLst/>
          </a:prstGeom>
          <a:noFill/>
          <a:ln w="9525">
            <a:solidFill>
              <a:srgbClr val="DDE0DC"/>
            </a:solidFill>
            <a:prstDash val="solid"/>
          </a:ln>
        </p:spPr>
      </p:sp>
      <p:sp>
        <p:nvSpPr>
          <p:cNvPr id="21" name="Text 19"/>
          <p:cNvSpPr/>
          <p:nvPr/>
        </p:nvSpPr>
        <p:spPr>
          <a:xfrm>
            <a:off x="502920" y="5120640"/>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HIPS wavelength confirmed: He–Ne 632.8 ≈ 633 nm, MAC 10 at 633</a:t>
            </a:r>
            <a:endParaRPr lang="en-US" sz="1100" dirty="0"/>
          </a:p>
        </p:txBody>
      </p:sp>
      <p:sp>
        <p:nvSpPr>
          <p:cNvPr id="22" name="Text 20"/>
          <p:cNvSpPr/>
          <p:nvPr/>
        </p:nvSpPr>
        <p:spPr>
          <a:xfrm>
            <a:off x="4754880" y="5193792"/>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resolved</a:t>
            </a:r>
            <a:endParaRPr lang="en-US" sz="850" dirty="0"/>
          </a:p>
        </p:txBody>
      </p:sp>
      <p:sp>
        <p:nvSpPr>
          <p:cNvPr id="23" name="Shape 21"/>
          <p:cNvSpPr/>
          <p:nvPr/>
        </p:nvSpPr>
        <p:spPr>
          <a:xfrm>
            <a:off x="502920" y="6345936"/>
            <a:ext cx="5440680" cy="0"/>
          </a:xfrm>
          <a:prstGeom prst="rect">
            <a:avLst/>
          </a:prstGeom>
          <a:noFill/>
          <a:ln w="9525">
            <a:solidFill>
              <a:srgbClr val="DDE0DC"/>
            </a:solidFill>
            <a:prstDash val="solid"/>
          </a:ln>
        </p:spPr>
      </p:sp>
      <p:sp>
        <p:nvSpPr>
          <p:cNvPr id="24" name="Text 22"/>
          <p:cNvSpPr/>
          <p:nvPr/>
        </p:nvSpPr>
        <p:spPr>
          <a:xfrm>
            <a:off x="502920" y="5779008"/>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Intercept restated as a MAC-invariant ~21 Mm⁻¹ absorption target</a:t>
            </a:r>
            <a:endParaRPr lang="en-US" sz="1100" dirty="0"/>
          </a:p>
        </p:txBody>
      </p:sp>
      <p:sp>
        <p:nvSpPr>
          <p:cNvPr id="25" name="Text 23"/>
          <p:cNvSpPr/>
          <p:nvPr/>
        </p:nvSpPr>
        <p:spPr>
          <a:xfrm>
            <a:off x="4754880" y="5852160"/>
            <a:ext cx="1188720" cy="402336"/>
          </a:xfrm>
          <a:prstGeom prst="rect">
            <a:avLst/>
          </a:prstGeom>
          <a:noFill/>
          <a:ln/>
        </p:spPr>
        <p:txBody>
          <a:bodyPr wrap="square" lIns="0" tIns="0" rIns="0" bIns="0" rtlCol="0" anchor="ctr"/>
          <a:lstStyle/>
          <a:p>
            <a:pPr algn="r" indent="0" marL="0">
              <a:buNone/>
            </a:pPr>
            <a:r>
              <a:rPr lang="en-US" sz="850" dirty="0">
                <a:solidFill>
                  <a:srgbClr val="3F7A56"/>
                </a:solidFill>
                <a:latin typeface="Courier New" pitchFamily="34" charset="0"/>
                <a:ea typeface="Courier New" pitchFamily="34" charset="-122"/>
                <a:cs typeface="Courier New" pitchFamily="34" charset="-120"/>
              </a:rPr>
              <a:t>committed</a:t>
            </a:r>
            <a:endParaRPr lang="en-US" sz="850" dirty="0"/>
          </a:p>
        </p:txBody>
      </p:sp>
      <p:sp>
        <p:nvSpPr>
          <p:cNvPr id="26" name="Text 24"/>
          <p:cNvSpPr/>
          <p:nvPr/>
        </p:nvSpPr>
        <p:spPr>
          <a:xfrm>
            <a:off x="6263640" y="1417320"/>
            <a:ext cx="5394960" cy="320040"/>
          </a:xfrm>
          <a:prstGeom prst="rect">
            <a:avLst/>
          </a:prstGeom>
          <a:noFill/>
          <a:ln/>
        </p:spPr>
        <p:txBody>
          <a:bodyPr wrap="square" lIns="0" tIns="0" rIns="0" bIns="0" rtlCol="0" anchor="ctr"/>
          <a:lstStyle/>
          <a:p>
            <a:pPr indent="0" marL="0">
              <a:buNone/>
            </a:pPr>
            <a:r>
              <a:rPr lang="en-US" sz="1400" b="1" dirty="0">
                <a:solidFill>
                  <a:srgbClr val="1A1D21"/>
                </a:solidFill>
                <a:latin typeface="Calibri" pitchFamily="34" charset="0"/>
                <a:ea typeface="Calibri" pitchFamily="34" charset="-122"/>
                <a:cs typeface="Calibri" pitchFamily="34" charset="-120"/>
              </a:rPr>
              <a:t>Open — mostly needs you</a:t>
            </a:r>
            <a:endParaRPr lang="en-US" sz="1400" dirty="0"/>
          </a:p>
        </p:txBody>
      </p:sp>
      <p:sp>
        <p:nvSpPr>
          <p:cNvPr id="27" name="Shape 25"/>
          <p:cNvSpPr/>
          <p:nvPr/>
        </p:nvSpPr>
        <p:spPr>
          <a:xfrm>
            <a:off x="6263640" y="2395728"/>
            <a:ext cx="5440680" cy="0"/>
          </a:xfrm>
          <a:prstGeom prst="rect">
            <a:avLst/>
          </a:prstGeom>
          <a:noFill/>
          <a:ln w="9525">
            <a:solidFill>
              <a:srgbClr val="DDE0DC"/>
            </a:solidFill>
            <a:prstDash val="solid"/>
          </a:ln>
        </p:spPr>
      </p:sp>
      <p:sp>
        <p:nvSpPr>
          <p:cNvPr id="28" name="Text 26"/>
          <p:cNvSpPr/>
          <p:nvPr/>
        </p:nvSpPr>
        <p:spPr>
          <a:xfrm>
            <a:off x="6263640" y="1828800"/>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Emily Lee's charcoal spectra (print-only in the paper)</a:t>
            </a:r>
            <a:endParaRPr lang="en-US" sz="1100" dirty="0"/>
          </a:p>
        </p:txBody>
      </p:sp>
      <p:sp>
        <p:nvSpPr>
          <p:cNvPr id="29" name="Text 27"/>
          <p:cNvSpPr/>
          <p:nvPr/>
        </p:nvSpPr>
        <p:spPr>
          <a:xfrm>
            <a:off x="10515600" y="1901952"/>
            <a:ext cx="1188720" cy="402336"/>
          </a:xfrm>
          <a:prstGeom prst="rect">
            <a:avLst/>
          </a:prstGeom>
          <a:noFill/>
          <a:ln/>
        </p:spPr>
        <p:txBody>
          <a:bodyPr wrap="square" lIns="0" tIns="0" rIns="0" bIns="0" rtlCol="0" anchor="ctr"/>
          <a:lstStyle/>
          <a:p>
            <a:pPr algn="r" indent="0" marL="0">
              <a:buNone/>
            </a:pPr>
            <a:r>
              <a:rPr lang="en-US" sz="850" dirty="0">
                <a:solidFill>
                  <a:srgbClr val="2C6E9E"/>
                </a:solidFill>
                <a:latin typeface="Courier New" pitchFamily="34" charset="0"/>
                <a:ea typeface="Courier New" pitchFamily="34" charset="-122"/>
                <a:cs typeface="Courier New" pitchFamily="34" charset="-120"/>
              </a:rPr>
              <a:t>ask</a:t>
            </a:r>
            <a:endParaRPr lang="en-US" sz="850" dirty="0"/>
          </a:p>
        </p:txBody>
      </p:sp>
      <p:sp>
        <p:nvSpPr>
          <p:cNvPr id="30" name="Shape 28"/>
          <p:cNvSpPr/>
          <p:nvPr/>
        </p:nvSpPr>
        <p:spPr>
          <a:xfrm>
            <a:off x="6263640" y="3054096"/>
            <a:ext cx="5440680" cy="0"/>
          </a:xfrm>
          <a:prstGeom prst="rect">
            <a:avLst/>
          </a:prstGeom>
          <a:noFill/>
          <a:ln w="9525">
            <a:solidFill>
              <a:srgbClr val="DDE0DC"/>
            </a:solidFill>
            <a:prstDash val="solid"/>
          </a:ln>
        </p:spPr>
      </p:sp>
      <p:sp>
        <p:nvSpPr>
          <p:cNvPr id="31" name="Text 29"/>
          <p:cNvSpPr/>
          <p:nvPr/>
        </p:nvSpPr>
        <p:spPr>
          <a:xfrm>
            <a:off x="6263640" y="2487168"/>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Sub-1500 cm⁻¹ model — status? (unblocks the band identity)</a:t>
            </a:r>
            <a:endParaRPr lang="en-US" sz="1100" dirty="0"/>
          </a:p>
        </p:txBody>
      </p:sp>
      <p:sp>
        <p:nvSpPr>
          <p:cNvPr id="32" name="Text 30"/>
          <p:cNvSpPr/>
          <p:nvPr/>
        </p:nvSpPr>
        <p:spPr>
          <a:xfrm>
            <a:off x="10515600" y="2560320"/>
            <a:ext cx="1188720" cy="402336"/>
          </a:xfrm>
          <a:prstGeom prst="rect">
            <a:avLst/>
          </a:prstGeom>
          <a:noFill/>
          <a:ln/>
        </p:spPr>
        <p:txBody>
          <a:bodyPr wrap="square" lIns="0" tIns="0" rIns="0" bIns="0" rtlCol="0" anchor="ctr"/>
          <a:lstStyle/>
          <a:p>
            <a:pPr algn="r" indent="0" marL="0">
              <a:buNone/>
            </a:pPr>
            <a:r>
              <a:rPr lang="en-US" sz="850" dirty="0">
                <a:solidFill>
                  <a:srgbClr val="2C6E9E"/>
                </a:solidFill>
                <a:latin typeface="Courier New" pitchFamily="34" charset="0"/>
                <a:ea typeface="Courier New" pitchFamily="34" charset="-122"/>
                <a:cs typeface="Courier New" pitchFamily="34" charset="-120"/>
              </a:rPr>
              <a:t>ask</a:t>
            </a:r>
            <a:endParaRPr lang="en-US" sz="850" dirty="0"/>
          </a:p>
        </p:txBody>
      </p:sp>
      <p:sp>
        <p:nvSpPr>
          <p:cNvPr id="33" name="Shape 31"/>
          <p:cNvSpPr/>
          <p:nvPr/>
        </p:nvSpPr>
        <p:spPr>
          <a:xfrm>
            <a:off x="6263640" y="3712464"/>
            <a:ext cx="5440680" cy="0"/>
          </a:xfrm>
          <a:prstGeom prst="rect">
            <a:avLst/>
          </a:prstGeom>
          <a:noFill/>
          <a:ln w="9525">
            <a:solidFill>
              <a:srgbClr val="DDE0DC"/>
            </a:solidFill>
            <a:prstDash val="solid"/>
          </a:ln>
        </p:spPr>
      </p:sp>
      <p:sp>
        <p:nvSpPr>
          <p:cNvPr id="34" name="Text 32"/>
          <p:cNvSpPr/>
          <p:nvPr/>
        </p:nvSpPr>
        <p:spPr>
          <a:xfrm>
            <a:off x="6263640" y="3145536"/>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Why does baselining help if baseline carries EC signal?</a:t>
            </a:r>
            <a:endParaRPr lang="en-US" sz="1100" dirty="0"/>
          </a:p>
        </p:txBody>
      </p:sp>
      <p:sp>
        <p:nvSpPr>
          <p:cNvPr id="35" name="Text 33"/>
          <p:cNvSpPr/>
          <p:nvPr/>
        </p:nvSpPr>
        <p:spPr>
          <a:xfrm>
            <a:off x="10515600" y="3218688"/>
            <a:ext cx="1188720" cy="402336"/>
          </a:xfrm>
          <a:prstGeom prst="rect">
            <a:avLst/>
          </a:prstGeom>
          <a:noFill/>
          <a:ln/>
        </p:spPr>
        <p:txBody>
          <a:bodyPr wrap="square" lIns="0" tIns="0" rIns="0" bIns="0" rtlCol="0" anchor="ctr"/>
          <a:lstStyle/>
          <a:p>
            <a:pPr algn="r" indent="0" marL="0">
              <a:buNone/>
            </a:pPr>
            <a:r>
              <a:rPr lang="en-US" sz="850" dirty="0">
                <a:solidFill>
                  <a:srgbClr val="2C6E9E"/>
                </a:solidFill>
                <a:latin typeface="Courier New" pitchFamily="34" charset="0"/>
                <a:ea typeface="Courier New" pitchFamily="34" charset="-122"/>
                <a:cs typeface="Courier New" pitchFamily="34" charset="-120"/>
              </a:rPr>
              <a:t>discuss</a:t>
            </a:r>
            <a:endParaRPr lang="en-US" sz="850" dirty="0"/>
          </a:p>
        </p:txBody>
      </p:sp>
      <p:sp>
        <p:nvSpPr>
          <p:cNvPr id="36" name="Shape 34"/>
          <p:cNvSpPr/>
          <p:nvPr/>
        </p:nvSpPr>
        <p:spPr>
          <a:xfrm>
            <a:off x="6263640" y="4370832"/>
            <a:ext cx="5440680" cy="0"/>
          </a:xfrm>
          <a:prstGeom prst="rect">
            <a:avLst/>
          </a:prstGeom>
          <a:noFill/>
          <a:ln w="9525">
            <a:solidFill>
              <a:srgbClr val="DDE0DC"/>
            </a:solidFill>
            <a:prstDash val="solid"/>
          </a:ln>
        </p:spPr>
      </p:sp>
      <p:sp>
        <p:nvSpPr>
          <p:cNvPr id="37" name="Text 35"/>
          <p:cNvSpPr/>
          <p:nvPr/>
        </p:nvSpPr>
        <p:spPr>
          <a:xfrm>
            <a:off x="6263640" y="3803904"/>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How many PLS components — and must it match across models?</a:t>
            </a:r>
            <a:endParaRPr lang="en-US" sz="1100" dirty="0"/>
          </a:p>
        </p:txBody>
      </p:sp>
      <p:sp>
        <p:nvSpPr>
          <p:cNvPr id="38" name="Text 36"/>
          <p:cNvSpPr/>
          <p:nvPr/>
        </p:nvSpPr>
        <p:spPr>
          <a:xfrm>
            <a:off x="10515600" y="3877056"/>
            <a:ext cx="1188720" cy="402336"/>
          </a:xfrm>
          <a:prstGeom prst="rect">
            <a:avLst/>
          </a:prstGeom>
          <a:noFill/>
          <a:ln/>
        </p:spPr>
        <p:txBody>
          <a:bodyPr wrap="square" lIns="0" tIns="0" rIns="0" bIns="0" rtlCol="0" anchor="ctr"/>
          <a:lstStyle/>
          <a:p>
            <a:pPr algn="r" indent="0" marL="0">
              <a:buNone/>
            </a:pPr>
            <a:r>
              <a:rPr lang="en-US" sz="850" dirty="0">
                <a:solidFill>
                  <a:srgbClr val="2C6E9E"/>
                </a:solidFill>
                <a:latin typeface="Courier New" pitchFamily="34" charset="0"/>
                <a:ea typeface="Courier New" pitchFamily="34" charset="-122"/>
                <a:cs typeface="Courier New" pitchFamily="34" charset="-120"/>
              </a:rPr>
              <a:t>discuss</a:t>
            </a:r>
            <a:endParaRPr lang="en-US" sz="850" dirty="0"/>
          </a:p>
        </p:txBody>
      </p:sp>
      <p:sp>
        <p:nvSpPr>
          <p:cNvPr id="39" name="Shape 37"/>
          <p:cNvSpPr/>
          <p:nvPr/>
        </p:nvSpPr>
        <p:spPr>
          <a:xfrm>
            <a:off x="6263640" y="5029200"/>
            <a:ext cx="5440680" cy="0"/>
          </a:xfrm>
          <a:prstGeom prst="rect">
            <a:avLst/>
          </a:prstGeom>
          <a:noFill/>
          <a:ln w="9525">
            <a:solidFill>
              <a:srgbClr val="DDE0DC"/>
            </a:solidFill>
            <a:prstDash val="solid"/>
          </a:ln>
        </p:spPr>
      </p:sp>
      <p:sp>
        <p:nvSpPr>
          <p:cNvPr id="40" name="Text 38"/>
          <p:cNvSpPr/>
          <p:nvPr/>
        </p:nvSpPr>
        <p:spPr>
          <a:xfrm>
            <a:off x="6263640" y="4462272"/>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INDH / CHTS / ETBI spectra export (same shape as the ETAD pull)</a:t>
            </a:r>
            <a:endParaRPr lang="en-US" sz="1100" dirty="0"/>
          </a:p>
        </p:txBody>
      </p:sp>
      <p:sp>
        <p:nvSpPr>
          <p:cNvPr id="41" name="Text 39"/>
          <p:cNvSpPr/>
          <p:nvPr/>
        </p:nvSpPr>
        <p:spPr>
          <a:xfrm>
            <a:off x="10515600" y="4535424"/>
            <a:ext cx="1188720" cy="402336"/>
          </a:xfrm>
          <a:prstGeom prst="rect">
            <a:avLst/>
          </a:prstGeom>
          <a:noFill/>
          <a:ln/>
        </p:spPr>
        <p:txBody>
          <a:bodyPr wrap="square" lIns="0" tIns="0" rIns="0" bIns="0" rtlCol="0" anchor="ctr"/>
          <a:lstStyle/>
          <a:p>
            <a:pPr algn="r" indent="0" marL="0">
              <a:buNone/>
            </a:pPr>
            <a:r>
              <a:rPr lang="en-US" sz="850" dirty="0">
                <a:solidFill>
                  <a:srgbClr val="B23327"/>
                </a:solidFill>
                <a:latin typeface="Courier New" pitchFamily="34" charset="0"/>
                <a:ea typeface="Courier New" pitchFamily="34" charset="-122"/>
                <a:cs typeface="Courier New" pitchFamily="34" charset="-120"/>
              </a:rPr>
              <a:t>blocked · data</a:t>
            </a:r>
            <a:endParaRPr lang="en-US" sz="850" dirty="0"/>
          </a:p>
        </p:txBody>
      </p:sp>
      <p:sp>
        <p:nvSpPr>
          <p:cNvPr id="42" name="Shape 40"/>
          <p:cNvSpPr/>
          <p:nvPr/>
        </p:nvSpPr>
        <p:spPr>
          <a:xfrm>
            <a:off x="6263640" y="5687568"/>
            <a:ext cx="5440680" cy="0"/>
          </a:xfrm>
          <a:prstGeom prst="rect">
            <a:avLst/>
          </a:prstGeom>
          <a:noFill/>
          <a:ln w="9525">
            <a:solidFill>
              <a:srgbClr val="DDE0DC"/>
            </a:solidFill>
            <a:prstDash val="solid"/>
          </a:ln>
        </p:spPr>
      </p:sp>
      <p:sp>
        <p:nvSpPr>
          <p:cNvPr id="43" name="Text 41"/>
          <p:cNvSpPr/>
          <p:nvPr/>
        </p:nvSpPr>
        <p:spPr>
          <a:xfrm>
            <a:off x="6263640" y="5120640"/>
            <a:ext cx="4206240" cy="56692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Charcoal ATR: worth it, given grinding stops at 10–40 µm?</a:t>
            </a:r>
            <a:endParaRPr lang="en-US" sz="1100" dirty="0"/>
          </a:p>
        </p:txBody>
      </p:sp>
      <p:sp>
        <p:nvSpPr>
          <p:cNvPr id="44" name="Text 42"/>
          <p:cNvSpPr/>
          <p:nvPr/>
        </p:nvSpPr>
        <p:spPr>
          <a:xfrm>
            <a:off x="10515600" y="5193792"/>
            <a:ext cx="1188720" cy="402336"/>
          </a:xfrm>
          <a:prstGeom prst="rect">
            <a:avLst/>
          </a:prstGeom>
          <a:noFill/>
          <a:ln/>
        </p:spPr>
        <p:txBody>
          <a:bodyPr wrap="square" lIns="0" tIns="0" rIns="0" bIns="0" rtlCol="0" anchor="ctr"/>
          <a:lstStyle/>
          <a:p>
            <a:pPr algn="r" indent="0" marL="0">
              <a:buNone/>
            </a:pPr>
            <a:r>
              <a:rPr lang="en-US" sz="850" dirty="0">
                <a:solidFill>
                  <a:srgbClr val="2C6E9E"/>
                </a:solidFill>
                <a:latin typeface="Courier New" pitchFamily="34" charset="0"/>
                <a:ea typeface="Courier New" pitchFamily="34" charset="-122"/>
                <a:cs typeface="Courier New" pitchFamily="34" charset="-120"/>
              </a:rPr>
              <a:t>advise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A·01 · THE PROBLEM — DEPLOYED CALIBRATION AT ADDIS</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The deployed calibration reads y = 1.90x − 4.17 at MAC = 10.</a:t>
            </a:r>
            <a:endParaRPr lang="en-US" sz="2600" dirty="0"/>
          </a:p>
        </p:txBody>
      </p:sp>
      <p:sp>
        <p:nvSpPr>
          <p:cNvPr id="4" name="Shape 2"/>
          <p:cNvSpPr/>
          <p:nvPr/>
        </p:nvSpPr>
        <p:spPr>
          <a:xfrm>
            <a:off x="4297680" y="1554480"/>
            <a:ext cx="740664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deployed_alldata_crossplot.png">    </p:cNvPr>
          <p:cNvPicPr>
            <a:picLocks noChangeAspect="1"/>
          </p:cNvPicPr>
          <p:nvPr/>
        </p:nvPicPr>
        <p:blipFill>
          <a:blip r:embed="rId1"/>
          <a:srcRect l="0" r="0" t="0" b="0"/>
          <a:stretch/>
        </p:blipFill>
        <p:spPr>
          <a:xfrm>
            <a:off x="4352544" y="1609344"/>
            <a:ext cx="7296912" cy="4370832"/>
          </a:xfrm>
          <a:prstGeom prst="rect">
            <a:avLst/>
          </a:prstGeom>
        </p:spPr>
      </p:pic>
      <p:sp>
        <p:nvSpPr>
          <p:cNvPr id="6" name="Text 3"/>
          <p:cNvSpPr/>
          <p:nvPr/>
        </p:nvSpPr>
        <p:spPr>
          <a:xfrm>
            <a:off x="4389120" y="6016752"/>
            <a:ext cx="722376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ftir_17 · deployed_alldata_crossplot   </a:t>
            </a:r>
            <a:pPr indent="0" marL="0">
              <a:buNone/>
            </a:pPr>
            <a:r>
              <a:rPr lang="en-US" sz="950" i="1" dirty="0">
                <a:solidFill>
                  <a:srgbClr val="5E6369"/>
                </a:solidFill>
                <a:latin typeface="Calibri" pitchFamily="34" charset="0"/>
                <a:ea typeface="Calibri" pitchFamily="34" charset="-122"/>
                <a:cs typeface="Calibri" pitchFamily="34" charset="-120"/>
              </a:rPr>
              <a:t>FTIR EC (y, µg/m³) vs HIPS Fabs/MAC (x); deployed predictions exist only for the fixed 190</a:t>
            </a:r>
            <a:endParaRPr lang="en-US" sz="850" dirty="0"/>
          </a:p>
        </p:txBody>
      </p:sp>
      <p:sp>
        <p:nvSpPr>
          <p:cNvPr id="7" name="Text 4"/>
          <p:cNvSpPr/>
          <p:nvPr/>
        </p:nvSpPr>
        <p:spPr>
          <a:xfrm>
            <a:off x="502920" y="1737360"/>
            <a:ext cx="3566160" cy="310896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network calibration, carried to Addis, is steep with a deep negative y-intercept (µg/m³).</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At MAC 6 it pivots to slope 1.14 but the intercept stays at −4.17 — dividing x by a constant cannot move where the line crosses y. Proved for every setup in part D.</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Nothing at Addis has negative EC; the offset is the model, not the air.</a:t>
            </a:r>
            <a:endParaRPr lang="en-US" sz="1250" dirty="0"/>
          </a:p>
        </p:txBody>
      </p:sp>
      <p:sp>
        <p:nvSpPr>
          <p:cNvPr id="8" name="Shape 5"/>
          <p:cNvSpPr/>
          <p:nvPr/>
        </p:nvSpPr>
        <p:spPr>
          <a:xfrm>
            <a:off x="502920" y="475488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475488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MAC 10  </a:t>
            </a:r>
            <a:pPr indent="0" marL="0">
              <a:buNone/>
            </a:pPr>
            <a:r>
              <a:rPr lang="en-US" sz="1100" b="1" dirty="0">
                <a:solidFill>
                  <a:srgbClr val="B23327"/>
                </a:solidFill>
                <a:latin typeface="Calibri" pitchFamily="34" charset="0"/>
                <a:ea typeface="Calibri" pitchFamily="34" charset="-122"/>
                <a:cs typeface="Calibri" pitchFamily="34" charset="-120"/>
              </a:rPr>
              <a:t>1.90x − 4.17</a:t>
            </a:r>
            <a:endParaRPr lang="en-US" sz="1100" dirty="0"/>
          </a:p>
        </p:txBody>
      </p:sp>
      <p:sp>
        <p:nvSpPr>
          <p:cNvPr id="10" name="Shape 7"/>
          <p:cNvSpPr/>
          <p:nvPr/>
        </p:nvSpPr>
        <p:spPr>
          <a:xfrm>
            <a:off x="502920" y="526694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26694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MAC 6  </a:t>
            </a:r>
            <a:pPr indent="0" marL="0">
              <a:buNone/>
            </a:pPr>
            <a:r>
              <a:rPr lang="en-US" sz="1100" b="1" dirty="0">
                <a:solidFill>
                  <a:srgbClr val="2C6E9E"/>
                </a:solidFill>
                <a:latin typeface="Calibri" pitchFamily="34" charset="0"/>
                <a:ea typeface="Calibri" pitchFamily="34" charset="-122"/>
                <a:cs typeface="Calibri" pitchFamily="34" charset="-120"/>
              </a:rPr>
              <a:t>1.14x − 4.17</a:t>
            </a:r>
            <a:endParaRPr lang="en-US" sz="1100" dirty="0"/>
          </a:p>
        </p:txBody>
      </p:sp>
      <p:sp>
        <p:nvSpPr>
          <p:cNvPr id="12" name="Shape 9"/>
          <p:cNvSpPr/>
          <p:nvPr/>
        </p:nvSpPr>
        <p:spPr>
          <a:xfrm>
            <a:off x="502920" y="577900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577900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implied “native” MAC  </a:t>
            </a:r>
            <a:pPr indent="0" marL="0">
              <a:buNone/>
            </a:pPr>
            <a:r>
              <a:rPr lang="en-US" sz="1100" b="1" dirty="0">
                <a:solidFill>
                  <a:srgbClr val="B0792B"/>
                </a:solidFill>
                <a:latin typeface="Calibri" pitchFamily="34" charset="0"/>
                <a:ea typeface="Calibri" pitchFamily="34" charset="-122"/>
                <a:cs typeface="Calibri" pitchFamily="34" charset="-120"/>
              </a:rPr>
              <a:t>≈ 5.3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A·02 · ANN'S COHORT — WHAT “LOWEST OC/EC” MEANS</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Addis-like composition is the extreme tail of IMPROVE — 800 filters out of 13,010.</a:t>
            </a:r>
            <a:endParaRPr lang="en-US" sz="2600" dirty="0"/>
          </a:p>
        </p:txBody>
      </p:sp>
      <p:sp>
        <p:nvSpPr>
          <p:cNvPr id="4" name="Shape 2"/>
          <p:cNvSpPr/>
          <p:nvPr/>
        </p:nvSpPr>
        <p:spPr>
          <a:xfrm>
            <a:off x="4297680" y="1554480"/>
            <a:ext cx="740664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filtering_by_ocec.png">    </p:cNvPr>
          <p:cNvPicPr>
            <a:picLocks noChangeAspect="1"/>
          </p:cNvPicPr>
          <p:nvPr/>
        </p:nvPicPr>
        <p:blipFill>
          <a:blip r:embed="rId1"/>
          <a:srcRect l="0" r="0" t="0" b="0"/>
          <a:stretch/>
        </p:blipFill>
        <p:spPr>
          <a:xfrm>
            <a:off x="4352544" y="1609344"/>
            <a:ext cx="7296912" cy="4370832"/>
          </a:xfrm>
          <a:prstGeom prst="rect">
            <a:avLst/>
          </a:prstGeom>
        </p:spPr>
      </p:pic>
      <p:sp>
        <p:nvSpPr>
          <p:cNvPr id="6" name="Text 3"/>
          <p:cNvSpPr/>
          <p:nvPr/>
        </p:nvSpPr>
        <p:spPr>
          <a:xfrm>
            <a:off x="4389120" y="6016752"/>
            <a:ext cx="722376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deck · filtering_by_ocec   </a:t>
            </a:r>
            <a:pPr indent="0" marL="0">
              <a:buNone/>
            </a:pPr>
            <a:r>
              <a:rPr lang="en-US" sz="950" i="1" dirty="0">
                <a:solidFill>
                  <a:srgbClr val="5E6369"/>
                </a:solidFill>
                <a:latin typeface="Calibri" pitchFamily="34" charset="0"/>
                <a:ea typeface="Calibri" pitchFamily="34" charset="-122"/>
                <a:cs typeface="Calibri" pitchFamily="34" charset="-120"/>
              </a:rPr>
              <a:t>Cutoff OC/EC ≤ 2.27; IMPROVE pool median 5.54</a:t>
            </a:r>
            <a:endParaRPr lang="en-US" sz="850" dirty="0"/>
          </a:p>
        </p:txBody>
      </p:sp>
      <p:sp>
        <p:nvSpPr>
          <p:cNvPr id="7" name="Text 4"/>
          <p:cNvSpPr/>
          <p:nvPr/>
        </p:nvSpPr>
        <p:spPr>
          <a:xfrm>
            <a:off x="502920" y="1737360"/>
            <a:ext cx="3566160" cy="356616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Addis offset implies OC/EC far below anything IMPROVE routinely sees. The 800 lowest-OC/EC filters (≤ 2.27 vs pool median 5.54) are the closest IMPROVE gets to Addis composition.</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Like-for-like, that cohort wins: same 190 Addis filters, RMSE 1.16 vs 1.48–2.24 µg/m³; held-out TOR R² 0.911 vs 0.594–0.775.</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New since yesterday: the Ethiopia-shaped-300 and lowest-OC/EC-800 cohorts share 1 filter. Shape-similarity and composition-similarity select disjoint filters.</a:t>
            </a:r>
            <a:endParaRPr lang="en-US" sz="1250" dirty="0"/>
          </a:p>
        </p:txBody>
      </p:sp>
      <p:sp>
        <p:nvSpPr>
          <p:cNvPr id="8" name="Shape 5"/>
          <p:cNvSpPr/>
          <p:nvPr/>
        </p:nvSpPr>
        <p:spPr>
          <a:xfrm>
            <a:off x="502920" y="525780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25780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cutoff  </a:t>
            </a:r>
            <a:pPr indent="0" marL="0">
              <a:buNone/>
            </a:pPr>
            <a:r>
              <a:rPr lang="en-US" sz="1100" b="1" dirty="0">
                <a:solidFill>
                  <a:srgbClr val="7A4FA3"/>
                </a:solidFill>
                <a:latin typeface="Calibri" pitchFamily="34" charset="0"/>
                <a:ea typeface="Calibri" pitchFamily="34" charset="-122"/>
                <a:cs typeface="Calibri" pitchFamily="34" charset="-120"/>
              </a:rPr>
              <a:t>OC/EC ≤ 2.27</a:t>
            </a:r>
            <a:endParaRPr lang="en-US" sz="1100" dirty="0"/>
          </a:p>
        </p:txBody>
      </p:sp>
      <p:sp>
        <p:nvSpPr>
          <p:cNvPr id="10" name="Shape 7"/>
          <p:cNvSpPr/>
          <p:nvPr/>
        </p:nvSpPr>
        <p:spPr>
          <a:xfrm>
            <a:off x="502920" y="576986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76986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eth-300 ∩ ocec-800  </a:t>
            </a:r>
            <a:pPr indent="0" marL="0">
              <a:buNone/>
            </a:pPr>
            <a:r>
              <a:rPr lang="en-US" sz="1100" b="1" dirty="0">
                <a:solidFill>
                  <a:srgbClr val="B23327"/>
                </a:solidFill>
                <a:latin typeface="Calibri" pitchFamily="34" charset="0"/>
                <a:ea typeface="Calibri" pitchFamily="34" charset="-122"/>
                <a:cs typeface="Calibri" pitchFamily="34" charset="-120"/>
              </a:rPr>
              <a:t>1 filter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A·03 · EVERY TRAINING CHOICE, ONE TABLE — SITE-HELD-OUT PROTOCOL, INTERCEPTS IN ΜG/M³</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Lowest-OC/EC + baseline correction ends at −1.62 — and is the only setup robust to who processes it.</a:t>
            </a:r>
            <a:endParaRPr lang="en-US" sz="2600" dirty="0"/>
          </a:p>
        </p:txBody>
      </p:sp>
      <p:sp>
        <p:nvSpPr>
          <p:cNvPr id="4" name="Shape 2"/>
          <p:cNvSpPr/>
          <p:nvPr/>
        </p:nvSpPr>
        <p:spPr>
          <a:xfrm>
            <a:off x="3977640" y="1554480"/>
            <a:ext cx="772668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calibration_setup_matrix_shp.png">    </p:cNvPr>
          <p:cNvPicPr>
            <a:picLocks noChangeAspect="1"/>
          </p:cNvPicPr>
          <p:nvPr/>
        </p:nvPicPr>
        <p:blipFill>
          <a:blip r:embed="rId1"/>
          <a:srcRect l="0" r="0" t="0" b="0"/>
          <a:stretch/>
        </p:blipFill>
        <p:spPr>
          <a:xfrm>
            <a:off x="4032504" y="1609344"/>
            <a:ext cx="7616952" cy="4370832"/>
          </a:xfrm>
          <a:prstGeom prst="rect">
            <a:avLst/>
          </a:prstGeom>
        </p:spPr>
      </p:pic>
      <p:sp>
        <p:nvSpPr>
          <p:cNvPr id="6" name="Text 3"/>
          <p:cNvSpPr/>
          <p:nvPr/>
        </p:nvSpPr>
        <p:spPr>
          <a:xfrm>
            <a:off x="4069080" y="6016752"/>
            <a:ext cx="754380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by_protocol/site_held_out · calibration_setup_matrix   </a:t>
            </a:r>
            <a:pPr indent="0" marL="0">
              <a:buNone/>
            </a:pPr>
            <a:r>
              <a:rPr lang="en-US" sz="950" i="1" dirty="0">
                <a:solidFill>
                  <a:srgbClr val="5E6369"/>
                </a:solidFill>
                <a:latin typeface="Calibri" pitchFamily="34" charset="0"/>
                <a:ea typeface="Calibri" pitchFamily="34" charset="-122"/>
                <a:cs typeface="Calibri" pitchFamily="34" charset="-120"/>
              </a:rPr>
              <a:t>All intercepts µg/m³, site-grouped 5-fold CV, first-major-minimum k. Row 1 = whole IMPROVE network; ETAD spectra are evaluation-only</a:t>
            </a:r>
            <a:endParaRPr lang="en-US" sz="850" dirty="0"/>
          </a:p>
        </p:txBody>
      </p:sp>
      <p:sp>
        <p:nvSpPr>
          <p:cNvPr id="7" name="Text 4"/>
          <p:cNvSpPr/>
          <p:nvPr/>
        </p:nvSpPr>
        <p:spPr>
          <a:xfrm>
            <a:off x="502920" y="1737360"/>
            <a:ext cx="3246120" cy="356616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intercept ladder: −4.17 (deployed) → −3.22 (lowest-OC/EC raw) → −1.62 (+ baseline correction).</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Protocol matters more than MAC: the same smoke-906 filters give −0.99 here (k = 4) but −6.91 under the Calibration-app protocol (k = 19). The corrected setup is the one that barely moves: −1.65 vs −1.62.</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It also passes the disjoint-site TOR test cleanly (slope 1.01, R² 0.90).</a:t>
            </a:r>
            <a:endParaRPr lang="en-US" sz="1250" dirty="0"/>
          </a:p>
        </p:txBody>
      </p:sp>
      <p:sp>
        <p:nvSpPr>
          <p:cNvPr id="8" name="Shape 5"/>
          <p:cNvSpPr/>
          <p:nvPr/>
        </p:nvSpPr>
        <p:spPr>
          <a:xfrm>
            <a:off x="502920" y="507492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07492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corrected intercept  </a:t>
            </a:r>
            <a:pPr indent="0" marL="0">
              <a:buNone/>
            </a:pPr>
            <a:r>
              <a:rPr lang="en-US" sz="1100" b="1" dirty="0">
                <a:solidFill>
                  <a:srgbClr val="B23327"/>
                </a:solidFill>
                <a:latin typeface="Calibri" pitchFamily="34" charset="0"/>
                <a:ea typeface="Calibri" pitchFamily="34" charset="-122"/>
                <a:cs typeface="Calibri" pitchFamily="34" charset="-120"/>
              </a:rPr>
              <a:t>−1.62 µg/m³</a:t>
            </a:r>
            <a:endParaRPr lang="en-US" sz="1100" dirty="0"/>
          </a:p>
        </p:txBody>
      </p:sp>
      <p:sp>
        <p:nvSpPr>
          <p:cNvPr id="10" name="Shape 7"/>
          <p:cNvSpPr/>
          <p:nvPr/>
        </p:nvSpPr>
        <p:spPr>
          <a:xfrm>
            <a:off x="502920" y="558698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58698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protocol-robust  </a:t>
            </a:r>
            <a:pPr indent="0" marL="0">
              <a:buNone/>
            </a:pPr>
            <a:r>
              <a:rPr lang="en-US" sz="1100" b="1" dirty="0">
                <a:solidFill>
                  <a:srgbClr val="3F7A56"/>
                </a:solidFill>
                <a:latin typeface="Calibri" pitchFamily="34" charset="0"/>
                <a:ea typeface="Calibri" pitchFamily="34" charset="-122"/>
                <a:cs typeface="Calibri" pitchFamily="34" charset="-120"/>
              </a:rPr>
              <a:t>−1.65 / −1.62</a:t>
            </a:r>
            <a:endParaRPr lang="en-US" sz="1100" dirty="0"/>
          </a:p>
        </p:txBody>
      </p:sp>
      <p:sp>
        <p:nvSpPr>
          <p:cNvPr id="12" name="Shape 9"/>
          <p:cNvSpPr/>
          <p:nvPr/>
        </p:nvSpPr>
        <p:spPr>
          <a:xfrm>
            <a:off x="502920" y="609904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09904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smoke by protocol  </a:t>
            </a:r>
            <a:pPr indent="0" marL="0">
              <a:buNone/>
            </a:pPr>
            <a:r>
              <a:rPr lang="en-US" sz="1100" b="1" dirty="0">
                <a:solidFill>
                  <a:srgbClr val="B0792B"/>
                </a:solidFill>
                <a:latin typeface="Calibri" pitchFamily="34" charset="0"/>
                <a:ea typeface="Calibri" pitchFamily="34" charset="-122"/>
                <a:cs typeface="Calibri" pitchFamily="34" charset="-120"/>
              </a:rPr>
              <a:t>−0.99 vs −6.91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B·04 · YOUR BASELINING SUGGESTION, IMPLEMENTED — 1 OF 3</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At the CH band, ~91% of a raw Addis spectrum is background, not chemistry.</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airspec_1_baseline.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deck · airspec_1_baseline   </a:t>
            </a:r>
            <a:pPr indent="0" marL="0">
              <a:buNone/>
            </a:pPr>
            <a:r>
              <a:rPr lang="en-US" sz="950" i="1" dirty="0">
                <a:solidFill>
                  <a:srgbClr val="5E6369"/>
                </a:solidFill>
                <a:latin typeface="Calibri" pitchFamily="34" charset="0"/>
                <a:ea typeface="Calibri" pitchFamily="34" charset="-122"/>
                <a:cs typeface="Calibri" pitchFamily="34" charset="-120"/>
              </a:rPr>
              <a:t>One real filter (median-like on all four bands and baseline height); grey = all 239. Not an average.</a:t>
            </a:r>
            <a:endParaRPr lang="en-US" sz="850" dirty="0"/>
          </a:p>
        </p:txBody>
      </p:sp>
      <p:sp>
        <p:nvSpPr>
          <p:cNvPr id="7" name="Text 4"/>
          <p:cNvSpPr/>
          <p:nvPr/>
        </p:nvSpPr>
        <p:spPr>
          <a:xfrm>
            <a:off x="502920" y="1737360"/>
            <a:ext cx="3291840" cy="356616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“Baseline-corrected (AIRSpec)” throughout = the APRLssb segmented-spline correction only — we use that one component of the package.</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black line is a single real filter; the red dash is the baseline fitted underneath it, per spectrum. The shaded sliver is all that is actually bands.</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Port note: reimplemented in Python and validated against your group's R output on the ETAD scans to ≤ 6×10⁻⁷ absorbance. EDF 6 vs 8: indistinguishable (Δslope &lt; 0.01).</a:t>
            </a:r>
            <a:endParaRPr lang="en-US" sz="1250" dirty="0"/>
          </a:p>
        </p:txBody>
      </p:sp>
      <p:sp>
        <p:nvSpPr>
          <p:cNvPr id="8" name="Shape 5"/>
          <p:cNvSpPr/>
          <p:nvPr/>
        </p:nvSpPr>
        <p:spPr>
          <a:xfrm>
            <a:off x="502920" y="507492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07492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CH-band baseline share  </a:t>
            </a:r>
            <a:pPr indent="0" marL="0">
              <a:buNone/>
            </a:pPr>
            <a:r>
              <a:rPr lang="en-US" sz="1100" b="1" dirty="0">
                <a:solidFill>
                  <a:srgbClr val="B23327"/>
                </a:solidFill>
                <a:latin typeface="Calibri" pitchFamily="34" charset="0"/>
                <a:ea typeface="Calibri" pitchFamily="34" charset="-122"/>
                <a:cs typeface="Calibri" pitchFamily="34" charset="-120"/>
              </a:rPr>
              <a:t>~91%</a:t>
            </a:r>
            <a:endParaRPr lang="en-US" sz="1100" dirty="0"/>
          </a:p>
        </p:txBody>
      </p:sp>
      <p:sp>
        <p:nvSpPr>
          <p:cNvPr id="10" name="Shape 7"/>
          <p:cNvSpPr/>
          <p:nvPr/>
        </p:nvSpPr>
        <p:spPr>
          <a:xfrm>
            <a:off x="502920" y="558698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58698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port vs R  </a:t>
            </a:r>
            <a:pPr indent="0" marL="0">
              <a:buNone/>
            </a:pPr>
            <a:r>
              <a:rPr lang="en-US" sz="1100" b="1" dirty="0">
                <a:solidFill>
                  <a:srgbClr val="2C6E9E"/>
                </a:solidFill>
                <a:latin typeface="Calibri" pitchFamily="34" charset="0"/>
                <a:ea typeface="Calibri" pitchFamily="34" charset="-122"/>
                <a:cs typeface="Calibri" pitchFamily="34" charset="-120"/>
              </a:rPr>
              <a:t>≤ 6×10⁻⁷</a:t>
            </a:r>
            <a:endParaRPr lang="en-US" sz="1100" dirty="0"/>
          </a:p>
        </p:txBody>
      </p:sp>
      <p:sp>
        <p:nvSpPr>
          <p:cNvPr id="12" name="Shape 9"/>
          <p:cNvSpPr/>
          <p:nvPr/>
        </p:nvSpPr>
        <p:spPr>
          <a:xfrm>
            <a:off x="502920" y="609904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09904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EDF 6 vs 8  </a:t>
            </a:r>
            <a:pPr indent="0" marL="0">
              <a:buNone/>
            </a:pPr>
            <a:r>
              <a:rPr lang="en-US" sz="1100" b="1" dirty="0">
                <a:solidFill>
                  <a:srgbClr val="5E6369"/>
                </a:solidFill>
                <a:latin typeface="Calibri" pitchFamily="34" charset="0"/>
                <a:ea typeface="Calibri" pitchFamily="34" charset="-122"/>
                <a:cs typeface="Calibri" pitchFamily="34" charset="-120"/>
              </a:rPr>
              <a:t>Δslope &lt; 0.01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B·05 · YOUR BASELINING SUGGESTION, IMPLEMENTED — 2 &amp; 3 OF 3</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What is left is a thin skin — and Addis rides a higher background than its calibration cohort.</a:t>
            </a:r>
            <a:endParaRPr lang="en-US" sz="2600" dirty="0"/>
          </a:p>
        </p:txBody>
      </p:sp>
      <p:sp>
        <p:nvSpPr>
          <p:cNvPr id="4" name="Shape 2"/>
          <p:cNvSpPr/>
          <p:nvPr/>
        </p:nvSpPr>
        <p:spPr>
          <a:xfrm>
            <a:off x="502920" y="1600200"/>
            <a:ext cx="5577840" cy="427024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airspec_2_corrected.png">    </p:cNvPr>
          <p:cNvPicPr>
            <a:picLocks noChangeAspect="1"/>
          </p:cNvPicPr>
          <p:nvPr/>
        </p:nvPicPr>
        <p:blipFill>
          <a:blip r:embed="rId1"/>
          <a:srcRect l="0" r="0" t="0" b="0"/>
          <a:stretch/>
        </p:blipFill>
        <p:spPr>
          <a:xfrm>
            <a:off x="557784" y="1655064"/>
            <a:ext cx="5468112" cy="3867912"/>
          </a:xfrm>
          <a:prstGeom prst="rect">
            <a:avLst/>
          </a:prstGeom>
        </p:spPr>
      </p:pic>
      <p:sp>
        <p:nvSpPr>
          <p:cNvPr id="6" name="Text 3"/>
          <p:cNvSpPr/>
          <p:nvPr/>
        </p:nvSpPr>
        <p:spPr>
          <a:xfrm>
            <a:off x="594360" y="5559552"/>
            <a:ext cx="539496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deck · airspec_2_corrected   </a:t>
            </a:r>
            <a:pPr indent="0" marL="0">
              <a:buNone/>
            </a:pPr>
            <a:r>
              <a:rPr lang="en-US" sz="950" i="1" dirty="0">
                <a:solidFill>
                  <a:srgbClr val="5E6369"/>
                </a:solidFill>
                <a:latin typeface="Calibri" pitchFamily="34" charset="0"/>
                <a:ea typeface="Calibri" pitchFamily="34" charset="-122"/>
                <a:cs typeface="Calibri" pitchFamily="34" charset="-120"/>
              </a:rPr>
              <a:t>Same filter, baseline removed — the panel spans 0.03 AU against a raw spectrum of 0.34</a:t>
            </a:r>
            <a:endParaRPr lang="en-US" sz="850" dirty="0"/>
          </a:p>
        </p:txBody>
      </p:sp>
      <p:sp>
        <p:nvSpPr>
          <p:cNvPr id="7" name="Shape 4"/>
          <p:cNvSpPr/>
          <p:nvPr/>
        </p:nvSpPr>
        <p:spPr>
          <a:xfrm>
            <a:off x="6263640" y="1600200"/>
            <a:ext cx="5577840" cy="427024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8" name="Image 1" descr="/private/tmp/claude-501/-Users-ahmadjalil-github-aethmodular/98af0981-a12c-4f18-82f4-663747dfdcd7/scratchpad/plates/airspec_3_background_gap.png">    </p:cNvPr>
          <p:cNvPicPr>
            <a:picLocks noChangeAspect="1"/>
          </p:cNvPicPr>
          <p:nvPr/>
        </p:nvPicPr>
        <p:blipFill>
          <a:blip r:embed="rId2"/>
          <a:srcRect l="0" r="0" t="0" b="0"/>
          <a:stretch/>
        </p:blipFill>
        <p:spPr>
          <a:xfrm>
            <a:off x="6318504" y="1655064"/>
            <a:ext cx="5468112" cy="3867912"/>
          </a:xfrm>
          <a:prstGeom prst="rect">
            <a:avLst/>
          </a:prstGeom>
        </p:spPr>
      </p:pic>
      <p:sp>
        <p:nvSpPr>
          <p:cNvPr id="9" name="Text 5"/>
          <p:cNvSpPr/>
          <p:nvPr/>
        </p:nvSpPr>
        <p:spPr>
          <a:xfrm>
            <a:off x="6355080" y="5559552"/>
            <a:ext cx="539496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deck · airspec_3_background_gap   </a:t>
            </a:r>
            <a:pPr indent="0" marL="0">
              <a:buNone/>
            </a:pPr>
            <a:r>
              <a:rPr lang="en-US" sz="950" i="1" dirty="0">
                <a:solidFill>
                  <a:srgbClr val="5E6369"/>
                </a:solidFill>
                <a:latin typeface="Calibri" pitchFamily="34" charset="0"/>
                <a:ea typeface="Calibri" pitchFamily="34" charset="-122"/>
                <a:cs typeface="Calibri" pitchFamily="34" charset="-120"/>
              </a:rPr>
              <a:t>Baseline at 2920 cm⁻¹ per filter: 800-cohort 0.101 vs Addis 0.170</a:t>
            </a:r>
            <a:endParaRPr lang="en-US" sz="850" dirty="0"/>
          </a:p>
        </p:txBody>
      </p:sp>
      <p:sp>
        <p:nvSpPr>
          <p:cNvPr id="10" name="Shape 6"/>
          <p:cNvSpPr/>
          <p:nvPr/>
        </p:nvSpPr>
        <p:spPr>
          <a:xfrm>
            <a:off x="502920" y="5989320"/>
            <a:ext cx="2221992" cy="384048"/>
          </a:xfrm>
          <a:prstGeom prst="roundRect">
            <a:avLst>
              <a:gd name="adj" fmla="val 14286"/>
            </a:avLst>
          </a:prstGeom>
          <a:solidFill>
            <a:srgbClr val="F4F5F3"/>
          </a:solidFill>
          <a:ln w="9525">
            <a:solidFill>
              <a:srgbClr val="DDE0DC"/>
            </a:solidFill>
            <a:prstDash val="solid"/>
          </a:ln>
        </p:spPr>
      </p:sp>
      <p:sp>
        <p:nvSpPr>
          <p:cNvPr id="11" name="Text 7"/>
          <p:cNvSpPr/>
          <p:nvPr/>
        </p:nvSpPr>
        <p:spPr>
          <a:xfrm>
            <a:off x="576072" y="5989320"/>
            <a:ext cx="2130552" cy="38404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Addis baseline  </a:t>
            </a:r>
            <a:pPr indent="0" marL="0">
              <a:buNone/>
            </a:pPr>
            <a:r>
              <a:rPr lang="en-US" sz="1100" b="1" dirty="0">
                <a:solidFill>
                  <a:srgbClr val="B23327"/>
                </a:solidFill>
                <a:latin typeface="Calibri" pitchFamily="34" charset="0"/>
                <a:ea typeface="Calibri" pitchFamily="34" charset="-122"/>
                <a:cs typeface="Calibri" pitchFamily="34" charset="-120"/>
              </a:rPr>
              <a:t>0.170</a:t>
            </a:r>
            <a:endParaRPr lang="en-US" sz="1100" dirty="0"/>
          </a:p>
        </p:txBody>
      </p:sp>
      <p:sp>
        <p:nvSpPr>
          <p:cNvPr id="12" name="Shape 8"/>
          <p:cNvSpPr/>
          <p:nvPr/>
        </p:nvSpPr>
        <p:spPr>
          <a:xfrm>
            <a:off x="2889504" y="5989320"/>
            <a:ext cx="2308860" cy="384048"/>
          </a:xfrm>
          <a:prstGeom prst="roundRect">
            <a:avLst>
              <a:gd name="adj" fmla="val 14286"/>
            </a:avLst>
          </a:prstGeom>
          <a:solidFill>
            <a:srgbClr val="F4F5F3"/>
          </a:solidFill>
          <a:ln w="9525">
            <a:solidFill>
              <a:srgbClr val="DDE0DC"/>
            </a:solidFill>
            <a:prstDash val="solid"/>
          </a:ln>
        </p:spPr>
      </p:sp>
      <p:sp>
        <p:nvSpPr>
          <p:cNvPr id="13" name="Text 9"/>
          <p:cNvSpPr/>
          <p:nvPr/>
        </p:nvSpPr>
        <p:spPr>
          <a:xfrm>
            <a:off x="2962656" y="5989320"/>
            <a:ext cx="2217420" cy="38404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cohort baseline  </a:t>
            </a:r>
            <a:pPr indent="0" marL="0">
              <a:buNone/>
            </a:pPr>
            <a:r>
              <a:rPr lang="en-US" sz="1100" b="1" dirty="0">
                <a:solidFill>
                  <a:srgbClr val="7A4FA3"/>
                </a:solidFill>
                <a:latin typeface="Calibri" pitchFamily="34" charset="0"/>
                <a:ea typeface="Calibri" pitchFamily="34" charset="-122"/>
                <a:cs typeface="Calibri" pitchFamily="34" charset="-120"/>
              </a:rPr>
              <a:t>0.101</a:t>
            </a:r>
            <a:endParaRPr lang="en-US" sz="1100" dirty="0"/>
          </a:p>
        </p:txBody>
      </p:sp>
      <p:sp>
        <p:nvSpPr>
          <p:cNvPr id="14" name="Shape 10"/>
          <p:cNvSpPr/>
          <p:nvPr/>
        </p:nvSpPr>
        <p:spPr>
          <a:xfrm>
            <a:off x="5362956" y="5989320"/>
            <a:ext cx="3195828" cy="384048"/>
          </a:xfrm>
          <a:prstGeom prst="roundRect">
            <a:avLst>
              <a:gd name="adj" fmla="val 14286"/>
            </a:avLst>
          </a:prstGeom>
          <a:solidFill>
            <a:srgbClr val="F4F5F3"/>
          </a:solidFill>
          <a:ln w="9525">
            <a:solidFill>
              <a:srgbClr val="DDE0DC"/>
            </a:solidFill>
            <a:prstDash val="solid"/>
          </a:ln>
        </p:spPr>
      </p:sp>
      <p:sp>
        <p:nvSpPr>
          <p:cNvPr id="15" name="Text 11"/>
          <p:cNvSpPr/>
          <p:nvPr/>
        </p:nvSpPr>
        <p:spPr>
          <a:xfrm>
            <a:off x="5436108" y="5989320"/>
            <a:ext cx="3104388" cy="38404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intercept  </a:t>
            </a:r>
            <a:pPr indent="0" marL="0">
              <a:buNone/>
            </a:pPr>
            <a:r>
              <a:rPr lang="en-US" sz="1100" b="1" dirty="0">
                <a:solidFill>
                  <a:srgbClr val="3F7A56"/>
                </a:solidFill>
                <a:latin typeface="Calibri" pitchFamily="34" charset="0"/>
                <a:ea typeface="Calibri" pitchFamily="34" charset="-122"/>
                <a:cs typeface="Calibri" pitchFamily="34" charset="-120"/>
              </a:rPr>
              <a:t>−3.22 → −1.62 µg/m³</a:t>
            </a:r>
            <a:endParaRPr lang="en-US" sz="1100" dirty="0"/>
          </a:p>
        </p:txBody>
      </p:sp>
      <p:sp>
        <p:nvSpPr>
          <p:cNvPr id="16" name="Shape 12"/>
          <p:cNvSpPr/>
          <p:nvPr/>
        </p:nvSpPr>
        <p:spPr>
          <a:xfrm>
            <a:off x="8723376" y="5989320"/>
            <a:ext cx="2043684" cy="384048"/>
          </a:xfrm>
          <a:prstGeom prst="roundRect">
            <a:avLst>
              <a:gd name="adj" fmla="val 14286"/>
            </a:avLst>
          </a:prstGeom>
          <a:solidFill>
            <a:srgbClr val="F4F5F3"/>
          </a:solidFill>
          <a:ln w="9525">
            <a:solidFill>
              <a:srgbClr val="DDE0DC"/>
            </a:solidFill>
            <a:prstDash val="solid"/>
          </a:ln>
        </p:spPr>
      </p:sp>
      <p:sp>
        <p:nvSpPr>
          <p:cNvPr id="17" name="Text 13"/>
          <p:cNvSpPr/>
          <p:nvPr/>
        </p:nvSpPr>
        <p:spPr>
          <a:xfrm>
            <a:off x="8796528" y="5989320"/>
            <a:ext cx="1952244" cy="384048"/>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slope  </a:t>
            </a:r>
            <a:pPr indent="0" marL="0">
              <a:buNone/>
            </a:pPr>
            <a:r>
              <a:rPr lang="en-US" sz="1100" b="1" dirty="0">
                <a:solidFill>
                  <a:srgbClr val="2C6E9E"/>
                </a:solidFill>
                <a:latin typeface="Calibri" pitchFamily="34" charset="0"/>
                <a:ea typeface="Calibri" pitchFamily="34" charset="-122"/>
                <a:cs typeface="Calibri" pitchFamily="34" charset="-120"/>
              </a:rPr>
              <a:t>1.59 → 0.86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B·06 · ANN'S QUESTION — DOESN'T THE BASELINE CARRY EC?</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The smoke calibration collapses on corrected spectra — its Addis response was mostly baseline.</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crossplots_all_setups_shp.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by_protocol/site_held_out · crossplots_all_setups   </a:t>
            </a:r>
            <a:pPr indent="0" marL="0">
              <a:buNone/>
            </a:pPr>
            <a:r>
              <a:rPr lang="en-US" sz="950" i="1" dirty="0">
                <a:solidFill>
                  <a:srgbClr val="5E6369"/>
                </a:solidFill>
                <a:latin typeface="Calibri" pitchFamily="34" charset="0"/>
                <a:ea typeface="Calibri" pitchFamily="34" charset="-122"/>
                <a:cs typeface="Calibri" pitchFamily="34" charset="-120"/>
              </a:rPr>
              <a:t>All six setups, identical per-panel square axes, fixed 190-filter cohort, MAC = 10</a:t>
            </a:r>
            <a:endParaRPr lang="en-US" sz="850" dirty="0"/>
          </a:p>
        </p:txBody>
      </p:sp>
      <p:sp>
        <p:nvSpPr>
          <p:cNvPr id="7" name="Text 4"/>
          <p:cNvSpPr/>
          <p:nvPr/>
        </p:nvSpPr>
        <p:spPr>
          <a:xfrm>
            <a:off x="502920" y="1737360"/>
            <a:ext cx="3291840" cy="384048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Ann's standing objection: EC's sloping absorption lives partly in the baseline, so baselining an EC calibration should lose signal.</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Our evidence so far: the 906-smoke model falls from slope 2.65 to 0.37 when both sides are baselined — much of its raw response was memorised background — and the ftir_08 HIPS-transfer failure survives baselining, so what breaks at Addis is compositional.</a:t>
            </a:r>
            <a:endParaRPr lang="en-US" sz="1250" dirty="0"/>
          </a:p>
          <a:p>
            <a:pPr algn="l" indent="0" marL="0">
              <a:spcAft>
                <a:spcPts val="800"/>
              </a:spcAft>
              <a:buNone/>
            </a:pPr>
            <a:r>
              <a:rPr lang="en-US" sz="1250" dirty="0">
                <a:solidFill>
                  <a:srgbClr val="2C6E9E"/>
                </a:solidFill>
                <a:latin typeface="Calibri" pitchFamily="34" charset="0"/>
                <a:ea typeface="Calibri" pitchFamily="34" charset="-122"/>
                <a:cs typeface="Calibri" pitchFamily="34" charset="-120"/>
              </a:rPr>
              <a:t>The open question for you: how much genuine EC signal does the correction discard, and is a middle path — or your group's newer baselining work — worth testing?</a:t>
            </a:r>
            <a:endParaRPr lang="en-US" sz="1250" dirty="0"/>
          </a:p>
        </p:txBody>
      </p:sp>
      <p:sp>
        <p:nvSpPr>
          <p:cNvPr id="8" name="Shape 5"/>
          <p:cNvSpPr/>
          <p:nvPr/>
        </p:nvSpPr>
        <p:spPr>
          <a:xfrm>
            <a:off x="502920" y="525780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25780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smoke-906 corrected  </a:t>
            </a:r>
            <a:pPr indent="0" marL="0">
              <a:buNone/>
            </a:pPr>
            <a:r>
              <a:rPr lang="en-US" sz="1100" b="1" dirty="0">
                <a:solidFill>
                  <a:srgbClr val="B23327"/>
                </a:solidFill>
                <a:latin typeface="Calibri" pitchFamily="34" charset="0"/>
                <a:ea typeface="Calibri" pitchFamily="34" charset="-122"/>
                <a:cs typeface="Calibri" pitchFamily="34" charset="-120"/>
              </a:rPr>
              <a:t>slope 0.37</a:t>
            </a:r>
            <a:endParaRPr lang="en-US" sz="1100" dirty="0"/>
          </a:p>
        </p:txBody>
      </p:sp>
      <p:sp>
        <p:nvSpPr>
          <p:cNvPr id="10" name="Shape 7"/>
          <p:cNvSpPr/>
          <p:nvPr/>
        </p:nvSpPr>
        <p:spPr>
          <a:xfrm>
            <a:off x="502920" y="576986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76986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HIPS transfer post-correction  </a:t>
            </a:r>
            <a:pPr indent="0" marL="0">
              <a:buNone/>
            </a:pPr>
            <a:r>
              <a:rPr lang="en-US" sz="1100" b="1" dirty="0">
                <a:solidFill>
                  <a:srgbClr val="5E6369"/>
                </a:solidFill>
                <a:latin typeface="Calibri" pitchFamily="34" charset="0"/>
                <a:ea typeface="Calibri" pitchFamily="34" charset="-122"/>
                <a:cs typeface="Calibri" pitchFamily="34" charset="-120"/>
              </a:rPr>
              <a:t>still fails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C·07 · HOW K WAS CHOSEN — ONE RULE, APPLIED TO EVERY SETUP</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Site-grouped 5-fold CV, first major minimum — the curve each rule actually ran on.</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selection_curves_site_heldout.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ftir_23 · selection_curves_site_heldout   </a:t>
            </a:r>
            <a:pPr indent="0" marL="0">
              <a:buNone/>
            </a:pPr>
            <a:r>
              <a:rPr lang="en-US" sz="950" i="1" dirty="0">
                <a:solidFill>
                  <a:srgbClr val="5E6369"/>
                </a:solidFill>
                <a:latin typeface="Calibri" pitchFamily="34" charset="0"/>
                <a:ea typeface="Calibri" pitchFamily="34" charset="-122"/>
                <a:cs typeface="Calibri" pitchFamily="34" charset="-120"/>
              </a:rPr>
              <a:t>Each cohort's CV curve with the rule's machinery drawn: ±1 SE ribbon, every local minimum, chosen k marked</a:t>
            </a:r>
            <a:endParaRPr lang="en-US" sz="850" dirty="0"/>
          </a:p>
        </p:txBody>
      </p:sp>
      <p:sp>
        <p:nvSpPr>
          <p:cNvPr id="7" name="Text 4"/>
          <p:cNvSpPr/>
          <p:nvPr/>
        </p:nvSpPr>
        <p:spPr>
          <a:xfrm>
            <a:off x="502920" y="1737360"/>
            <a:ext cx="3291840" cy="393192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One selection rule everywhere: site-grouped 5-fold CV, first major minimum. It picks k = 4–15 where the app protocol (interleaved 10-fold, within-5%) picks 17–27.</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Two subtleties Ann surfaced yesterday, answered here: the chosen k is selected on the training split, so it need not sit on a full-cohort curve's minimum; and small k is not a red flag on corrected spectra — the baseline components the big-k models spend factors on are already gone.</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Where curves bottom early the protocols agree (smoke 4/4, corrected 5/5); the disagreement is long flat tails.</a:t>
            </a:r>
            <a:endParaRPr lang="en-US" sz="1250" dirty="0"/>
          </a:p>
        </p:txBody>
      </p:sp>
      <p:sp>
        <p:nvSpPr>
          <p:cNvPr id="8" name="Shape 5"/>
          <p:cNvSpPr/>
          <p:nvPr/>
        </p:nvSpPr>
        <p:spPr>
          <a:xfrm>
            <a:off x="502920" y="544068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44068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site-held-out k  </a:t>
            </a:r>
            <a:pPr indent="0" marL="0">
              <a:buNone/>
            </a:pPr>
            <a:r>
              <a:rPr lang="en-US" sz="1100" b="1" dirty="0">
                <a:solidFill>
                  <a:srgbClr val="2C6E9E"/>
                </a:solidFill>
                <a:latin typeface="Calibri" pitchFamily="34" charset="0"/>
                <a:ea typeface="Calibri" pitchFamily="34" charset="-122"/>
                <a:cs typeface="Calibri" pitchFamily="34" charset="-120"/>
              </a:rPr>
              <a:t>4–15</a:t>
            </a:r>
            <a:endParaRPr lang="en-US" sz="1100" dirty="0"/>
          </a:p>
        </p:txBody>
      </p:sp>
      <p:sp>
        <p:nvSpPr>
          <p:cNvPr id="10" name="Shape 7"/>
          <p:cNvSpPr/>
          <p:nvPr/>
        </p:nvSpPr>
        <p:spPr>
          <a:xfrm>
            <a:off x="502920" y="595274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95274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app-protocol k  </a:t>
            </a:r>
            <a:pPr indent="0" marL="0">
              <a:buNone/>
            </a:pPr>
            <a:r>
              <a:rPr lang="en-US" sz="1100" b="1" dirty="0">
                <a:solidFill>
                  <a:srgbClr val="B0792B"/>
                </a:solidFill>
                <a:latin typeface="Calibri" pitchFamily="34" charset="0"/>
                <a:ea typeface="Calibri" pitchFamily="34" charset="-122"/>
                <a:cs typeface="Calibri" pitchFamily="34" charset="-120"/>
              </a:rPr>
              <a:t>17–27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C·07B · THE SAME SIX SETUPS UNDER BOTH PROTOCOLS — ANN'S REQUEST</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The component protocol moves the Addis answer more than the MAC fork can.</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intercept_slope_by_mode.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ftir_21 · intercept_slope_by_mode   </a:t>
            </a:r>
            <a:pPr indent="0" marL="0">
              <a:buNone/>
            </a:pPr>
            <a:r>
              <a:rPr lang="en-US" sz="950" i="1" dirty="0">
                <a:solidFill>
                  <a:srgbClr val="5E6369"/>
                </a:solidFill>
                <a:latin typeface="Calibri" pitchFamily="34" charset="0"/>
                <a:ea typeface="Calibri" pitchFamily="34" charset="-122"/>
                <a:cs typeface="Calibri" pitchFamily="34" charset="-120"/>
              </a:rPr>
              <a:t>Calibration-app protocol vs site-held-out, per setup; intercepts µg/m³</a:t>
            </a:r>
            <a:endParaRPr lang="en-US" sz="850" dirty="0"/>
          </a:p>
        </p:txBody>
      </p:sp>
      <p:sp>
        <p:nvSpPr>
          <p:cNvPr id="7" name="Text 4"/>
          <p:cNvSpPr/>
          <p:nvPr/>
        </p:nvSpPr>
        <p:spPr>
          <a:xfrm>
            <a:off x="502920" y="1737360"/>
            <a:ext cx="3291840" cy="384048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Same filters, two protocols: smoke-906 swings −6.91 → −0.99; OCEC-800 swings −4.59 → −3.22. The corrected setup moves −1.65 → −1.62.</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And the app protocol is not reproducible: interleaved CV is row-order dependent — the same 800 filters give k = 15, 18 or 19 on reorderings; site-grouped gives 5 every time.</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The app also yields no site-disjoint test by construction — only the site-held-out protocol produces the TOR test that picks 800 as the cohort size.</a:t>
            </a:r>
            <a:endParaRPr lang="en-US" sz="1250" dirty="0"/>
          </a:p>
        </p:txBody>
      </p:sp>
      <p:sp>
        <p:nvSpPr>
          <p:cNvPr id="8" name="Shape 5"/>
          <p:cNvSpPr/>
          <p:nvPr/>
        </p:nvSpPr>
        <p:spPr>
          <a:xfrm>
            <a:off x="502920" y="544068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44068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smoke by protocol  </a:t>
            </a:r>
            <a:pPr indent="0" marL="0">
              <a:buNone/>
            </a:pPr>
            <a:r>
              <a:rPr lang="en-US" sz="1100" b="1" dirty="0">
                <a:solidFill>
                  <a:srgbClr val="B0792B"/>
                </a:solidFill>
                <a:latin typeface="Calibri" pitchFamily="34" charset="0"/>
                <a:ea typeface="Calibri" pitchFamily="34" charset="-122"/>
                <a:cs typeface="Calibri" pitchFamily="34" charset="-120"/>
              </a:rPr>
              <a:t>−6.91 → −0.99</a:t>
            </a:r>
            <a:endParaRPr lang="en-US" sz="1100" dirty="0"/>
          </a:p>
        </p:txBody>
      </p:sp>
      <p:sp>
        <p:nvSpPr>
          <p:cNvPr id="10" name="Shape 7"/>
          <p:cNvSpPr/>
          <p:nvPr/>
        </p:nvSpPr>
        <p:spPr>
          <a:xfrm>
            <a:off x="502920" y="595274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95274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corrected  </a:t>
            </a:r>
            <a:pPr indent="0" marL="0">
              <a:buNone/>
            </a:pPr>
            <a:r>
              <a:rPr lang="en-US" sz="1100" b="1" dirty="0">
                <a:solidFill>
                  <a:srgbClr val="3F7A56"/>
                </a:solidFill>
                <a:latin typeface="Calibri" pitchFamily="34" charset="0"/>
                <a:ea typeface="Calibri" pitchFamily="34" charset="-122"/>
                <a:cs typeface="Calibri" pitchFamily="34" charset="-120"/>
              </a:rPr>
              <a:t>−1.65 → −1.62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C·08 · RESIDUAL STRUCTURE — RAW VS CORRECTED</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The corrected model misses by a season-stable constant: −2.0 to −2.6 µg/m³.</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residual_vs_d2_shp.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ftir_15/22 · residual_vs_d2   </a:t>
            </a:r>
            <a:pPr indent="0" marL="0">
              <a:buNone/>
            </a:pPr>
            <a:r>
              <a:rPr lang="en-US" sz="950" i="1" dirty="0">
                <a:solidFill>
                  <a:srgbClr val="5E6369"/>
                </a:solidFill>
                <a:latin typeface="Calibri" pitchFamily="34" charset="0"/>
                <a:ea typeface="Calibri" pitchFamily="34" charset="-122"/>
                <a:cs typeface="Calibri" pitchFamily="34" charset="-120"/>
              </a:rPr>
              <a:t>Residual vs Mahalanobis D² in score space; site-cluster bootstrap B = 200</a:t>
            </a:r>
            <a:endParaRPr lang="en-US" sz="850" dirty="0"/>
          </a:p>
        </p:txBody>
      </p:sp>
      <p:sp>
        <p:nvSpPr>
          <p:cNvPr id="7" name="Text 4"/>
          <p:cNvSpPr/>
          <p:nvPr/>
        </p:nvSpPr>
        <p:spPr>
          <a:xfrm>
            <a:off x="502920" y="1737360"/>
            <a:ext cx="3291840" cy="393192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raw model's Addis error tracks extrapolation distance (r = 0.71) and flips sign by season — it fails by being out of domain.</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The corrected model's error is D²-independent and flat in every season. Bootstrap: corrected intercept 95% CI [−1.78, −1.06] — excludes zero, disjoint from raw's [−4.88, −2.81].</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Estimator check (Ann's ask): headline fits are OLS; Deming with measured σ_x (HIPS_Uncertainty, λ* ≈ 2.96) moves the corrected intercept to −2.09 — errors-in-variables makes the offset larger, so OLS is the conservative bound.</a:t>
            </a:r>
            <a:endParaRPr lang="en-US" sz="1250" dirty="0"/>
          </a:p>
        </p:txBody>
      </p:sp>
      <p:sp>
        <p:nvSpPr>
          <p:cNvPr id="8" name="Shape 5"/>
          <p:cNvSpPr/>
          <p:nvPr/>
        </p:nvSpPr>
        <p:spPr>
          <a:xfrm>
            <a:off x="502920" y="507492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07492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raw: resid ~ D²  </a:t>
            </a:r>
            <a:pPr indent="0" marL="0">
              <a:buNone/>
            </a:pPr>
            <a:r>
              <a:rPr lang="en-US" sz="1100" b="1" dirty="0">
                <a:solidFill>
                  <a:srgbClr val="B23327"/>
                </a:solidFill>
                <a:latin typeface="Calibri" pitchFamily="34" charset="0"/>
                <a:ea typeface="Calibri" pitchFamily="34" charset="-122"/>
                <a:cs typeface="Calibri" pitchFamily="34" charset="-120"/>
              </a:rPr>
              <a:t>r = 0.71</a:t>
            </a:r>
            <a:endParaRPr lang="en-US" sz="1100" dirty="0"/>
          </a:p>
        </p:txBody>
      </p:sp>
      <p:sp>
        <p:nvSpPr>
          <p:cNvPr id="10" name="Shape 7"/>
          <p:cNvSpPr/>
          <p:nvPr/>
        </p:nvSpPr>
        <p:spPr>
          <a:xfrm>
            <a:off x="502920" y="558698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58698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corrected CI  </a:t>
            </a:r>
            <a:pPr indent="0" marL="0">
              <a:buNone/>
            </a:pPr>
            <a:r>
              <a:rPr lang="en-US" sz="1100" b="1" dirty="0">
                <a:solidFill>
                  <a:srgbClr val="3F7A56"/>
                </a:solidFill>
                <a:latin typeface="Calibri" pitchFamily="34" charset="0"/>
                <a:ea typeface="Calibri" pitchFamily="34" charset="-122"/>
                <a:cs typeface="Calibri" pitchFamily="34" charset="-120"/>
              </a:rPr>
              <a:t>[−1.78, −1.06]</a:t>
            </a:r>
            <a:endParaRPr lang="en-US" sz="1100" dirty="0"/>
          </a:p>
        </p:txBody>
      </p:sp>
      <p:sp>
        <p:nvSpPr>
          <p:cNvPr id="12" name="Shape 9"/>
          <p:cNvSpPr/>
          <p:nvPr/>
        </p:nvSpPr>
        <p:spPr>
          <a:xfrm>
            <a:off x="502920" y="609904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09904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Deming λ*  </a:t>
            </a:r>
            <a:pPr indent="0" marL="0">
              <a:buNone/>
            </a:pPr>
            <a:r>
              <a:rPr lang="en-US" sz="1100" b="1" dirty="0">
                <a:solidFill>
                  <a:srgbClr val="2C6E9E"/>
                </a:solidFill>
                <a:latin typeface="Calibri" pitchFamily="34" charset="0"/>
                <a:ea typeface="Calibri" pitchFamily="34" charset="-122"/>
                <a:cs typeface="Calibri" pitchFamily="34" charset="-120"/>
              </a:rPr>
              <a:t>−1.62 → −2.09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D·09 · ALGEBRA FIRST — WHAT MAC CAN AND CANNOT MOVE</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MAC cannot move any intercept — every calibration pivots; the fork is a slope contest.</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mac_slope_pivot_shp.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ftir_19 · mac_slope_pivot   </a:t>
            </a:r>
            <a:pPr indent="0" marL="0">
              <a:buNone/>
            </a:pPr>
            <a:r>
              <a:rPr lang="en-US" sz="950" i="1" dirty="0">
                <a:solidFill>
                  <a:srgbClr val="5E6369"/>
                </a:solidFill>
                <a:latin typeface="Calibri" pitchFamily="34" charset="0"/>
                <a:ea typeface="Calibri" pitchFamily="34" charset="-122"/>
                <a:cs typeface="Calibri" pitchFamily="34" charset="-120"/>
              </a:rPr>
              <a:t>x = Fabs/MAC: intercept and R² exact, slope ×0.6 going 10 → 6</a:t>
            </a:r>
            <a:endParaRPr lang="en-US" sz="850" dirty="0"/>
          </a:p>
        </p:txBody>
      </p:sp>
      <p:sp>
        <p:nvSpPr>
          <p:cNvPr id="7" name="Text 4"/>
          <p:cNvSpPr/>
          <p:nvPr/>
        </p:nvSpPr>
        <p:spPr>
          <a:xfrm>
            <a:off x="502920" y="1737360"/>
            <a:ext cx="3291840" cy="384048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Since x = Fabs/MAC, switching MAC rescales x by a constant: every setup keeps its y-intercept and R² exactly, and its slope scales by exactly 0.6.</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So the fork reduces to: MAC 6 makes the raw models self-consistent (lowest-OC/EC 0.95, Ethiopia-shaped 1.05, deployed 1.14); MAC 10 is where the corrected model lands closest (0.86). Fit statistics cannot choose between the branches.</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“Let the slope define MAC” (native MAC ≈ 5.3 for the deployed fit) is circular while FTIR-EC itself is in question — the non-circular route is the next slide.</a:t>
            </a:r>
            <a:endParaRPr lang="en-US" sz="1250" dirty="0"/>
          </a:p>
        </p:txBody>
      </p:sp>
      <p:sp>
        <p:nvSpPr>
          <p:cNvPr id="8" name="Shape 5"/>
          <p:cNvSpPr/>
          <p:nvPr/>
        </p:nvSpPr>
        <p:spPr>
          <a:xfrm>
            <a:off x="502920" y="525780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25780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slope scaling  </a:t>
            </a:r>
            <a:pPr indent="0" marL="0">
              <a:buNone/>
            </a:pPr>
            <a:r>
              <a:rPr lang="en-US" sz="1100" b="1" dirty="0">
                <a:solidFill>
                  <a:srgbClr val="5E6369"/>
                </a:solidFill>
                <a:latin typeface="Calibri" pitchFamily="34" charset="0"/>
                <a:ea typeface="Calibri" pitchFamily="34" charset="-122"/>
                <a:cs typeface="Calibri" pitchFamily="34" charset="-120"/>
              </a:rPr>
              <a:t>×0.6 exact</a:t>
            </a:r>
            <a:endParaRPr lang="en-US" sz="1100" dirty="0"/>
          </a:p>
        </p:txBody>
      </p:sp>
      <p:sp>
        <p:nvSpPr>
          <p:cNvPr id="10" name="Shape 7"/>
          <p:cNvSpPr/>
          <p:nvPr/>
        </p:nvSpPr>
        <p:spPr>
          <a:xfrm>
            <a:off x="502920" y="576986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76986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raw @ MAC 6  </a:t>
            </a:r>
            <a:pPr indent="0" marL="0">
              <a:buNone/>
            </a:pPr>
            <a:r>
              <a:rPr lang="en-US" sz="1100" b="1" dirty="0">
                <a:solidFill>
                  <a:srgbClr val="2C6E9E"/>
                </a:solidFill>
                <a:latin typeface="Calibri" pitchFamily="34" charset="0"/>
                <a:ea typeface="Calibri" pitchFamily="34" charset="-122"/>
                <a:cs typeface="Calibri" pitchFamily="34" charset="-120"/>
              </a:rPr>
              <a:t>0.95</a:t>
            </a:r>
            <a:endParaRPr lang="en-US" sz="1100" dirty="0"/>
          </a:p>
        </p:txBody>
      </p:sp>
      <p:sp>
        <p:nvSpPr>
          <p:cNvPr id="12" name="Shape 9"/>
          <p:cNvSpPr/>
          <p:nvPr/>
        </p:nvSpPr>
        <p:spPr>
          <a:xfrm>
            <a:off x="502920" y="628192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28192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corrected @ MAC 10  </a:t>
            </a:r>
            <a:pPr indent="0" marL="0">
              <a:buNone/>
            </a:pPr>
            <a:r>
              <a:rPr lang="en-US" sz="1100" b="1" dirty="0">
                <a:solidFill>
                  <a:srgbClr val="7A4FA3"/>
                </a:solidFill>
                <a:latin typeface="Calibri" pitchFamily="34" charset="0"/>
                <a:ea typeface="Calibri" pitchFamily="34" charset="-122"/>
                <a:cs typeface="Calibri" pitchFamily="34" charset="-120"/>
              </a:rPr>
              <a:t>0.86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D·10 · THE BRIDGE — 151,843 IMPROVE FILTERS</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At Addis-like composition, IMPROVE's implied MAC is 10.05 — at the confirmed 633 nm.</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improve_implied_mac_curve.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ftir_16 · improve_implied_mac_curve   </a:t>
            </a:r>
            <a:pPr indent="0" marL="0">
              <a:buNone/>
            </a:pPr>
            <a:r>
              <a:rPr lang="en-US" sz="950" i="1" dirty="0">
                <a:solidFill>
                  <a:srgbClr val="5E6369"/>
                </a:solidFill>
                <a:latin typeface="Calibri" pitchFamily="34" charset="0"/>
                <a:ea typeface="Calibri" pitchFamily="34" charset="-122"/>
                <a:cs typeface="Calibri" pitchFamily="34" charset="-120"/>
              </a:rPr>
              <a:t>Implied MAC = HIPS Fabs / TOR EC, 151,843 matched filters, binned by OC/EC</a:t>
            </a:r>
            <a:endParaRPr lang="en-US" sz="850" dirty="0"/>
          </a:p>
        </p:txBody>
      </p:sp>
      <p:sp>
        <p:nvSpPr>
          <p:cNvPr id="7" name="Text 4"/>
          <p:cNvSpPr/>
          <p:nvPr/>
        </p:nvSpPr>
        <p:spPr>
          <a:xfrm>
            <a:off x="502920" y="1737360"/>
            <a:ext cx="3291840" cy="3931920"/>
          </a:xfrm>
          <a:prstGeom prst="rect">
            <a:avLst/>
          </a:prstGeom>
          <a:noFill/>
          <a:ln/>
        </p:spPr>
        <p:txBody>
          <a:bodyPr wrap="square" lIns="0" tIns="0" rIns="0" bIns="0" rtlCol="0" anchor="t"/>
          <a:lstStyle/>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Where IMPROVE has both HIPS and TOR: implied MAC median 11.96 overall — and 10.05 in the Addis-like OC/EC ≤ 2.27 subset (n = 6,503). MAC 10 is centred at Addis-like composition; MAC 6 sits in the lower tail.</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This is the non-circular version of “let the data set MAC” — TOR EC, not FTIR-EC, on the denominator.</a:t>
            </a:r>
            <a:endParaRPr lang="en-US" sz="1250" dirty="0"/>
          </a:p>
          <a:p>
            <a:pPr algn="l" indent="0" marL="0">
              <a:spcAft>
                <a:spcPts val="800"/>
              </a:spcAft>
              <a:buNone/>
            </a:pPr>
            <a:r>
              <a:rPr lang="en-US" sz="1150" dirty="0">
                <a:solidFill>
                  <a:srgbClr val="5E6369"/>
                </a:solidFill>
                <a:latin typeface="Calibri" pitchFamily="34" charset="0"/>
                <a:ea typeface="Calibri" pitchFamily="34" charset="-122"/>
                <a:cs typeface="Calibri" pitchFamily="34" charset="-120"/>
              </a:rPr>
              <a:t>The high-OC/EC tail's inflated implied MAC (median 19.8) independently shows Fabs carries organic-scaling non-EC absorption. Wavelength: HIPS is confirmed He–Ne 632.8 ≈ 633 nm, MAC 10 defined at 633 — bridge and convention on the same wavelength.</a:t>
            </a:r>
            <a:endParaRPr lang="en-US" sz="1250" dirty="0"/>
          </a:p>
        </p:txBody>
      </p:sp>
      <p:sp>
        <p:nvSpPr>
          <p:cNvPr id="8" name="Shape 5"/>
          <p:cNvSpPr/>
          <p:nvPr/>
        </p:nvSpPr>
        <p:spPr>
          <a:xfrm>
            <a:off x="502920" y="525780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25780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Addis-like subset  </a:t>
            </a:r>
            <a:pPr indent="0" marL="0">
              <a:buNone/>
            </a:pPr>
            <a:r>
              <a:rPr lang="en-US" sz="1100" b="1" dirty="0">
                <a:solidFill>
                  <a:srgbClr val="3F7A56"/>
                </a:solidFill>
                <a:latin typeface="Calibri" pitchFamily="34" charset="0"/>
                <a:ea typeface="Calibri" pitchFamily="34" charset="-122"/>
                <a:cs typeface="Calibri" pitchFamily="34" charset="-120"/>
              </a:rPr>
              <a:t>MAC 10.05</a:t>
            </a:r>
            <a:endParaRPr lang="en-US" sz="1100" dirty="0"/>
          </a:p>
        </p:txBody>
      </p:sp>
      <p:sp>
        <p:nvSpPr>
          <p:cNvPr id="10" name="Shape 7"/>
          <p:cNvSpPr/>
          <p:nvPr/>
        </p:nvSpPr>
        <p:spPr>
          <a:xfrm>
            <a:off x="502920" y="576986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76986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pool median  </a:t>
            </a:r>
            <a:pPr indent="0" marL="0">
              <a:buNone/>
            </a:pPr>
            <a:r>
              <a:rPr lang="en-US" sz="1100" b="1" dirty="0">
                <a:solidFill>
                  <a:srgbClr val="2C6E9E"/>
                </a:solidFill>
                <a:latin typeface="Calibri" pitchFamily="34" charset="0"/>
                <a:ea typeface="Calibri" pitchFamily="34" charset="-122"/>
                <a:cs typeface="Calibri" pitchFamily="34" charset="-120"/>
              </a:rPr>
              <a:t>11.96</a:t>
            </a:r>
            <a:endParaRPr lang="en-US" sz="1100" dirty="0"/>
          </a:p>
        </p:txBody>
      </p:sp>
      <p:sp>
        <p:nvSpPr>
          <p:cNvPr id="12" name="Shape 9"/>
          <p:cNvSpPr/>
          <p:nvPr/>
        </p:nvSpPr>
        <p:spPr>
          <a:xfrm>
            <a:off x="502920" y="628192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28192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high-OC/EC tail  </a:t>
            </a:r>
            <a:pPr indent="0" marL="0">
              <a:buNone/>
            </a:pPr>
            <a:r>
              <a:rPr lang="en-US" sz="1100" b="1" dirty="0">
                <a:solidFill>
                  <a:srgbClr val="B23327"/>
                </a:solidFill>
                <a:latin typeface="Calibri" pitchFamily="34" charset="0"/>
                <a:ea typeface="Calibri" pitchFamily="34" charset="-122"/>
                <a:cs typeface="Calibri" pitchFamily="34" charset="-120"/>
              </a:rPr>
              <a:t>19.8</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E·11 · THE ~1600 CM⁻¹ BAND</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Not amine. Carboxylate and/or aromatic C=C — stuck below 1425 cm⁻¹ without your sub-1500 model.</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peak_center_1600_by_group.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ftir_12 · peak_center_1600_by_group   </a:t>
            </a:r>
            <a:pPr indent="0" marL="0">
              <a:buNone/>
            </a:pPr>
            <a:r>
              <a:rPr lang="en-US" sz="950" i="1" dirty="0">
                <a:solidFill>
                  <a:srgbClr val="5E6369"/>
                </a:solidFill>
                <a:latin typeface="Calibri" pitchFamily="34" charset="0"/>
                <a:ea typeface="Calibri" pitchFamily="34" charset="-122"/>
                <a:cs typeface="Calibri" pitchFamily="34" charset="-120"/>
              </a:rPr>
              <a:t>Peak centers under the edge-corrected window; unchanged on baseline-corrected spectra</a:t>
            </a:r>
            <a:endParaRPr lang="en-US" sz="850" dirty="0"/>
          </a:p>
        </p:txBody>
      </p:sp>
      <p:sp>
        <p:nvSpPr>
          <p:cNvPr id="7" name="Text 4"/>
          <p:cNvSpPr/>
          <p:nvPr/>
        </p:nvSpPr>
        <p:spPr>
          <a:xfrm>
            <a:off x="502920" y="1737360"/>
            <a:ext cx="3291840" cy="384048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Addis peaks at 1617–1619 cm⁻¹ (IQR 1616–1620) in every season; every IMPROVE cohort sits ≥ 1633 with essentially no overlap.</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Within Addis the band co-varies with CH (ρ = 0.88) and carbonyl (0.93) but not with the 3100–3400 N–H/O–H window (0.17) — an N–H bend without its stretch is implausible, so amine is out.</a:t>
            </a:r>
            <a:endParaRPr lang="en-US" sz="1250" dirty="0"/>
          </a:p>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The remaining candidates — carboxylate COO⁻ and aromatic C=C — are both charcoal-consistent and cannot be separated on Teflon: the ~1400 symmetric partner is below the trusted range.</a:t>
            </a:r>
            <a:endParaRPr lang="en-US" sz="1250" dirty="0"/>
          </a:p>
        </p:txBody>
      </p:sp>
      <p:sp>
        <p:nvSpPr>
          <p:cNvPr id="8" name="Shape 5"/>
          <p:cNvSpPr/>
          <p:nvPr/>
        </p:nvSpPr>
        <p:spPr>
          <a:xfrm>
            <a:off x="502920" y="525780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25780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Addis center  </a:t>
            </a:r>
            <a:pPr indent="0" marL="0">
              <a:buNone/>
            </a:pPr>
            <a:r>
              <a:rPr lang="en-US" sz="1100" b="1" dirty="0">
                <a:solidFill>
                  <a:srgbClr val="B23327"/>
                </a:solidFill>
                <a:latin typeface="Calibri" pitchFamily="34" charset="0"/>
                <a:ea typeface="Calibri" pitchFamily="34" charset="-122"/>
                <a:cs typeface="Calibri" pitchFamily="34" charset="-120"/>
              </a:rPr>
              <a:t>1617–1619</a:t>
            </a:r>
            <a:endParaRPr lang="en-US" sz="1100" dirty="0"/>
          </a:p>
        </p:txBody>
      </p:sp>
      <p:sp>
        <p:nvSpPr>
          <p:cNvPr id="10" name="Shape 7"/>
          <p:cNvSpPr/>
          <p:nvPr/>
        </p:nvSpPr>
        <p:spPr>
          <a:xfrm>
            <a:off x="502920" y="576986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76986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IMPROVE  </a:t>
            </a:r>
            <a:pPr indent="0" marL="0">
              <a:buNone/>
            </a:pPr>
            <a:r>
              <a:rPr lang="en-US" sz="1100" b="1" dirty="0">
                <a:solidFill>
                  <a:srgbClr val="5E6369"/>
                </a:solidFill>
                <a:latin typeface="Calibri" pitchFamily="34" charset="0"/>
                <a:ea typeface="Calibri" pitchFamily="34" charset="-122"/>
                <a:cs typeface="Calibri" pitchFamily="34" charset="-120"/>
              </a:rPr>
              <a:t>≥ 1633</a:t>
            </a:r>
            <a:endParaRPr lang="en-US" sz="1100" dirty="0"/>
          </a:p>
        </p:txBody>
      </p:sp>
      <p:sp>
        <p:nvSpPr>
          <p:cNvPr id="12" name="Shape 9"/>
          <p:cNvSpPr/>
          <p:nvPr/>
        </p:nvSpPr>
        <p:spPr>
          <a:xfrm>
            <a:off x="502920" y="628192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28192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ρ(1600, N–H)  </a:t>
            </a:r>
            <a:pPr indent="0" marL="0">
              <a:buNone/>
            </a:pPr>
            <a:r>
              <a:rPr lang="en-US" sz="1100" b="1" dirty="0">
                <a:solidFill>
                  <a:srgbClr val="2C6E9E"/>
                </a:solidFill>
                <a:latin typeface="Calibri" pitchFamily="34" charset="0"/>
                <a:ea typeface="Calibri" pitchFamily="34" charset="-122"/>
                <a:cs typeface="Calibri" pitchFamily="34" charset="-120"/>
              </a:rPr>
              <a:t>0.17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E·12 · NAVEED'S SEASONS — AND THE NEXT NOTEBOOK</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Season changes loading, not shape — ftir_24 predicts dry and wet separately.</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addis_spectra_by_season.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ftir_17 · addis_spectra_by_season   </a:t>
            </a:r>
            <a:pPr indent="0" marL="0">
              <a:buNone/>
            </a:pPr>
            <a:r>
              <a:rPr lang="en-US" sz="950" i="1" dirty="0">
                <a:solidFill>
                  <a:srgbClr val="5E6369"/>
                </a:solidFill>
                <a:latin typeface="Calibri" pitchFamily="34" charset="0"/>
                <a:ea typeface="Calibri" pitchFamily="34" charset="-122"/>
                <a:cs typeface="Calibri" pitchFamily="34" charset="-120"/>
              </a:rPr>
              <a:t>Dry Oct–Feb / Belg Mar–May / Kiremt Jun–Sep</a:t>
            </a:r>
            <a:endParaRPr lang="en-US" sz="850" dirty="0"/>
          </a:p>
        </p:txBody>
      </p:sp>
      <p:sp>
        <p:nvSpPr>
          <p:cNvPr id="7" name="Text 4"/>
          <p:cNvSpPr/>
          <p:nvPr/>
        </p:nvSpPr>
        <p:spPr>
          <a:xfrm>
            <a:off x="502920" y="1737360"/>
            <a:ext cx="3291840" cy="365760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All bands, deployed EC (3.3 → 7.2 µg/m³) and Fabs (43 → 56 Mm⁻¹) peak in Kiremt, while the 1600-band centre never moves; the one shape effect is relatively more broad O–H in the Dry season.</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The committed residuals already show the season structure is a raw-model phenomenon (Dry −1.25 → Kiremt +0.49; corrected season-stable). ftir_24 will put per-season crossplots under the locked models with a season × x interaction design.</a:t>
            </a:r>
            <a:endParaRPr lang="en-US" sz="1250" dirty="0"/>
          </a:p>
        </p:txBody>
      </p:sp>
      <p:sp>
        <p:nvSpPr>
          <p:cNvPr id="8" name="Shape 5"/>
          <p:cNvSpPr/>
          <p:nvPr/>
        </p:nvSpPr>
        <p:spPr>
          <a:xfrm>
            <a:off x="502920" y="507492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07492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EC by season  </a:t>
            </a:r>
            <a:pPr indent="0" marL="0">
              <a:buNone/>
            </a:pPr>
            <a:r>
              <a:rPr lang="en-US" sz="1100" b="1" dirty="0">
                <a:solidFill>
                  <a:srgbClr val="2C6E9E"/>
                </a:solidFill>
                <a:latin typeface="Calibri" pitchFamily="34" charset="0"/>
                <a:ea typeface="Calibri" pitchFamily="34" charset="-122"/>
                <a:cs typeface="Calibri" pitchFamily="34" charset="-120"/>
              </a:rPr>
              <a:t>3.3 → 7.2</a:t>
            </a:r>
            <a:endParaRPr lang="en-US" sz="1100" dirty="0"/>
          </a:p>
        </p:txBody>
      </p:sp>
      <p:sp>
        <p:nvSpPr>
          <p:cNvPr id="10" name="Shape 7"/>
          <p:cNvSpPr/>
          <p:nvPr/>
        </p:nvSpPr>
        <p:spPr>
          <a:xfrm>
            <a:off x="502920" y="558698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58698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band centre  </a:t>
            </a:r>
            <a:pPr indent="0" marL="0">
              <a:buNone/>
            </a:pPr>
            <a:r>
              <a:rPr lang="en-US" sz="1100" b="1" dirty="0">
                <a:solidFill>
                  <a:srgbClr val="5E6369"/>
                </a:solidFill>
                <a:latin typeface="Calibri" pitchFamily="34" charset="0"/>
                <a:ea typeface="Calibri" pitchFamily="34" charset="-122"/>
                <a:cs typeface="Calibri" pitchFamily="34" charset="-120"/>
              </a:rPr>
              <a:t>fixed 1617–1619</a:t>
            </a:r>
            <a:endParaRPr lang="en-US" sz="1100" dirty="0"/>
          </a:p>
        </p:txBody>
      </p:sp>
      <p:sp>
        <p:nvSpPr>
          <p:cNvPr id="12" name="Shape 9"/>
          <p:cNvSpPr/>
          <p:nvPr/>
        </p:nvSpPr>
        <p:spPr>
          <a:xfrm>
            <a:off x="502920" y="609904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09904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eval split  </a:t>
            </a:r>
            <a:pPr indent="0" marL="0">
              <a:buNone/>
            </a:pPr>
            <a:r>
              <a:rPr lang="en-US" sz="1100" b="1" dirty="0">
                <a:solidFill>
                  <a:srgbClr val="3F7A56"/>
                </a:solidFill>
                <a:latin typeface="Calibri" pitchFamily="34" charset="0"/>
                <a:ea typeface="Calibri" pitchFamily="34" charset="-122"/>
                <a:cs typeface="Calibri" pitchFamily="34" charset="-120"/>
              </a:rPr>
              <a:t>105 / 61 / 73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lIns="0" tIns="0" rIns="0" bIns="0" rtlCol="0" anchor="ctr"/>
          <a:lstStyle/>
          <a:p>
            <a:pPr indent="0" marL="0">
              <a:buNone/>
            </a:pPr>
            <a:r>
              <a:rPr lang="en-US" sz="1100" spc="200" kern="0" dirty="0">
                <a:solidFill>
                  <a:srgbClr val="B23327"/>
                </a:solidFill>
                <a:latin typeface="Courier New" pitchFamily="34" charset="0"/>
                <a:ea typeface="Courier New" pitchFamily="34" charset="-122"/>
                <a:cs typeface="Courier New" pitchFamily="34" charset="-120"/>
              </a:rPr>
              <a:t>E·13 · ADAMA &amp; BISHOFTU — THE UNCOMFORTABLE CHECK AND THE FREE TEST SET</a:t>
            </a:r>
            <a:endParaRPr lang="en-US" sz="1100" dirty="0"/>
          </a:p>
        </p:txBody>
      </p:sp>
      <p:sp>
        <p:nvSpPr>
          <p:cNvPr id="3" name="Text 1"/>
          <p:cNvSpPr/>
          <p:nvPr/>
        </p:nvSpPr>
        <p:spPr>
          <a:xfrm>
            <a:off x="502920" y="566928"/>
            <a:ext cx="11183112" cy="868680"/>
          </a:xfrm>
          <a:prstGeom prst="rect">
            <a:avLst/>
          </a:prstGeom>
          <a:noFill/>
          <a:ln/>
        </p:spPr>
        <p:txBody>
          <a:bodyPr wrap="square" lIns="0" tIns="0" rIns="0" bIns="0" rtlCol="0" anchor="t"/>
          <a:lstStyle/>
          <a:p>
            <a:pPr indent="0" marL="0">
              <a:buNone/>
            </a:pPr>
            <a:r>
              <a:rPr lang="en-US" sz="2600" b="1" dirty="0">
                <a:solidFill>
                  <a:srgbClr val="1A1D21"/>
                </a:solidFill>
                <a:latin typeface="Calibri" pitchFamily="34" charset="0"/>
                <a:ea typeface="Calibri" pitchFamily="34" charset="-122"/>
                <a:cs typeface="Calibri" pitchFamily="34" charset="-120"/>
              </a:rPr>
              <a:t>The one same-corridor TOR we have looks ordinary — and a second Ethiopian site sits unused.</a:t>
            </a:r>
            <a:endParaRPr lang="en-US" sz="2600" dirty="0"/>
          </a:p>
        </p:txBody>
      </p:sp>
      <p:sp>
        <p:nvSpPr>
          <p:cNvPr id="4" name="Shape 2"/>
          <p:cNvSpPr/>
          <p:nvPr/>
        </p:nvSpPr>
        <p:spPr>
          <a:xfrm>
            <a:off x="4023360" y="1554480"/>
            <a:ext cx="7680960" cy="4773168"/>
          </a:xfrm>
          <a:prstGeom prst="rect">
            <a:avLst/>
          </a:prstGeom>
          <a:solidFill>
            <a:srgbClr val="FFFFFF"/>
          </a:solidFill>
          <a:ln w="12700">
            <a:solidFill>
              <a:srgbClr val="DDE0DC"/>
            </a:solidFill>
            <a:prstDash val="solid"/>
          </a:ln>
          <a:effectLst>
            <a:outerShdw sx="100000" sy="100000" kx="0" ky="0" algn="bl" rotWithShape="0" blurRad="76200" dist="25400" dir="5400000">
              <a:srgbClr val="000000">
                <a:alpha val="18000"/>
              </a:srgbClr>
            </a:outerShdw>
          </a:effectLst>
        </p:spPr>
      </p:sp>
      <p:pic>
        <p:nvPicPr>
          <p:cNvPr id="5" name="Image 0" descr="/private/tmp/claude-501/-Users-ahmadjalil-github-aethmodular/98af0981-a12c-4f18-82f4-663747dfdcd7/scratchpad/plates/adama_etbi_context.png">    </p:cNvPr>
          <p:cNvPicPr>
            <a:picLocks noChangeAspect="1"/>
          </p:cNvPicPr>
          <p:nvPr/>
        </p:nvPicPr>
        <p:blipFill>
          <a:blip r:embed="rId1"/>
          <a:srcRect l="0" r="0" t="0" b="0"/>
          <a:stretch/>
        </p:blipFill>
        <p:spPr>
          <a:xfrm>
            <a:off x="4078224" y="1609344"/>
            <a:ext cx="7571232" cy="4370832"/>
          </a:xfrm>
          <a:prstGeom prst="rect">
            <a:avLst/>
          </a:prstGeom>
        </p:spPr>
      </p:pic>
      <p:sp>
        <p:nvSpPr>
          <p:cNvPr id="6" name="Text 3"/>
          <p:cNvSpPr/>
          <p:nvPr/>
        </p:nvSpPr>
        <p:spPr>
          <a:xfrm>
            <a:off x="4114800" y="6016752"/>
            <a:ext cx="7498080" cy="292608"/>
          </a:xfrm>
          <a:prstGeom prst="rect">
            <a:avLst/>
          </a:prstGeom>
          <a:noFill/>
          <a:ln/>
        </p:spPr>
        <p:txBody>
          <a:bodyPr wrap="square" lIns="0" tIns="0" rIns="0" bIns="0" rtlCol="0" anchor="ctr"/>
          <a:lstStyle/>
          <a:p>
            <a:pPr indent="0" marL="0">
              <a:buNone/>
            </a:pPr>
            <a:r>
              <a:rPr lang="en-US" sz="850" dirty="0">
                <a:solidFill>
                  <a:srgbClr val="8A9098"/>
                </a:solidFill>
                <a:latin typeface="Courier New" pitchFamily="34" charset="0"/>
                <a:ea typeface="Courier New" pitchFamily="34" charset="-122"/>
                <a:cs typeface="Courier New" pitchFamily="34" charset="-120"/>
              </a:rPr>
              <a:t>context · adama_etbi_context   </a:t>
            </a:r>
            <a:pPr indent="0" marL="0">
              <a:buNone/>
            </a:pPr>
            <a:r>
              <a:rPr lang="en-US" sz="950" i="1" dirty="0">
                <a:solidFill>
                  <a:srgbClr val="5E6369"/>
                </a:solidFill>
                <a:latin typeface="Calibri" pitchFamily="34" charset="0"/>
                <a:ea typeface="Calibri" pitchFamily="34" charset="-122"/>
                <a:cs typeface="Calibri" pitchFamily="34" charset="-120"/>
              </a:rPr>
              <a:t>Adama Batch-54: 5 quartz filters, July 2024 · ETBI: 32 filters Oct–Dec 2025, 26 with HIPS</a:t>
            </a:r>
            <a:endParaRPr lang="en-US" sz="850" dirty="0"/>
          </a:p>
        </p:txBody>
      </p:sp>
      <p:sp>
        <p:nvSpPr>
          <p:cNvPr id="7" name="Text 4"/>
          <p:cNvSpPr/>
          <p:nvPr/>
        </p:nvSpPr>
        <p:spPr>
          <a:xfrm>
            <a:off x="502920" y="1737360"/>
            <a:ext cx="3291840" cy="3657600"/>
          </a:xfrm>
          <a:prstGeom prst="rect">
            <a:avLst/>
          </a:prstGeom>
          <a:noFill/>
          <a:ln/>
        </p:spPr>
        <p:txBody>
          <a:bodyPr wrap="square" lIns="0" tIns="0" rIns="0" bIns="0" rtlCol="0" anchor="t"/>
          <a:lstStyle/>
          <a:p>
            <a:pPr algn="l" indent="0" marL="0">
              <a:spcAft>
                <a:spcPts val="800"/>
              </a:spcAft>
              <a:buNone/>
            </a:pPr>
            <a:r>
              <a:rPr lang="en-US" sz="1250" dirty="0">
                <a:solidFill>
                  <a:srgbClr val="1A1D21"/>
                </a:solidFill>
                <a:latin typeface="Calibri" pitchFamily="34" charset="0"/>
                <a:ea typeface="Calibri" pitchFamily="34" charset="-122"/>
                <a:cs typeface="Calibri" pitchFamily="34" charset="-120"/>
              </a:rPr>
              <a:t>Adama TOR gives OC/EC 4.6–7.2 — right at the IMPROVE median, not the extreme tail the Addis offset implies regionally. Reconciling Addis HIPS with FTIR OC at Adama-like composition would need MAC ≈ 47 m²/g — unphysical — so something has to give.</a:t>
            </a:r>
            <a:endParaRPr lang="en-US" sz="1250" dirty="0"/>
          </a:p>
          <a:p>
            <a:pPr algn="l" indent="0" marL="0">
              <a:spcAft>
                <a:spcPts val="800"/>
              </a:spcAft>
              <a:buNone/>
            </a:pPr>
            <a:r>
              <a:rPr lang="en-US" sz="1250" b="1" dirty="0">
                <a:solidFill>
                  <a:srgbClr val="1A1D21"/>
                </a:solidFill>
                <a:latin typeface="Calibri" pitchFamily="34" charset="0"/>
                <a:ea typeface="Calibri" pitchFamily="34" charset="-122"/>
                <a:cs typeface="Calibri" pitchFamily="34" charset="-120"/>
              </a:rPr>
              <a:t>ETBI (Bishoftu, median Fabs 26.9 Mm⁻¹ vs Addis Dry-season 43.2) is an untouched in-country test set for every conclusion here — if its spectra come through in the same pull as INDH/CHTS.</a:t>
            </a:r>
            <a:endParaRPr lang="en-US" sz="1250" dirty="0"/>
          </a:p>
        </p:txBody>
      </p:sp>
      <p:sp>
        <p:nvSpPr>
          <p:cNvPr id="8" name="Shape 5"/>
          <p:cNvSpPr/>
          <p:nvPr/>
        </p:nvSpPr>
        <p:spPr>
          <a:xfrm>
            <a:off x="502920" y="5074920"/>
            <a:ext cx="3246120" cy="402336"/>
          </a:xfrm>
          <a:prstGeom prst="roundRect">
            <a:avLst>
              <a:gd name="adj" fmla="val 13636"/>
            </a:avLst>
          </a:prstGeom>
          <a:solidFill>
            <a:srgbClr val="F4F5F3"/>
          </a:solidFill>
          <a:ln w="9525">
            <a:solidFill>
              <a:srgbClr val="DDE0DC"/>
            </a:solidFill>
            <a:prstDash val="solid"/>
          </a:ln>
        </p:spPr>
      </p:sp>
      <p:sp>
        <p:nvSpPr>
          <p:cNvPr id="9" name="Text 6"/>
          <p:cNvSpPr/>
          <p:nvPr/>
        </p:nvSpPr>
        <p:spPr>
          <a:xfrm>
            <a:off x="612648" y="5074920"/>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Adama OC/EC  </a:t>
            </a:r>
            <a:pPr indent="0" marL="0">
              <a:buNone/>
            </a:pPr>
            <a:r>
              <a:rPr lang="en-US" sz="1100" b="1" dirty="0">
                <a:solidFill>
                  <a:srgbClr val="5E6369"/>
                </a:solidFill>
                <a:latin typeface="Calibri" pitchFamily="34" charset="0"/>
                <a:ea typeface="Calibri" pitchFamily="34" charset="-122"/>
                <a:cs typeface="Calibri" pitchFamily="34" charset="-120"/>
              </a:rPr>
              <a:t>4.6–7.2</a:t>
            </a:r>
            <a:endParaRPr lang="en-US" sz="1100" dirty="0"/>
          </a:p>
        </p:txBody>
      </p:sp>
      <p:sp>
        <p:nvSpPr>
          <p:cNvPr id="10" name="Shape 7"/>
          <p:cNvSpPr/>
          <p:nvPr/>
        </p:nvSpPr>
        <p:spPr>
          <a:xfrm>
            <a:off x="502920" y="5586984"/>
            <a:ext cx="3246120" cy="402336"/>
          </a:xfrm>
          <a:prstGeom prst="roundRect">
            <a:avLst>
              <a:gd name="adj" fmla="val 13636"/>
            </a:avLst>
          </a:prstGeom>
          <a:solidFill>
            <a:srgbClr val="F4F5F3"/>
          </a:solidFill>
          <a:ln w="9525">
            <a:solidFill>
              <a:srgbClr val="DDE0DC"/>
            </a:solidFill>
            <a:prstDash val="solid"/>
          </a:ln>
        </p:spPr>
      </p:sp>
      <p:sp>
        <p:nvSpPr>
          <p:cNvPr id="11" name="Text 8"/>
          <p:cNvSpPr/>
          <p:nvPr/>
        </p:nvSpPr>
        <p:spPr>
          <a:xfrm>
            <a:off x="612648" y="5586984"/>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bridge MAC  </a:t>
            </a:r>
            <a:pPr indent="0" marL="0">
              <a:buNone/>
            </a:pPr>
            <a:r>
              <a:rPr lang="en-US" sz="1100" b="1" dirty="0">
                <a:solidFill>
                  <a:srgbClr val="B23327"/>
                </a:solidFill>
                <a:latin typeface="Calibri" pitchFamily="34" charset="0"/>
                <a:ea typeface="Calibri" pitchFamily="34" charset="-122"/>
                <a:cs typeface="Calibri" pitchFamily="34" charset="-120"/>
              </a:rPr>
              <a:t>≈ 47 m²/g</a:t>
            </a:r>
            <a:endParaRPr lang="en-US" sz="1100" dirty="0"/>
          </a:p>
        </p:txBody>
      </p:sp>
      <p:sp>
        <p:nvSpPr>
          <p:cNvPr id="12" name="Shape 9"/>
          <p:cNvSpPr/>
          <p:nvPr/>
        </p:nvSpPr>
        <p:spPr>
          <a:xfrm>
            <a:off x="502920" y="6099048"/>
            <a:ext cx="3246120" cy="402336"/>
          </a:xfrm>
          <a:prstGeom prst="roundRect">
            <a:avLst>
              <a:gd name="adj" fmla="val 13636"/>
            </a:avLst>
          </a:prstGeom>
          <a:solidFill>
            <a:srgbClr val="F4F5F3"/>
          </a:solidFill>
          <a:ln w="9525">
            <a:solidFill>
              <a:srgbClr val="DDE0DC"/>
            </a:solidFill>
            <a:prstDash val="solid"/>
          </a:ln>
        </p:spPr>
      </p:sp>
      <p:sp>
        <p:nvSpPr>
          <p:cNvPr id="13" name="Text 10"/>
          <p:cNvSpPr/>
          <p:nvPr/>
        </p:nvSpPr>
        <p:spPr>
          <a:xfrm>
            <a:off x="612648" y="6099048"/>
            <a:ext cx="3063240" cy="402336"/>
          </a:xfrm>
          <a:prstGeom prst="rect">
            <a:avLst/>
          </a:prstGeom>
          <a:noFill/>
          <a:ln/>
        </p:spPr>
        <p:txBody>
          <a:bodyPr wrap="square" lIns="0" tIns="0" rIns="0" bIns="0" rtlCol="0" anchor="ctr"/>
          <a:lstStyle/>
          <a:p>
            <a:pPr indent="0" marL="0">
              <a:buNone/>
            </a:pPr>
            <a:r>
              <a:rPr lang="en-US" sz="1100" dirty="0">
                <a:solidFill>
                  <a:srgbClr val="5E6369"/>
                </a:solidFill>
                <a:latin typeface="Calibri" pitchFamily="34" charset="0"/>
                <a:ea typeface="Calibri" pitchFamily="34" charset="-122"/>
                <a:cs typeface="Calibri" pitchFamily="34" charset="-120"/>
              </a:rPr>
              <a:t>ETBI HIPS filters  </a:t>
            </a:r>
            <a:pPr indent="0" marL="0">
              <a:buNone/>
            </a:pPr>
            <a:r>
              <a:rPr lang="en-US" sz="1100" b="1" dirty="0">
                <a:solidFill>
                  <a:srgbClr val="2C6E9E"/>
                </a:solidFill>
                <a:latin typeface="Calibri" pitchFamily="34" charset="0"/>
                <a:ea typeface="Calibri" pitchFamily="34" charset="-122"/>
                <a:cs typeface="Calibri" pitchFamily="34" charset="-120"/>
              </a:rPr>
              <a:t>26, unused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502920" y="411480"/>
            <a:ext cx="7315200" cy="320040"/>
          </a:xfrm>
          <a:prstGeom prst="rect">
            <a:avLst/>
          </a:prstGeom>
          <a:noFill/>
          <a:ln/>
        </p:spPr>
        <p:txBody>
          <a:bodyPr wrap="square" lIns="0" tIns="0" rIns="0" bIns="0" rtlCol="0" anchor="ctr"/>
          <a:lstStyle/>
          <a:p>
            <a:pPr indent="0" marL="0">
              <a:buNone/>
            </a:pPr>
            <a:r>
              <a:rPr lang="en-US" sz="1200" spc="200" kern="0" dirty="0">
                <a:solidFill>
                  <a:srgbClr val="E0705F"/>
                </a:solidFill>
                <a:latin typeface="Courier New" pitchFamily="34" charset="0"/>
                <a:ea typeface="Courier New" pitchFamily="34" charset="-122"/>
                <a:cs typeface="Courier New" pitchFamily="34" charset="-120"/>
              </a:rPr>
              <a:t>THE ASKS</a:t>
            </a:r>
            <a:endParaRPr lang="en-US" sz="120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One headline ask, five supporting.</a:t>
            </a:r>
            <a:endParaRPr lang="en-US" sz="2800" dirty="0"/>
          </a:p>
        </p:txBody>
      </p:sp>
      <p:sp>
        <p:nvSpPr>
          <p:cNvPr id="4" name="Shape 2"/>
          <p:cNvSpPr/>
          <p:nvPr/>
        </p:nvSpPr>
        <p:spPr>
          <a:xfrm>
            <a:off x="502920" y="1600200"/>
            <a:ext cx="11183112" cy="1417320"/>
          </a:xfrm>
          <a:prstGeom prst="roundRect">
            <a:avLst>
              <a:gd name="adj" fmla="val 5161"/>
            </a:avLst>
          </a:prstGeom>
          <a:solidFill>
            <a:srgbClr val="2E2225"/>
          </a:solidFill>
          <a:ln w="15875">
            <a:solidFill>
              <a:srgbClr val="E0705F"/>
            </a:solidFill>
            <a:prstDash val="solid"/>
          </a:ln>
        </p:spPr>
      </p:sp>
      <p:sp>
        <p:nvSpPr>
          <p:cNvPr id="5" name="Text 3"/>
          <p:cNvSpPr/>
          <p:nvPr/>
        </p:nvSpPr>
        <p:spPr>
          <a:xfrm>
            <a:off x="731520" y="1737360"/>
            <a:ext cx="10698480" cy="11887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Quartz-TOR campaign at ETAD or Bishoftu — the instrument that separates what is left.  </a:t>
            </a:r>
            <a:pPr indent="0" marL="0">
              <a:buNone/>
            </a:pPr>
            <a:r>
              <a:rPr lang="en-US" sz="1200" dirty="0">
                <a:solidFill>
                  <a:srgbClr val="C9CDD2"/>
                </a:solidFill>
                <a:latin typeface="Calibri" pitchFamily="34" charset="0"/>
                <a:ea typeface="Calibri" pitchFamily="34" charset="-122"/>
                <a:cs typeface="Calibri" pitchFamily="34" charset="-120"/>
              </a:rPr>
              <a:t>Every EC reference we hold is circular with one axis or the other; the three surviving explanations for the ~21 Mm⁻¹ offset all yield to co-located quartz TOR. Spec: ~3σ/day separation of MAC 6 vs 10 → 11–13 days per season, ~36 filters total; Adama Batch-54 proves the chain. One-pager in hand.</a:t>
            </a:r>
            <a:endParaRPr lang="en-US" sz="1500" dirty="0"/>
          </a:p>
        </p:txBody>
      </p:sp>
      <p:sp>
        <p:nvSpPr>
          <p:cNvPr id="6" name="Shape 4"/>
          <p:cNvSpPr/>
          <p:nvPr/>
        </p:nvSpPr>
        <p:spPr>
          <a:xfrm>
            <a:off x="502920" y="3246120"/>
            <a:ext cx="5486400" cy="969264"/>
          </a:xfrm>
          <a:prstGeom prst="roundRect">
            <a:avLst>
              <a:gd name="adj" fmla="val 7547"/>
            </a:avLst>
          </a:prstGeom>
          <a:solidFill>
            <a:srgbClr val="23262C"/>
          </a:solidFill>
          <a:ln w="9525">
            <a:solidFill>
              <a:srgbClr val="3A3F46"/>
            </a:solidFill>
            <a:prstDash val="solid"/>
          </a:ln>
        </p:spPr>
      </p:sp>
      <p:sp>
        <p:nvSpPr>
          <p:cNvPr id="7" name="Text 5"/>
          <p:cNvSpPr/>
          <p:nvPr/>
        </p:nvSpPr>
        <p:spPr>
          <a:xfrm>
            <a:off x="685800" y="331012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Emily Lee's charcoal spectra</a:t>
            </a:r>
            <a:endParaRPr lang="en-US" sz="1250" dirty="0"/>
          </a:p>
        </p:txBody>
      </p:sp>
      <p:sp>
        <p:nvSpPr>
          <p:cNvPr id="8" name="Text 6"/>
          <p:cNvSpPr/>
          <p:nvPr/>
        </p:nvSpPr>
        <p:spPr>
          <a:xfrm>
            <a:off x="685800" y="361188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Print-only in the paper. As data, they replace our failed KBr-pellet attempt and benchmark any ATR run.</a:t>
            </a:r>
            <a:endParaRPr lang="en-US" sz="950" dirty="0"/>
          </a:p>
        </p:txBody>
      </p:sp>
      <p:sp>
        <p:nvSpPr>
          <p:cNvPr id="9" name="Shape 7"/>
          <p:cNvSpPr/>
          <p:nvPr/>
        </p:nvSpPr>
        <p:spPr>
          <a:xfrm>
            <a:off x="6263640" y="3246120"/>
            <a:ext cx="5486400" cy="969264"/>
          </a:xfrm>
          <a:prstGeom prst="roundRect">
            <a:avLst>
              <a:gd name="adj" fmla="val 7547"/>
            </a:avLst>
          </a:prstGeom>
          <a:solidFill>
            <a:srgbClr val="23262C"/>
          </a:solidFill>
          <a:ln w="9525">
            <a:solidFill>
              <a:srgbClr val="3A3F46"/>
            </a:solidFill>
            <a:prstDash val="solid"/>
          </a:ln>
        </p:spPr>
      </p:sp>
      <p:sp>
        <p:nvSpPr>
          <p:cNvPr id="10" name="Text 8"/>
          <p:cNvSpPr/>
          <p:nvPr/>
        </p:nvSpPr>
        <p:spPr>
          <a:xfrm>
            <a:off x="6446520" y="331012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Sub-1500 cm⁻¹ model status</a:t>
            </a:r>
            <a:endParaRPr lang="en-US" sz="1250" dirty="0"/>
          </a:p>
        </p:txBody>
      </p:sp>
      <p:sp>
        <p:nvSpPr>
          <p:cNvPr id="11" name="Text 9"/>
          <p:cNvSpPr/>
          <p:nvPr/>
        </p:nvSpPr>
        <p:spPr>
          <a:xfrm>
            <a:off x="6446520" y="361188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The 1600-band identity is stuck at the 1425 cm⁻¹ trusted-range edge. Your model is the unblocking tool.</a:t>
            </a:r>
            <a:endParaRPr lang="en-US" sz="950" dirty="0"/>
          </a:p>
        </p:txBody>
      </p:sp>
      <p:sp>
        <p:nvSpPr>
          <p:cNvPr id="12" name="Shape 10"/>
          <p:cNvSpPr/>
          <p:nvPr/>
        </p:nvSpPr>
        <p:spPr>
          <a:xfrm>
            <a:off x="502920" y="4343400"/>
            <a:ext cx="5486400" cy="969264"/>
          </a:xfrm>
          <a:prstGeom prst="roundRect">
            <a:avLst>
              <a:gd name="adj" fmla="val 7547"/>
            </a:avLst>
          </a:prstGeom>
          <a:solidFill>
            <a:srgbClr val="23262C"/>
          </a:solidFill>
          <a:ln w="9525">
            <a:solidFill>
              <a:srgbClr val="3A3F46"/>
            </a:solidFill>
            <a:prstDash val="solid"/>
          </a:ln>
        </p:spPr>
      </p:sp>
      <p:sp>
        <p:nvSpPr>
          <p:cNvPr id="13" name="Text 11"/>
          <p:cNvSpPr/>
          <p:nvPr/>
        </p:nvSpPr>
        <p:spPr>
          <a:xfrm>
            <a:off x="685800" y="440740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Baselining &amp; components</a:t>
            </a:r>
            <a:endParaRPr lang="en-US" sz="1250" dirty="0"/>
          </a:p>
        </p:txBody>
      </p:sp>
      <p:sp>
        <p:nvSpPr>
          <p:cNvPr id="14" name="Text 12"/>
          <p:cNvSpPr/>
          <p:nvPr/>
        </p:nvSpPr>
        <p:spPr>
          <a:xfrm>
            <a:off x="685800" y="470916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How much real EC signal does baseline removal discard? And is k = 4–5 defensible on corrected spectra — must k match across models?</a:t>
            </a:r>
            <a:endParaRPr lang="en-US" sz="950" dirty="0"/>
          </a:p>
        </p:txBody>
      </p:sp>
      <p:sp>
        <p:nvSpPr>
          <p:cNvPr id="15" name="Shape 13"/>
          <p:cNvSpPr/>
          <p:nvPr/>
        </p:nvSpPr>
        <p:spPr>
          <a:xfrm>
            <a:off x="6263640" y="4343400"/>
            <a:ext cx="5486400" cy="969264"/>
          </a:xfrm>
          <a:prstGeom prst="roundRect">
            <a:avLst>
              <a:gd name="adj" fmla="val 7547"/>
            </a:avLst>
          </a:prstGeom>
          <a:solidFill>
            <a:srgbClr val="23262C"/>
          </a:solidFill>
          <a:ln w="9525">
            <a:solidFill>
              <a:srgbClr val="3A3F46"/>
            </a:solidFill>
            <a:prstDash val="solid"/>
          </a:ln>
        </p:spPr>
      </p:sp>
      <p:sp>
        <p:nvSpPr>
          <p:cNvPr id="16" name="Text 14"/>
          <p:cNvSpPr/>
          <p:nvPr/>
        </p:nvSpPr>
        <p:spPr>
          <a:xfrm>
            <a:off x="6446520" y="440740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INDH / CHTS / ETBI spectra export</a:t>
            </a:r>
            <a:endParaRPr lang="en-US" sz="1250" dirty="0"/>
          </a:p>
        </p:txBody>
      </p:sp>
      <p:sp>
        <p:nvSpPr>
          <p:cNvPr id="17" name="Text 15"/>
          <p:cNvSpPr/>
          <p:nvPr/>
        </p:nvSpPr>
        <p:spPr>
          <a:xfrm>
            <a:off x="6446520" y="470916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Same shape as the ETAD pull. Unblocks Delhi/Beijing score-space checks and turns Bishoftu into a live test set.</a:t>
            </a:r>
            <a:endParaRPr lang="en-US" sz="950" dirty="0"/>
          </a:p>
        </p:txBody>
      </p:sp>
      <p:sp>
        <p:nvSpPr>
          <p:cNvPr id="18" name="Shape 16"/>
          <p:cNvSpPr/>
          <p:nvPr/>
        </p:nvSpPr>
        <p:spPr>
          <a:xfrm>
            <a:off x="502920" y="5440680"/>
            <a:ext cx="5486400" cy="969264"/>
          </a:xfrm>
          <a:prstGeom prst="roundRect">
            <a:avLst>
              <a:gd name="adj" fmla="val 7547"/>
            </a:avLst>
          </a:prstGeom>
          <a:solidFill>
            <a:srgbClr val="23262C"/>
          </a:solidFill>
          <a:ln w="9525">
            <a:solidFill>
              <a:srgbClr val="3A3F46"/>
            </a:solidFill>
            <a:prstDash val="solid"/>
          </a:ln>
        </p:spPr>
      </p:sp>
      <p:sp>
        <p:nvSpPr>
          <p:cNvPr id="19" name="Text 17"/>
          <p:cNvSpPr/>
          <p:nvPr/>
        </p:nvSpPr>
        <p:spPr>
          <a:xfrm>
            <a:off x="685800" y="550468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Charcoal ATR — go / no-go</a:t>
            </a:r>
            <a:endParaRPr lang="en-US" sz="1250" dirty="0"/>
          </a:p>
        </p:txBody>
      </p:sp>
      <p:sp>
        <p:nvSpPr>
          <p:cNvPr id="20" name="Text 18"/>
          <p:cNvSpPr/>
          <p:nvPr/>
        </p:nvSpPr>
        <p:spPr>
          <a:xfrm>
            <a:off x="685800" y="580644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Grinding stops at 10–40 µm; ambient soot is sub-micron. Is ATR on ground charcoal informative at all?</a:t>
            </a:r>
            <a:endParaRPr lang="en-US" sz="950" dirty="0"/>
          </a:p>
        </p:txBody>
      </p:sp>
      <p:sp>
        <p:nvSpPr>
          <p:cNvPr id="21" name="Shape 19"/>
          <p:cNvSpPr/>
          <p:nvPr/>
        </p:nvSpPr>
        <p:spPr>
          <a:xfrm>
            <a:off x="6263640" y="5440680"/>
            <a:ext cx="5486400" cy="969264"/>
          </a:xfrm>
          <a:prstGeom prst="roundRect">
            <a:avLst>
              <a:gd name="adj" fmla="val 7547"/>
            </a:avLst>
          </a:prstGeom>
          <a:solidFill>
            <a:srgbClr val="23262C"/>
          </a:solidFill>
          <a:ln w="9525">
            <a:solidFill>
              <a:srgbClr val="3A3F46"/>
            </a:solidFill>
            <a:prstDash val="solid"/>
          </a:ln>
        </p:spPr>
      </p:sp>
      <p:sp>
        <p:nvSpPr>
          <p:cNvPr id="22" name="Text 20"/>
          <p:cNvSpPr/>
          <p:nvPr/>
        </p:nvSpPr>
        <p:spPr>
          <a:xfrm>
            <a:off x="6446520" y="5504688"/>
            <a:ext cx="51663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MAC / protocol bridge</a:t>
            </a:r>
            <a:endParaRPr lang="en-US" sz="1250" dirty="0"/>
          </a:p>
        </p:txBody>
      </p:sp>
      <p:sp>
        <p:nvSpPr>
          <p:cNvPr id="23" name="Text 21"/>
          <p:cNvSpPr/>
          <p:nvPr/>
        </p:nvSpPr>
        <p:spPr>
          <a:xfrm>
            <a:off x="6446520" y="5806440"/>
            <a:ext cx="5166360" cy="566928"/>
          </a:xfrm>
          <a:prstGeom prst="rect">
            <a:avLst/>
          </a:prstGeom>
          <a:noFill/>
          <a:ln/>
        </p:spPr>
        <p:txBody>
          <a:bodyPr wrap="square" lIns="0" tIns="0" rIns="0" bIns="0" rtlCol="0" anchor="ctr"/>
          <a:lstStyle/>
          <a:p>
            <a:pPr indent="0" marL="0">
              <a:buNone/>
            </a:pPr>
            <a:r>
              <a:rPr lang="en-US" sz="950" dirty="0">
                <a:solidFill>
                  <a:srgbClr val="A2A8AE"/>
                </a:solidFill>
                <a:latin typeface="Calibri" pitchFamily="34" charset="0"/>
                <a:ea typeface="Calibri" pitchFamily="34" charset="-122"/>
                <a:cs typeface="Calibri" pitchFamily="34" charset="-120"/>
              </a:rPr>
              <a:t>Does the implied-MAC chain hold up — and is there an independent HIPS bridge that tests MAC ≈ 10 without new sampling?</a:t>
            </a:r>
            <a:endParaRPr lang="en-US" sz="950" dirty="0"/>
          </a:p>
        </p:txBody>
      </p:sp>
      <p:sp>
        <p:nvSpPr>
          <p:cNvPr id="24" name="Text 22"/>
          <p:cNvSpPr/>
          <p:nvPr/>
        </p:nvSpPr>
        <p:spPr>
          <a:xfrm>
            <a:off x="502920" y="6473952"/>
            <a:ext cx="11155680" cy="320040"/>
          </a:xfrm>
          <a:prstGeom prst="rect">
            <a:avLst/>
          </a:prstGeom>
          <a:noFill/>
          <a:ln/>
        </p:spPr>
        <p:txBody>
          <a:bodyPr wrap="square" lIns="0" tIns="0" rIns="0" bIns="0" rtlCol="0" anchor="ctr"/>
          <a:lstStyle/>
          <a:p>
            <a:pPr indent="0" marL="0">
              <a:buNone/>
            </a:pPr>
            <a:r>
              <a:rPr lang="en-US" sz="950" dirty="0">
                <a:solidFill>
                  <a:srgbClr val="767C83"/>
                </a:solidFill>
                <a:latin typeface="Courier New" pitchFamily="34" charset="0"/>
                <a:ea typeface="Courier New" pitchFamily="34" charset="-122"/>
                <a:cs typeface="Courier New" pitchFamily="34" charset="-120"/>
              </a:rPr>
              <a:t>Sources: research/ftir_ec_phase3 (ftir_11–27) · every figure is executed notebook output · every number traces to a committed table · intercepts in µg/m³ throughout.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FTIR-EC at Addis Ababa - phase 3 briefing for Satoshi, 13 Aug 2026</dc:title>
  <dc:subject>PptxGenJS Presentation</dc:subject>
  <dc:creator>Ahmad Jalil</dc:creator>
  <cp:lastModifiedBy>Ahmad Jalil</cp:lastModifiedBy>
  <cp:revision>1</cp:revision>
  <dcterms:created xsi:type="dcterms:W3CDTF">2026-08-13T07:23:33Z</dcterms:created>
  <dcterms:modified xsi:type="dcterms:W3CDTF">2026-08-13T07:23:33Z</dcterms:modified>
</cp:coreProperties>
</file>