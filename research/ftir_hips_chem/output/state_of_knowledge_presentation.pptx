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C3E50"/>
                </a:solidFill>
              </a:defRPr>
            </a:pPr>
            <a:r>
              <a:t>State of Knowledge</a:t>
            </a:r>
          </a:p>
          <a:p>
            <a:pPr algn="ctr">
              <a:defRPr sz="1800">
                <a:solidFill>
                  <a:srgbClr val="7F8C8D"/>
                </a:solidFill>
              </a:defRPr>
            </a:pPr>
            <a:r>
              <a:t>Confident Results — Multi-Site BC Measurement Comparison</a:t>
            </a:r>
            <a:br/>
            <a:r>
              <a:t>If we had to write the paper today, here is what we have.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C3E50"/>
                </a:solidFill>
              </a:defRPr>
            </a:pPr>
            <a:r>
              <a:t>The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"Three sites work well; Addis Ababa is the anomalous site."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Beijing + JPL (low concentration):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HIPS and FTIR EC agree nearly perfectly (slope ~ 1.0, MAC = 10)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Delhi (high concentration):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Also works well — confirming the anomaly is SITE-SPECIFIC,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not concentration-dependent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Addis Ababa: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Two co-occurring problems with no identified physical mechanism: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1. Large positive intercept (~2 ug/m3)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2. Compressed HIPS dynamic range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C3E50"/>
                </a:solidFill>
              </a:defRPr>
            </a:pPr>
            <a:r>
              <a:t>Result 1: Cross-Plots Confirm Addis Is the Outlier</a:t>
            </a:r>
          </a:p>
        </p:txBody>
      </p:sp>
      <p:pic>
        <p:nvPicPr>
          <p:cNvPr id="3" name="Picture 2" descr="crossplots_all_sites_unfilt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28122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91440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HIPS BC vs FTIR EC (left):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  Beijing/Delhi/JPL start near zero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  Addis: intercept ~2, slope ~0.3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Aeth vs FTIR EC (center):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  Better agreement at all sites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  Addis still offset but closer to 1:1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HIPS vs Aeth (right):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  Addis compression clearly visible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Key: Delhi has similar concentrations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to Addis but works well.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-&gt; Anomaly is site-specific.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C3E50"/>
                </a:solidFill>
              </a:defRPr>
            </a:pPr>
            <a:r>
              <a:t>Result 2: HIPS Distribution Is Compressed at Addis</a:t>
            </a:r>
          </a:p>
        </p:txBody>
      </p:sp>
      <p:pic>
        <p:nvPicPr>
          <p:cNvPr id="3" name="Picture 2" descr="distributions_vi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24057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0" y="91440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Beijing/Delhi/JPL: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  FTIR EC and HIPS BC have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  comparable distributions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Addis Ababa: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  HIPS BC squeezed to ~2-4 ug/m3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  FTIR EC spans ~2-15 ug/m3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  Aeth spans ~2-17 ug/m3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This compression + offset cannot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be fixed by changing MAC alone.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Baseline subtraction alone does not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fix the slope; fixing the slope</a:t>
            </a:r>
          </a:p>
          <a:p>
            <a:pPr>
              <a:spcAft>
                <a:spcPts val="600"/>
              </a:spcAft>
              <a:defRPr sz="1300">
                <a:solidFill>
                  <a:srgbClr val="34495E"/>
                </a:solidFill>
              </a:defRPr>
            </a:pPr>
            <a:r>
              <a:t>still leaves a large intercept.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C3E50"/>
                </a:solidFill>
              </a:defRPr>
            </a:pPr>
            <a:r>
              <a:t>Result 2b: Histograms by Site and Method</a:t>
            </a:r>
          </a:p>
        </p:txBody>
      </p:sp>
      <p:pic>
        <p:nvPicPr>
          <p:cNvPr id="3" name="Picture 2" descr="distributions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430000" cy="129568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C3E50"/>
                </a:solidFill>
              </a:defRPr>
            </a:pPr>
            <a:r>
              <a:t>Result 3: Low-Concentration Sites — Analysis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Beijing + JPL (252 paired filter samples):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1. HIPS and FTIR EC match extremely well (slope ~ 1.0 with MAC = 10)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2. Aethalometer correlation is weaker but acceptable given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 measurement precision limitations at low concentrations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3. Iron (evaluated by both concentration and ratio)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 does NOT significantly impact measurements at these sites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4. All three measurement methods produce reasonably similar EC values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Practical implication: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At low-concentration sites, any of the three methods gives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reasonable EC values. Aethalometer is less ideal but acceptable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for high time resolution needs.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C3E50"/>
                </a:solidFill>
              </a:defRPr>
            </a:pPr>
            <a:r>
              <a:t>Result 4: High-Concentration Sites — The Addis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Delhi (63 paired samples): Works well despite high concentrations.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-&gt; Concentration alone does not explain the discrepancy.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Addis Ababa (190 paired samples): Persistent anomaly.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- Intercept: ~2 ug/m3 (no other site shows this)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- Slope: ~0.3 (should be ~1.0)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- Cannot distinguish by season — problem is year-round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- Cannot distinguish by source type — all combustion sources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(charcoal, wood, fossil fuel) show similar slopes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The anomaly has two DISTINCT co-occurring issues: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1. OFFSET: Large positive intercept that baseline subtraction alone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  does not fix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2. COMPRESSION: HIPS has much lower variability than EC or aeth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C3E50"/>
                </a:solidFill>
              </a:defRPr>
            </a:pPr>
            <a:r>
              <a:t>Result 5: Source Apportionment Does Not Separate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PMF analysis (Naveed's data, Addis only — 5 factors):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Charcoal, Wood Burning, Fossil Fuel, Polluted Marine, Sea Salt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All combustion sources show similar slopes (~0.3-0.4) in HIPS vs FTIR EC.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Threshold filtering by dominant source % did not reveal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source-specific mechanisms.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Combining charcoal+wood (biomass) vs fossil fuel+marine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also did not separate — fossil fuel days fully overlap with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biomass burning days.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One exception: Polluted marine behaves differently,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but in OPPOSITE directions for HIPS vs aeth comparisons.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C3E50"/>
                </a:solidFill>
              </a:defRPr>
            </a:pPr>
            <a:r>
              <a:t>Result 6: Approaches Tried — Scientific Narrowing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The following were tested and did NOT explain the Addis anomaly: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1. Relative humidity thresholds -&gt; sample sizes too small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2. Temperature (T_min, T_max) -&gt; counterintuitive results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3. Optical saturation -&gt; no curvature in data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4. Influential point removal -&gt; dataset too tight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5. OC/EC ratio analysis -&gt; no insight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6. Iron/EC ratio thresholds -&gt; iron not causing discrepancies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7. Source apportionment (PMF, 5 factors) -&gt; sources don't separate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8. Combined source grouping -&gt; biomass vs fossil fuel overlap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9. All-season aggregation -&gt; masks patterns but doesn't explain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Each approach systematically eliminated a hypothesis.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The root cause remains unidentified.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C3E50"/>
                </a:solidFill>
              </a:defRPr>
            </a:pPr>
            <a:r>
              <a:t>What We Can Confidently Say in the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1. HIPS and FTIR EC agree well at low-concentration sites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(Beijing, JPL) with MAC = 10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2. Delhi (high concentration) also shows good agreement,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confirming the anomaly is site-specific, not concentration-dependent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3. Addis Ababa shows a persistent HIPS offset and compressed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dynamic range that is NOT explained by: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iron, dust, humidity, temperature, optical saturation,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source composition, or season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4. The Addis aethalometer has a confirmed instrument/data issue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(Green channel at 0.55x IR — unique across all sites)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5. Seasonal analysis is essential — aggregated data hides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meaningful patterns at all sites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C3E50"/>
                </a:solidFill>
              </a:defRPr>
            </a:pPr>
            <a:r>
              <a:t>What We Still Need Before Writing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HIGH PRIORITY: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- Paper skeleton: define the story, figure order, conclusions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- Meet with Cena to show progress and get guidance on Addis anomaly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- Confirm Delhi seasonal definitions with Amina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OPEN QUESTIONS FOR CENA: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- Green channel issue on MA350-0238: known? correction available?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- HIPS anomaly: what else could cause persistent intercept + compression?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- Filter loading effects at high BC?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PAPER FRAMING: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"Three sites work well + Addis is anomalous +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here is what we tried to explain it +</a:t>
            </a:r>
          </a:p>
          <a:p>
            <a:pPr>
              <a:spcAft>
                <a:spcPts val="800"/>
              </a:spcAft>
              <a:defRPr sz="1600">
                <a:solidFill>
                  <a:srgbClr val="2C3E50"/>
                </a:solidFill>
              </a:defRPr>
            </a:pPr>
            <a:r>
              <a:t>   the anomaly remains an open question for further investigation"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