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State of Knowledge</a:t>
            </a:r>
          </a:p>
          <a:p>
            <a:pPr algn="ctr">
              <a:defRPr sz="2000">
                <a:solidFill>
                  <a:srgbClr val="7F8C8D"/>
                </a:solidFill>
              </a:defRPr>
            </a:pPr>
            <a:r>
              <a:t>Confident Results — Multi-Site BC Measurement Comparison</a:t>
            </a:r>
          </a:p>
          <a:p>
            <a:pPr algn="ctr">
              <a:defRPr sz="1600" i="1">
                <a:solidFill>
                  <a:srgbClr val="95A5A6"/>
                </a:solidFill>
              </a:defRPr>
            </a:pPr>
            <a:r>
              <a:t>"If we had to write the paper today, here is what we have."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The Story: Three Sites Work Well; Addis Is Anomalous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"Three sites work well; Addis Ababa is the anomalous site."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Beijing + JPL (low concentration):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 HIPS and FTIR EC agree nearly perfectly (slope ~ 1.0, MAC = 10)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Delhi (high concentration):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 Also works well — confirming the anomaly is SITE-SPECIFIC,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 not concentration-dependent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Addis Ababa: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 Two co-occurring problems with no identified physical mechanism: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 1. Large positive intercept (~2 ug/m3)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 2. Compressed HIPS dynamic range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Result 1: Cross-Plots — Addis Is the Outlier</a:t>
            </a:r>
          </a:p>
        </p:txBody>
      </p:sp>
      <p:pic>
        <p:nvPicPr>
          <p:cNvPr id="3" name="Picture 2" descr="crossplots_all_sites_unfil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11430000" cy="41357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Result 1b: Cross-Plot Statistics (slope, intercept, r²)</a:t>
            </a:r>
          </a:p>
        </p:txBody>
      </p:sp>
      <p:pic>
        <p:nvPicPr>
          <p:cNvPr id="3" name="Picture 2" descr="stat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11430000" cy="31330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4495E"/>
                </a:solidFill>
              </a:defRPr>
            </a:pPr>
            <a:r>
              <a:t>Addis (orange rows): slope ~0.3, intercept ~2.0 for HIPS vs FTIR EC — far from 1:1</a:t>
            </a:r>
          </a:p>
          <a:p>
            <a:pPr>
              <a:spcAft>
                <a:spcPts val="400"/>
              </a:spcAft>
              <a:defRPr sz="1400">
                <a:solidFill>
                  <a:srgbClr val="34495E"/>
                </a:solidFill>
              </a:defRPr>
            </a:pPr>
            <a:r>
              <a:t>Beijing/JPL: slopes closer to 1:1, intercepts near zero</a:t>
            </a:r>
          </a:p>
          <a:p>
            <a:pPr>
              <a:spcAft>
                <a:spcPts val="400"/>
              </a:spcAft>
              <a:defRPr sz="1400">
                <a:solidFill>
                  <a:srgbClr val="34495E"/>
                </a:solidFill>
              </a:defRPr>
            </a:pPr>
            <a:r>
              <a:t>Delhi: high concentration but works well — rules out concentration as the cause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Result 2: HIPS Distribution Is Compressed at Addis</a:t>
            </a:r>
          </a:p>
        </p:txBody>
      </p:sp>
      <p:pic>
        <p:nvPicPr>
          <p:cNvPr id="3" name="Picture 2" descr="distributions_vio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11430000" cy="35378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891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4495E"/>
                </a:solidFill>
              </a:defRPr>
            </a:pPr>
            <a:r>
              <a:t>Beijing/Delhi/JPL: FTIR EC, HIPS BC, and Aeth have comparable distributions</a:t>
            </a:r>
          </a:p>
          <a:p>
            <a:pPr>
              <a:spcAft>
                <a:spcPts val="400"/>
              </a:spcAft>
              <a:defRPr sz="1400">
                <a:solidFill>
                  <a:srgbClr val="34495E"/>
                </a:solidFill>
              </a:defRPr>
            </a:pPr>
            <a:r>
              <a:t>Addis: HIPS BC squeezed into narrow range (~2-4 ug/m3) while FTIR EC and Aeth span ~2-15 ug/m3</a:t>
            </a:r>
          </a:p>
          <a:p>
            <a:pPr>
              <a:spcAft>
                <a:spcPts val="400"/>
              </a:spcAft>
              <a:defRPr sz="1400">
                <a:solidFill>
                  <a:srgbClr val="34495E"/>
                </a:solidFill>
              </a:defRPr>
            </a:pPr>
            <a:r>
              <a:t>This compression + offset cannot be fixed by changing MAC alone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Result 2b: Detailed Histograms — EC, HIPS, Aeth by Site</a:t>
            </a:r>
          </a:p>
        </p:txBody>
      </p:sp>
      <p:pic>
        <p:nvPicPr>
          <p:cNvPr id="3" name="Picture 2" descr="distributions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777240"/>
            <a:ext cx="5081873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914400"/>
            <a:ext cx="2743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4495E"/>
                </a:solidFill>
              </a:defRPr>
            </a:pPr>
            <a:r>
              <a:t>Each row = one site</a:t>
            </a:r>
          </a:p>
          <a:p>
            <a:pPr>
              <a:spcAft>
                <a:spcPts val="400"/>
              </a:spcAft>
              <a:defRPr sz="1200">
                <a:solidFill>
                  <a:srgbClr val="34495E"/>
                </a:solidFill>
              </a:defRPr>
            </a:pPr>
            <a:r>
              <a:t>Each column = one method</a:t>
            </a:r>
          </a:p>
          <a:p>
            <a:pPr>
              <a:spcAft>
                <a:spcPts val="400"/>
              </a:spcAft>
              <a:defRPr sz="12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4495E"/>
                </a:solidFill>
              </a:defRPr>
            </a:pPr>
            <a:r>
              <a:t>Note the Addis row:</a:t>
            </a:r>
          </a:p>
          <a:p>
            <a:pPr>
              <a:spcAft>
                <a:spcPts val="400"/>
              </a:spcAft>
              <a:defRPr sz="1200">
                <a:solidFill>
                  <a:srgbClr val="34495E"/>
                </a:solidFill>
              </a:defRPr>
            </a:pPr>
            <a:r>
              <a:t>  FTIR EC peaks ~4-5</a:t>
            </a:r>
          </a:p>
          <a:p>
            <a:pPr>
              <a:spcAft>
                <a:spcPts val="400"/>
              </a:spcAft>
              <a:defRPr sz="1200">
                <a:solidFill>
                  <a:srgbClr val="34495E"/>
                </a:solidFill>
              </a:defRPr>
            </a:pPr>
            <a:r>
              <a:t>  HIPS BC peaks ~2-3</a:t>
            </a:r>
          </a:p>
          <a:p>
            <a:pPr>
              <a:spcAft>
                <a:spcPts val="400"/>
              </a:spcAft>
              <a:defRPr sz="1200">
                <a:solidFill>
                  <a:srgbClr val="34495E"/>
                </a:solidFill>
              </a:defRPr>
            </a:pPr>
            <a:r>
              <a:t>  Aeth peaks ~5-7</a:t>
            </a:r>
          </a:p>
          <a:p>
            <a:pPr>
              <a:spcAft>
                <a:spcPts val="400"/>
              </a:spcAft>
              <a:defRPr sz="12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4495E"/>
                </a:solidFill>
              </a:defRPr>
            </a:pPr>
            <a:r>
              <a:t>Median (dashed black)</a:t>
            </a:r>
          </a:p>
          <a:p>
            <a:pPr>
              <a:spcAft>
                <a:spcPts val="400"/>
              </a:spcAft>
              <a:defRPr sz="1200">
                <a:solidFill>
                  <a:srgbClr val="34495E"/>
                </a:solidFill>
              </a:defRPr>
            </a:pPr>
            <a:r>
              <a:t>Mean (dotted red)</a:t>
            </a:r>
          </a:p>
          <a:p>
            <a:pPr>
              <a:spcAft>
                <a:spcPts val="400"/>
              </a:spcAft>
              <a:defRPr sz="1200">
                <a:solidFill>
                  <a:srgbClr val="34495E"/>
                </a:solidFill>
              </a:defRPr>
            </a:pPr>
            <a:r>
              <a:t>std shown in title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Result 3: Low-Concentration Sites —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Beijing + JPL (252 paired filter samples):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1. HIPS and FTIR EC match extremely well (slope ~ 1.0 with MAC = 10)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2. Aethalometer correlation is weaker but acceptable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  (measurement precision limited at low concentrations)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3. Iron (by both concentration and ratio) does NOT significantly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  impact measurements at these sites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4. All three methods produce reasonably similar EC values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Practical implication: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At low-concentration sites, any of the three measurements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gives reasonable EC values.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Result 4: Addis Problem Is Site-Specific, Not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Delhi (63 paired samples):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Works well despite high concentrations (~11 ug/m3 median).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-&gt; Concentration alone does NOT explain the discrepancy.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Addis Ababa (190 paired samples):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- Persistent intercept: ~2 ug/m3 (no other site shows this)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- Slope: ~0.3 in HIPS vs FTIR EC (should be ~1.0)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- Problem is year-round — not limited to one season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- Problem is across all source types — charcoal, wood, fossil fuel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 all show similar slopes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The anomaly has two DISTINCT co-occurring issues: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1. OFFSET: Large positive intercept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2. COMPRESSION: HIPS has much lower variability than EC or aeth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Result 5: Source Apportionment Does Not Separate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PMF analysis (Naveed's data, Addis only):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5 factors: Charcoal, Wood Burning, Fossil Fuel, Polluted Marine, Sea Salt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Dominant source breakdown: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Charcoal: 40 days | Wood: 25 | Fossil Fuel: 12 | Marine: 22 | Sea Salt: 3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All combustion sources show similar slopes (~0.3-0.4) in HIPS vs FTIR EC.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Threshold filtering by dominant source % (30-60%) did not reveal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source-specific mechanisms. Slopes remained stable.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Combining charcoal+wood vs fossil fuel+marine: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Fossil fuel days fully overlap with biomass burning days.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No separation.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One exception: Polluted marine behaves differently from other sources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but in OPPOSITE directions for HIPS vs aeth comparisons.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Result 6: Systematic Hypothesis Testing (11 Approaches)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34495E"/>
                </a:solidFill>
              </a:defRPr>
            </a:pPr>
            <a:r>
              <a:t>Tested and did NOT explain the Addis anomaly:</a:t>
            </a:r>
          </a:p>
          <a:p>
            <a:pPr>
              <a:spcAft>
                <a:spcPts val="400"/>
              </a:spcAft>
              <a:defRPr sz="15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34495E"/>
                </a:solidFill>
              </a:defRPr>
            </a:pPr>
            <a:r>
              <a:t>  1. Relative humidity thresholds    -&gt; sample sizes too small to conclude</a:t>
            </a:r>
          </a:p>
          <a:p>
            <a:pPr>
              <a:spcAft>
                <a:spcPts val="400"/>
              </a:spcAft>
              <a:defRPr sz="1500">
                <a:solidFill>
                  <a:srgbClr val="34495E"/>
                </a:solidFill>
              </a:defRPr>
            </a:pPr>
            <a:r>
              <a:t>  2. Temperature (T_min, T_max)      -&gt; counterintuitive (burning peaks when warmer)</a:t>
            </a:r>
          </a:p>
          <a:p>
            <a:pPr>
              <a:spcAft>
                <a:spcPts val="400"/>
              </a:spcAft>
              <a:defRPr sz="1500">
                <a:solidFill>
                  <a:srgbClr val="34495E"/>
                </a:solidFill>
              </a:defRPr>
            </a:pPr>
            <a:r>
              <a:t>  3. Optical saturation              -&gt; no curvature (linear throughout)</a:t>
            </a:r>
          </a:p>
          <a:p>
            <a:pPr>
              <a:spcAft>
                <a:spcPts val="400"/>
              </a:spcAft>
              <a:defRPr sz="1500">
                <a:solidFill>
                  <a:srgbClr val="34495E"/>
                </a:solidFill>
              </a:defRPr>
            </a:pPr>
            <a:r>
              <a:t>  4. Influential point removal       -&gt; dataset too tight, no leverage points</a:t>
            </a:r>
          </a:p>
          <a:p>
            <a:pPr>
              <a:spcAft>
                <a:spcPts val="400"/>
              </a:spcAft>
              <a:defRPr sz="1500">
                <a:solidFill>
                  <a:srgbClr val="34495E"/>
                </a:solidFill>
              </a:defRPr>
            </a:pPr>
            <a:r>
              <a:t>  5. OC/EC ratio analysis            -&gt; no additional insight</a:t>
            </a:r>
          </a:p>
          <a:p>
            <a:pPr>
              <a:spcAft>
                <a:spcPts val="400"/>
              </a:spcAft>
              <a:defRPr sz="1500">
                <a:solidFill>
                  <a:srgbClr val="34495E"/>
                </a:solidFill>
              </a:defRPr>
            </a:pPr>
            <a:r>
              <a:t>  6. Dust (AERONET coarse AOD)       -&gt; r = -0.33 (RULES OUT dust)</a:t>
            </a:r>
          </a:p>
          <a:p>
            <a:pPr>
              <a:spcAft>
                <a:spcPts val="400"/>
              </a:spcAft>
              <a:defRPr sz="1500">
                <a:solidFill>
                  <a:srgbClr val="34495E"/>
                </a:solidFill>
              </a:defRPr>
            </a:pPr>
            <a:r>
              <a:t>  7. Iron/EC ratio thresholds        -&gt; iron not causing slope discrepancies</a:t>
            </a:r>
          </a:p>
          <a:p>
            <a:pPr>
              <a:spcAft>
                <a:spcPts val="400"/>
              </a:spcAft>
              <a:defRPr sz="1500">
                <a:solidFill>
                  <a:srgbClr val="34495E"/>
                </a:solidFill>
              </a:defRPr>
            </a:pPr>
            <a:r>
              <a:t>  8. Source apportionment (PMF)      -&gt; all sources show same slopes</a:t>
            </a:r>
          </a:p>
          <a:p>
            <a:pPr>
              <a:spcAft>
                <a:spcPts val="400"/>
              </a:spcAft>
              <a:defRPr sz="1500">
                <a:solidFill>
                  <a:srgbClr val="34495E"/>
                </a:solidFill>
              </a:defRPr>
            </a:pPr>
            <a:r>
              <a:t>  9. Combined source grouping        -&gt; biomass vs fossil fuel overlap</a:t>
            </a:r>
          </a:p>
          <a:p>
            <a:pPr>
              <a:spcAft>
                <a:spcPts val="400"/>
              </a:spcAft>
              <a:defRPr sz="1500">
                <a:solidFill>
                  <a:srgbClr val="34495E"/>
                </a:solidFill>
              </a:defRPr>
            </a:pPr>
            <a:r>
              <a:t> 10. All-season aggregation          -&gt; masks patterns, doesn't explain</a:t>
            </a:r>
          </a:p>
          <a:p>
            <a:pPr>
              <a:spcAft>
                <a:spcPts val="400"/>
              </a:spcAft>
              <a:defRPr sz="1500">
                <a:solidFill>
                  <a:srgbClr val="34495E"/>
                </a:solidFill>
              </a:defRPr>
            </a:pPr>
            <a:r>
              <a:t> 11. Wavelength stacking (IR=Blue=Red) -&gt; unique to Addis = instrument issue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What We Can Confidently Write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1. HIPS and FTIR EC agree well at low-concentration sites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(Beijing, JPL) with MAC = 10. Iron has no measurable effect.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2. Delhi (high concentration) also shows good agreement,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confirming the anomaly is site-specific, not concentration-dependent.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3. Addis Ababa shows a persistent HIPS offset (~2 ug/m3) and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compressed dynamic range that is NOT explained by: iron, dust,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humidity, temperature, optical saturation, or source composition.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4. The Addis aethalometer has a confirmed data quality issue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(Green channel at 0.55x IR — unique across all four sites),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but this does not directly explain the HIPS-FTIR discrepancy.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5. Seasonal analysis is essential — aggregated data hides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meaningful patterns at all sites.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What We Still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TO WRITE THE PAPER: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- Paper skeleton: define the story, figure order, conclusions first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- Final figure set (cross-plots + distributions + stats table)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TO RESOLVE THE ANOMALY: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- Meet with Cena to discuss: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   Green channel issue on MA350-0238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   HIPS anomaly root cause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   Filter loading effects at high BC concentrations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TO COMPLETE: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- Confirm Delhi seasonal definitions with Amina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- Literature: Warren White HIPS/IMPROVE papers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- Literature: filter-based absorption measurement corrections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PAPER FRAMING: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"Three sites work well + Addis is anomalous +</a:t>
            </a:r>
          </a:p>
          <a:p>
            <a:pPr>
              <a:spcAft>
                <a:spcPts val="400"/>
              </a:spcAft>
              <a:defRPr sz="1600">
                <a:solidFill>
                  <a:srgbClr val="34495E"/>
                </a:solidFill>
              </a:defRPr>
            </a:pPr>
            <a:r>
              <a:t>   here is what we tried + anomaly remains open"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